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50" userDrawn="1">
          <p15:clr>
            <a:srgbClr val="A4A3A4"/>
          </p15:clr>
        </p15:guide>
        <p15:guide id="2" pos="288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250"/>
        <p:guide pos="2881"/>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Kính chào Quý Thầy Cô trong Hội đồng phản biện và các bạn sinh viên.</a:t>
            </a:r>
            <a:endParaRPr lang="zh-CN" dirty="0"/>
          </a:p>
          <a:p>
            <a:r>
              <a:rPr lang="zh-CN" dirty="0"/>
              <a:t>Hôm nay, nhóm 10 xin đại diện trình bày báo cáo đồ án kết thúc học phần Lập trình di động MOB402 với đề tài: "GoDrop Delivery - Ứng dụng Giao hàng Đa vai trò trên nền tảng Android và Kiến trúc Backend RESTful API".</a:t>
            </a:r>
            <a:endParaRPr lang="zh-CN" dirty="0"/>
          </a:p>
          <a:p>
            <a:r>
              <a:rPr lang="zh-CN" dirty="0"/>
              <a:t>Đồ án được thực hiện bởi 4 thành viên: Nguyễn Tấn Hiệp, Nguyễn Quốc Thịnh, Huỳnh Nhật Nam và Nguyễn Lâm Hữu Hùng, dưới sự hướng dẫn của Giảng viên bộ môn Công nghệ Thông tin.</a:t>
            </a:r>
            <a:endParaRPr 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Nội dung báo cáo của nhóm hôm nay gồm có 6 chuyên đề trọng tâm:</a:t>
            </a:r>
            <a:endParaRPr lang="zh-CN" dirty="0"/>
          </a:p>
          <a:p>
            <a:r>
              <a:rPr lang="zh-CN" dirty="0"/>
              <a:t>1. Giới thiệu đề tài, Phân công nhiệm vụ và Mục tiêu hệ thống.</a:t>
            </a:r>
            <a:endParaRPr lang="zh-CN" dirty="0"/>
          </a:p>
          <a:p>
            <a:r>
              <a:rPr lang="zh-CN" dirty="0"/>
              <a:t>2. Cơ sở lý thuyết và Stack công nghệ áp dụng.</a:t>
            </a:r>
            <a:endParaRPr lang="zh-CN" dirty="0"/>
          </a:p>
          <a:p>
            <a:r>
              <a:rPr lang="zh-CN" dirty="0"/>
              <a:t>3. Kiến trúc hệ thống và Luồng xử lý dữ liệu End-to-End.</a:t>
            </a:r>
            <a:endParaRPr lang="zh-CN" dirty="0"/>
          </a:p>
          <a:p>
            <a:r>
              <a:rPr lang="zh-CN" dirty="0"/>
              <a:t>4. Thiết kế Data Model, công thức tính cước và cơ chế phân định dữ liệu giữa MongoDB với Room.</a:t>
            </a:r>
            <a:endParaRPr lang="zh-CN" dirty="0"/>
          </a:p>
          <a:p>
            <a:r>
              <a:rPr lang="zh-CN" dirty="0"/>
              <a:t>5. Screen Flow theo 3 vai trò, các thành phần Android native cốt lõi và kết quả kiểm thử.</a:t>
            </a:r>
            <a:endParaRPr lang="zh-CN" dirty="0"/>
          </a:p>
          <a:p>
            <a:r>
              <a:rPr lang="zh-CN" dirty="0"/>
              <a:t>6. Đánh giá kết quả đạt được, bài học vượt qua thách thức và định hướng phát triển trong tương lai.</a:t>
            </a:r>
            <a:endParaRPr 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Về tiến độ thực hiện trong 4 tuần:</a:t>
            </a:r>
            <a:endParaRPr lang="zh-CN" dirty="0"/>
          </a:p>
          <a:p>
            <a:r>
              <a:rPr lang="zh-CN" dirty="0"/>
              <a:t>• Tuần 1: Nhóm tập trung nghiên cứu, xây dựng tài liệu thiết kế UML gồm Use Case, Activity, State Diagram và sơ đồ kiến trúc luồng dữ liệu.</a:t>
            </a:r>
            <a:endParaRPr lang="zh-CN" dirty="0"/>
          </a:p>
          <a:p>
            <a:r>
              <a:rPr lang="zh-CN" dirty="0"/>
              <a:t>• Tuần 2: Nhóm bắt đầu dựng khung Android với Jetpack Compose và Room Database ban đầu.</a:t>
            </a:r>
            <a:endParaRPr lang="zh-CN" dirty="0"/>
          </a:p>
          <a:p>
            <a:r>
              <a:rPr lang="zh-CN" dirty="0"/>
              <a:t>• Tuần 3: Nhóm hoàn thiện các chức năng cục bộ, logic tạo đơn và bảng tính phí.</a:t>
            </a:r>
            <a:endParaRPr lang="zh-CN" dirty="0"/>
          </a:p>
          <a:p>
            <a:r>
              <a:rPr lang="zh-CN" dirty="0"/>
              <a:t>• Bước ngoặt quan trọng diễn ra ở Tuần 4: Nhóm quyết định chuyển đổi sang kiến trúc Backend dùng chung bằng Java Spring Boot và MongoDB. Bạn Hiệp phụ trách toàn bộ Backend, JWT và MongoDB; bạn Thịnh triển khai Retrofit, DTO và Repository REST; bạn Nam phụ trách UI Tài xế và tích hợp bản đồ; bạn Hùng phụ trách UI Khách hàng, Dashboard Admin và viết bộ kiểm thử 12 Test Cases.</a:t>
            </a:r>
            <a:endParaRPr 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Về lý do chọn đề tài và mục tiêu hệ thống:</a:t>
            </a:r>
            <a:endParaRPr lang="zh-CN" dirty="0"/>
          </a:p>
          <a:p>
            <a:r>
              <a:rPr lang="zh-CN" dirty="0"/>
              <a:t>Giao nhận kiện hàng là bài toán thực tế cao, một đơn hàng đi qua nhiều bên và nhiều trạng thái kế tiếp nhau. Điểm thách thức nhất mà nhóm muốn giải quyết chính là:</a:t>
            </a:r>
            <a:endParaRPr lang="zh-CN" dirty="0"/>
          </a:p>
          <a:p>
            <a:r>
              <a:rPr lang="zh-CN" dirty="0"/>
              <a:t>• Làm sao khi hai tài xế cùng bấm nhận một đơn trên điện thoại, hệ thống chỉ cho phép đúng một người nhận thành công?</a:t>
            </a:r>
            <a:endParaRPr lang="zh-CN" dirty="0"/>
          </a:p>
          <a:p>
            <a:r>
              <a:rPr lang="zh-CN" dirty="0"/>
              <a:t>• Làm sao ngăn chặn việc khách hàng hủy đơn khi tài xế đã nhận hàng và đang di chuyển?</a:t>
            </a:r>
            <a:endParaRPr lang="zh-CN" dirty="0"/>
          </a:p>
          <a:p>
            <a:r>
              <a:rPr lang="zh-CN" dirty="0"/>
              <a:t>Mục tiêu của hệ thống là cung cấp trải nghiệm chuyên biệt cho cả 3 vai trò: Khách hàng (tạo đơn, định giá, theo dõi, đánh giá), Tài xế (bật trạng thái làm việc, nhận đơn, chỉ đường, chụp ảnh giao hàng) và Quản trị viên (theo dõi tổng quan và giám sát cảnh báo).</a:t>
            </a:r>
            <a:endParaRPr lang="zh-CN" dirty="0"/>
          </a:p>
          <a:p>
            <a:r>
              <a:rPr lang="zh-CN" dirty="0"/>
              <a:t>Trong phạm vi học phần, app được xây dựng bằng Kotlin Native với Jetpack Compose, Backend dùng Spring Boot và MongoDB, tích hợp dẫn đường bằng Google Maps qua Intent.</a:t>
            </a:r>
            <a:endParaRPr 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Về nền tảng công nghệ sử dụng:</a:t>
            </a:r>
            <a:endParaRPr lang="zh-CN" dirty="0"/>
          </a:p>
          <a:p>
            <a:r>
              <a:rPr lang="zh-CN" dirty="0"/>
              <a:t>• Phía Android Client: Nhóm ứng dụng 100% công nghệ Modern Android. Toàn bộ giao diện được xây dựng bằng Jetpack Compose khai báo (Declarative UI). Mô hình kiến trúc áp dụng chuẩn MVVM kết hợp StateFlow và Coroutines để xử lý bất đồng bộ mượt mà ngoài luồng giao diện chính. Tầng mạng sử dụng Retrofit và OkHttp Interceptor tự động gắn Bearer JWT token. Về lưu trữ, DataStore lưu ID và Token, còn Room Database lưu hồ sơ tài khoản cục bộ.</a:t>
            </a:r>
            <a:endParaRPr lang="zh-CN" dirty="0"/>
          </a:p>
          <a:p>
            <a:r>
              <a:rPr lang="zh-CN" dirty="0"/>
              <a:t>• Phía Backend Server: Sử dụng Java 17 và Spring Boot theo mô hình Controller - Service - Repository. Tầng bảo mật áp dụng Spring Security với JWT Filter không trạng thái. Tầng dữ liệu sử dụng Spring Data MongoDB với cơ chế Optimistic Locking (@Version) và Transaction.</a:t>
            </a:r>
            <a:endParaRPr lang="zh-CN" dirty="0"/>
          </a:p>
          <a:p>
            <a:r>
              <a:rPr lang="zh-CN" dirty="0"/>
              <a:t>• Nguyên tắc cốt lõi: Backend là "Single Source of Truth", Android chỉ đóng vai trò hiển thị và gửi tương tác, triệt tiêu nguy cơ sai lệch số liệu.</a:t>
            </a:r>
            <a:endParaRPr 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Về kiến trúc hệ thống và luồng dữ liệu:</a:t>
            </a:r>
            <a:endParaRPr lang="zh-CN" dirty="0"/>
          </a:p>
          <a:p>
            <a:r>
              <a:rPr lang="zh-CN" dirty="0"/>
              <a:t>Hệ thống được thiết kế theo 5 tầng phân tách rõ ràng: UI Layer ➔ ViewModel ➔ Repository ➔ Network API ➔ Backend Spring Boot &amp; MongoDB.</a:t>
            </a:r>
            <a:endParaRPr lang="zh-CN" dirty="0"/>
          </a:p>
          <a:p>
            <a:r>
              <a:rPr lang="zh-CN" dirty="0"/>
              <a:t>Ví dụ cụ thể qua quy trình tạo đơn hàng:</a:t>
            </a:r>
            <a:endParaRPr lang="zh-CN" dirty="0"/>
          </a:p>
          <a:p>
            <a:r>
              <a:rPr lang="zh-CN" dirty="0"/>
              <a:t>• Tại UI, khách nhập thông tin; CreateRequestViewModel giữ form và gợi ý địa chỉ.</a:t>
            </a:r>
            <a:endParaRPr lang="zh-CN" dirty="0"/>
          </a:p>
          <a:p>
            <a:r>
              <a:rPr lang="zh-CN" dirty="0"/>
              <a:t>• Khi sang màn hình xác nhận, bản nháp được lưu giữ an toàn trong SavedStateHandle để tránh mất dữ liệu nếu xoay màn hình.</a:t>
            </a:r>
            <a:endParaRPr lang="zh-CN" dirty="0"/>
          </a:p>
          <a:p>
            <a:r>
              <a:rPr lang="zh-CN" dirty="0"/>
              <a:t>• Khách bấm xác nhận, OrderViewModel đóng gói DTO gửi qua Retrofit lên Backend kèm JWT.</a:t>
            </a:r>
            <a:endParaRPr lang="zh-CN" dirty="0"/>
          </a:p>
          <a:p>
            <a:r>
              <a:rPr lang="zh-CN" dirty="0"/>
              <a:t>• Backend trích xuất danh tính khách hàng từ token, tự động đo khoảng cách GPS bằng công thức Haversine, tính lại cước độc lập (để chống việc sửa giá từ máy khách), rồi ghi vào MongoDB trong một Transaction.</a:t>
            </a:r>
            <a:endParaRPr lang="zh-CN" dirty="0"/>
          </a:p>
          <a:p>
            <a:r>
              <a:rPr lang="zh-CN" dirty="0"/>
              <a:t>• Sau khi nhận mã 200 OK thành công, Android mới xóa bản nháp và cập nhật danh sách đơn. Nhờ vậy, tuyệt đối không có tình trạng UI hiển thị đơn ảo khi mạng lỗi.</a:t>
            </a:r>
            <a:endParaRPr 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Về cơ chế xác thực và bảo mật phân quyền:</a:t>
            </a:r>
            <a:endParaRPr lang="zh-CN" dirty="0"/>
          </a:p>
          <a:p>
            <a:r>
              <a:rPr lang="zh-CN" dirty="0"/>
              <a:t>• Lưu trữ phiên: Token JWT được bảo vệ trong private SharedPreferences, User ID lưu trong DataStore, còn hồ sơ cá nhân cache tại Room DB. Khi mở lại app, AuthViewModel tự động kiểm tra token để khôi phục phiên; nếu token hết hạn, người dùng được chuyển về màn hình đăng nhập.</a:t>
            </a:r>
            <a:endParaRPr lang="zh-CN" dirty="0"/>
          </a:p>
          <a:p>
            <a:r>
              <a:rPr lang="zh-CN" dirty="0"/>
              <a:t>• Auth Interceptor: Mọi request HTTP gửi đi đều được OkHttp Interceptor tự động bắt và gắn header `Authorization: Bearer &lt;token&gt;`. Nếu nhận về mã 401 Unauthorized, app sẽ tự xóa phiên và điều hướng về Login.</a:t>
            </a:r>
            <a:endParaRPr lang="zh-CN" dirty="0"/>
          </a:p>
          <a:p>
            <a:r>
              <a:rPr lang="zh-CN" dirty="0"/>
              <a:t>• Phân quyền Zero-Trust: Server không tin tưởng việc Android ẩn hay hiện nút bấm. Mọi endpoint đều được Spring Security kiểm tra role từ token: Khách chỉ xem đơn của mình, Tài xế chỉ cập nhật đơn đã gán cho mình, Đánh giá sao chỉ gửi được khi đơn đã ở trạng thái DA_GIAO, và các API thống kê yêu cầu quyền ROLE_ADMIN.</a:t>
            </a:r>
            <a:endParaRPr 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Về xử lý đồng thời và máy trạng thái đơn hàng:</a:t>
            </a:r>
            <a:endParaRPr lang="zh-CN" dirty="0"/>
          </a:p>
          <a:p>
            <a:r>
              <a:rPr lang="zh-CN" dirty="0"/>
              <a:t>Vòng đời đơn hàng trải qua chuỗi trạng thái tuần tự nghiêm ngặt:</a:t>
            </a:r>
            <a:endParaRPr lang="zh-CN" dirty="0"/>
          </a:p>
          <a:p>
            <a:r>
              <a:rPr lang="zh-CN" dirty="0"/>
              <a:t>CHO_TIEP_NHAN ➔ DA_CHAP_NHAN ➔ DANG_LAY_HANG ➔ DANG_GIAO ➔ DA_GIAO (hoặc DA_HUY).</a:t>
            </a:r>
            <a:endParaRPr lang="zh-CN" dirty="0"/>
          </a:p>
          <a:p>
            <a:r>
              <a:rPr lang="zh-CN" dirty="0"/>
              <a:t>• Giải quyết tranh chấp nhận đơn: Khi 2 tài xế cùng bấm nhận 1 đơn cùng thời điểm, Server sử dụng cơ chế Optimistic Locking thông qua trường `@Version` trong MongoDB. Giao dịch của tài xế đến trước sẽ cập nhật version từ N lên N+1 và gán đơn thành công. Giao dịch của tài xế thứ hai đến sau sẽ phát hiện phiên bản không khớp và nhận mã lỗi HTTP 409 Conflict với thông báo "Đơn đã được tài xế khác tiếp nhận".</a:t>
            </a:r>
            <a:endParaRPr lang="zh-CN" dirty="0"/>
          </a:p>
          <a:p>
            <a:r>
              <a:rPr lang="zh-CN" dirty="0"/>
              <a:t>• Ràng buộc hủy đơn: Khi tài xế đã chuyển trạng thái sang DANG_LAY_HANG, nút hủy của khách hàng sẽ bị vô hiệu hóa hoàn toàn, đảm bảo tính công bằng cho người vận chuyển.</a:t>
            </a:r>
            <a:endParaRPr lang="zh-CN" dirty="0"/>
          </a:p>
          <a:p>
            <a:r>
              <a:rPr lang="zh-CN" dirty="0"/>
              <a:t>• Toàn bộ các bước chuyển trạng thái đều được ghi nhận chi tiết vào collection StatusHistory kèm dấu thời gian.</a:t>
            </a:r>
            <a:endParaRPr 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Về thiết kế cơ sở dữ liệu và công thức tính cước:</a:t>
            </a:r>
            <a:endParaRPr lang="zh-CN" dirty="0"/>
          </a:p>
          <a:p>
            <a:r>
              <a:rPr lang="zh-CN" dirty="0"/>
              <a:t>• MongoDB là cơ sở dữ liệu nghiệp vụ chính: Collection trung tâm là `delivery_requests` chứa thông tin người gửi, người nhận, tọa độ, và đặc biệt là nhúng trực tiếp mảng danh sách `packageItems` (tên hàng, trọng lượng, kích thước). Thiết kế nhúng này giúp tăng tốc độ truy vấn đáng kể mà không cần JOIN nhiều bảng. Các collection bổ trợ gồm `users`, `status_histories`, `driver_ratings` và `driver_rejections`.</a:t>
            </a:r>
            <a:endParaRPr lang="zh-CN" dirty="0"/>
          </a:p>
          <a:p>
            <a:r>
              <a:rPr lang="zh-CN" dirty="0"/>
              <a:t>• Công thức tính cước tự động: PricingService áp dụng mức phí cơ bản 15.000 VNĐ cho 2km đầu tiên, và cộng 5.000 VNĐ cho mỗi km tiếp theo dựa trên tọa độ GPS.</a:t>
            </a:r>
            <a:endParaRPr lang="zh-CN" dirty="0"/>
          </a:p>
          <a:p>
            <a:r>
              <a:rPr lang="zh-CN" dirty="0"/>
              <a:t>• Về Room Database: Nhóm duy trì AppDatabase v6 trên Android để lưu cache hồ sơ người dùng cục bộ, giúp ứng dụng khởi động tức thì. Toàn bộ dữ liệu đơn hàng đều phụ thuộc vào MongoDB trực tuyến.</a:t>
            </a:r>
            <a:endParaRPr 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Về luồng màn hình theo 3 vai trò:</a:t>
            </a:r>
            <a:endParaRPr lang="zh-CN" dirty="0"/>
          </a:p>
          <a:p>
            <a:r>
              <a:rPr lang="zh-CN" dirty="0"/>
              <a:t>• Khách hàng (Client): Trải nghiệm từ Home ➔ Form tạo đơn trực quan với gợi ý địa chỉ và tính giá tự động ➔ Theo dõi chi tiết tiến trình di chuyển của kiện hàng ➔ Đánh giá sao từ 1 đến 5 sao cho tài xế sau khi giao hàng thành công.</a:t>
            </a:r>
            <a:endParaRPr lang="zh-CN" dirty="0"/>
          </a:p>
          <a:p>
            <a:r>
              <a:rPr lang="zh-CN" dirty="0"/>
              <a:t>• Tài xế (Driver): Bảng điều khiển với nút gạt Online/Offline ➔ Danh sách đơn chờ tiếp nhận trong khu vực ➔ Màn hình nhận đơn độc quyền ➔ Tích hợp nút Gọi điện và Chỉ đường bằng giọng nói qua Google Maps ➔ Cập nhật tiến trình và chụp ảnh xác nhận kiện hàng đã giao.</a:t>
            </a:r>
            <a:endParaRPr lang="zh-CN" dirty="0"/>
          </a:p>
          <a:p>
            <a:r>
              <a:rPr lang="zh-CN" dirty="0"/>
              <a:t>• Quản trị viên (Admin): Giao diện Dashboard 5 tab gồm: Tổng quan số liệu, Quản lý đơn hàng toàn hệ thống, Quản lý người dùng, Quản lý tài xế và Tab Cảnh báo phát hiện các đơn hàng bị treo hoặc tài xế từ chối liên tục.</a:t>
            </a:r>
            <a:endParaRPr 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Về các thành phần Android native nổi bật:</a:t>
            </a:r>
            <a:endParaRPr lang="zh-CN" dirty="0"/>
          </a:p>
          <a:p>
            <a:r>
              <a:rPr lang="zh-CN" dirty="0"/>
              <a:t>• Quyền hạn: Khai báo tối giản chỉ gồm quyền `INTERNET` và `ACCESS_NETWORK_STATE`, không yêu cầu các quyền nhạy cảm gây lo ngại cho người dùng.</a:t>
            </a:r>
            <a:endParaRPr lang="zh-CN" dirty="0"/>
          </a:p>
          <a:p>
            <a:r>
              <a:rPr lang="zh-CN" dirty="0"/>
              <a:t>• Tích hợp Implicit Intent:</a:t>
            </a:r>
            <a:endParaRPr lang="zh-CN" dirty="0"/>
          </a:p>
          <a:p>
            <a:r>
              <a:rPr lang="zh-CN" dirty="0"/>
              <a:t>+ Nhóm sử dụng `Intent.ACTION_DIAL` thay vì `ACTION_CALL`. Intent này mở màn hình quay số với số điện thoại điền sẵn, để người dùng tự xác nhận bấm gọi. Cách làm này an toàn, bảo vệ quyền riêng tư và hoàn toàn tuân thủ chính sách của Google Play Store.</a:t>
            </a:r>
            <a:endParaRPr lang="zh-CN" dirty="0"/>
          </a:p>
          <a:p>
            <a:r>
              <a:rPr lang="zh-CN" dirty="0"/>
              <a:t>+ Nút chỉ đường kích hoạt `Intent.ACTION_VIEW` mở trực tiếp ứng dụng Google Maps ngoài, tận dụng tính năng dẫn đường bằng giọng nói tiếng Việt và cập nhật tình trạng kẹt xe thời gian thực.</a:t>
            </a:r>
            <a:endParaRPr lang="zh-CN" dirty="0"/>
          </a:p>
          <a:p>
            <a:r>
              <a:rPr lang="zh-CN" dirty="0"/>
              <a:t>• Kiến trúc Single-Activity kết hợp Kotlin Coroutines chạy trên `Dispatchers.IO` giúp loại bỏ hoàn toàn hiện tượng nghẽn giao diện (ANR).</a:t>
            </a:r>
            <a:endParaRPr 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Về kết quả kiểm định chất lượng:</a:t>
            </a:r>
            <a:endParaRPr lang="zh-CN" dirty="0"/>
          </a:p>
          <a:p>
            <a:r>
              <a:rPr lang="zh-CN" dirty="0"/>
              <a:t>• Bảng kiểm thử giao diện thực tế ghi nhận trong file `BaoCao_KiemThu.xlsx` với 12/12 Test Cases từ TC01 đến TC12 đều vượt qua thành công (100% Pass) trên cả máy ảo Android Emulator và điện thoại thật.</a:t>
            </a:r>
            <a:endParaRPr lang="zh-CN" dirty="0"/>
          </a:p>
          <a:p>
            <a:r>
              <a:rPr lang="zh-CN" dirty="0"/>
              <a:t>• Các tình huống kiểm thử bao gồm đầy đủ 3 nhóm vai trò: Luồng đăng ký/đăng nhập, luồng khách tạo đơn và đánh giá, luồng tài xế nhận đơn và chụp ảnh, cùng các tab quản trị admin.</a:t>
            </a:r>
            <a:endParaRPr lang="zh-CN" dirty="0"/>
          </a:p>
          <a:p>
            <a:r>
              <a:rPr lang="zh-CN" dirty="0"/>
              <a:t>• Kiểm thử tình huống lỗi biên: Nhóm đã thử nghiệm giả lập mất kết nối mạng (app hiển thị thông báo thân thiện và giữ nguyên form nháp), kiểm thử xung đột nhận đơn đồng thời (trả về lỗi 409 chuẩn xác), và kiểm thử cố tình hủy đơn sai quy định (bị Backend chặn đứng).</a:t>
            </a:r>
            <a:endParaRPr 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Về kết quả đạt được và bài học kinh nghiệm:</a:t>
            </a:r>
            <a:endParaRPr lang="zh-CN" dirty="0"/>
          </a:p>
          <a:p>
            <a:r>
              <a:rPr lang="zh-CN" dirty="0"/>
              <a:t>• Kết quả chính: Nhóm đã đóng gói thành công bản build APK Debug hoạt động thực tế, vận hành trơn tru luồng nghiệp vụ giữa 3 vai trò người dùng và bảo đảm tính toàn vẹn dữ liệu.</a:t>
            </a:r>
            <a:endParaRPr lang="zh-CN" dirty="0"/>
          </a:p>
          <a:p>
            <a:r>
              <a:rPr lang="zh-CN" dirty="0"/>
              <a:t>• Khó khăn lớn nhất: Việc quyết định chuyển đổi từ Room Database sang REST API / MongoDB ở tuần thứ 4 là một thử thách rất lớn về mặt thời gian. Tuy nhiên, nhờ áp dụng triệt để mô hình Repository Pattern, nhóm chỉ cần viết lại tầng Network và DTO mà không làm xáo trộn các màn hình Composable UI.</a:t>
            </a:r>
            <a:endParaRPr lang="zh-CN" dirty="0"/>
          </a:p>
          <a:p>
            <a:r>
              <a:rPr lang="zh-CN" dirty="0"/>
              <a:t>• Bài học rút ra: Đồ án giúp 4 thành viên làm chủ Jetpack Compose hiện đại, nắm vững tư duy thiết kế hệ thống Backend RESTful phân quyền JWT, và nâng cao kỹ năng phối hợp làm việc nhóm thông qua Git.</a:t>
            </a:r>
            <a:endParaRPr 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Về đánh giá, hạn chế và định hướng phát triển:</a:t>
            </a:r>
            <a:endParaRPr lang="zh-CN" dirty="0"/>
          </a:p>
          <a:p>
            <a:r>
              <a:rPr lang="zh-CN" dirty="0"/>
              <a:t>• Hạn chế hiện tại: Ứng dụng chưa có Push Notification khi đóng app; bản đồ mới mở ngoài qua Intent chưa nhúng live tracking trực tiếp; và quyền Admin mới dừng ở mức đọc/lọc dữ liệu.</a:t>
            </a:r>
            <a:endParaRPr lang="zh-CN" dirty="0"/>
          </a:p>
          <a:p>
            <a:r>
              <a:rPr lang="zh-CN" dirty="0"/>
              <a:t>• Định hướng tương lai: Nhóm dự kiến tích hợp Firebase Cloud Messaging (FCM) để gửi thông báo đẩy; nhúng Google Maps SDK trực tiếp để vẽ biểu tượng xe shipper di chuyển thời gian thực; và tích hợp các cổng thanh toán online như VNPay hay MoMo.</a:t>
            </a:r>
            <a:endParaRPr lang="zh-CN" dirty="0"/>
          </a:p>
          <a:p>
            <a:r>
              <a:rPr lang="zh-CN" dirty="0"/>
              <a:t>• Lời kết: Đồ án đã hoàn thành xuất sắc các mục tiêu đề ra cho học phần Lập trình di động MOB402. Nhóm 10 xin chân thành cảm ơn Quý Thầy Cô và Hội đồng phản biện. Nhóm rất mong nhận được những góp ý quý báu và sẵn sàng trả lời các câu hỏi phản biện.</a:t>
            </a:r>
            <a:endParaRPr 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7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7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7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7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858000"/>
          </a:xfrm>
          <a:prstGeom prst="rect">
            <a:avLst/>
          </a:prstGeom>
          <a:solidFill>
            <a:srgbClr val="F8FAFC"/>
          </a:solidFill>
          <a:ln>
            <a:noFill/>
          </a:ln>
        </p:spPr>
      </p:sp>
      <p:sp>
        <p:nvSpPr>
          <p:cNvPr id="4" name="Ellipse 4"/>
          <p:cNvSpPr/>
          <p:nvPr/>
        </p:nvSpPr>
        <p:spPr>
          <a:xfrm>
            <a:off x="8096250" y="-2381250"/>
            <a:ext cx="6667500" cy="6667500"/>
          </a:xfrm>
          <a:prstGeom prst="ellipse">
            <a:avLst/>
          </a:prstGeom>
          <a:solidFill>
            <a:srgbClr val="003366">
              <a:alpha val="3000"/>
            </a:srgbClr>
          </a:solidFill>
          <a:ln>
            <a:noFill/>
          </a:ln>
        </p:spPr>
      </p:sp>
      <p:sp>
        <p:nvSpPr>
          <p:cNvPr id="5" name="Ellipse 5"/>
          <p:cNvSpPr/>
          <p:nvPr/>
        </p:nvSpPr>
        <p:spPr>
          <a:xfrm>
            <a:off x="-1714500" y="3524250"/>
            <a:ext cx="5334000" cy="5334000"/>
          </a:xfrm>
          <a:prstGeom prst="ellipse">
            <a:avLst/>
          </a:prstGeom>
          <a:solidFill>
            <a:srgbClr val="E65100">
              <a:alpha val="3000"/>
            </a:srgbClr>
          </a:solidFill>
          <a:ln>
            <a:noFill/>
          </a:ln>
        </p:spPr>
      </p:sp>
      <p:sp>
        <p:nvSpPr>
          <p:cNvPr id="6" name="Rectangle 6"/>
          <p:cNvSpPr/>
          <p:nvPr/>
        </p:nvSpPr>
        <p:spPr>
          <a:xfrm>
            <a:off x="0" y="0"/>
            <a:ext cx="12192000" cy="857250"/>
          </a:xfrm>
          <a:prstGeom prst="rect">
            <a:avLst/>
          </a:prstGeom>
          <a:solidFill>
            <a:srgbClr val="003366"/>
          </a:solidFill>
          <a:ln>
            <a:noFill/>
          </a:ln>
        </p:spPr>
      </p:sp>
      <p:sp>
        <p:nvSpPr>
          <p:cNvPr id="7" name="Rectangle 7"/>
          <p:cNvSpPr/>
          <p:nvPr/>
        </p:nvSpPr>
        <p:spPr>
          <a:xfrm>
            <a:off x="0" y="0"/>
            <a:ext cx="76200" cy="857250"/>
          </a:xfrm>
          <a:prstGeom prst="rect">
            <a:avLst/>
          </a:prstGeom>
          <a:solidFill>
            <a:srgbClr val="E65100"/>
          </a:solidFill>
          <a:ln>
            <a:noFill/>
          </a:ln>
        </p:spPr>
      </p:sp>
      <p:sp>
        <p:nvSpPr>
          <p:cNvPr id="8" name="TextBox 8"/>
          <p:cNvSpPr txBox="1"/>
          <p:nvPr/>
        </p:nvSpPr>
        <p:spPr>
          <a:xfrm>
            <a:off x="462915" y="286702"/>
            <a:ext cx="5836285" cy="161290"/>
          </a:xfrm>
          <a:prstGeom prst="rect">
            <a:avLst/>
          </a:prstGeom>
          <a:noFill/>
          <a:ln>
            <a:noFill/>
          </a:ln>
        </p:spPr>
        <p:txBody>
          <a:bodyPr wrap="none" lIns="0" tIns="0" rIns="0" bIns="0" anchor="t" anchorCtr="0">
            <a:spAutoFit/>
          </a:bodyPr>
          <a:lstStyle/>
          <a:p>
            <a:pPr algn="l"/>
            <a:r>
              <a:rPr lang="zh-CN" sz="1050" b="1" spc="200" dirty="0">
                <a:solidFill>
                  <a:srgbClr val="93C5FD"/>
                </a:solidFill>
                <a:latin typeface="Arial" panose="020B0704020202020204"/>
                <a:ea typeface="Arial" panose="020B0704020202020204"/>
                <a:cs typeface="Arial" panose="020B0704020202020204"/>
              </a:rPr>
              <a:t>TRƯỜNG ĐẠI HỌC</a:t>
            </a:r>
            <a:r>
              <a:rPr lang="en-US" altLang="zh-CN" sz="1050" b="1" spc="200" dirty="0">
                <a:solidFill>
                  <a:srgbClr val="93C5FD"/>
                </a:solidFill>
                <a:latin typeface="Arial" panose="020B0704020202020204"/>
                <a:ea typeface="Arial" panose="020B0704020202020204"/>
                <a:cs typeface="Arial" panose="020B0704020202020204"/>
              </a:rPr>
              <a:t> GTVT TP HCM</a:t>
            </a:r>
            <a:r>
              <a:rPr lang="zh-CN" sz="1050" b="1" spc="200" dirty="0">
                <a:solidFill>
                  <a:srgbClr val="93C5FD"/>
                </a:solidFill>
                <a:latin typeface="Arial" panose="020B0704020202020204"/>
                <a:ea typeface="Arial" panose="020B0704020202020204"/>
                <a:cs typeface="Arial" panose="020B0704020202020204"/>
              </a:rPr>
              <a:t> • BỘ MÔN CÔNG NGHỆ THÔNG TIN</a:t>
            </a:r>
            <a:endParaRPr lang="zh-CN" sz="1050" b="1" spc="200" dirty="0">
              <a:solidFill>
                <a:srgbClr val="93C5FD"/>
              </a:solidFill>
              <a:latin typeface="Arial" panose="020B0704020202020204"/>
              <a:ea typeface="Arial" panose="020B0704020202020204"/>
              <a:cs typeface="Arial" panose="020B0704020202020204"/>
            </a:endParaRPr>
          </a:p>
        </p:txBody>
      </p:sp>
      <p:sp>
        <p:nvSpPr>
          <p:cNvPr id="9" name="TextBox 9"/>
          <p:cNvSpPr txBox="1"/>
          <p:nvPr/>
        </p:nvSpPr>
        <p:spPr>
          <a:xfrm>
            <a:off x="459105" y="501968"/>
            <a:ext cx="4962525" cy="207645"/>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panose="020B0704020202020204"/>
                <a:ea typeface="Arial" panose="020B0704020202020204"/>
                <a:cs typeface="Arial" panose="020B0704020202020204"/>
              </a:rPr>
              <a:t>BÁO CÁO ĐỒ ÁN HỌC PHẦN LẬP TRÌNH DI ĐỘNG (MOB402)</a:t>
            </a:r>
            <a:endParaRPr lang="zh-CN" sz="1350" b="1" dirty="0">
              <a:solidFill>
                <a:srgbClr val="FFFFFF"/>
              </a:solidFill>
              <a:latin typeface="Arial" panose="020B0704020202020204"/>
              <a:ea typeface="Arial" panose="020B0704020202020204"/>
              <a:cs typeface="Arial" panose="020B0704020202020204"/>
            </a:endParaRPr>
          </a:p>
        </p:txBody>
      </p:sp>
      <p:sp>
        <p:nvSpPr>
          <p:cNvPr id="10" name="Freeform 10"/>
          <p:cNvSpPr/>
          <p:nvPr/>
        </p:nvSpPr>
        <p:spPr>
          <a:xfrm>
            <a:off x="10096500" y="228600"/>
            <a:ext cx="1619250" cy="400050"/>
          </a:xfrm>
          <a:custGeom>
            <a:avLst/>
            <a:gdLst/>
            <a:ahLst/>
            <a:cxnLst/>
            <a:rect l="l" t="t" r="r" b="b"/>
            <a:pathLst>
              <a:path w="1619250" h="400050">
                <a:moveTo>
                  <a:pt x="57150" y="0"/>
                </a:moveTo>
                <a:lnTo>
                  <a:pt x="1562100" y="0"/>
                </a:lnTo>
                <a:cubicBezTo>
                  <a:pt x="1593663" y="0"/>
                  <a:pt x="1619250" y="25587"/>
                  <a:pt x="1619250" y="57150"/>
                </a:cubicBezTo>
                <a:lnTo>
                  <a:pt x="1619250" y="342900"/>
                </a:lnTo>
                <a:cubicBezTo>
                  <a:pt x="1619250" y="374463"/>
                  <a:pt x="1593663" y="400050"/>
                  <a:pt x="1562100" y="400050"/>
                </a:cubicBezTo>
                <a:lnTo>
                  <a:pt x="57150" y="400050"/>
                </a:lnTo>
                <a:cubicBezTo>
                  <a:pt x="25587" y="400050"/>
                  <a:pt x="0" y="374463"/>
                  <a:pt x="0" y="342900"/>
                </a:cubicBezTo>
                <a:lnTo>
                  <a:pt x="0" y="57150"/>
                </a:lnTo>
                <a:cubicBezTo>
                  <a:pt x="0" y="25587"/>
                  <a:pt x="25587" y="0"/>
                  <a:pt x="57150" y="0"/>
                </a:cubicBezTo>
                <a:close/>
              </a:path>
            </a:pathLst>
          </a:custGeom>
          <a:solidFill>
            <a:srgbClr val="002244"/>
          </a:solidFill>
          <a:ln w="9525">
            <a:solidFill>
              <a:srgbClr val="3B82F6">
                <a:alpha val="40000"/>
              </a:srgbClr>
            </a:solidFill>
          </a:ln>
        </p:spPr>
      </p:sp>
      <p:sp>
        <p:nvSpPr>
          <p:cNvPr id="11" name="Freeform 11"/>
          <p:cNvSpPr/>
          <p:nvPr/>
        </p:nvSpPr>
        <p:spPr>
          <a:xfrm>
            <a:off x="10267950" y="314325"/>
            <a:ext cx="171450" cy="228600"/>
          </a:xfrm>
          <a:custGeom>
            <a:avLst/>
            <a:gdLst/>
            <a:ahLst/>
            <a:cxnLst/>
            <a:rect l="l" t="t" r="r" b="b"/>
            <a:pathLst>
              <a:path w="171450" h="228600">
                <a:moveTo>
                  <a:pt x="28575" y="0"/>
                </a:moveTo>
                <a:cubicBezTo>
                  <a:pt x="12793" y="0"/>
                  <a:pt x="0" y="12793"/>
                  <a:pt x="0" y="28575"/>
                </a:cubicBezTo>
                <a:lnTo>
                  <a:pt x="0" y="200025"/>
                </a:lnTo>
                <a:cubicBezTo>
                  <a:pt x="0" y="215807"/>
                  <a:pt x="12793" y="228600"/>
                  <a:pt x="28575" y="228600"/>
                </a:cubicBezTo>
                <a:lnTo>
                  <a:pt x="142875" y="228600"/>
                </a:lnTo>
                <a:cubicBezTo>
                  <a:pt x="158657" y="228600"/>
                  <a:pt x="171450" y="215807"/>
                  <a:pt x="171450" y="200025"/>
                </a:cubicBezTo>
                <a:lnTo>
                  <a:pt x="171450" y="28575"/>
                </a:lnTo>
                <a:cubicBezTo>
                  <a:pt x="171450" y="12793"/>
                  <a:pt x="158657" y="0"/>
                  <a:pt x="142875" y="0"/>
                </a:cubicBezTo>
                <a:lnTo>
                  <a:pt x="28575" y="0"/>
                </a:lnTo>
                <a:close/>
                <a:moveTo>
                  <a:pt x="142875" y="42862"/>
                </a:moveTo>
                <a:lnTo>
                  <a:pt x="28575" y="42862"/>
                </a:lnTo>
                <a:lnTo>
                  <a:pt x="28575" y="185738"/>
                </a:lnTo>
                <a:lnTo>
                  <a:pt x="142875" y="185738"/>
                </a:lnTo>
                <a:lnTo>
                  <a:pt x="142875" y="42862"/>
                </a:lnTo>
                <a:close/>
              </a:path>
            </a:pathLst>
          </a:custGeom>
          <a:solidFill>
            <a:srgbClr val="60A5FA"/>
          </a:solidFill>
          <a:ln>
            <a:noFill/>
          </a:ln>
        </p:spPr>
      </p:sp>
      <p:sp>
        <p:nvSpPr>
          <p:cNvPr id="12" name="TextBox 12"/>
          <p:cNvSpPr txBox="1"/>
          <p:nvPr/>
        </p:nvSpPr>
        <p:spPr>
          <a:xfrm>
            <a:off x="10558462" y="364331"/>
            <a:ext cx="641027" cy="228600"/>
          </a:xfrm>
          <a:prstGeom prst="rect">
            <a:avLst/>
          </a:prstGeom>
          <a:noFill/>
          <a:ln>
            <a:noFill/>
          </a:ln>
        </p:spPr>
        <p:txBody>
          <a:bodyPr wrap="none" lIns="0" tIns="0" rIns="0" bIns="0" anchor="t" anchorCtr="0">
            <a:spAutoFit/>
          </a:bodyPr>
          <a:lstStyle/>
          <a:p>
            <a:pPr algn="l"/>
            <a:r>
              <a:rPr lang="zh-CN" sz="1125" b="1" dirty="0">
                <a:solidFill>
                  <a:srgbClr val="FFFFFF"/>
                </a:solidFill>
                <a:latin typeface="Arial" panose="020B0704020202020204"/>
                <a:ea typeface="Arial" panose="020B0704020202020204"/>
                <a:cs typeface="Arial" panose="020B0704020202020204"/>
              </a:rPr>
              <a:t>NHÓM 10</a:t>
            </a:r>
            <a:endParaRPr lang="zh-CN" sz="1125" b="1" dirty="0">
              <a:solidFill>
                <a:srgbClr val="FFFFFF"/>
              </a:solidFill>
              <a:latin typeface="Arial" panose="020B0704020202020204"/>
              <a:ea typeface="Arial" panose="020B0704020202020204"/>
              <a:cs typeface="Arial" panose="020B0704020202020204"/>
            </a:endParaRPr>
          </a:p>
        </p:txBody>
      </p:sp>
      <p:sp>
        <p:nvSpPr>
          <p:cNvPr id="13" name="Freeform 13"/>
          <p:cNvSpPr/>
          <p:nvPr/>
        </p:nvSpPr>
        <p:spPr>
          <a:xfrm>
            <a:off x="1333500" y="1333500"/>
            <a:ext cx="9525000" cy="3238500"/>
          </a:xfrm>
          <a:custGeom>
            <a:avLst/>
            <a:gdLst/>
            <a:ahLst/>
            <a:cxnLst/>
            <a:rect l="l" t="t" r="r" b="b"/>
            <a:pathLst>
              <a:path w="9525000" h="3238500">
                <a:moveTo>
                  <a:pt x="114300" y="0"/>
                </a:moveTo>
                <a:lnTo>
                  <a:pt x="9410700" y="0"/>
                </a:lnTo>
                <a:cubicBezTo>
                  <a:pt x="9473826" y="0"/>
                  <a:pt x="9525000" y="51174"/>
                  <a:pt x="9525000" y="114300"/>
                </a:cubicBezTo>
                <a:lnTo>
                  <a:pt x="9525000" y="3124200"/>
                </a:lnTo>
                <a:cubicBezTo>
                  <a:pt x="9525000" y="3187326"/>
                  <a:pt x="9473826" y="3238500"/>
                  <a:pt x="9410700" y="3238500"/>
                </a:cubicBezTo>
                <a:lnTo>
                  <a:pt x="114300" y="3238500"/>
                </a:lnTo>
                <a:cubicBezTo>
                  <a:pt x="51174" y="3238500"/>
                  <a:pt x="0" y="3187326"/>
                  <a:pt x="0" y="3124200"/>
                </a:cubicBezTo>
                <a:lnTo>
                  <a:pt x="0" y="114300"/>
                </a:lnTo>
                <a:cubicBezTo>
                  <a:pt x="0" y="51174"/>
                  <a:pt x="51174" y="0"/>
                  <a:pt x="114300" y="0"/>
                </a:cubicBezTo>
                <a:close/>
              </a:path>
            </a:pathLst>
          </a:custGeom>
          <a:solidFill>
            <a:srgbClr val="FFFFFF"/>
          </a:solidFill>
          <a:ln w="14288">
            <a:solidFill>
              <a:srgbClr val="E2E8F0"/>
            </a:solidFill>
          </a:ln>
        </p:spPr>
      </p:sp>
      <p:sp>
        <p:nvSpPr>
          <p:cNvPr id="14" name="Freeform 14"/>
          <p:cNvSpPr/>
          <p:nvPr/>
        </p:nvSpPr>
        <p:spPr>
          <a:xfrm>
            <a:off x="1333500" y="1333500"/>
            <a:ext cx="9525000" cy="57150"/>
          </a:xfrm>
          <a:custGeom>
            <a:avLst/>
            <a:gdLst/>
            <a:ahLst/>
            <a:cxnLst/>
            <a:rect l="l" t="t" r="r" b="b"/>
            <a:pathLst>
              <a:path w="9525000" h="57150">
                <a:moveTo>
                  <a:pt x="28575" y="0"/>
                </a:moveTo>
                <a:lnTo>
                  <a:pt x="9496425" y="0"/>
                </a:lnTo>
                <a:cubicBezTo>
                  <a:pt x="9512207" y="0"/>
                  <a:pt x="9525000" y="12793"/>
                  <a:pt x="9525000" y="28575"/>
                </a:cubicBezTo>
                <a:lnTo>
                  <a:pt x="9525000" y="28575"/>
                </a:lnTo>
                <a:cubicBezTo>
                  <a:pt x="9525000" y="44357"/>
                  <a:pt x="9512207" y="57150"/>
                  <a:pt x="9496425" y="57150"/>
                </a:cubicBezTo>
                <a:lnTo>
                  <a:pt x="28575" y="57150"/>
                </a:lnTo>
                <a:cubicBezTo>
                  <a:pt x="12793" y="57150"/>
                  <a:pt x="0" y="44357"/>
                  <a:pt x="0" y="28575"/>
                </a:cubicBezTo>
                <a:lnTo>
                  <a:pt x="0" y="28575"/>
                </a:lnTo>
                <a:cubicBezTo>
                  <a:pt x="0" y="12793"/>
                  <a:pt x="12793" y="0"/>
                  <a:pt x="28575" y="0"/>
                </a:cubicBezTo>
                <a:close/>
              </a:path>
            </a:pathLst>
          </a:custGeom>
          <a:solidFill>
            <a:srgbClr val="003366"/>
          </a:solidFill>
          <a:ln>
            <a:noFill/>
          </a:ln>
        </p:spPr>
      </p:sp>
      <p:sp>
        <p:nvSpPr>
          <p:cNvPr id="15" name="Freeform 15"/>
          <p:cNvSpPr/>
          <p:nvPr/>
        </p:nvSpPr>
        <p:spPr>
          <a:xfrm>
            <a:off x="5143500" y="1333500"/>
            <a:ext cx="1905000" cy="57150"/>
          </a:xfrm>
          <a:custGeom>
            <a:avLst/>
            <a:gdLst/>
            <a:ahLst/>
            <a:cxnLst/>
            <a:rect l="l" t="t" r="r" b="b"/>
            <a:pathLst>
              <a:path w="1905000" h="57150">
                <a:moveTo>
                  <a:pt x="28575" y="0"/>
                </a:moveTo>
                <a:lnTo>
                  <a:pt x="1876425" y="0"/>
                </a:lnTo>
                <a:cubicBezTo>
                  <a:pt x="1892207" y="0"/>
                  <a:pt x="1905000" y="12793"/>
                  <a:pt x="1905000" y="28575"/>
                </a:cubicBezTo>
                <a:lnTo>
                  <a:pt x="1905000" y="28575"/>
                </a:lnTo>
                <a:cubicBezTo>
                  <a:pt x="1905000" y="44357"/>
                  <a:pt x="1892207" y="57150"/>
                  <a:pt x="1876425" y="57150"/>
                </a:cubicBezTo>
                <a:lnTo>
                  <a:pt x="28575" y="57150"/>
                </a:lnTo>
                <a:cubicBezTo>
                  <a:pt x="12793" y="57150"/>
                  <a:pt x="0" y="44357"/>
                  <a:pt x="0" y="28575"/>
                </a:cubicBezTo>
                <a:lnTo>
                  <a:pt x="0" y="28575"/>
                </a:lnTo>
                <a:cubicBezTo>
                  <a:pt x="0" y="12793"/>
                  <a:pt x="12793" y="0"/>
                  <a:pt x="28575" y="0"/>
                </a:cubicBezTo>
                <a:close/>
              </a:path>
            </a:pathLst>
          </a:custGeom>
          <a:solidFill>
            <a:srgbClr val="E65100"/>
          </a:solidFill>
          <a:ln>
            <a:noFill/>
          </a:ln>
        </p:spPr>
      </p:sp>
      <p:sp>
        <p:nvSpPr>
          <p:cNvPr id="16" name="Freeform 16"/>
          <p:cNvSpPr/>
          <p:nvPr/>
        </p:nvSpPr>
        <p:spPr>
          <a:xfrm>
            <a:off x="5521325" y="1619250"/>
            <a:ext cx="1238250" cy="323850"/>
          </a:xfrm>
          <a:custGeom>
            <a:avLst/>
            <a:gdLst/>
            <a:ahLst/>
            <a:cxnLst/>
            <a:rect l="l" t="t" r="r" b="b"/>
            <a:pathLst>
              <a:path w="1238250" h="323850">
                <a:moveTo>
                  <a:pt x="161925" y="0"/>
                </a:moveTo>
                <a:lnTo>
                  <a:pt x="1076325" y="0"/>
                </a:lnTo>
                <a:cubicBezTo>
                  <a:pt x="1165754" y="0"/>
                  <a:pt x="1238250" y="72496"/>
                  <a:pt x="1238250" y="161925"/>
                </a:cubicBezTo>
                <a:lnTo>
                  <a:pt x="1238250" y="161925"/>
                </a:lnTo>
                <a:cubicBezTo>
                  <a:pt x="1238250" y="251354"/>
                  <a:pt x="1165754" y="323850"/>
                  <a:pt x="1076325" y="323850"/>
                </a:cubicBezTo>
                <a:lnTo>
                  <a:pt x="161925" y="323850"/>
                </a:lnTo>
                <a:cubicBezTo>
                  <a:pt x="72496" y="323850"/>
                  <a:pt x="0" y="251354"/>
                  <a:pt x="0" y="161925"/>
                </a:cubicBezTo>
                <a:lnTo>
                  <a:pt x="0" y="161925"/>
                </a:lnTo>
                <a:cubicBezTo>
                  <a:pt x="0" y="72496"/>
                  <a:pt x="72496" y="0"/>
                  <a:pt x="161925" y="0"/>
                </a:cubicBezTo>
                <a:close/>
              </a:path>
            </a:pathLst>
          </a:custGeom>
          <a:solidFill>
            <a:srgbClr val="FFF7ED"/>
          </a:solidFill>
          <a:ln w="9525">
            <a:solidFill>
              <a:srgbClr val="FDBA74"/>
            </a:solidFill>
          </a:ln>
        </p:spPr>
      </p:sp>
      <p:sp>
        <p:nvSpPr>
          <p:cNvPr id="17" name="Freeform 17"/>
          <p:cNvSpPr/>
          <p:nvPr/>
        </p:nvSpPr>
        <p:spPr>
          <a:xfrm>
            <a:off x="5619750" y="1709738"/>
            <a:ext cx="190500" cy="154781"/>
          </a:xfrm>
          <a:custGeom>
            <a:avLst/>
            <a:gdLst/>
            <a:ahLst/>
            <a:cxnLst/>
            <a:rect l="l" t="t" r="r" b="b"/>
            <a:pathLst>
              <a:path w="190500" h="154781">
                <a:moveTo>
                  <a:pt x="130969" y="0"/>
                </a:moveTo>
                <a:lnTo>
                  <a:pt x="0" y="0"/>
                </a:lnTo>
                <a:lnTo>
                  <a:pt x="0" y="130969"/>
                </a:lnTo>
                <a:lnTo>
                  <a:pt x="23812" y="130969"/>
                </a:lnTo>
                <a:cubicBezTo>
                  <a:pt x="23812" y="144120"/>
                  <a:pt x="34474" y="154781"/>
                  <a:pt x="47625" y="154781"/>
                </a:cubicBezTo>
                <a:cubicBezTo>
                  <a:pt x="60776" y="154781"/>
                  <a:pt x="71438" y="144120"/>
                  <a:pt x="71438" y="130969"/>
                </a:cubicBezTo>
                <a:lnTo>
                  <a:pt x="119062" y="130969"/>
                </a:lnTo>
                <a:cubicBezTo>
                  <a:pt x="119062" y="144120"/>
                  <a:pt x="129723" y="154781"/>
                  <a:pt x="142875" y="154781"/>
                </a:cubicBezTo>
                <a:cubicBezTo>
                  <a:pt x="156027" y="154781"/>
                  <a:pt x="166688" y="144120"/>
                  <a:pt x="166688" y="130969"/>
                </a:cubicBezTo>
                <a:lnTo>
                  <a:pt x="190500" y="130969"/>
                </a:lnTo>
                <a:lnTo>
                  <a:pt x="190500" y="71438"/>
                </a:lnTo>
                <a:cubicBezTo>
                  <a:pt x="190500" y="51711"/>
                  <a:pt x="174509" y="35719"/>
                  <a:pt x="154781" y="35719"/>
                </a:cubicBezTo>
                <a:lnTo>
                  <a:pt x="130969" y="35719"/>
                </a:lnTo>
                <a:lnTo>
                  <a:pt x="130969" y="0"/>
                </a:lnTo>
                <a:close/>
                <a:moveTo>
                  <a:pt x="130969" y="59531"/>
                </a:moveTo>
                <a:lnTo>
                  <a:pt x="130969" y="83344"/>
                </a:lnTo>
                <a:lnTo>
                  <a:pt x="166688" y="83344"/>
                </a:lnTo>
                <a:lnTo>
                  <a:pt x="166688" y="59531"/>
                </a:lnTo>
                <a:lnTo>
                  <a:pt x="130969" y="59531"/>
                </a:lnTo>
                <a:close/>
              </a:path>
            </a:pathLst>
          </a:custGeom>
          <a:solidFill>
            <a:srgbClr val="EA580C"/>
          </a:solidFill>
          <a:ln>
            <a:noFill/>
          </a:ln>
        </p:spPr>
      </p:sp>
      <p:sp>
        <p:nvSpPr>
          <p:cNvPr id="18" name="TextBox 18"/>
          <p:cNvSpPr txBox="1"/>
          <p:nvPr/>
        </p:nvSpPr>
        <p:spPr>
          <a:xfrm>
            <a:off x="5875338" y="1710214"/>
            <a:ext cx="884497" cy="198120"/>
          </a:xfrm>
          <a:prstGeom prst="rect">
            <a:avLst/>
          </a:prstGeom>
          <a:noFill/>
          <a:ln>
            <a:noFill/>
          </a:ln>
        </p:spPr>
        <p:txBody>
          <a:bodyPr wrap="none" lIns="0" tIns="0" rIns="0" bIns="0" anchor="t" anchorCtr="0">
            <a:spAutoFit/>
          </a:bodyPr>
          <a:lstStyle/>
          <a:p>
            <a:pPr algn="l"/>
            <a:r>
              <a:rPr lang="zh-CN" sz="975" b="1" dirty="0">
                <a:solidFill>
                  <a:srgbClr val="C2410C"/>
                </a:solidFill>
                <a:latin typeface="Arial" panose="020B0704020202020204"/>
                <a:ea typeface="Arial" panose="020B0704020202020204"/>
                <a:cs typeface="Arial" panose="020B0704020202020204"/>
              </a:rPr>
              <a:t>ANDROID APP</a:t>
            </a:r>
            <a:endParaRPr lang="zh-CN" sz="975" b="1" dirty="0">
              <a:solidFill>
                <a:srgbClr val="C2410C"/>
              </a:solidFill>
              <a:latin typeface="Arial" panose="020B0704020202020204"/>
              <a:ea typeface="Arial" panose="020B0704020202020204"/>
              <a:cs typeface="Arial" panose="020B0704020202020204"/>
            </a:endParaRPr>
          </a:p>
        </p:txBody>
      </p:sp>
      <p:sp>
        <p:nvSpPr>
          <p:cNvPr id="19" name="TextBox 19"/>
          <p:cNvSpPr txBox="1"/>
          <p:nvPr/>
        </p:nvSpPr>
        <p:spPr>
          <a:xfrm>
            <a:off x="3609315" y="2055495"/>
            <a:ext cx="4973369" cy="792480"/>
          </a:xfrm>
          <a:prstGeom prst="rect">
            <a:avLst/>
          </a:prstGeom>
          <a:noFill/>
          <a:ln>
            <a:noFill/>
          </a:ln>
        </p:spPr>
        <p:txBody>
          <a:bodyPr wrap="none" lIns="0" tIns="0" rIns="0" bIns="0" anchor="t" anchorCtr="0">
            <a:spAutoFit/>
          </a:bodyPr>
          <a:lstStyle/>
          <a:p>
            <a:pPr algn="ctr"/>
            <a:r>
              <a:rPr lang="zh-CN" sz="3900" b="1" spc="100" dirty="0">
                <a:solidFill>
                  <a:srgbClr val="003366"/>
                </a:solidFill>
                <a:latin typeface="Arial" panose="020B0704020202020204"/>
                <a:ea typeface="Arial" panose="020B0704020202020204"/>
                <a:cs typeface="Arial" panose="020B0704020202020204"/>
              </a:rPr>
              <a:t>GODROP DELIVERY</a:t>
            </a:r>
            <a:endParaRPr lang="zh-CN" sz="3900" b="1" spc="100" dirty="0">
              <a:solidFill>
                <a:srgbClr val="003366"/>
              </a:solidFill>
              <a:latin typeface="Arial" panose="020B0704020202020204"/>
              <a:ea typeface="Arial" panose="020B0704020202020204"/>
              <a:cs typeface="Arial" panose="020B0704020202020204"/>
            </a:endParaRPr>
          </a:p>
        </p:txBody>
      </p:sp>
      <p:sp>
        <p:nvSpPr>
          <p:cNvPr id="20" name="TextBox 20"/>
          <p:cNvSpPr txBox="1"/>
          <p:nvPr/>
        </p:nvSpPr>
        <p:spPr>
          <a:xfrm>
            <a:off x="2441576" y="2727008"/>
            <a:ext cx="7308850" cy="253365"/>
          </a:xfrm>
          <a:prstGeom prst="rect">
            <a:avLst/>
          </a:prstGeom>
          <a:noFill/>
          <a:ln>
            <a:noFill/>
          </a:ln>
        </p:spPr>
        <p:txBody>
          <a:bodyPr wrap="none" lIns="0" tIns="0" rIns="0" bIns="0" anchor="t" anchorCtr="0">
            <a:spAutoFit/>
          </a:bodyPr>
          <a:lstStyle/>
          <a:p>
            <a:pPr algn="ctr"/>
            <a:r>
              <a:rPr lang="zh-CN" sz="1650" dirty="0">
                <a:solidFill>
                  <a:srgbClr val="475569"/>
                </a:solidFill>
                <a:latin typeface="Arial" panose="020B0704020202020204"/>
                <a:ea typeface="Arial" panose="020B0704020202020204"/>
                <a:cs typeface="Arial" panose="020B0704020202020204"/>
              </a:rPr>
              <a:t>Ứng dụng Giao hàng Đa vai trò trên nền tảng Android &amp; Backend RESTful API</a:t>
            </a:r>
            <a:endParaRPr lang="zh-CN" sz="1650" dirty="0">
              <a:solidFill>
                <a:srgbClr val="475569"/>
              </a:solidFill>
              <a:latin typeface="Arial" panose="020B0704020202020204"/>
              <a:ea typeface="Arial" panose="020B0704020202020204"/>
              <a:cs typeface="Arial" panose="020B0704020202020204"/>
            </a:endParaRPr>
          </a:p>
        </p:txBody>
      </p:sp>
      <p:sp>
        <p:nvSpPr>
          <p:cNvPr id="21" name="Line 21"/>
          <p:cNvSpPr/>
          <p:nvPr/>
        </p:nvSpPr>
        <p:spPr>
          <a:xfrm>
            <a:off x="3238500" y="3238500"/>
            <a:ext cx="5715000" cy="9525"/>
          </a:xfrm>
          <a:custGeom>
            <a:avLst/>
            <a:gdLst/>
            <a:ahLst/>
            <a:cxnLst/>
            <a:rect l="l" t="t" r="r" b="b"/>
            <a:pathLst>
              <a:path w="5715000" h="9525">
                <a:moveTo>
                  <a:pt x="0" y="0"/>
                </a:moveTo>
                <a:lnTo>
                  <a:pt x="5715000" y="0"/>
                </a:lnTo>
              </a:path>
            </a:pathLst>
          </a:custGeom>
          <a:noFill/>
          <a:ln w="14288">
            <a:solidFill>
              <a:srgbClr val="CBD5E1"/>
            </a:solidFill>
          </a:ln>
        </p:spPr>
      </p:sp>
      <p:sp>
        <p:nvSpPr>
          <p:cNvPr id="22" name="Ellipse 22"/>
          <p:cNvSpPr/>
          <p:nvPr/>
        </p:nvSpPr>
        <p:spPr>
          <a:xfrm>
            <a:off x="6048375" y="3190875"/>
            <a:ext cx="95250" cy="95250"/>
          </a:xfrm>
          <a:prstGeom prst="ellipse">
            <a:avLst/>
          </a:prstGeom>
          <a:solidFill>
            <a:srgbClr val="E65100"/>
          </a:solidFill>
          <a:ln>
            <a:noFill/>
          </a:ln>
        </p:spPr>
      </p:sp>
      <p:sp>
        <p:nvSpPr>
          <p:cNvPr id="23" name="Ellipse 23"/>
          <p:cNvSpPr/>
          <p:nvPr/>
        </p:nvSpPr>
        <p:spPr>
          <a:xfrm>
            <a:off x="5876925" y="3209925"/>
            <a:ext cx="57150" cy="57150"/>
          </a:xfrm>
          <a:prstGeom prst="ellipse">
            <a:avLst/>
          </a:prstGeom>
          <a:solidFill>
            <a:srgbClr val="003366"/>
          </a:solidFill>
          <a:ln>
            <a:noFill/>
          </a:ln>
        </p:spPr>
      </p:sp>
      <p:sp>
        <p:nvSpPr>
          <p:cNvPr id="24" name="Ellipse 24"/>
          <p:cNvSpPr/>
          <p:nvPr/>
        </p:nvSpPr>
        <p:spPr>
          <a:xfrm>
            <a:off x="6257925" y="3209925"/>
            <a:ext cx="57150" cy="57150"/>
          </a:xfrm>
          <a:prstGeom prst="ellipse">
            <a:avLst/>
          </a:prstGeom>
          <a:solidFill>
            <a:srgbClr val="003366"/>
          </a:solidFill>
          <a:ln>
            <a:noFill/>
          </a:ln>
        </p:spPr>
      </p:sp>
      <p:sp>
        <p:nvSpPr>
          <p:cNvPr id="25" name="Freeform 25"/>
          <p:cNvSpPr/>
          <p:nvPr/>
        </p:nvSpPr>
        <p:spPr>
          <a:xfrm>
            <a:off x="2190750" y="3571875"/>
            <a:ext cx="2286000" cy="400050"/>
          </a:xfrm>
          <a:custGeom>
            <a:avLst/>
            <a:gdLst/>
            <a:ahLst/>
            <a:cxnLst/>
            <a:rect l="l" t="t" r="r" b="b"/>
            <a:pathLst>
              <a:path w="2286000" h="400050">
                <a:moveTo>
                  <a:pt x="76200" y="0"/>
                </a:moveTo>
                <a:lnTo>
                  <a:pt x="2209800" y="0"/>
                </a:lnTo>
                <a:cubicBezTo>
                  <a:pt x="2251884" y="0"/>
                  <a:pt x="2286000" y="34116"/>
                  <a:pt x="2286000" y="76200"/>
                </a:cubicBezTo>
                <a:lnTo>
                  <a:pt x="2286000" y="323850"/>
                </a:lnTo>
                <a:cubicBezTo>
                  <a:pt x="2286000" y="365934"/>
                  <a:pt x="2251884" y="400050"/>
                  <a:pt x="2209800" y="400050"/>
                </a:cubicBezTo>
                <a:lnTo>
                  <a:pt x="76200" y="400050"/>
                </a:lnTo>
                <a:cubicBezTo>
                  <a:pt x="34116" y="400050"/>
                  <a:pt x="0" y="365934"/>
                  <a:pt x="0" y="323850"/>
                </a:cubicBezTo>
                <a:lnTo>
                  <a:pt x="0" y="76200"/>
                </a:lnTo>
                <a:cubicBezTo>
                  <a:pt x="0" y="34116"/>
                  <a:pt x="34116" y="0"/>
                  <a:pt x="76200" y="0"/>
                </a:cubicBezTo>
                <a:close/>
              </a:path>
            </a:pathLst>
          </a:custGeom>
          <a:solidFill>
            <a:srgbClr val="F1F5F9"/>
          </a:solidFill>
          <a:ln>
            <a:noFill/>
          </a:ln>
        </p:spPr>
      </p:sp>
      <p:sp>
        <p:nvSpPr>
          <p:cNvPr id="26" name="TextBox 26"/>
          <p:cNvSpPr txBox="1"/>
          <p:nvPr/>
        </p:nvSpPr>
        <p:spPr>
          <a:xfrm>
            <a:off x="2271394" y="3698081"/>
            <a:ext cx="2124712" cy="228600"/>
          </a:xfrm>
          <a:prstGeom prst="rect">
            <a:avLst/>
          </a:prstGeom>
          <a:noFill/>
          <a:ln>
            <a:noFill/>
          </a:ln>
        </p:spPr>
        <p:txBody>
          <a:bodyPr wrap="none" lIns="0" tIns="0" rIns="0" bIns="0" anchor="t" anchorCtr="0">
            <a:spAutoFit/>
          </a:bodyPr>
          <a:lstStyle/>
          <a:p>
            <a:pPr algn="ctr"/>
            <a:r>
              <a:rPr lang="zh-CN" sz="1125" b="1" dirty="0">
                <a:solidFill>
                  <a:srgbClr val="0F172A"/>
                </a:solidFill>
                <a:latin typeface="Arial" panose="020B0704020202020204"/>
                <a:ea typeface="Arial" panose="020B0704020202020204"/>
                <a:cs typeface="Arial" panose="020B0704020202020204"/>
              </a:rPr>
              <a:t>Kotlin &amp; Jetpack Compose</a:t>
            </a:r>
            <a:endParaRPr lang="zh-CN" sz="1125" b="1" dirty="0">
              <a:solidFill>
                <a:srgbClr val="0F172A"/>
              </a:solidFill>
              <a:latin typeface="Arial" panose="020B0704020202020204"/>
              <a:ea typeface="Arial" panose="020B0704020202020204"/>
              <a:cs typeface="Arial" panose="020B0704020202020204"/>
            </a:endParaRPr>
          </a:p>
        </p:txBody>
      </p:sp>
      <p:sp>
        <p:nvSpPr>
          <p:cNvPr id="27" name="Freeform 27"/>
          <p:cNvSpPr/>
          <p:nvPr/>
        </p:nvSpPr>
        <p:spPr>
          <a:xfrm>
            <a:off x="4953000" y="3571875"/>
            <a:ext cx="2286000" cy="400050"/>
          </a:xfrm>
          <a:custGeom>
            <a:avLst/>
            <a:gdLst/>
            <a:ahLst/>
            <a:cxnLst/>
            <a:rect l="l" t="t" r="r" b="b"/>
            <a:pathLst>
              <a:path w="2286000" h="400050">
                <a:moveTo>
                  <a:pt x="76200" y="0"/>
                </a:moveTo>
                <a:lnTo>
                  <a:pt x="2209800" y="0"/>
                </a:lnTo>
                <a:cubicBezTo>
                  <a:pt x="2251884" y="0"/>
                  <a:pt x="2286000" y="34116"/>
                  <a:pt x="2286000" y="76200"/>
                </a:cubicBezTo>
                <a:lnTo>
                  <a:pt x="2286000" y="323850"/>
                </a:lnTo>
                <a:cubicBezTo>
                  <a:pt x="2286000" y="365934"/>
                  <a:pt x="2251884" y="400050"/>
                  <a:pt x="2209800" y="400050"/>
                </a:cubicBezTo>
                <a:lnTo>
                  <a:pt x="76200" y="400050"/>
                </a:lnTo>
                <a:cubicBezTo>
                  <a:pt x="34116" y="400050"/>
                  <a:pt x="0" y="365934"/>
                  <a:pt x="0" y="323850"/>
                </a:cubicBezTo>
                <a:lnTo>
                  <a:pt x="0" y="76200"/>
                </a:lnTo>
                <a:cubicBezTo>
                  <a:pt x="0" y="34116"/>
                  <a:pt x="34116" y="0"/>
                  <a:pt x="76200" y="0"/>
                </a:cubicBezTo>
                <a:close/>
              </a:path>
            </a:pathLst>
          </a:custGeom>
          <a:solidFill>
            <a:srgbClr val="F1F5F9"/>
          </a:solidFill>
          <a:ln>
            <a:noFill/>
          </a:ln>
        </p:spPr>
      </p:sp>
      <p:sp>
        <p:nvSpPr>
          <p:cNvPr id="28" name="TextBox 28"/>
          <p:cNvSpPr txBox="1"/>
          <p:nvPr/>
        </p:nvSpPr>
        <p:spPr>
          <a:xfrm>
            <a:off x="5154409" y="3698081"/>
            <a:ext cx="1883182" cy="228600"/>
          </a:xfrm>
          <a:prstGeom prst="rect">
            <a:avLst/>
          </a:prstGeom>
          <a:noFill/>
          <a:ln>
            <a:noFill/>
          </a:ln>
        </p:spPr>
        <p:txBody>
          <a:bodyPr wrap="none" lIns="0" tIns="0" rIns="0" bIns="0" anchor="t" anchorCtr="0">
            <a:spAutoFit/>
          </a:bodyPr>
          <a:lstStyle/>
          <a:p>
            <a:pPr algn="ctr"/>
            <a:r>
              <a:rPr lang="zh-CN" sz="1125" b="1" dirty="0">
                <a:solidFill>
                  <a:srgbClr val="0F172A"/>
                </a:solidFill>
                <a:latin typeface="Arial" panose="020B0704020202020204"/>
                <a:ea typeface="Arial" panose="020B0704020202020204"/>
                <a:cs typeface="Arial" panose="020B0704020202020204"/>
              </a:rPr>
              <a:t>Spring Boot &amp; MongoDB</a:t>
            </a:r>
            <a:endParaRPr lang="zh-CN" sz="1125" b="1" dirty="0">
              <a:solidFill>
                <a:srgbClr val="0F172A"/>
              </a:solidFill>
              <a:latin typeface="Arial" panose="020B0704020202020204"/>
              <a:ea typeface="Arial" panose="020B0704020202020204"/>
              <a:cs typeface="Arial" panose="020B0704020202020204"/>
            </a:endParaRPr>
          </a:p>
        </p:txBody>
      </p:sp>
      <p:sp>
        <p:nvSpPr>
          <p:cNvPr id="29" name="Freeform 29"/>
          <p:cNvSpPr/>
          <p:nvPr/>
        </p:nvSpPr>
        <p:spPr>
          <a:xfrm>
            <a:off x="7715250" y="3571875"/>
            <a:ext cx="2286000" cy="400050"/>
          </a:xfrm>
          <a:custGeom>
            <a:avLst/>
            <a:gdLst/>
            <a:ahLst/>
            <a:cxnLst/>
            <a:rect l="l" t="t" r="r" b="b"/>
            <a:pathLst>
              <a:path w="2286000" h="400050">
                <a:moveTo>
                  <a:pt x="76200" y="0"/>
                </a:moveTo>
                <a:lnTo>
                  <a:pt x="2209800" y="0"/>
                </a:lnTo>
                <a:cubicBezTo>
                  <a:pt x="2251884" y="0"/>
                  <a:pt x="2286000" y="34116"/>
                  <a:pt x="2286000" y="76200"/>
                </a:cubicBezTo>
                <a:lnTo>
                  <a:pt x="2286000" y="323850"/>
                </a:lnTo>
                <a:cubicBezTo>
                  <a:pt x="2286000" y="365934"/>
                  <a:pt x="2251884" y="400050"/>
                  <a:pt x="2209800" y="400050"/>
                </a:cubicBezTo>
                <a:lnTo>
                  <a:pt x="76200" y="400050"/>
                </a:lnTo>
                <a:cubicBezTo>
                  <a:pt x="34116" y="400050"/>
                  <a:pt x="0" y="365934"/>
                  <a:pt x="0" y="323850"/>
                </a:cubicBezTo>
                <a:lnTo>
                  <a:pt x="0" y="76200"/>
                </a:lnTo>
                <a:cubicBezTo>
                  <a:pt x="0" y="34116"/>
                  <a:pt x="34116" y="0"/>
                  <a:pt x="76200" y="0"/>
                </a:cubicBezTo>
                <a:close/>
              </a:path>
            </a:pathLst>
          </a:custGeom>
          <a:solidFill>
            <a:srgbClr val="F1F5F9"/>
          </a:solidFill>
          <a:ln>
            <a:noFill/>
          </a:ln>
        </p:spPr>
      </p:sp>
      <p:sp>
        <p:nvSpPr>
          <p:cNvPr id="30" name="TextBox 30"/>
          <p:cNvSpPr txBox="1"/>
          <p:nvPr/>
        </p:nvSpPr>
        <p:spPr>
          <a:xfrm>
            <a:off x="7739824" y="3698081"/>
            <a:ext cx="2236851" cy="228600"/>
          </a:xfrm>
          <a:prstGeom prst="rect">
            <a:avLst/>
          </a:prstGeom>
          <a:noFill/>
          <a:ln>
            <a:noFill/>
          </a:ln>
        </p:spPr>
        <p:txBody>
          <a:bodyPr wrap="none" lIns="0" tIns="0" rIns="0" bIns="0" anchor="t" anchorCtr="0">
            <a:spAutoFit/>
          </a:bodyPr>
          <a:lstStyle/>
          <a:p>
            <a:pPr algn="ctr"/>
            <a:r>
              <a:rPr lang="zh-CN" sz="1125" b="1" dirty="0">
                <a:solidFill>
                  <a:srgbClr val="0F172A"/>
                </a:solidFill>
                <a:latin typeface="Arial" panose="020B0704020202020204"/>
                <a:ea typeface="Arial" panose="020B0704020202020204"/>
                <a:cs typeface="Arial" panose="020B0704020202020204"/>
              </a:rPr>
              <a:t>MVVM &amp; Optimistic Locking</a:t>
            </a:r>
            <a:endParaRPr lang="zh-CN" sz="1125" b="1" dirty="0">
              <a:solidFill>
                <a:srgbClr val="0F172A"/>
              </a:solidFill>
              <a:latin typeface="Arial" panose="020B0704020202020204"/>
              <a:ea typeface="Arial" panose="020B0704020202020204"/>
              <a:cs typeface="Arial" panose="020B0704020202020204"/>
            </a:endParaRPr>
          </a:p>
        </p:txBody>
      </p:sp>
      <p:sp>
        <p:nvSpPr>
          <p:cNvPr id="31" name="Freeform 31"/>
          <p:cNvSpPr/>
          <p:nvPr/>
        </p:nvSpPr>
        <p:spPr>
          <a:xfrm>
            <a:off x="1333500" y="4810125"/>
            <a:ext cx="9525000" cy="1285875"/>
          </a:xfrm>
          <a:custGeom>
            <a:avLst/>
            <a:gdLst/>
            <a:ahLst/>
            <a:cxnLst/>
            <a:rect l="l" t="t" r="r" b="b"/>
            <a:pathLst>
              <a:path w="9525000" h="1285875">
                <a:moveTo>
                  <a:pt x="95250" y="0"/>
                </a:moveTo>
                <a:lnTo>
                  <a:pt x="9429750" y="0"/>
                </a:lnTo>
                <a:cubicBezTo>
                  <a:pt x="9482355" y="0"/>
                  <a:pt x="9525000" y="42645"/>
                  <a:pt x="9525000" y="95250"/>
                </a:cubicBezTo>
                <a:lnTo>
                  <a:pt x="9525000" y="1190625"/>
                </a:lnTo>
                <a:cubicBezTo>
                  <a:pt x="9525000" y="1243230"/>
                  <a:pt x="9482355" y="1285875"/>
                  <a:pt x="9429750" y="1285875"/>
                </a:cubicBezTo>
                <a:lnTo>
                  <a:pt x="95250" y="1285875"/>
                </a:lnTo>
                <a:cubicBezTo>
                  <a:pt x="42645" y="1285875"/>
                  <a:pt x="0" y="1243230"/>
                  <a:pt x="0" y="1190625"/>
                </a:cubicBezTo>
                <a:lnTo>
                  <a:pt x="0" y="95250"/>
                </a:lnTo>
                <a:cubicBezTo>
                  <a:pt x="0" y="42645"/>
                  <a:pt x="42645" y="0"/>
                  <a:pt x="95250" y="0"/>
                </a:cubicBezTo>
                <a:close/>
              </a:path>
            </a:pathLst>
          </a:custGeom>
          <a:solidFill>
            <a:srgbClr val="FFFFFF"/>
          </a:solidFill>
          <a:ln w="9525">
            <a:solidFill>
              <a:srgbClr val="E2E8F0"/>
            </a:solidFill>
          </a:ln>
        </p:spPr>
      </p:sp>
      <p:sp>
        <p:nvSpPr>
          <p:cNvPr id="32" name="TextBox 32"/>
          <p:cNvSpPr txBox="1"/>
          <p:nvPr/>
        </p:nvSpPr>
        <p:spPr>
          <a:xfrm>
            <a:off x="1604962" y="4974431"/>
            <a:ext cx="3202972" cy="228600"/>
          </a:xfrm>
          <a:prstGeom prst="rect">
            <a:avLst/>
          </a:prstGeom>
          <a:noFill/>
          <a:ln>
            <a:noFill/>
          </a:ln>
        </p:spPr>
        <p:txBody>
          <a:bodyPr wrap="none" lIns="0" tIns="0" rIns="0" bIns="0" anchor="t" anchorCtr="0">
            <a:spAutoFit/>
          </a:bodyPr>
          <a:lstStyle/>
          <a:p>
            <a:pPr algn="l"/>
            <a:r>
              <a:rPr lang="zh-CN" sz="1125" b="1" dirty="0">
                <a:solidFill>
                  <a:srgbClr val="003366"/>
                </a:solidFill>
                <a:latin typeface="Arial" panose="020B0704020202020204"/>
                <a:ea typeface="Arial" panose="020B0704020202020204"/>
                <a:cs typeface="Arial" panose="020B0704020202020204"/>
              </a:rPr>
              <a:t>DANH SÁCH THÀNH VIÊN THỰC HIỆN ĐỀ TÀI:</a:t>
            </a:r>
            <a:endParaRPr lang="zh-CN" sz="1125" b="1" dirty="0">
              <a:solidFill>
                <a:srgbClr val="003366"/>
              </a:solidFill>
              <a:latin typeface="Arial" panose="020B0704020202020204"/>
              <a:ea typeface="Arial" panose="020B0704020202020204"/>
              <a:cs typeface="Arial" panose="020B0704020202020204"/>
            </a:endParaRPr>
          </a:p>
        </p:txBody>
      </p:sp>
      <p:sp>
        <p:nvSpPr>
          <p:cNvPr id="33" name="Freeform 33"/>
          <p:cNvSpPr/>
          <p:nvPr/>
        </p:nvSpPr>
        <p:spPr>
          <a:xfrm>
            <a:off x="1619250" y="5238750"/>
            <a:ext cx="2095500" cy="666750"/>
          </a:xfrm>
          <a:custGeom>
            <a:avLst/>
            <a:gdLst/>
            <a:ahLst/>
            <a:cxnLst/>
            <a:rect l="l" t="t" r="r" b="b"/>
            <a:pathLst>
              <a:path w="2095500" h="666750">
                <a:moveTo>
                  <a:pt x="57150" y="0"/>
                </a:moveTo>
                <a:lnTo>
                  <a:pt x="2038350" y="0"/>
                </a:lnTo>
                <a:cubicBezTo>
                  <a:pt x="2069913" y="0"/>
                  <a:pt x="2095500" y="25587"/>
                  <a:pt x="2095500" y="57150"/>
                </a:cubicBezTo>
                <a:lnTo>
                  <a:pt x="2095500" y="609600"/>
                </a:lnTo>
                <a:cubicBezTo>
                  <a:pt x="2095500" y="641163"/>
                  <a:pt x="2069913" y="666750"/>
                  <a:pt x="2038350" y="666750"/>
                </a:cubicBezTo>
                <a:lnTo>
                  <a:pt x="57150" y="666750"/>
                </a:lnTo>
                <a:cubicBezTo>
                  <a:pt x="25587" y="666750"/>
                  <a:pt x="0" y="641163"/>
                  <a:pt x="0" y="609600"/>
                </a:cubicBezTo>
                <a:lnTo>
                  <a:pt x="0" y="57150"/>
                </a:lnTo>
                <a:cubicBezTo>
                  <a:pt x="0" y="25587"/>
                  <a:pt x="25587" y="0"/>
                  <a:pt x="57150" y="0"/>
                </a:cubicBezTo>
                <a:close/>
              </a:path>
            </a:pathLst>
          </a:custGeom>
          <a:solidFill>
            <a:srgbClr val="F8FAFC"/>
          </a:solidFill>
          <a:ln w="9525">
            <a:solidFill>
              <a:srgbClr val="E2E8F0"/>
            </a:solidFill>
          </a:ln>
        </p:spPr>
      </p:sp>
      <p:sp>
        <p:nvSpPr>
          <p:cNvPr id="34" name="Freeform 34"/>
          <p:cNvSpPr/>
          <p:nvPr/>
        </p:nvSpPr>
        <p:spPr>
          <a:xfrm>
            <a:off x="1827609" y="5394722"/>
            <a:ext cx="78581" cy="78581"/>
          </a:xfrm>
          <a:custGeom>
            <a:avLst/>
            <a:gdLst/>
            <a:ahLst/>
            <a:cxnLst/>
            <a:rect l="l" t="t" r="r" b="b"/>
            <a:pathLst>
              <a:path w="78581" h="78581">
                <a:moveTo>
                  <a:pt x="39291" y="78581"/>
                </a:moveTo>
                <a:cubicBezTo>
                  <a:pt x="60990" y="78581"/>
                  <a:pt x="78581" y="60990"/>
                  <a:pt x="78581" y="39291"/>
                </a:cubicBezTo>
                <a:cubicBezTo>
                  <a:pt x="78581" y="17591"/>
                  <a:pt x="60990" y="0"/>
                  <a:pt x="39291" y="0"/>
                </a:cubicBezTo>
                <a:cubicBezTo>
                  <a:pt x="17591" y="0"/>
                  <a:pt x="0" y="17591"/>
                  <a:pt x="0" y="39291"/>
                </a:cubicBezTo>
                <a:cubicBezTo>
                  <a:pt x="0" y="60990"/>
                  <a:pt x="17591" y="78581"/>
                  <a:pt x="39291" y="78581"/>
                </a:cubicBezTo>
                <a:close/>
              </a:path>
            </a:pathLst>
          </a:custGeom>
          <a:solidFill>
            <a:srgbClr val="003366"/>
          </a:solidFill>
          <a:ln>
            <a:noFill/>
          </a:ln>
        </p:spPr>
      </p:sp>
      <p:sp>
        <p:nvSpPr>
          <p:cNvPr id="35" name="Freeform 35"/>
          <p:cNvSpPr/>
          <p:nvPr/>
        </p:nvSpPr>
        <p:spPr>
          <a:xfrm>
            <a:off x="1788319" y="5499497"/>
            <a:ext cx="157162" cy="78581"/>
          </a:xfrm>
          <a:custGeom>
            <a:avLst/>
            <a:gdLst/>
            <a:ahLst/>
            <a:cxnLst/>
            <a:rect l="l" t="t" r="r" b="b"/>
            <a:pathLst>
              <a:path w="157162" h="78581">
                <a:moveTo>
                  <a:pt x="157162" y="39291"/>
                </a:moveTo>
                <a:cubicBezTo>
                  <a:pt x="157162" y="17590"/>
                  <a:pt x="139572" y="0"/>
                  <a:pt x="117872" y="0"/>
                </a:cubicBezTo>
                <a:lnTo>
                  <a:pt x="39291" y="0"/>
                </a:lnTo>
                <a:cubicBezTo>
                  <a:pt x="17591" y="0"/>
                  <a:pt x="0" y="17590"/>
                  <a:pt x="0" y="39291"/>
                </a:cubicBezTo>
                <a:lnTo>
                  <a:pt x="0" y="78581"/>
                </a:lnTo>
                <a:lnTo>
                  <a:pt x="157162" y="78581"/>
                </a:lnTo>
                <a:lnTo>
                  <a:pt x="157162" y="39291"/>
                </a:lnTo>
                <a:close/>
              </a:path>
            </a:pathLst>
          </a:custGeom>
          <a:solidFill>
            <a:srgbClr val="003366"/>
          </a:solidFill>
          <a:ln>
            <a:noFill/>
          </a:ln>
        </p:spPr>
      </p:sp>
      <p:sp>
        <p:nvSpPr>
          <p:cNvPr id="36" name="TextBox 36"/>
          <p:cNvSpPr txBox="1"/>
          <p:nvPr/>
        </p:nvSpPr>
        <p:spPr>
          <a:xfrm>
            <a:off x="2062162" y="5364956"/>
            <a:ext cx="1322487" cy="228600"/>
          </a:xfrm>
          <a:prstGeom prst="rect">
            <a:avLst/>
          </a:prstGeom>
          <a:noFill/>
          <a:ln>
            <a:noFill/>
          </a:ln>
        </p:spPr>
        <p:txBody>
          <a:bodyPr wrap="none" lIns="0" tIns="0" rIns="0" bIns="0" anchor="t" anchorCtr="0">
            <a:spAutoFit/>
          </a:bodyPr>
          <a:lstStyle/>
          <a:p>
            <a:pPr algn="l"/>
            <a:r>
              <a:rPr lang="zh-CN" sz="1125" b="1" dirty="0">
                <a:solidFill>
                  <a:srgbClr val="0F172A"/>
                </a:solidFill>
                <a:latin typeface="Arial" panose="020B0704020202020204"/>
                <a:ea typeface="Arial" panose="020B0704020202020204"/>
                <a:cs typeface="Arial" panose="020B0704020202020204"/>
              </a:rPr>
              <a:t>Nguyễn Tấn Hiệp</a:t>
            </a:r>
            <a:endParaRPr lang="zh-CN" sz="1125" b="1" dirty="0">
              <a:solidFill>
                <a:srgbClr val="0F172A"/>
              </a:solidFill>
              <a:latin typeface="Arial" panose="020B0704020202020204"/>
              <a:ea typeface="Arial" panose="020B0704020202020204"/>
              <a:cs typeface="Arial" panose="020B0704020202020204"/>
            </a:endParaRPr>
          </a:p>
        </p:txBody>
      </p:sp>
      <p:sp>
        <p:nvSpPr>
          <p:cNvPr id="37" name="TextBox 37"/>
          <p:cNvSpPr txBox="1"/>
          <p:nvPr/>
        </p:nvSpPr>
        <p:spPr>
          <a:xfrm>
            <a:off x="2064068" y="5609749"/>
            <a:ext cx="1391793"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panose="020B0704020202020204"/>
                <a:ea typeface="Arial" panose="020B0704020202020204"/>
                <a:cs typeface="Arial" panose="020B0704020202020204"/>
              </a:rPr>
              <a:t>MSSV: 087205010642</a:t>
            </a:r>
            <a:endParaRPr lang="zh-CN" sz="975" dirty="0">
              <a:solidFill>
                <a:srgbClr val="64748B"/>
              </a:solidFill>
              <a:latin typeface="Arial" panose="020B0704020202020204"/>
              <a:ea typeface="Arial" panose="020B0704020202020204"/>
              <a:cs typeface="Arial" panose="020B0704020202020204"/>
            </a:endParaRPr>
          </a:p>
        </p:txBody>
      </p:sp>
      <p:sp>
        <p:nvSpPr>
          <p:cNvPr id="38" name="Freeform 38"/>
          <p:cNvSpPr/>
          <p:nvPr/>
        </p:nvSpPr>
        <p:spPr>
          <a:xfrm>
            <a:off x="3905250" y="5238750"/>
            <a:ext cx="2095500" cy="666750"/>
          </a:xfrm>
          <a:custGeom>
            <a:avLst/>
            <a:gdLst/>
            <a:ahLst/>
            <a:cxnLst/>
            <a:rect l="l" t="t" r="r" b="b"/>
            <a:pathLst>
              <a:path w="2095500" h="666750">
                <a:moveTo>
                  <a:pt x="57150" y="0"/>
                </a:moveTo>
                <a:lnTo>
                  <a:pt x="2038350" y="0"/>
                </a:lnTo>
                <a:cubicBezTo>
                  <a:pt x="2069913" y="0"/>
                  <a:pt x="2095500" y="25587"/>
                  <a:pt x="2095500" y="57150"/>
                </a:cubicBezTo>
                <a:lnTo>
                  <a:pt x="2095500" y="609600"/>
                </a:lnTo>
                <a:cubicBezTo>
                  <a:pt x="2095500" y="641163"/>
                  <a:pt x="2069913" y="666750"/>
                  <a:pt x="2038350" y="666750"/>
                </a:cubicBezTo>
                <a:lnTo>
                  <a:pt x="57150" y="666750"/>
                </a:lnTo>
                <a:cubicBezTo>
                  <a:pt x="25587" y="666750"/>
                  <a:pt x="0" y="641163"/>
                  <a:pt x="0" y="609600"/>
                </a:cubicBezTo>
                <a:lnTo>
                  <a:pt x="0" y="57150"/>
                </a:lnTo>
                <a:cubicBezTo>
                  <a:pt x="0" y="25587"/>
                  <a:pt x="25587" y="0"/>
                  <a:pt x="57150" y="0"/>
                </a:cubicBezTo>
                <a:close/>
              </a:path>
            </a:pathLst>
          </a:custGeom>
          <a:solidFill>
            <a:srgbClr val="F8FAFC"/>
          </a:solidFill>
          <a:ln w="9525">
            <a:solidFill>
              <a:srgbClr val="E2E8F0"/>
            </a:solidFill>
          </a:ln>
        </p:spPr>
      </p:sp>
      <p:sp>
        <p:nvSpPr>
          <p:cNvPr id="39" name="Freeform 39"/>
          <p:cNvSpPr/>
          <p:nvPr/>
        </p:nvSpPr>
        <p:spPr>
          <a:xfrm>
            <a:off x="4113609" y="5394722"/>
            <a:ext cx="78581" cy="78581"/>
          </a:xfrm>
          <a:custGeom>
            <a:avLst/>
            <a:gdLst/>
            <a:ahLst/>
            <a:cxnLst/>
            <a:rect l="l" t="t" r="r" b="b"/>
            <a:pathLst>
              <a:path w="78581" h="78581">
                <a:moveTo>
                  <a:pt x="39291" y="78581"/>
                </a:moveTo>
                <a:cubicBezTo>
                  <a:pt x="60990" y="78581"/>
                  <a:pt x="78581" y="60990"/>
                  <a:pt x="78581" y="39291"/>
                </a:cubicBezTo>
                <a:cubicBezTo>
                  <a:pt x="78581" y="17591"/>
                  <a:pt x="60990" y="0"/>
                  <a:pt x="39291" y="0"/>
                </a:cubicBezTo>
                <a:cubicBezTo>
                  <a:pt x="17591" y="0"/>
                  <a:pt x="0" y="17591"/>
                  <a:pt x="0" y="39291"/>
                </a:cubicBezTo>
                <a:cubicBezTo>
                  <a:pt x="0" y="60990"/>
                  <a:pt x="17591" y="78581"/>
                  <a:pt x="39291" y="78581"/>
                </a:cubicBezTo>
                <a:close/>
              </a:path>
            </a:pathLst>
          </a:custGeom>
          <a:solidFill>
            <a:srgbClr val="003366"/>
          </a:solidFill>
          <a:ln>
            <a:noFill/>
          </a:ln>
        </p:spPr>
      </p:sp>
      <p:sp>
        <p:nvSpPr>
          <p:cNvPr id="40" name="Freeform 40"/>
          <p:cNvSpPr/>
          <p:nvPr/>
        </p:nvSpPr>
        <p:spPr>
          <a:xfrm>
            <a:off x="4074319" y="5499497"/>
            <a:ext cx="157162" cy="78581"/>
          </a:xfrm>
          <a:custGeom>
            <a:avLst/>
            <a:gdLst/>
            <a:ahLst/>
            <a:cxnLst/>
            <a:rect l="l" t="t" r="r" b="b"/>
            <a:pathLst>
              <a:path w="157162" h="78581">
                <a:moveTo>
                  <a:pt x="157162" y="39291"/>
                </a:moveTo>
                <a:cubicBezTo>
                  <a:pt x="157162" y="17590"/>
                  <a:pt x="139572" y="0"/>
                  <a:pt x="117872" y="0"/>
                </a:cubicBezTo>
                <a:lnTo>
                  <a:pt x="39291" y="0"/>
                </a:lnTo>
                <a:cubicBezTo>
                  <a:pt x="17591" y="0"/>
                  <a:pt x="0" y="17590"/>
                  <a:pt x="0" y="39291"/>
                </a:cubicBezTo>
                <a:lnTo>
                  <a:pt x="0" y="78581"/>
                </a:lnTo>
                <a:lnTo>
                  <a:pt x="157162" y="78581"/>
                </a:lnTo>
                <a:lnTo>
                  <a:pt x="157162" y="39291"/>
                </a:lnTo>
                <a:close/>
              </a:path>
            </a:pathLst>
          </a:custGeom>
          <a:solidFill>
            <a:srgbClr val="003366"/>
          </a:solidFill>
          <a:ln>
            <a:noFill/>
          </a:ln>
        </p:spPr>
      </p:sp>
      <p:sp>
        <p:nvSpPr>
          <p:cNvPr id="41" name="TextBox 41"/>
          <p:cNvSpPr txBox="1"/>
          <p:nvPr/>
        </p:nvSpPr>
        <p:spPr>
          <a:xfrm>
            <a:off x="4348162" y="5364956"/>
            <a:ext cx="1589895" cy="228600"/>
          </a:xfrm>
          <a:prstGeom prst="rect">
            <a:avLst/>
          </a:prstGeom>
          <a:noFill/>
          <a:ln>
            <a:noFill/>
          </a:ln>
        </p:spPr>
        <p:txBody>
          <a:bodyPr wrap="none" lIns="0" tIns="0" rIns="0" bIns="0" anchor="t" anchorCtr="0">
            <a:spAutoFit/>
          </a:bodyPr>
          <a:lstStyle/>
          <a:p>
            <a:pPr algn="l"/>
            <a:r>
              <a:rPr lang="zh-CN" sz="1125" b="1" dirty="0">
                <a:solidFill>
                  <a:srgbClr val="0F172A"/>
                </a:solidFill>
                <a:latin typeface="Arial" panose="020B0704020202020204"/>
                <a:ea typeface="Arial" panose="020B0704020202020204"/>
                <a:cs typeface="Arial" panose="020B0704020202020204"/>
              </a:rPr>
              <a:t>Nguyễn Quốc Thịnh</a:t>
            </a:r>
            <a:endParaRPr lang="zh-CN" sz="1125" b="1" dirty="0">
              <a:solidFill>
                <a:srgbClr val="0F172A"/>
              </a:solidFill>
              <a:latin typeface="Arial" panose="020B0704020202020204"/>
              <a:ea typeface="Arial" panose="020B0704020202020204"/>
              <a:cs typeface="Arial" panose="020B0704020202020204"/>
            </a:endParaRPr>
          </a:p>
        </p:txBody>
      </p:sp>
      <p:sp>
        <p:nvSpPr>
          <p:cNvPr id="42" name="TextBox 42"/>
          <p:cNvSpPr txBox="1"/>
          <p:nvPr/>
        </p:nvSpPr>
        <p:spPr>
          <a:xfrm>
            <a:off x="4350068" y="5609749"/>
            <a:ext cx="1427393"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panose="020B0704020202020204"/>
                <a:ea typeface="Arial" panose="020B0704020202020204"/>
                <a:cs typeface="Arial" panose="020B0704020202020204"/>
              </a:rPr>
              <a:t>MSSV: 052206007772</a:t>
            </a:r>
            <a:endParaRPr lang="zh-CN" sz="975" dirty="0">
              <a:solidFill>
                <a:srgbClr val="64748B"/>
              </a:solidFill>
              <a:latin typeface="Arial" panose="020B0704020202020204"/>
              <a:ea typeface="Arial" panose="020B0704020202020204"/>
              <a:cs typeface="Arial" panose="020B0704020202020204"/>
            </a:endParaRPr>
          </a:p>
        </p:txBody>
      </p:sp>
      <p:sp>
        <p:nvSpPr>
          <p:cNvPr id="43" name="Freeform 43"/>
          <p:cNvSpPr/>
          <p:nvPr/>
        </p:nvSpPr>
        <p:spPr>
          <a:xfrm>
            <a:off x="6191250" y="5238750"/>
            <a:ext cx="2095500" cy="666750"/>
          </a:xfrm>
          <a:custGeom>
            <a:avLst/>
            <a:gdLst/>
            <a:ahLst/>
            <a:cxnLst/>
            <a:rect l="l" t="t" r="r" b="b"/>
            <a:pathLst>
              <a:path w="2095500" h="666750">
                <a:moveTo>
                  <a:pt x="57150" y="0"/>
                </a:moveTo>
                <a:lnTo>
                  <a:pt x="2038350" y="0"/>
                </a:lnTo>
                <a:cubicBezTo>
                  <a:pt x="2069913" y="0"/>
                  <a:pt x="2095500" y="25587"/>
                  <a:pt x="2095500" y="57150"/>
                </a:cubicBezTo>
                <a:lnTo>
                  <a:pt x="2095500" y="609600"/>
                </a:lnTo>
                <a:cubicBezTo>
                  <a:pt x="2095500" y="641163"/>
                  <a:pt x="2069913" y="666750"/>
                  <a:pt x="2038350" y="666750"/>
                </a:cubicBezTo>
                <a:lnTo>
                  <a:pt x="57150" y="666750"/>
                </a:lnTo>
                <a:cubicBezTo>
                  <a:pt x="25587" y="666750"/>
                  <a:pt x="0" y="641163"/>
                  <a:pt x="0" y="609600"/>
                </a:cubicBezTo>
                <a:lnTo>
                  <a:pt x="0" y="57150"/>
                </a:lnTo>
                <a:cubicBezTo>
                  <a:pt x="0" y="25587"/>
                  <a:pt x="25587" y="0"/>
                  <a:pt x="57150" y="0"/>
                </a:cubicBezTo>
                <a:close/>
              </a:path>
            </a:pathLst>
          </a:custGeom>
          <a:solidFill>
            <a:srgbClr val="F8FAFC"/>
          </a:solidFill>
          <a:ln w="9525">
            <a:solidFill>
              <a:srgbClr val="E2E8F0"/>
            </a:solidFill>
          </a:ln>
        </p:spPr>
      </p:sp>
      <p:sp>
        <p:nvSpPr>
          <p:cNvPr id="44" name="Freeform 44"/>
          <p:cNvSpPr/>
          <p:nvPr/>
        </p:nvSpPr>
        <p:spPr>
          <a:xfrm>
            <a:off x="6399609" y="5394722"/>
            <a:ext cx="78581" cy="78581"/>
          </a:xfrm>
          <a:custGeom>
            <a:avLst/>
            <a:gdLst/>
            <a:ahLst/>
            <a:cxnLst/>
            <a:rect l="l" t="t" r="r" b="b"/>
            <a:pathLst>
              <a:path w="78581" h="78581">
                <a:moveTo>
                  <a:pt x="39291" y="78581"/>
                </a:moveTo>
                <a:cubicBezTo>
                  <a:pt x="60990" y="78581"/>
                  <a:pt x="78581" y="60990"/>
                  <a:pt x="78581" y="39291"/>
                </a:cubicBezTo>
                <a:cubicBezTo>
                  <a:pt x="78581" y="17591"/>
                  <a:pt x="60990" y="0"/>
                  <a:pt x="39291" y="0"/>
                </a:cubicBezTo>
                <a:cubicBezTo>
                  <a:pt x="17591" y="0"/>
                  <a:pt x="0" y="17591"/>
                  <a:pt x="0" y="39291"/>
                </a:cubicBezTo>
                <a:cubicBezTo>
                  <a:pt x="0" y="60990"/>
                  <a:pt x="17591" y="78581"/>
                  <a:pt x="39291" y="78581"/>
                </a:cubicBezTo>
                <a:close/>
              </a:path>
            </a:pathLst>
          </a:custGeom>
          <a:solidFill>
            <a:srgbClr val="003366"/>
          </a:solidFill>
          <a:ln>
            <a:noFill/>
          </a:ln>
        </p:spPr>
      </p:sp>
      <p:sp>
        <p:nvSpPr>
          <p:cNvPr id="45" name="Freeform 45"/>
          <p:cNvSpPr/>
          <p:nvPr/>
        </p:nvSpPr>
        <p:spPr>
          <a:xfrm>
            <a:off x="6360319" y="5499497"/>
            <a:ext cx="157162" cy="78581"/>
          </a:xfrm>
          <a:custGeom>
            <a:avLst/>
            <a:gdLst/>
            <a:ahLst/>
            <a:cxnLst/>
            <a:rect l="l" t="t" r="r" b="b"/>
            <a:pathLst>
              <a:path w="157162" h="78581">
                <a:moveTo>
                  <a:pt x="157162" y="39291"/>
                </a:moveTo>
                <a:cubicBezTo>
                  <a:pt x="157162" y="17590"/>
                  <a:pt x="139572" y="0"/>
                  <a:pt x="117872" y="0"/>
                </a:cubicBezTo>
                <a:lnTo>
                  <a:pt x="39291" y="0"/>
                </a:lnTo>
                <a:cubicBezTo>
                  <a:pt x="17591" y="0"/>
                  <a:pt x="0" y="17590"/>
                  <a:pt x="0" y="39291"/>
                </a:cubicBezTo>
                <a:lnTo>
                  <a:pt x="0" y="78581"/>
                </a:lnTo>
                <a:lnTo>
                  <a:pt x="157162" y="78581"/>
                </a:lnTo>
                <a:lnTo>
                  <a:pt x="157162" y="39291"/>
                </a:lnTo>
                <a:close/>
              </a:path>
            </a:pathLst>
          </a:custGeom>
          <a:solidFill>
            <a:srgbClr val="003366"/>
          </a:solidFill>
          <a:ln>
            <a:noFill/>
          </a:ln>
        </p:spPr>
      </p:sp>
      <p:sp>
        <p:nvSpPr>
          <p:cNvPr id="46" name="TextBox 46"/>
          <p:cNvSpPr txBox="1"/>
          <p:nvPr/>
        </p:nvSpPr>
        <p:spPr>
          <a:xfrm>
            <a:off x="6634162" y="5364956"/>
            <a:ext cx="1305235" cy="228600"/>
          </a:xfrm>
          <a:prstGeom prst="rect">
            <a:avLst/>
          </a:prstGeom>
          <a:noFill/>
          <a:ln>
            <a:noFill/>
          </a:ln>
        </p:spPr>
        <p:txBody>
          <a:bodyPr wrap="none" lIns="0" tIns="0" rIns="0" bIns="0" anchor="t" anchorCtr="0">
            <a:spAutoFit/>
          </a:bodyPr>
          <a:lstStyle/>
          <a:p>
            <a:pPr algn="l"/>
            <a:r>
              <a:rPr lang="zh-CN" sz="1125" b="1" dirty="0">
                <a:solidFill>
                  <a:srgbClr val="0F172A"/>
                </a:solidFill>
                <a:latin typeface="Arial" panose="020B0704020202020204"/>
                <a:ea typeface="Arial" panose="020B0704020202020204"/>
                <a:cs typeface="Arial" panose="020B0704020202020204"/>
              </a:rPr>
              <a:t>Huỳnh Nhật Nam</a:t>
            </a:r>
            <a:endParaRPr lang="zh-CN" sz="1125" b="1" dirty="0">
              <a:solidFill>
                <a:srgbClr val="0F172A"/>
              </a:solidFill>
              <a:latin typeface="Arial" panose="020B0704020202020204"/>
              <a:ea typeface="Arial" panose="020B0704020202020204"/>
              <a:cs typeface="Arial" panose="020B0704020202020204"/>
            </a:endParaRPr>
          </a:p>
        </p:txBody>
      </p:sp>
      <p:sp>
        <p:nvSpPr>
          <p:cNvPr id="47" name="TextBox 47"/>
          <p:cNvSpPr txBox="1"/>
          <p:nvPr/>
        </p:nvSpPr>
        <p:spPr>
          <a:xfrm>
            <a:off x="6636068" y="5609749"/>
            <a:ext cx="1391793"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panose="020B0704020202020204"/>
                <a:ea typeface="Arial" panose="020B0704020202020204"/>
                <a:cs typeface="Arial" panose="020B0704020202020204"/>
              </a:rPr>
              <a:t>MSSV: 080206015277</a:t>
            </a:r>
            <a:endParaRPr lang="zh-CN" sz="975" dirty="0">
              <a:solidFill>
                <a:srgbClr val="64748B"/>
              </a:solidFill>
              <a:latin typeface="Arial" panose="020B0704020202020204"/>
              <a:ea typeface="Arial" panose="020B0704020202020204"/>
              <a:cs typeface="Arial" panose="020B0704020202020204"/>
            </a:endParaRPr>
          </a:p>
        </p:txBody>
      </p:sp>
      <p:sp>
        <p:nvSpPr>
          <p:cNvPr id="48" name="Freeform 48"/>
          <p:cNvSpPr/>
          <p:nvPr/>
        </p:nvSpPr>
        <p:spPr>
          <a:xfrm>
            <a:off x="8477250" y="5238750"/>
            <a:ext cx="2095500" cy="666750"/>
          </a:xfrm>
          <a:custGeom>
            <a:avLst/>
            <a:gdLst/>
            <a:ahLst/>
            <a:cxnLst/>
            <a:rect l="l" t="t" r="r" b="b"/>
            <a:pathLst>
              <a:path w="2095500" h="666750">
                <a:moveTo>
                  <a:pt x="57150" y="0"/>
                </a:moveTo>
                <a:lnTo>
                  <a:pt x="2038350" y="0"/>
                </a:lnTo>
                <a:cubicBezTo>
                  <a:pt x="2069913" y="0"/>
                  <a:pt x="2095500" y="25587"/>
                  <a:pt x="2095500" y="57150"/>
                </a:cubicBezTo>
                <a:lnTo>
                  <a:pt x="2095500" y="609600"/>
                </a:lnTo>
                <a:cubicBezTo>
                  <a:pt x="2095500" y="641163"/>
                  <a:pt x="2069913" y="666750"/>
                  <a:pt x="2038350" y="666750"/>
                </a:cubicBezTo>
                <a:lnTo>
                  <a:pt x="57150" y="666750"/>
                </a:lnTo>
                <a:cubicBezTo>
                  <a:pt x="25587" y="666750"/>
                  <a:pt x="0" y="641163"/>
                  <a:pt x="0" y="609600"/>
                </a:cubicBezTo>
                <a:lnTo>
                  <a:pt x="0" y="57150"/>
                </a:lnTo>
                <a:cubicBezTo>
                  <a:pt x="0" y="25587"/>
                  <a:pt x="25587" y="0"/>
                  <a:pt x="57150" y="0"/>
                </a:cubicBezTo>
                <a:close/>
              </a:path>
            </a:pathLst>
          </a:custGeom>
          <a:solidFill>
            <a:srgbClr val="F8FAFC"/>
          </a:solidFill>
          <a:ln w="9525">
            <a:solidFill>
              <a:srgbClr val="E2E8F0"/>
            </a:solidFill>
          </a:ln>
        </p:spPr>
      </p:sp>
      <p:sp>
        <p:nvSpPr>
          <p:cNvPr id="49" name="Freeform 49"/>
          <p:cNvSpPr/>
          <p:nvPr/>
        </p:nvSpPr>
        <p:spPr>
          <a:xfrm>
            <a:off x="8685609" y="5394722"/>
            <a:ext cx="78581" cy="78581"/>
          </a:xfrm>
          <a:custGeom>
            <a:avLst/>
            <a:gdLst/>
            <a:ahLst/>
            <a:cxnLst/>
            <a:rect l="l" t="t" r="r" b="b"/>
            <a:pathLst>
              <a:path w="78581" h="78581">
                <a:moveTo>
                  <a:pt x="39291" y="78581"/>
                </a:moveTo>
                <a:cubicBezTo>
                  <a:pt x="60990" y="78581"/>
                  <a:pt x="78581" y="60990"/>
                  <a:pt x="78581" y="39291"/>
                </a:cubicBezTo>
                <a:cubicBezTo>
                  <a:pt x="78581" y="17591"/>
                  <a:pt x="60990" y="0"/>
                  <a:pt x="39291" y="0"/>
                </a:cubicBezTo>
                <a:cubicBezTo>
                  <a:pt x="17591" y="0"/>
                  <a:pt x="0" y="17591"/>
                  <a:pt x="0" y="39291"/>
                </a:cubicBezTo>
                <a:cubicBezTo>
                  <a:pt x="0" y="60990"/>
                  <a:pt x="17591" y="78581"/>
                  <a:pt x="39291" y="78581"/>
                </a:cubicBezTo>
                <a:close/>
              </a:path>
            </a:pathLst>
          </a:custGeom>
          <a:solidFill>
            <a:srgbClr val="003366"/>
          </a:solidFill>
          <a:ln>
            <a:noFill/>
          </a:ln>
        </p:spPr>
      </p:sp>
      <p:sp>
        <p:nvSpPr>
          <p:cNvPr id="50" name="Freeform 50"/>
          <p:cNvSpPr/>
          <p:nvPr/>
        </p:nvSpPr>
        <p:spPr>
          <a:xfrm>
            <a:off x="8646319" y="5499497"/>
            <a:ext cx="157162" cy="78581"/>
          </a:xfrm>
          <a:custGeom>
            <a:avLst/>
            <a:gdLst/>
            <a:ahLst/>
            <a:cxnLst/>
            <a:rect l="l" t="t" r="r" b="b"/>
            <a:pathLst>
              <a:path w="157162" h="78581">
                <a:moveTo>
                  <a:pt x="157162" y="39291"/>
                </a:moveTo>
                <a:cubicBezTo>
                  <a:pt x="157162" y="17590"/>
                  <a:pt x="139572" y="0"/>
                  <a:pt x="117872" y="0"/>
                </a:cubicBezTo>
                <a:lnTo>
                  <a:pt x="39291" y="0"/>
                </a:lnTo>
                <a:cubicBezTo>
                  <a:pt x="17591" y="0"/>
                  <a:pt x="0" y="17590"/>
                  <a:pt x="0" y="39291"/>
                </a:cubicBezTo>
                <a:lnTo>
                  <a:pt x="0" y="78581"/>
                </a:lnTo>
                <a:lnTo>
                  <a:pt x="157162" y="78581"/>
                </a:lnTo>
                <a:lnTo>
                  <a:pt x="157162" y="39291"/>
                </a:lnTo>
                <a:close/>
              </a:path>
            </a:pathLst>
          </a:custGeom>
          <a:solidFill>
            <a:srgbClr val="003366"/>
          </a:solidFill>
          <a:ln>
            <a:noFill/>
          </a:ln>
        </p:spPr>
      </p:sp>
      <p:sp>
        <p:nvSpPr>
          <p:cNvPr id="51" name="TextBox 51"/>
          <p:cNvSpPr txBox="1"/>
          <p:nvPr/>
        </p:nvSpPr>
        <p:spPr>
          <a:xfrm>
            <a:off x="8920162" y="5364956"/>
            <a:ext cx="1736538" cy="228600"/>
          </a:xfrm>
          <a:prstGeom prst="rect">
            <a:avLst/>
          </a:prstGeom>
          <a:noFill/>
          <a:ln>
            <a:noFill/>
          </a:ln>
        </p:spPr>
        <p:txBody>
          <a:bodyPr wrap="none" lIns="0" tIns="0" rIns="0" bIns="0" anchor="t" anchorCtr="0">
            <a:spAutoFit/>
          </a:bodyPr>
          <a:lstStyle/>
          <a:p>
            <a:pPr algn="l"/>
            <a:r>
              <a:rPr lang="zh-CN" sz="1125" b="1" dirty="0">
                <a:solidFill>
                  <a:srgbClr val="0F172A"/>
                </a:solidFill>
                <a:latin typeface="Arial" panose="020B0704020202020204"/>
                <a:ea typeface="Arial" panose="020B0704020202020204"/>
                <a:cs typeface="Arial" panose="020B0704020202020204"/>
              </a:rPr>
              <a:t>Nguyễn Lâm Hữu Hùng</a:t>
            </a:r>
            <a:endParaRPr lang="zh-CN" sz="1125" b="1" dirty="0">
              <a:solidFill>
                <a:srgbClr val="0F172A"/>
              </a:solidFill>
              <a:latin typeface="Arial" panose="020B0704020202020204"/>
              <a:ea typeface="Arial" panose="020B0704020202020204"/>
              <a:cs typeface="Arial" panose="020B0704020202020204"/>
            </a:endParaRPr>
          </a:p>
        </p:txBody>
      </p:sp>
      <p:sp>
        <p:nvSpPr>
          <p:cNvPr id="52" name="TextBox 52"/>
          <p:cNvSpPr txBox="1"/>
          <p:nvPr/>
        </p:nvSpPr>
        <p:spPr>
          <a:xfrm>
            <a:off x="8922068" y="5609749"/>
            <a:ext cx="1391793"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panose="020B0704020202020204"/>
                <a:ea typeface="Arial" panose="020B0704020202020204"/>
                <a:cs typeface="Arial" panose="020B0704020202020204"/>
              </a:rPr>
              <a:t>MSSV: 079205019508</a:t>
            </a:r>
            <a:endParaRPr lang="zh-CN" sz="975" dirty="0">
              <a:solidFill>
                <a:srgbClr val="64748B"/>
              </a:solidFill>
              <a:latin typeface="Arial" panose="020B0704020202020204"/>
              <a:ea typeface="Arial" panose="020B0704020202020204"/>
              <a:cs typeface="Arial" panose="020B0704020202020204"/>
            </a:endParaRPr>
          </a:p>
        </p:txBody>
      </p:sp>
      <p:sp>
        <p:nvSpPr>
          <p:cNvPr id="53" name="Rectangle 53"/>
          <p:cNvSpPr/>
          <p:nvPr/>
        </p:nvSpPr>
        <p:spPr>
          <a:xfrm>
            <a:off x="0" y="6429375"/>
            <a:ext cx="12192000" cy="428625"/>
          </a:xfrm>
          <a:prstGeom prst="rect">
            <a:avLst/>
          </a:prstGeom>
          <a:solidFill>
            <a:srgbClr val="002244"/>
          </a:solidFill>
          <a:ln>
            <a:noFill/>
          </a:ln>
        </p:spPr>
      </p:sp>
      <p:sp>
        <p:nvSpPr>
          <p:cNvPr id="54" name="TextBox 54"/>
          <p:cNvSpPr txBox="1"/>
          <p:nvPr/>
        </p:nvSpPr>
        <p:spPr>
          <a:xfrm>
            <a:off x="463868" y="6590824"/>
            <a:ext cx="5364718" cy="198120"/>
          </a:xfrm>
          <a:prstGeom prst="rect">
            <a:avLst/>
          </a:prstGeom>
          <a:noFill/>
          <a:ln>
            <a:noFill/>
          </a:ln>
        </p:spPr>
        <p:txBody>
          <a:bodyPr wrap="none" lIns="0" tIns="0" rIns="0" bIns="0" anchor="t" anchorCtr="0">
            <a:spAutoFit/>
          </a:bodyPr>
          <a:lstStyle/>
          <a:p>
            <a:pPr algn="l"/>
            <a:r>
              <a:rPr lang="zh-CN" sz="975" dirty="0">
                <a:solidFill>
                  <a:srgbClr val="94A3B8"/>
                </a:solidFill>
                <a:latin typeface="Arial" panose="020B0704020202020204"/>
                <a:ea typeface="Arial" panose="020B0704020202020204"/>
                <a:cs typeface="Arial" panose="020B0704020202020204"/>
              </a:rPr>
              <a:t>Học phần: Lập trình di động MOB402 • Giảng viên hướng dẫn &amp; Hội đồng đánh giá</a:t>
            </a:r>
            <a:endParaRPr lang="zh-CN" sz="975" dirty="0">
              <a:solidFill>
                <a:srgbClr val="94A3B8"/>
              </a:solidFill>
              <a:latin typeface="Arial" panose="020B0704020202020204"/>
              <a:ea typeface="Arial" panose="020B0704020202020204"/>
              <a:cs typeface="Arial" panose="020B0704020202020204"/>
            </a:endParaRPr>
          </a:p>
        </p:txBody>
      </p:sp>
      <p:sp>
        <p:nvSpPr>
          <p:cNvPr id="55" name="TextBox 55"/>
          <p:cNvSpPr txBox="1"/>
          <p:nvPr/>
        </p:nvSpPr>
        <p:spPr>
          <a:xfrm>
            <a:off x="9811956" y="6590824"/>
            <a:ext cx="1916176" cy="198120"/>
          </a:xfrm>
          <a:prstGeom prst="rect">
            <a:avLst/>
          </a:prstGeom>
          <a:noFill/>
          <a:ln>
            <a:noFill/>
          </a:ln>
        </p:spPr>
        <p:txBody>
          <a:bodyPr wrap="none" lIns="0" tIns="0" rIns="0" bIns="0" anchor="t" anchorCtr="0">
            <a:spAutoFit/>
          </a:bodyPr>
          <a:lstStyle/>
          <a:p>
            <a:pPr algn="r"/>
            <a:r>
              <a:rPr lang="zh-CN" sz="975" b="1" dirty="0">
                <a:solidFill>
                  <a:srgbClr val="CBD5E1"/>
                </a:solidFill>
                <a:latin typeface="Arial" panose="020B0704020202020204"/>
                <a:ea typeface="Arial" panose="020B0704020202020204"/>
                <a:cs typeface="Arial" panose="020B0704020202020204"/>
              </a:rPr>
              <a:t>TP. Hồ Chí Minh, Năm 2026</a:t>
            </a:r>
            <a:endParaRPr lang="zh-CN" sz="975" b="1" dirty="0">
              <a:solidFill>
                <a:srgbClr val="CBD5E1"/>
              </a:solidFill>
              <a:latin typeface="Arial" panose="020B0704020202020204"/>
              <a:ea typeface="Arial" panose="020B0704020202020204"/>
              <a:cs typeface="Arial" panose="020B07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858000"/>
          </a:xfrm>
          <a:prstGeom prst="rect">
            <a:avLst/>
          </a:prstGeom>
          <a:solidFill>
            <a:srgbClr val="F8FAFC"/>
          </a:solidFill>
          <a:ln>
            <a:noFill/>
          </a:ln>
        </p:spPr>
      </p:sp>
      <p:sp>
        <p:nvSpPr>
          <p:cNvPr id="4" name="Rectangle 4"/>
          <p:cNvSpPr/>
          <p:nvPr/>
        </p:nvSpPr>
        <p:spPr>
          <a:xfrm>
            <a:off x="0" y="0"/>
            <a:ext cx="12192000" cy="666750"/>
          </a:xfrm>
          <a:prstGeom prst="rect">
            <a:avLst/>
          </a:prstGeom>
          <a:solidFill>
            <a:srgbClr val="003366"/>
          </a:solidFill>
          <a:ln>
            <a:noFill/>
          </a:ln>
        </p:spPr>
      </p:sp>
      <p:sp>
        <p:nvSpPr>
          <p:cNvPr id="5" name="Rectangle 5"/>
          <p:cNvSpPr/>
          <p:nvPr/>
        </p:nvSpPr>
        <p:spPr>
          <a:xfrm>
            <a:off x="0" y="0"/>
            <a:ext cx="57150" cy="666750"/>
          </a:xfrm>
          <a:prstGeom prst="rect">
            <a:avLst/>
          </a:prstGeom>
          <a:solidFill>
            <a:srgbClr val="E65100"/>
          </a:solidFill>
          <a:ln>
            <a:noFill/>
          </a:ln>
        </p:spPr>
      </p:sp>
      <p:sp>
        <p:nvSpPr>
          <p:cNvPr id="6" name="TextBox 6"/>
          <p:cNvSpPr txBox="1"/>
          <p:nvPr/>
        </p:nvSpPr>
        <p:spPr>
          <a:xfrm>
            <a:off x="356235" y="227648"/>
            <a:ext cx="3338941" cy="396240"/>
          </a:xfrm>
          <a:prstGeom prst="rect">
            <a:avLst/>
          </a:prstGeom>
          <a:noFill/>
          <a:ln>
            <a:noFill/>
          </a:ln>
        </p:spPr>
        <p:txBody>
          <a:bodyPr wrap="none" lIns="0" tIns="0" rIns="0" bIns="0" anchor="t" anchorCtr="0">
            <a:spAutoFit/>
          </a:bodyPr>
          <a:lstStyle/>
          <a:p>
            <a:pPr algn="l"/>
            <a:r>
              <a:rPr lang="zh-CN" sz="1950" b="1" dirty="0">
                <a:solidFill>
                  <a:srgbClr val="FFFFFF"/>
                </a:solidFill>
                <a:latin typeface="Arial" panose="020B0704020202020204"/>
                <a:ea typeface="Arial" panose="020B0704020202020204"/>
                <a:cs typeface="Arial" panose="020B0704020202020204"/>
              </a:rPr>
              <a:t>NỘI DUNG BÁO CÁO ĐỒ ÁN</a:t>
            </a:r>
            <a:endParaRPr lang="zh-CN" sz="1950" b="1" dirty="0">
              <a:solidFill>
                <a:srgbClr val="FFFFFF"/>
              </a:solidFill>
              <a:latin typeface="Arial" panose="020B0704020202020204"/>
              <a:ea typeface="Arial" panose="020B0704020202020204"/>
              <a:cs typeface="Arial" panose="020B0704020202020204"/>
            </a:endParaRPr>
          </a:p>
        </p:txBody>
      </p:sp>
      <p:sp>
        <p:nvSpPr>
          <p:cNvPr id="7" name="TextBox 7"/>
          <p:cNvSpPr txBox="1"/>
          <p:nvPr/>
        </p:nvSpPr>
        <p:spPr>
          <a:xfrm>
            <a:off x="10295973" y="299085"/>
            <a:ext cx="1530267" cy="243840"/>
          </a:xfrm>
          <a:prstGeom prst="rect">
            <a:avLst/>
          </a:prstGeom>
          <a:noFill/>
          <a:ln>
            <a:noFill/>
          </a:ln>
        </p:spPr>
        <p:txBody>
          <a:bodyPr wrap="none" lIns="0" tIns="0" rIns="0" bIns="0" anchor="t" anchorCtr="0">
            <a:spAutoFit/>
          </a:bodyPr>
          <a:lstStyle/>
          <a:p>
            <a:pPr algn="r"/>
            <a:r>
              <a:rPr lang="zh-CN" sz="1200" b="1" dirty="0">
                <a:solidFill>
                  <a:srgbClr val="93C5FD"/>
                </a:solidFill>
                <a:latin typeface="Arial" panose="020B0704020202020204"/>
                <a:ea typeface="Arial" panose="020B0704020202020204"/>
                <a:cs typeface="Arial" panose="020B0704020202020204"/>
              </a:rPr>
              <a:t>GODROP DELIVERY</a:t>
            </a:r>
            <a:endParaRPr lang="zh-CN" sz="1200" b="1" dirty="0">
              <a:solidFill>
                <a:srgbClr val="93C5FD"/>
              </a:solidFill>
              <a:latin typeface="Arial" panose="020B0704020202020204"/>
              <a:ea typeface="Arial" panose="020B0704020202020204"/>
              <a:cs typeface="Arial" panose="020B0704020202020204"/>
            </a:endParaRPr>
          </a:p>
        </p:txBody>
      </p:sp>
      <p:sp>
        <p:nvSpPr>
          <p:cNvPr id="8" name="Rectangle 8"/>
          <p:cNvSpPr/>
          <p:nvPr/>
        </p:nvSpPr>
        <p:spPr>
          <a:xfrm>
            <a:off x="0" y="666750"/>
            <a:ext cx="12192000" cy="476250"/>
          </a:xfrm>
          <a:prstGeom prst="rect">
            <a:avLst/>
          </a:prstGeom>
          <a:solidFill>
            <a:srgbClr val="E8F4FC"/>
          </a:solidFill>
          <a:ln>
            <a:noFill/>
          </a:ln>
        </p:spPr>
      </p:sp>
      <p:sp>
        <p:nvSpPr>
          <p:cNvPr id="9" name="Rectangle 9"/>
          <p:cNvSpPr/>
          <p:nvPr/>
        </p:nvSpPr>
        <p:spPr>
          <a:xfrm>
            <a:off x="0" y="666750"/>
            <a:ext cx="57150" cy="476250"/>
          </a:xfrm>
          <a:prstGeom prst="rect">
            <a:avLst/>
          </a:prstGeom>
          <a:solidFill>
            <a:srgbClr val="0066CC"/>
          </a:solidFill>
          <a:ln>
            <a:noFill/>
          </a:ln>
        </p:spPr>
      </p:sp>
      <p:sp>
        <p:nvSpPr>
          <p:cNvPr id="10" name="TextBox 10"/>
          <p:cNvSpPr txBox="1"/>
          <p:nvPr/>
        </p:nvSpPr>
        <p:spPr>
          <a:xfrm>
            <a:off x="364808" y="824389"/>
            <a:ext cx="10022753" cy="259080"/>
          </a:xfrm>
          <a:prstGeom prst="rect">
            <a:avLst/>
          </a:prstGeom>
          <a:noFill/>
          <a:ln>
            <a:noFill/>
          </a:ln>
        </p:spPr>
        <p:txBody>
          <a:bodyPr wrap="none" lIns="0" tIns="0" rIns="0" bIns="0" anchor="t" anchorCtr="0">
            <a:spAutoFit/>
          </a:bodyPr>
          <a:lstStyle/>
          <a:p>
            <a:pPr algn="l"/>
            <a:r>
              <a:rPr lang="zh-CN" sz="1275" dirty="0">
                <a:solidFill>
                  <a:srgbClr val="0F172A"/>
                </a:solidFill>
                <a:latin typeface="Arial" panose="020B0704020202020204"/>
                <a:ea typeface="Arial" panose="020B0704020202020204"/>
                <a:cs typeface="Arial" panose="020B0704020202020204"/>
              </a:rPr>
              <a:t>Khái quát 6 chuyên đề trọng tâm xuyên suốt quá trình nghiên cứu, xây dựng và hoàn thiện đồ án GoDrop Delivery</a:t>
            </a:r>
            <a:endParaRPr lang="zh-CN" sz="1275" dirty="0">
              <a:solidFill>
                <a:srgbClr val="0F172A"/>
              </a:solidFill>
              <a:latin typeface="Arial" panose="020B0704020202020204"/>
              <a:ea typeface="Arial" panose="020B0704020202020204"/>
              <a:cs typeface="Arial" panose="020B0704020202020204"/>
            </a:endParaRPr>
          </a:p>
        </p:txBody>
      </p:sp>
      <p:sp>
        <p:nvSpPr>
          <p:cNvPr id="11" name="Freeform 11"/>
          <p:cNvSpPr/>
          <p:nvPr/>
        </p:nvSpPr>
        <p:spPr>
          <a:xfrm>
            <a:off x="571500" y="1428750"/>
            <a:ext cx="3429000" cy="2095500"/>
          </a:xfrm>
          <a:custGeom>
            <a:avLst/>
            <a:gdLst/>
            <a:ahLst/>
            <a:cxnLst/>
            <a:rect l="l" t="t" r="r" b="b"/>
            <a:pathLst>
              <a:path w="3429000" h="2095500">
                <a:moveTo>
                  <a:pt x="76200" y="0"/>
                </a:moveTo>
                <a:lnTo>
                  <a:pt x="3352800" y="0"/>
                </a:lnTo>
                <a:cubicBezTo>
                  <a:pt x="3394884" y="0"/>
                  <a:pt x="3429000" y="34116"/>
                  <a:pt x="3429000" y="76200"/>
                </a:cubicBezTo>
                <a:lnTo>
                  <a:pt x="3429000" y="2019300"/>
                </a:lnTo>
                <a:cubicBezTo>
                  <a:pt x="3429000" y="2061384"/>
                  <a:pt x="3394884" y="2095500"/>
                  <a:pt x="3352800" y="2095500"/>
                </a:cubicBezTo>
                <a:lnTo>
                  <a:pt x="76200" y="2095500"/>
                </a:lnTo>
                <a:cubicBezTo>
                  <a:pt x="34116" y="2095500"/>
                  <a:pt x="0" y="2061384"/>
                  <a:pt x="0" y="2019300"/>
                </a:cubicBezTo>
                <a:lnTo>
                  <a:pt x="0" y="76200"/>
                </a:lnTo>
                <a:cubicBezTo>
                  <a:pt x="0" y="34116"/>
                  <a:pt x="34116" y="0"/>
                  <a:pt x="76200" y="0"/>
                </a:cubicBezTo>
                <a:close/>
              </a:path>
            </a:pathLst>
          </a:custGeom>
          <a:solidFill>
            <a:srgbClr val="FFFFFF"/>
          </a:solidFill>
          <a:ln w="14288">
            <a:solidFill>
              <a:srgbClr val="E2E8F0"/>
            </a:solidFill>
          </a:ln>
        </p:spPr>
      </p:sp>
      <p:sp>
        <p:nvSpPr>
          <p:cNvPr id="12" name="Freeform 12"/>
          <p:cNvSpPr/>
          <p:nvPr/>
        </p:nvSpPr>
        <p:spPr>
          <a:xfrm>
            <a:off x="571500" y="1428750"/>
            <a:ext cx="3429000" cy="38100"/>
          </a:xfrm>
          <a:custGeom>
            <a:avLst/>
            <a:gdLst/>
            <a:ahLst/>
            <a:cxnLst/>
            <a:rect l="l" t="t" r="r" b="b"/>
            <a:pathLst>
              <a:path w="3429000" h="38100">
                <a:moveTo>
                  <a:pt x="19050" y="0"/>
                </a:moveTo>
                <a:lnTo>
                  <a:pt x="3409950" y="0"/>
                </a:lnTo>
                <a:cubicBezTo>
                  <a:pt x="3420471" y="0"/>
                  <a:pt x="3429000" y="8529"/>
                  <a:pt x="3429000" y="19050"/>
                </a:cubicBezTo>
                <a:lnTo>
                  <a:pt x="3429000" y="19050"/>
                </a:lnTo>
                <a:cubicBezTo>
                  <a:pt x="3429000" y="29571"/>
                  <a:pt x="3420471" y="38100"/>
                  <a:pt x="3409950" y="38100"/>
                </a:cubicBezTo>
                <a:lnTo>
                  <a:pt x="19050" y="38100"/>
                </a:lnTo>
                <a:cubicBezTo>
                  <a:pt x="8529" y="38100"/>
                  <a:pt x="0" y="29571"/>
                  <a:pt x="0" y="19050"/>
                </a:cubicBezTo>
                <a:lnTo>
                  <a:pt x="0" y="19050"/>
                </a:lnTo>
                <a:cubicBezTo>
                  <a:pt x="0" y="8529"/>
                  <a:pt x="8529" y="0"/>
                  <a:pt x="19050" y="0"/>
                </a:cubicBezTo>
                <a:close/>
              </a:path>
            </a:pathLst>
          </a:custGeom>
          <a:solidFill>
            <a:srgbClr val="003366"/>
          </a:solidFill>
          <a:ln>
            <a:noFill/>
          </a:ln>
        </p:spPr>
      </p:sp>
      <p:sp>
        <p:nvSpPr>
          <p:cNvPr id="13" name="Freeform 13"/>
          <p:cNvSpPr/>
          <p:nvPr/>
        </p:nvSpPr>
        <p:spPr>
          <a:xfrm>
            <a:off x="762000" y="1666875"/>
            <a:ext cx="381000" cy="381000"/>
          </a:xfrm>
          <a:custGeom>
            <a:avLst/>
            <a:gdLst/>
            <a:ahLst/>
            <a:cxnLst/>
            <a:rect l="l" t="t" r="r" b="b"/>
            <a:pathLst>
              <a:path w="381000" h="381000">
                <a:moveTo>
                  <a:pt x="76200" y="0"/>
                </a:moveTo>
                <a:lnTo>
                  <a:pt x="304800" y="0"/>
                </a:lnTo>
                <a:cubicBezTo>
                  <a:pt x="346884" y="0"/>
                  <a:pt x="381000" y="34116"/>
                  <a:pt x="381000" y="76200"/>
                </a:cubicBezTo>
                <a:lnTo>
                  <a:pt x="381000" y="304800"/>
                </a:lnTo>
                <a:cubicBezTo>
                  <a:pt x="381000" y="346884"/>
                  <a:pt x="346884" y="381000"/>
                  <a:pt x="304800" y="381000"/>
                </a:cubicBezTo>
                <a:lnTo>
                  <a:pt x="76200" y="381000"/>
                </a:lnTo>
                <a:cubicBezTo>
                  <a:pt x="34116" y="381000"/>
                  <a:pt x="0" y="346884"/>
                  <a:pt x="0" y="304800"/>
                </a:cubicBezTo>
                <a:lnTo>
                  <a:pt x="0" y="76200"/>
                </a:lnTo>
                <a:cubicBezTo>
                  <a:pt x="0" y="34116"/>
                  <a:pt x="34116" y="0"/>
                  <a:pt x="76200" y="0"/>
                </a:cubicBezTo>
                <a:close/>
              </a:path>
            </a:pathLst>
          </a:custGeom>
          <a:solidFill>
            <a:srgbClr val="EFF6FF"/>
          </a:solidFill>
          <a:ln>
            <a:noFill/>
          </a:ln>
        </p:spPr>
      </p:sp>
      <p:sp>
        <p:nvSpPr>
          <p:cNvPr id="14" name="TextBox 14"/>
          <p:cNvSpPr txBox="1"/>
          <p:nvPr/>
        </p:nvSpPr>
        <p:spPr>
          <a:xfrm>
            <a:off x="835688" y="1762125"/>
            <a:ext cx="233624" cy="304800"/>
          </a:xfrm>
          <a:prstGeom prst="rect">
            <a:avLst/>
          </a:prstGeom>
          <a:noFill/>
          <a:ln>
            <a:noFill/>
          </a:ln>
        </p:spPr>
        <p:txBody>
          <a:bodyPr wrap="none" lIns="0" tIns="0" rIns="0" bIns="0" anchor="t" anchorCtr="0">
            <a:spAutoFit/>
          </a:bodyPr>
          <a:lstStyle/>
          <a:p>
            <a:pPr algn="ctr"/>
            <a:r>
              <a:rPr lang="zh-CN" sz="1500" b="1" dirty="0">
                <a:solidFill>
                  <a:srgbClr val="003366"/>
                </a:solidFill>
                <a:latin typeface="Arial" panose="020B0704020202020204"/>
                <a:ea typeface="Arial" panose="020B0704020202020204"/>
                <a:cs typeface="Arial" panose="020B0704020202020204"/>
              </a:rPr>
              <a:t>01</a:t>
            </a:r>
            <a:endParaRPr lang="zh-CN" sz="1500" b="1" dirty="0">
              <a:solidFill>
                <a:srgbClr val="003366"/>
              </a:solidFill>
              <a:latin typeface="Arial" panose="020B0704020202020204"/>
              <a:ea typeface="Arial" panose="020B0704020202020204"/>
              <a:cs typeface="Arial" panose="020B0704020202020204"/>
            </a:endParaRPr>
          </a:p>
        </p:txBody>
      </p:sp>
      <p:sp>
        <p:nvSpPr>
          <p:cNvPr id="15" name="TextBox 15"/>
          <p:cNvSpPr txBox="1"/>
          <p:nvPr/>
        </p:nvSpPr>
        <p:spPr>
          <a:xfrm>
            <a:off x="1268730" y="1759268"/>
            <a:ext cx="2094197" cy="274320"/>
          </a:xfrm>
          <a:prstGeom prst="rect">
            <a:avLst/>
          </a:prstGeom>
          <a:noFill/>
          <a:ln>
            <a:noFill/>
          </a:ln>
        </p:spPr>
        <p:txBody>
          <a:bodyPr wrap="none" lIns="0" tIns="0" rIns="0" bIns="0" anchor="t" anchorCtr="0">
            <a:spAutoFit/>
          </a:bodyPr>
          <a:lstStyle/>
          <a:p>
            <a:pPr algn="l"/>
            <a:r>
              <a:rPr lang="zh-CN" sz="1350" b="1" dirty="0">
                <a:solidFill>
                  <a:srgbClr val="003366"/>
                </a:solidFill>
                <a:latin typeface="Arial" panose="020B0704020202020204"/>
                <a:ea typeface="Arial" panose="020B0704020202020204"/>
                <a:cs typeface="Arial" panose="020B0704020202020204"/>
              </a:rPr>
              <a:t>Tổng quan &amp; Mục tiêu</a:t>
            </a:r>
            <a:endParaRPr lang="zh-CN" sz="1350" b="1" dirty="0">
              <a:solidFill>
                <a:srgbClr val="003366"/>
              </a:solidFill>
              <a:latin typeface="Arial" panose="020B0704020202020204"/>
              <a:ea typeface="Arial" panose="020B0704020202020204"/>
              <a:cs typeface="Arial" panose="020B0704020202020204"/>
            </a:endParaRPr>
          </a:p>
        </p:txBody>
      </p:sp>
      <p:sp>
        <p:nvSpPr>
          <p:cNvPr id="16" name="Line 16"/>
          <p:cNvSpPr/>
          <p:nvPr/>
        </p:nvSpPr>
        <p:spPr>
          <a:xfrm>
            <a:off x="762000" y="2190750"/>
            <a:ext cx="2952750" cy="9525"/>
          </a:xfrm>
          <a:custGeom>
            <a:avLst/>
            <a:gdLst/>
            <a:ahLst/>
            <a:cxnLst/>
            <a:rect l="l" t="t" r="r" b="b"/>
            <a:pathLst>
              <a:path w="2952750" h="9525">
                <a:moveTo>
                  <a:pt x="0" y="0"/>
                </a:moveTo>
                <a:lnTo>
                  <a:pt x="2952750" y="0"/>
                </a:lnTo>
              </a:path>
            </a:pathLst>
          </a:custGeom>
          <a:noFill/>
          <a:ln w="9525">
            <a:solidFill>
              <a:srgbClr val="F1F5F9"/>
            </a:solidFill>
          </a:ln>
        </p:spPr>
      </p:sp>
      <p:sp>
        <p:nvSpPr>
          <p:cNvPr id="17" name="TextBox 17"/>
          <p:cNvSpPr txBox="1"/>
          <p:nvPr/>
        </p:nvSpPr>
        <p:spPr>
          <a:xfrm>
            <a:off x="747712" y="2355056"/>
            <a:ext cx="2328862" cy="228600"/>
          </a:xfrm>
          <a:prstGeom prst="rect">
            <a:avLst/>
          </a:prstGeom>
          <a:noFill/>
          <a:ln>
            <a:noFill/>
          </a:ln>
        </p:spPr>
        <p:txBody>
          <a:bodyPr wrap="none" lIns="0" tIns="0" rIns="0" bIns="0" anchor="t" anchorCtr="0">
            <a:spAutoFit/>
          </a:bodyPr>
          <a:lstStyle/>
          <a:p>
            <a:pPr algn="l"/>
            <a:r>
              <a:rPr lang="zh-CN" sz="1125" dirty="0">
                <a:solidFill>
                  <a:srgbClr val="334155"/>
                </a:solidFill>
                <a:latin typeface="Arial" panose="020B0704020202020204"/>
                <a:ea typeface="Arial" panose="020B0704020202020204"/>
                <a:cs typeface="Arial" panose="020B0704020202020204"/>
              </a:rPr>
              <a:t>• Bối cảnh &amp; Lý do chọn đề tài</a:t>
            </a:r>
            <a:endParaRPr lang="zh-CN" sz="1125" dirty="0">
              <a:solidFill>
                <a:srgbClr val="334155"/>
              </a:solidFill>
              <a:latin typeface="Arial" panose="020B0704020202020204"/>
              <a:ea typeface="Arial" panose="020B0704020202020204"/>
              <a:cs typeface="Arial" panose="020B0704020202020204"/>
            </a:endParaRPr>
          </a:p>
        </p:txBody>
      </p:sp>
      <p:sp>
        <p:nvSpPr>
          <p:cNvPr id="18" name="TextBox 18"/>
          <p:cNvSpPr txBox="1"/>
          <p:nvPr/>
        </p:nvSpPr>
        <p:spPr>
          <a:xfrm>
            <a:off x="747712" y="2640806"/>
            <a:ext cx="3446145" cy="228600"/>
          </a:xfrm>
          <a:prstGeom prst="rect">
            <a:avLst/>
          </a:prstGeom>
          <a:noFill/>
          <a:ln>
            <a:noFill/>
          </a:ln>
        </p:spPr>
        <p:txBody>
          <a:bodyPr wrap="none" lIns="0" tIns="0" rIns="0" bIns="0" anchor="t" anchorCtr="0">
            <a:spAutoFit/>
          </a:bodyPr>
          <a:lstStyle/>
          <a:p>
            <a:pPr algn="l"/>
            <a:r>
              <a:rPr lang="zh-CN" sz="1125" dirty="0">
                <a:solidFill>
                  <a:srgbClr val="334155"/>
                </a:solidFill>
                <a:latin typeface="Arial" panose="020B0704020202020204"/>
                <a:ea typeface="Arial" panose="020B0704020202020204"/>
                <a:cs typeface="Arial" panose="020B0704020202020204"/>
              </a:rPr>
              <a:t>• Phân công nhiệm vụ &amp; Mốc thời gian 4 tuần</a:t>
            </a:r>
            <a:endParaRPr lang="zh-CN" sz="1125" dirty="0">
              <a:solidFill>
                <a:srgbClr val="334155"/>
              </a:solidFill>
              <a:latin typeface="Arial" panose="020B0704020202020204"/>
              <a:ea typeface="Arial" panose="020B0704020202020204"/>
              <a:cs typeface="Arial" panose="020B0704020202020204"/>
            </a:endParaRPr>
          </a:p>
        </p:txBody>
      </p:sp>
      <p:sp>
        <p:nvSpPr>
          <p:cNvPr id="19" name="TextBox 19"/>
          <p:cNvSpPr txBox="1"/>
          <p:nvPr/>
        </p:nvSpPr>
        <p:spPr>
          <a:xfrm>
            <a:off x="747712" y="2926556"/>
            <a:ext cx="3101102" cy="228600"/>
          </a:xfrm>
          <a:prstGeom prst="rect">
            <a:avLst/>
          </a:prstGeom>
          <a:noFill/>
          <a:ln>
            <a:noFill/>
          </a:ln>
        </p:spPr>
        <p:txBody>
          <a:bodyPr wrap="none" lIns="0" tIns="0" rIns="0" bIns="0" anchor="t" anchorCtr="0">
            <a:spAutoFit/>
          </a:bodyPr>
          <a:lstStyle/>
          <a:p>
            <a:pPr algn="l"/>
            <a:r>
              <a:rPr lang="zh-CN" sz="1125" dirty="0">
                <a:solidFill>
                  <a:srgbClr val="334155"/>
                </a:solidFill>
                <a:latin typeface="Arial" panose="020B0704020202020204"/>
                <a:ea typeface="Arial" panose="020B0704020202020204"/>
                <a:cs typeface="Arial" panose="020B0704020202020204"/>
              </a:rPr>
              <a:t>• Mục tiêu 3 vai trò &amp; Giới hạn hệ thống</a:t>
            </a:r>
            <a:endParaRPr lang="zh-CN" sz="1125" dirty="0">
              <a:solidFill>
                <a:srgbClr val="334155"/>
              </a:solidFill>
              <a:latin typeface="Arial" panose="020B0704020202020204"/>
              <a:ea typeface="Arial" panose="020B0704020202020204"/>
              <a:cs typeface="Arial" panose="020B0704020202020204"/>
            </a:endParaRPr>
          </a:p>
        </p:txBody>
      </p:sp>
      <p:sp>
        <p:nvSpPr>
          <p:cNvPr id="20" name="TextBox 20"/>
          <p:cNvSpPr txBox="1"/>
          <p:nvPr/>
        </p:nvSpPr>
        <p:spPr>
          <a:xfrm>
            <a:off x="749618" y="3209449"/>
            <a:ext cx="936117"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panose="020B0704020202020204"/>
                <a:ea typeface="Arial" panose="020B0704020202020204"/>
                <a:cs typeface="Arial" panose="020B0704020202020204"/>
              </a:rPr>
              <a:t>Trang 03 - 04</a:t>
            </a:r>
            <a:endParaRPr lang="zh-CN" sz="975" dirty="0">
              <a:solidFill>
                <a:srgbClr val="64748B"/>
              </a:solidFill>
              <a:latin typeface="Arial" panose="020B0704020202020204"/>
              <a:ea typeface="Arial" panose="020B0704020202020204"/>
              <a:cs typeface="Arial" panose="020B0704020202020204"/>
            </a:endParaRPr>
          </a:p>
        </p:txBody>
      </p:sp>
      <p:sp>
        <p:nvSpPr>
          <p:cNvPr id="21" name="Freeform 21"/>
          <p:cNvSpPr/>
          <p:nvPr/>
        </p:nvSpPr>
        <p:spPr>
          <a:xfrm>
            <a:off x="4381500" y="1428750"/>
            <a:ext cx="3429000" cy="2095500"/>
          </a:xfrm>
          <a:custGeom>
            <a:avLst/>
            <a:gdLst/>
            <a:ahLst/>
            <a:cxnLst/>
            <a:rect l="l" t="t" r="r" b="b"/>
            <a:pathLst>
              <a:path w="3429000" h="2095500">
                <a:moveTo>
                  <a:pt x="76200" y="0"/>
                </a:moveTo>
                <a:lnTo>
                  <a:pt x="3352800" y="0"/>
                </a:lnTo>
                <a:cubicBezTo>
                  <a:pt x="3394884" y="0"/>
                  <a:pt x="3429000" y="34116"/>
                  <a:pt x="3429000" y="76200"/>
                </a:cubicBezTo>
                <a:lnTo>
                  <a:pt x="3429000" y="2019300"/>
                </a:lnTo>
                <a:cubicBezTo>
                  <a:pt x="3429000" y="2061384"/>
                  <a:pt x="3394884" y="2095500"/>
                  <a:pt x="3352800" y="2095500"/>
                </a:cubicBezTo>
                <a:lnTo>
                  <a:pt x="76200" y="2095500"/>
                </a:lnTo>
                <a:cubicBezTo>
                  <a:pt x="34116" y="2095500"/>
                  <a:pt x="0" y="2061384"/>
                  <a:pt x="0" y="2019300"/>
                </a:cubicBezTo>
                <a:lnTo>
                  <a:pt x="0" y="76200"/>
                </a:lnTo>
                <a:cubicBezTo>
                  <a:pt x="0" y="34116"/>
                  <a:pt x="34116" y="0"/>
                  <a:pt x="76200" y="0"/>
                </a:cubicBezTo>
                <a:close/>
              </a:path>
            </a:pathLst>
          </a:custGeom>
          <a:solidFill>
            <a:srgbClr val="FFFFFF"/>
          </a:solidFill>
          <a:ln w="14288">
            <a:solidFill>
              <a:srgbClr val="E2E8F0"/>
            </a:solidFill>
          </a:ln>
        </p:spPr>
      </p:sp>
      <p:sp>
        <p:nvSpPr>
          <p:cNvPr id="22" name="Freeform 22"/>
          <p:cNvSpPr/>
          <p:nvPr/>
        </p:nvSpPr>
        <p:spPr>
          <a:xfrm>
            <a:off x="4381500" y="1428750"/>
            <a:ext cx="3429000" cy="38100"/>
          </a:xfrm>
          <a:custGeom>
            <a:avLst/>
            <a:gdLst/>
            <a:ahLst/>
            <a:cxnLst/>
            <a:rect l="l" t="t" r="r" b="b"/>
            <a:pathLst>
              <a:path w="3429000" h="38100">
                <a:moveTo>
                  <a:pt x="19050" y="0"/>
                </a:moveTo>
                <a:lnTo>
                  <a:pt x="3409950" y="0"/>
                </a:lnTo>
                <a:cubicBezTo>
                  <a:pt x="3420471" y="0"/>
                  <a:pt x="3429000" y="8529"/>
                  <a:pt x="3429000" y="19050"/>
                </a:cubicBezTo>
                <a:lnTo>
                  <a:pt x="3429000" y="19050"/>
                </a:lnTo>
                <a:cubicBezTo>
                  <a:pt x="3429000" y="29571"/>
                  <a:pt x="3420471" y="38100"/>
                  <a:pt x="3409950" y="38100"/>
                </a:cubicBezTo>
                <a:lnTo>
                  <a:pt x="19050" y="38100"/>
                </a:lnTo>
                <a:cubicBezTo>
                  <a:pt x="8529" y="38100"/>
                  <a:pt x="0" y="29571"/>
                  <a:pt x="0" y="19050"/>
                </a:cubicBezTo>
                <a:lnTo>
                  <a:pt x="0" y="19050"/>
                </a:lnTo>
                <a:cubicBezTo>
                  <a:pt x="0" y="8529"/>
                  <a:pt x="8529" y="0"/>
                  <a:pt x="19050" y="0"/>
                </a:cubicBezTo>
                <a:close/>
              </a:path>
            </a:pathLst>
          </a:custGeom>
          <a:solidFill>
            <a:srgbClr val="0066CC"/>
          </a:solidFill>
          <a:ln>
            <a:noFill/>
          </a:ln>
        </p:spPr>
      </p:sp>
      <p:sp>
        <p:nvSpPr>
          <p:cNvPr id="23" name="Freeform 23"/>
          <p:cNvSpPr/>
          <p:nvPr/>
        </p:nvSpPr>
        <p:spPr>
          <a:xfrm>
            <a:off x="4572000" y="1666875"/>
            <a:ext cx="381000" cy="381000"/>
          </a:xfrm>
          <a:custGeom>
            <a:avLst/>
            <a:gdLst/>
            <a:ahLst/>
            <a:cxnLst/>
            <a:rect l="l" t="t" r="r" b="b"/>
            <a:pathLst>
              <a:path w="381000" h="381000">
                <a:moveTo>
                  <a:pt x="76200" y="0"/>
                </a:moveTo>
                <a:lnTo>
                  <a:pt x="304800" y="0"/>
                </a:lnTo>
                <a:cubicBezTo>
                  <a:pt x="346884" y="0"/>
                  <a:pt x="381000" y="34116"/>
                  <a:pt x="381000" y="76200"/>
                </a:cubicBezTo>
                <a:lnTo>
                  <a:pt x="381000" y="304800"/>
                </a:lnTo>
                <a:cubicBezTo>
                  <a:pt x="381000" y="346884"/>
                  <a:pt x="346884" y="381000"/>
                  <a:pt x="304800" y="381000"/>
                </a:cubicBezTo>
                <a:lnTo>
                  <a:pt x="76200" y="381000"/>
                </a:lnTo>
                <a:cubicBezTo>
                  <a:pt x="34116" y="381000"/>
                  <a:pt x="0" y="346884"/>
                  <a:pt x="0" y="304800"/>
                </a:cubicBezTo>
                <a:lnTo>
                  <a:pt x="0" y="76200"/>
                </a:lnTo>
                <a:cubicBezTo>
                  <a:pt x="0" y="34116"/>
                  <a:pt x="34116" y="0"/>
                  <a:pt x="76200" y="0"/>
                </a:cubicBezTo>
                <a:close/>
              </a:path>
            </a:pathLst>
          </a:custGeom>
          <a:solidFill>
            <a:srgbClr val="EFF6FF"/>
          </a:solidFill>
          <a:ln>
            <a:noFill/>
          </a:ln>
        </p:spPr>
      </p:sp>
      <p:sp>
        <p:nvSpPr>
          <p:cNvPr id="24" name="TextBox 24"/>
          <p:cNvSpPr txBox="1"/>
          <p:nvPr/>
        </p:nvSpPr>
        <p:spPr>
          <a:xfrm>
            <a:off x="4616934" y="1762125"/>
            <a:ext cx="291132" cy="304800"/>
          </a:xfrm>
          <a:prstGeom prst="rect">
            <a:avLst/>
          </a:prstGeom>
          <a:noFill/>
          <a:ln>
            <a:noFill/>
          </a:ln>
        </p:spPr>
        <p:txBody>
          <a:bodyPr wrap="none" lIns="0" tIns="0" rIns="0" bIns="0" anchor="t" anchorCtr="0">
            <a:spAutoFit/>
          </a:bodyPr>
          <a:lstStyle/>
          <a:p>
            <a:pPr algn="ctr"/>
            <a:r>
              <a:rPr lang="zh-CN" sz="1500" b="1" dirty="0">
                <a:solidFill>
                  <a:srgbClr val="0066CC"/>
                </a:solidFill>
                <a:latin typeface="Arial" panose="020B0704020202020204"/>
                <a:ea typeface="Arial" panose="020B0704020202020204"/>
                <a:cs typeface="Arial" panose="020B0704020202020204"/>
              </a:rPr>
              <a:t>02</a:t>
            </a:r>
            <a:endParaRPr lang="zh-CN" sz="1500" b="1" dirty="0">
              <a:solidFill>
                <a:srgbClr val="0066CC"/>
              </a:solidFill>
              <a:latin typeface="Arial" panose="020B0704020202020204"/>
              <a:ea typeface="Arial" panose="020B0704020202020204"/>
              <a:cs typeface="Arial" panose="020B0704020202020204"/>
            </a:endParaRPr>
          </a:p>
        </p:txBody>
      </p:sp>
      <p:sp>
        <p:nvSpPr>
          <p:cNvPr id="25" name="TextBox 25"/>
          <p:cNvSpPr txBox="1"/>
          <p:nvPr/>
        </p:nvSpPr>
        <p:spPr>
          <a:xfrm>
            <a:off x="5078730" y="1759268"/>
            <a:ext cx="2218413" cy="274320"/>
          </a:xfrm>
          <a:prstGeom prst="rect">
            <a:avLst/>
          </a:prstGeom>
          <a:noFill/>
          <a:ln>
            <a:noFill/>
          </a:ln>
        </p:spPr>
        <p:txBody>
          <a:bodyPr wrap="none" lIns="0" tIns="0" rIns="0" bIns="0" anchor="t" anchorCtr="0">
            <a:spAutoFit/>
          </a:bodyPr>
          <a:lstStyle/>
          <a:p>
            <a:pPr algn="l"/>
            <a:r>
              <a:rPr lang="zh-CN" sz="1350" b="1" dirty="0">
                <a:solidFill>
                  <a:srgbClr val="003366"/>
                </a:solidFill>
                <a:latin typeface="Arial" panose="020B0704020202020204"/>
                <a:ea typeface="Arial" panose="020B0704020202020204"/>
                <a:cs typeface="Arial" panose="020B0704020202020204"/>
              </a:rPr>
              <a:t>Lý thuyết &amp; Công nghệ</a:t>
            </a:r>
            <a:endParaRPr lang="zh-CN" sz="1350" b="1" dirty="0">
              <a:solidFill>
                <a:srgbClr val="003366"/>
              </a:solidFill>
              <a:latin typeface="Arial" panose="020B0704020202020204"/>
              <a:ea typeface="Arial" panose="020B0704020202020204"/>
              <a:cs typeface="Arial" panose="020B0704020202020204"/>
            </a:endParaRPr>
          </a:p>
        </p:txBody>
      </p:sp>
      <p:sp>
        <p:nvSpPr>
          <p:cNvPr id="26" name="Line 26"/>
          <p:cNvSpPr/>
          <p:nvPr/>
        </p:nvSpPr>
        <p:spPr>
          <a:xfrm>
            <a:off x="4572000" y="2190750"/>
            <a:ext cx="2952750" cy="9525"/>
          </a:xfrm>
          <a:custGeom>
            <a:avLst/>
            <a:gdLst/>
            <a:ahLst/>
            <a:cxnLst/>
            <a:rect l="l" t="t" r="r" b="b"/>
            <a:pathLst>
              <a:path w="2952750" h="9525">
                <a:moveTo>
                  <a:pt x="0" y="0"/>
                </a:moveTo>
                <a:lnTo>
                  <a:pt x="2952750" y="0"/>
                </a:lnTo>
              </a:path>
            </a:pathLst>
          </a:custGeom>
          <a:noFill/>
          <a:ln w="9525">
            <a:solidFill>
              <a:srgbClr val="F1F5F9"/>
            </a:solidFill>
          </a:ln>
        </p:spPr>
      </p:sp>
      <p:sp>
        <p:nvSpPr>
          <p:cNvPr id="27" name="TextBox 27"/>
          <p:cNvSpPr txBox="1"/>
          <p:nvPr/>
        </p:nvSpPr>
        <p:spPr>
          <a:xfrm>
            <a:off x="4557712" y="2355056"/>
            <a:ext cx="2854642" cy="228600"/>
          </a:xfrm>
          <a:prstGeom prst="rect">
            <a:avLst/>
          </a:prstGeom>
          <a:noFill/>
          <a:ln>
            <a:noFill/>
          </a:ln>
        </p:spPr>
        <p:txBody>
          <a:bodyPr wrap="none" lIns="0" tIns="0" rIns="0" bIns="0" anchor="t" anchorCtr="0">
            <a:spAutoFit/>
          </a:bodyPr>
          <a:lstStyle/>
          <a:p>
            <a:pPr algn="l"/>
            <a:r>
              <a:rPr lang="zh-CN" sz="1125" dirty="0">
                <a:solidFill>
                  <a:srgbClr val="334155"/>
                </a:solidFill>
                <a:latin typeface="Arial" panose="020B0704020202020204"/>
                <a:ea typeface="Arial" panose="020B0704020202020204"/>
                <a:cs typeface="Arial" panose="020B0704020202020204"/>
              </a:rPr>
              <a:t>• Kotlin &amp; Khai báo Jetpack Compose</a:t>
            </a:r>
            <a:endParaRPr lang="zh-CN" sz="1125" dirty="0">
              <a:solidFill>
                <a:srgbClr val="334155"/>
              </a:solidFill>
              <a:latin typeface="Arial" panose="020B0704020202020204"/>
              <a:ea typeface="Arial" panose="020B0704020202020204"/>
              <a:cs typeface="Arial" panose="020B0704020202020204"/>
            </a:endParaRPr>
          </a:p>
        </p:txBody>
      </p:sp>
      <p:sp>
        <p:nvSpPr>
          <p:cNvPr id="28" name="TextBox 28"/>
          <p:cNvSpPr txBox="1"/>
          <p:nvPr/>
        </p:nvSpPr>
        <p:spPr>
          <a:xfrm>
            <a:off x="4557712" y="2640806"/>
            <a:ext cx="3043595" cy="228600"/>
          </a:xfrm>
          <a:prstGeom prst="rect">
            <a:avLst/>
          </a:prstGeom>
          <a:noFill/>
          <a:ln>
            <a:noFill/>
          </a:ln>
        </p:spPr>
        <p:txBody>
          <a:bodyPr wrap="none" lIns="0" tIns="0" rIns="0" bIns="0" anchor="t" anchorCtr="0">
            <a:spAutoFit/>
          </a:bodyPr>
          <a:lstStyle/>
          <a:p>
            <a:pPr algn="l"/>
            <a:r>
              <a:rPr lang="zh-CN" sz="1125" dirty="0">
                <a:solidFill>
                  <a:srgbClr val="334155"/>
                </a:solidFill>
                <a:latin typeface="Arial" panose="020B0704020202020204"/>
                <a:ea typeface="Arial" panose="020B0704020202020204"/>
                <a:cs typeface="Arial" panose="020B0704020202020204"/>
              </a:rPr>
              <a:t>• Mô hình kiến trúc MVVM &amp; StateFlow</a:t>
            </a:r>
            <a:endParaRPr lang="zh-CN" sz="1125" dirty="0">
              <a:solidFill>
                <a:srgbClr val="334155"/>
              </a:solidFill>
              <a:latin typeface="Arial" panose="020B0704020202020204"/>
              <a:ea typeface="Arial" panose="020B0704020202020204"/>
              <a:cs typeface="Arial" panose="020B0704020202020204"/>
            </a:endParaRPr>
          </a:p>
        </p:txBody>
      </p:sp>
      <p:sp>
        <p:nvSpPr>
          <p:cNvPr id="29" name="TextBox 29"/>
          <p:cNvSpPr txBox="1"/>
          <p:nvPr/>
        </p:nvSpPr>
        <p:spPr>
          <a:xfrm>
            <a:off x="4557712" y="2926556"/>
            <a:ext cx="3536513" cy="228600"/>
          </a:xfrm>
          <a:prstGeom prst="rect">
            <a:avLst/>
          </a:prstGeom>
          <a:noFill/>
          <a:ln>
            <a:noFill/>
          </a:ln>
        </p:spPr>
        <p:txBody>
          <a:bodyPr wrap="none" lIns="0" tIns="0" rIns="0" bIns="0" anchor="t" anchorCtr="0">
            <a:spAutoFit/>
          </a:bodyPr>
          <a:lstStyle/>
          <a:p>
            <a:pPr algn="l"/>
            <a:r>
              <a:rPr lang="zh-CN" sz="1125" dirty="0">
                <a:solidFill>
                  <a:srgbClr val="334155"/>
                </a:solidFill>
                <a:latin typeface="Arial" panose="020B0704020202020204"/>
                <a:ea typeface="Arial" panose="020B0704020202020204"/>
                <a:cs typeface="Arial" panose="020B0704020202020204"/>
              </a:rPr>
              <a:t>• Backend Spring Boot &amp; Spring Security JWT</a:t>
            </a:r>
            <a:endParaRPr lang="zh-CN" sz="1125" dirty="0">
              <a:solidFill>
                <a:srgbClr val="334155"/>
              </a:solidFill>
              <a:latin typeface="Arial" panose="020B0704020202020204"/>
              <a:ea typeface="Arial" panose="020B0704020202020204"/>
              <a:cs typeface="Arial" panose="020B0704020202020204"/>
            </a:endParaRPr>
          </a:p>
        </p:txBody>
      </p:sp>
      <p:sp>
        <p:nvSpPr>
          <p:cNvPr id="30" name="TextBox 30"/>
          <p:cNvSpPr txBox="1"/>
          <p:nvPr/>
        </p:nvSpPr>
        <p:spPr>
          <a:xfrm>
            <a:off x="4559618" y="3209449"/>
            <a:ext cx="615720"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panose="020B0704020202020204"/>
                <a:ea typeface="Arial" panose="020B0704020202020204"/>
                <a:cs typeface="Arial" panose="020B0704020202020204"/>
              </a:rPr>
              <a:t>Trang 05</a:t>
            </a:r>
            <a:endParaRPr lang="zh-CN" sz="975" dirty="0">
              <a:solidFill>
                <a:srgbClr val="64748B"/>
              </a:solidFill>
              <a:latin typeface="Arial" panose="020B0704020202020204"/>
              <a:ea typeface="Arial" panose="020B0704020202020204"/>
              <a:cs typeface="Arial" panose="020B0704020202020204"/>
            </a:endParaRPr>
          </a:p>
        </p:txBody>
      </p:sp>
      <p:sp>
        <p:nvSpPr>
          <p:cNvPr id="31" name="Freeform 31"/>
          <p:cNvSpPr/>
          <p:nvPr/>
        </p:nvSpPr>
        <p:spPr>
          <a:xfrm>
            <a:off x="8191500" y="1428750"/>
            <a:ext cx="3429000" cy="2095500"/>
          </a:xfrm>
          <a:custGeom>
            <a:avLst/>
            <a:gdLst/>
            <a:ahLst/>
            <a:cxnLst/>
            <a:rect l="l" t="t" r="r" b="b"/>
            <a:pathLst>
              <a:path w="3429000" h="2095500">
                <a:moveTo>
                  <a:pt x="76200" y="0"/>
                </a:moveTo>
                <a:lnTo>
                  <a:pt x="3352800" y="0"/>
                </a:lnTo>
                <a:cubicBezTo>
                  <a:pt x="3394884" y="0"/>
                  <a:pt x="3429000" y="34116"/>
                  <a:pt x="3429000" y="76200"/>
                </a:cubicBezTo>
                <a:lnTo>
                  <a:pt x="3429000" y="2019300"/>
                </a:lnTo>
                <a:cubicBezTo>
                  <a:pt x="3429000" y="2061384"/>
                  <a:pt x="3394884" y="2095500"/>
                  <a:pt x="3352800" y="2095500"/>
                </a:cubicBezTo>
                <a:lnTo>
                  <a:pt x="76200" y="2095500"/>
                </a:lnTo>
                <a:cubicBezTo>
                  <a:pt x="34116" y="2095500"/>
                  <a:pt x="0" y="2061384"/>
                  <a:pt x="0" y="2019300"/>
                </a:cubicBezTo>
                <a:lnTo>
                  <a:pt x="0" y="76200"/>
                </a:lnTo>
                <a:cubicBezTo>
                  <a:pt x="0" y="34116"/>
                  <a:pt x="34116" y="0"/>
                  <a:pt x="76200" y="0"/>
                </a:cubicBezTo>
                <a:close/>
              </a:path>
            </a:pathLst>
          </a:custGeom>
          <a:solidFill>
            <a:srgbClr val="FFFFFF"/>
          </a:solidFill>
          <a:ln w="14288">
            <a:solidFill>
              <a:srgbClr val="E2E8F0"/>
            </a:solidFill>
          </a:ln>
        </p:spPr>
      </p:sp>
      <p:sp>
        <p:nvSpPr>
          <p:cNvPr id="32" name="Freeform 32"/>
          <p:cNvSpPr/>
          <p:nvPr/>
        </p:nvSpPr>
        <p:spPr>
          <a:xfrm>
            <a:off x="8191500" y="1428750"/>
            <a:ext cx="3429000" cy="38100"/>
          </a:xfrm>
          <a:custGeom>
            <a:avLst/>
            <a:gdLst/>
            <a:ahLst/>
            <a:cxnLst/>
            <a:rect l="l" t="t" r="r" b="b"/>
            <a:pathLst>
              <a:path w="3429000" h="38100">
                <a:moveTo>
                  <a:pt x="19050" y="0"/>
                </a:moveTo>
                <a:lnTo>
                  <a:pt x="3409950" y="0"/>
                </a:lnTo>
                <a:cubicBezTo>
                  <a:pt x="3420471" y="0"/>
                  <a:pt x="3429000" y="8529"/>
                  <a:pt x="3429000" y="19050"/>
                </a:cubicBezTo>
                <a:lnTo>
                  <a:pt x="3429000" y="19050"/>
                </a:lnTo>
                <a:cubicBezTo>
                  <a:pt x="3429000" y="29571"/>
                  <a:pt x="3420471" y="38100"/>
                  <a:pt x="3409950" y="38100"/>
                </a:cubicBezTo>
                <a:lnTo>
                  <a:pt x="19050" y="38100"/>
                </a:lnTo>
                <a:cubicBezTo>
                  <a:pt x="8529" y="38100"/>
                  <a:pt x="0" y="29571"/>
                  <a:pt x="0" y="19050"/>
                </a:cubicBezTo>
                <a:lnTo>
                  <a:pt x="0" y="19050"/>
                </a:lnTo>
                <a:cubicBezTo>
                  <a:pt x="0" y="8529"/>
                  <a:pt x="8529" y="0"/>
                  <a:pt x="19050" y="0"/>
                </a:cubicBezTo>
                <a:close/>
              </a:path>
            </a:pathLst>
          </a:custGeom>
          <a:solidFill>
            <a:srgbClr val="E65100"/>
          </a:solidFill>
          <a:ln>
            <a:noFill/>
          </a:ln>
        </p:spPr>
      </p:sp>
      <p:sp>
        <p:nvSpPr>
          <p:cNvPr id="33" name="Freeform 33"/>
          <p:cNvSpPr/>
          <p:nvPr/>
        </p:nvSpPr>
        <p:spPr>
          <a:xfrm>
            <a:off x="8382000" y="1666875"/>
            <a:ext cx="381000" cy="381000"/>
          </a:xfrm>
          <a:custGeom>
            <a:avLst/>
            <a:gdLst/>
            <a:ahLst/>
            <a:cxnLst/>
            <a:rect l="l" t="t" r="r" b="b"/>
            <a:pathLst>
              <a:path w="381000" h="381000">
                <a:moveTo>
                  <a:pt x="76200" y="0"/>
                </a:moveTo>
                <a:lnTo>
                  <a:pt x="304800" y="0"/>
                </a:lnTo>
                <a:cubicBezTo>
                  <a:pt x="346884" y="0"/>
                  <a:pt x="381000" y="34116"/>
                  <a:pt x="381000" y="76200"/>
                </a:cubicBezTo>
                <a:lnTo>
                  <a:pt x="381000" y="304800"/>
                </a:lnTo>
                <a:cubicBezTo>
                  <a:pt x="381000" y="346884"/>
                  <a:pt x="346884" y="381000"/>
                  <a:pt x="304800" y="381000"/>
                </a:cubicBezTo>
                <a:lnTo>
                  <a:pt x="76200" y="381000"/>
                </a:lnTo>
                <a:cubicBezTo>
                  <a:pt x="34116" y="381000"/>
                  <a:pt x="0" y="346884"/>
                  <a:pt x="0" y="304800"/>
                </a:cubicBezTo>
                <a:lnTo>
                  <a:pt x="0" y="76200"/>
                </a:lnTo>
                <a:cubicBezTo>
                  <a:pt x="0" y="34116"/>
                  <a:pt x="34116" y="0"/>
                  <a:pt x="76200" y="0"/>
                </a:cubicBezTo>
                <a:close/>
              </a:path>
            </a:pathLst>
          </a:custGeom>
          <a:solidFill>
            <a:srgbClr val="FFF7ED"/>
          </a:solidFill>
          <a:ln>
            <a:noFill/>
          </a:ln>
        </p:spPr>
      </p:sp>
      <p:sp>
        <p:nvSpPr>
          <p:cNvPr id="34" name="TextBox 34"/>
          <p:cNvSpPr txBox="1"/>
          <p:nvPr/>
        </p:nvSpPr>
        <p:spPr>
          <a:xfrm>
            <a:off x="8426934" y="1762125"/>
            <a:ext cx="291132" cy="304800"/>
          </a:xfrm>
          <a:prstGeom prst="rect">
            <a:avLst/>
          </a:prstGeom>
          <a:noFill/>
          <a:ln>
            <a:noFill/>
          </a:ln>
        </p:spPr>
        <p:txBody>
          <a:bodyPr wrap="none" lIns="0" tIns="0" rIns="0" bIns="0" anchor="t" anchorCtr="0">
            <a:spAutoFit/>
          </a:bodyPr>
          <a:lstStyle/>
          <a:p>
            <a:pPr algn="ctr"/>
            <a:r>
              <a:rPr lang="zh-CN" sz="1500" b="1" dirty="0">
                <a:solidFill>
                  <a:srgbClr val="E65100"/>
                </a:solidFill>
                <a:latin typeface="Arial" panose="020B0704020202020204"/>
                <a:ea typeface="Arial" panose="020B0704020202020204"/>
                <a:cs typeface="Arial" panose="020B0704020202020204"/>
              </a:rPr>
              <a:t>03</a:t>
            </a:r>
            <a:endParaRPr lang="zh-CN" sz="1500" b="1" dirty="0">
              <a:solidFill>
                <a:srgbClr val="E65100"/>
              </a:solidFill>
              <a:latin typeface="Arial" panose="020B0704020202020204"/>
              <a:ea typeface="Arial" panose="020B0704020202020204"/>
              <a:cs typeface="Arial" panose="020B0704020202020204"/>
            </a:endParaRPr>
          </a:p>
        </p:txBody>
      </p:sp>
      <p:sp>
        <p:nvSpPr>
          <p:cNvPr id="35" name="TextBox 35"/>
          <p:cNvSpPr txBox="1"/>
          <p:nvPr/>
        </p:nvSpPr>
        <p:spPr>
          <a:xfrm>
            <a:off x="8888730" y="1759268"/>
            <a:ext cx="2290872" cy="274320"/>
          </a:xfrm>
          <a:prstGeom prst="rect">
            <a:avLst/>
          </a:prstGeom>
          <a:noFill/>
          <a:ln>
            <a:noFill/>
          </a:ln>
        </p:spPr>
        <p:txBody>
          <a:bodyPr wrap="none" lIns="0" tIns="0" rIns="0" bIns="0" anchor="t" anchorCtr="0">
            <a:spAutoFit/>
          </a:bodyPr>
          <a:lstStyle/>
          <a:p>
            <a:pPr algn="l"/>
            <a:r>
              <a:rPr lang="zh-CN" sz="1350" b="1" dirty="0">
                <a:solidFill>
                  <a:srgbClr val="003366"/>
                </a:solidFill>
                <a:latin typeface="Arial" panose="020B0704020202020204"/>
                <a:ea typeface="Arial" panose="020B0704020202020204"/>
                <a:cs typeface="Arial" panose="020B0704020202020204"/>
              </a:rPr>
              <a:t>Kiến trúc &amp; Luồng xử lý</a:t>
            </a:r>
            <a:endParaRPr lang="zh-CN" sz="1350" b="1" dirty="0">
              <a:solidFill>
                <a:srgbClr val="003366"/>
              </a:solidFill>
              <a:latin typeface="Arial" panose="020B0704020202020204"/>
              <a:ea typeface="Arial" panose="020B0704020202020204"/>
              <a:cs typeface="Arial" panose="020B0704020202020204"/>
            </a:endParaRPr>
          </a:p>
        </p:txBody>
      </p:sp>
      <p:sp>
        <p:nvSpPr>
          <p:cNvPr id="36" name="Line 36"/>
          <p:cNvSpPr/>
          <p:nvPr/>
        </p:nvSpPr>
        <p:spPr>
          <a:xfrm>
            <a:off x="8382000" y="2190750"/>
            <a:ext cx="2952750" cy="9525"/>
          </a:xfrm>
          <a:custGeom>
            <a:avLst/>
            <a:gdLst/>
            <a:ahLst/>
            <a:cxnLst/>
            <a:rect l="l" t="t" r="r" b="b"/>
            <a:pathLst>
              <a:path w="2952750" h="9525">
                <a:moveTo>
                  <a:pt x="0" y="0"/>
                </a:moveTo>
                <a:lnTo>
                  <a:pt x="2952750" y="0"/>
                </a:lnTo>
              </a:path>
            </a:pathLst>
          </a:custGeom>
          <a:noFill/>
          <a:ln w="9525">
            <a:solidFill>
              <a:srgbClr val="F1F5F9"/>
            </a:solidFill>
          </a:ln>
        </p:spPr>
      </p:sp>
      <p:sp>
        <p:nvSpPr>
          <p:cNvPr id="37" name="TextBox 37"/>
          <p:cNvSpPr txBox="1"/>
          <p:nvPr/>
        </p:nvSpPr>
        <p:spPr>
          <a:xfrm>
            <a:off x="8367712" y="2355056"/>
            <a:ext cx="3314700" cy="228600"/>
          </a:xfrm>
          <a:prstGeom prst="rect">
            <a:avLst/>
          </a:prstGeom>
          <a:noFill/>
          <a:ln>
            <a:noFill/>
          </a:ln>
        </p:spPr>
        <p:txBody>
          <a:bodyPr wrap="none" lIns="0" tIns="0" rIns="0" bIns="0" anchor="t" anchorCtr="0">
            <a:spAutoFit/>
          </a:bodyPr>
          <a:lstStyle/>
          <a:p>
            <a:pPr algn="l"/>
            <a:r>
              <a:rPr lang="zh-CN" sz="1125" dirty="0">
                <a:solidFill>
                  <a:srgbClr val="334155"/>
                </a:solidFill>
                <a:latin typeface="Arial" panose="020B0704020202020204"/>
                <a:ea typeface="Arial" panose="020B0704020202020204"/>
                <a:cs typeface="Arial" panose="020B0704020202020204"/>
              </a:rPr>
              <a:t>• Luồng dữ liệu tổng quát Composable ➔ DB</a:t>
            </a:r>
            <a:endParaRPr lang="zh-CN" sz="1125" dirty="0">
              <a:solidFill>
                <a:srgbClr val="334155"/>
              </a:solidFill>
              <a:latin typeface="Arial" panose="020B0704020202020204"/>
              <a:ea typeface="Arial" panose="020B0704020202020204"/>
              <a:cs typeface="Arial" panose="020B0704020202020204"/>
            </a:endParaRPr>
          </a:p>
        </p:txBody>
      </p:sp>
      <p:sp>
        <p:nvSpPr>
          <p:cNvPr id="38" name="TextBox 38"/>
          <p:cNvSpPr txBox="1"/>
          <p:nvPr/>
        </p:nvSpPr>
        <p:spPr>
          <a:xfrm>
            <a:off x="8367712" y="2640806"/>
            <a:ext cx="3175040" cy="228600"/>
          </a:xfrm>
          <a:prstGeom prst="rect">
            <a:avLst/>
          </a:prstGeom>
          <a:noFill/>
          <a:ln>
            <a:noFill/>
          </a:ln>
        </p:spPr>
        <p:txBody>
          <a:bodyPr wrap="none" lIns="0" tIns="0" rIns="0" bIns="0" anchor="t" anchorCtr="0">
            <a:spAutoFit/>
          </a:bodyPr>
          <a:lstStyle/>
          <a:p>
            <a:pPr algn="l"/>
            <a:r>
              <a:rPr lang="zh-CN" sz="1125" dirty="0">
                <a:solidFill>
                  <a:srgbClr val="334155"/>
                </a:solidFill>
                <a:latin typeface="Arial" panose="020B0704020202020204"/>
                <a:ea typeface="Arial" panose="020B0704020202020204"/>
                <a:cs typeface="Arial" panose="020B0704020202020204"/>
              </a:rPr>
              <a:t>• Xác thực, Quản lý phiên &amp; Interceptor</a:t>
            </a:r>
            <a:endParaRPr lang="zh-CN" sz="1125" dirty="0">
              <a:solidFill>
                <a:srgbClr val="334155"/>
              </a:solidFill>
              <a:latin typeface="Arial" panose="020B0704020202020204"/>
              <a:ea typeface="Arial" panose="020B0704020202020204"/>
              <a:cs typeface="Arial" panose="020B0704020202020204"/>
            </a:endParaRPr>
          </a:p>
        </p:txBody>
      </p:sp>
      <p:sp>
        <p:nvSpPr>
          <p:cNvPr id="39" name="TextBox 39"/>
          <p:cNvSpPr txBox="1"/>
          <p:nvPr/>
        </p:nvSpPr>
        <p:spPr>
          <a:xfrm>
            <a:off x="8367712" y="2926556"/>
            <a:ext cx="3413284" cy="228600"/>
          </a:xfrm>
          <a:prstGeom prst="rect">
            <a:avLst/>
          </a:prstGeom>
          <a:noFill/>
          <a:ln>
            <a:noFill/>
          </a:ln>
        </p:spPr>
        <p:txBody>
          <a:bodyPr wrap="none" lIns="0" tIns="0" rIns="0" bIns="0" anchor="t" anchorCtr="0">
            <a:spAutoFit/>
          </a:bodyPr>
          <a:lstStyle/>
          <a:p>
            <a:pPr algn="l"/>
            <a:r>
              <a:rPr lang="zh-CN" sz="1125" dirty="0">
                <a:solidFill>
                  <a:srgbClr val="334155"/>
                </a:solidFill>
                <a:latin typeface="Arial" panose="020B0704020202020204"/>
                <a:ea typeface="Arial" panose="020B0704020202020204"/>
                <a:cs typeface="Arial" panose="020B0704020202020204"/>
              </a:rPr>
              <a:t>• Xử lý đồng thời &amp; Máy trạng thái đơn hàng</a:t>
            </a:r>
            <a:endParaRPr lang="zh-CN" sz="1125" dirty="0">
              <a:solidFill>
                <a:srgbClr val="334155"/>
              </a:solidFill>
              <a:latin typeface="Arial" panose="020B0704020202020204"/>
              <a:ea typeface="Arial" panose="020B0704020202020204"/>
              <a:cs typeface="Arial" panose="020B0704020202020204"/>
            </a:endParaRPr>
          </a:p>
        </p:txBody>
      </p:sp>
      <p:sp>
        <p:nvSpPr>
          <p:cNvPr id="40" name="TextBox 40"/>
          <p:cNvSpPr txBox="1"/>
          <p:nvPr/>
        </p:nvSpPr>
        <p:spPr>
          <a:xfrm>
            <a:off x="8369618" y="3209449"/>
            <a:ext cx="936117"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panose="020B0704020202020204"/>
                <a:ea typeface="Arial" panose="020B0704020202020204"/>
                <a:cs typeface="Arial" panose="020B0704020202020204"/>
              </a:rPr>
              <a:t>Trang 06 - 08</a:t>
            </a:r>
            <a:endParaRPr lang="zh-CN" sz="975" dirty="0">
              <a:solidFill>
                <a:srgbClr val="64748B"/>
              </a:solidFill>
              <a:latin typeface="Arial" panose="020B0704020202020204"/>
              <a:ea typeface="Arial" panose="020B0704020202020204"/>
              <a:cs typeface="Arial" panose="020B0704020202020204"/>
            </a:endParaRPr>
          </a:p>
        </p:txBody>
      </p:sp>
      <p:sp>
        <p:nvSpPr>
          <p:cNvPr id="41" name="Freeform 41"/>
          <p:cNvSpPr/>
          <p:nvPr/>
        </p:nvSpPr>
        <p:spPr>
          <a:xfrm>
            <a:off x="571500" y="3810000"/>
            <a:ext cx="3429000" cy="2095500"/>
          </a:xfrm>
          <a:custGeom>
            <a:avLst/>
            <a:gdLst/>
            <a:ahLst/>
            <a:cxnLst/>
            <a:rect l="l" t="t" r="r" b="b"/>
            <a:pathLst>
              <a:path w="3429000" h="2095500">
                <a:moveTo>
                  <a:pt x="76200" y="0"/>
                </a:moveTo>
                <a:lnTo>
                  <a:pt x="3352800" y="0"/>
                </a:lnTo>
                <a:cubicBezTo>
                  <a:pt x="3394884" y="0"/>
                  <a:pt x="3429000" y="34116"/>
                  <a:pt x="3429000" y="76200"/>
                </a:cubicBezTo>
                <a:lnTo>
                  <a:pt x="3429000" y="2019300"/>
                </a:lnTo>
                <a:cubicBezTo>
                  <a:pt x="3429000" y="2061384"/>
                  <a:pt x="3394884" y="2095500"/>
                  <a:pt x="3352800" y="2095500"/>
                </a:cubicBezTo>
                <a:lnTo>
                  <a:pt x="76200" y="2095500"/>
                </a:lnTo>
                <a:cubicBezTo>
                  <a:pt x="34116" y="2095500"/>
                  <a:pt x="0" y="2061384"/>
                  <a:pt x="0" y="2019300"/>
                </a:cubicBezTo>
                <a:lnTo>
                  <a:pt x="0" y="76200"/>
                </a:lnTo>
                <a:cubicBezTo>
                  <a:pt x="0" y="34116"/>
                  <a:pt x="34116" y="0"/>
                  <a:pt x="76200" y="0"/>
                </a:cubicBezTo>
                <a:close/>
              </a:path>
            </a:pathLst>
          </a:custGeom>
          <a:solidFill>
            <a:srgbClr val="FFFFFF"/>
          </a:solidFill>
          <a:ln w="14288">
            <a:solidFill>
              <a:srgbClr val="E2E8F0"/>
            </a:solidFill>
          </a:ln>
        </p:spPr>
      </p:sp>
      <p:sp>
        <p:nvSpPr>
          <p:cNvPr id="42" name="Freeform 42"/>
          <p:cNvSpPr/>
          <p:nvPr/>
        </p:nvSpPr>
        <p:spPr>
          <a:xfrm>
            <a:off x="571500" y="3810000"/>
            <a:ext cx="3429000" cy="38100"/>
          </a:xfrm>
          <a:custGeom>
            <a:avLst/>
            <a:gdLst/>
            <a:ahLst/>
            <a:cxnLst/>
            <a:rect l="l" t="t" r="r" b="b"/>
            <a:pathLst>
              <a:path w="3429000" h="38100">
                <a:moveTo>
                  <a:pt x="19050" y="0"/>
                </a:moveTo>
                <a:lnTo>
                  <a:pt x="3409950" y="0"/>
                </a:lnTo>
                <a:cubicBezTo>
                  <a:pt x="3420471" y="0"/>
                  <a:pt x="3429000" y="8529"/>
                  <a:pt x="3429000" y="19050"/>
                </a:cubicBezTo>
                <a:lnTo>
                  <a:pt x="3429000" y="19050"/>
                </a:lnTo>
                <a:cubicBezTo>
                  <a:pt x="3429000" y="29571"/>
                  <a:pt x="3420471" y="38100"/>
                  <a:pt x="3409950" y="38100"/>
                </a:cubicBezTo>
                <a:lnTo>
                  <a:pt x="19050" y="38100"/>
                </a:lnTo>
                <a:cubicBezTo>
                  <a:pt x="8529" y="38100"/>
                  <a:pt x="0" y="29571"/>
                  <a:pt x="0" y="19050"/>
                </a:cubicBezTo>
                <a:lnTo>
                  <a:pt x="0" y="19050"/>
                </a:lnTo>
                <a:cubicBezTo>
                  <a:pt x="0" y="8529"/>
                  <a:pt x="8529" y="0"/>
                  <a:pt x="19050" y="0"/>
                </a:cubicBezTo>
                <a:close/>
              </a:path>
            </a:pathLst>
          </a:custGeom>
          <a:solidFill>
            <a:srgbClr val="0284C7"/>
          </a:solidFill>
          <a:ln>
            <a:noFill/>
          </a:ln>
        </p:spPr>
      </p:sp>
      <p:sp>
        <p:nvSpPr>
          <p:cNvPr id="43" name="Freeform 43"/>
          <p:cNvSpPr/>
          <p:nvPr/>
        </p:nvSpPr>
        <p:spPr>
          <a:xfrm>
            <a:off x="762000" y="4048125"/>
            <a:ext cx="381000" cy="381000"/>
          </a:xfrm>
          <a:custGeom>
            <a:avLst/>
            <a:gdLst/>
            <a:ahLst/>
            <a:cxnLst/>
            <a:rect l="l" t="t" r="r" b="b"/>
            <a:pathLst>
              <a:path w="381000" h="381000">
                <a:moveTo>
                  <a:pt x="76200" y="0"/>
                </a:moveTo>
                <a:lnTo>
                  <a:pt x="304800" y="0"/>
                </a:lnTo>
                <a:cubicBezTo>
                  <a:pt x="346884" y="0"/>
                  <a:pt x="381000" y="34116"/>
                  <a:pt x="381000" y="76200"/>
                </a:cubicBezTo>
                <a:lnTo>
                  <a:pt x="381000" y="304800"/>
                </a:lnTo>
                <a:cubicBezTo>
                  <a:pt x="381000" y="346884"/>
                  <a:pt x="346884" y="381000"/>
                  <a:pt x="304800" y="381000"/>
                </a:cubicBezTo>
                <a:lnTo>
                  <a:pt x="76200" y="381000"/>
                </a:lnTo>
                <a:cubicBezTo>
                  <a:pt x="34116" y="381000"/>
                  <a:pt x="0" y="346884"/>
                  <a:pt x="0" y="304800"/>
                </a:cubicBezTo>
                <a:lnTo>
                  <a:pt x="0" y="76200"/>
                </a:lnTo>
                <a:cubicBezTo>
                  <a:pt x="0" y="34116"/>
                  <a:pt x="34116" y="0"/>
                  <a:pt x="76200" y="0"/>
                </a:cubicBezTo>
                <a:close/>
              </a:path>
            </a:pathLst>
          </a:custGeom>
          <a:solidFill>
            <a:srgbClr val="F0F9FF"/>
          </a:solidFill>
          <a:ln>
            <a:noFill/>
          </a:ln>
        </p:spPr>
      </p:sp>
      <p:sp>
        <p:nvSpPr>
          <p:cNvPr id="44" name="TextBox 44"/>
          <p:cNvSpPr txBox="1"/>
          <p:nvPr/>
        </p:nvSpPr>
        <p:spPr>
          <a:xfrm>
            <a:off x="806934" y="4143375"/>
            <a:ext cx="291132" cy="304800"/>
          </a:xfrm>
          <a:prstGeom prst="rect">
            <a:avLst/>
          </a:prstGeom>
          <a:noFill/>
          <a:ln>
            <a:noFill/>
          </a:ln>
        </p:spPr>
        <p:txBody>
          <a:bodyPr wrap="none" lIns="0" tIns="0" rIns="0" bIns="0" anchor="t" anchorCtr="0">
            <a:spAutoFit/>
          </a:bodyPr>
          <a:lstStyle/>
          <a:p>
            <a:pPr algn="ctr"/>
            <a:r>
              <a:rPr lang="zh-CN" sz="1500" b="1" dirty="0">
                <a:solidFill>
                  <a:srgbClr val="0284C7"/>
                </a:solidFill>
                <a:latin typeface="Arial" panose="020B0704020202020204"/>
                <a:ea typeface="Arial" panose="020B0704020202020204"/>
                <a:cs typeface="Arial" panose="020B0704020202020204"/>
              </a:rPr>
              <a:t>04</a:t>
            </a:r>
            <a:endParaRPr lang="zh-CN" sz="1500" b="1" dirty="0">
              <a:solidFill>
                <a:srgbClr val="0284C7"/>
              </a:solidFill>
              <a:latin typeface="Arial" panose="020B0704020202020204"/>
              <a:ea typeface="Arial" panose="020B0704020202020204"/>
              <a:cs typeface="Arial" panose="020B0704020202020204"/>
            </a:endParaRPr>
          </a:p>
        </p:txBody>
      </p:sp>
      <p:sp>
        <p:nvSpPr>
          <p:cNvPr id="45" name="TextBox 45"/>
          <p:cNvSpPr txBox="1"/>
          <p:nvPr/>
        </p:nvSpPr>
        <p:spPr>
          <a:xfrm>
            <a:off x="1268730" y="4140518"/>
            <a:ext cx="1980333" cy="274320"/>
          </a:xfrm>
          <a:prstGeom prst="rect">
            <a:avLst/>
          </a:prstGeom>
          <a:noFill/>
          <a:ln>
            <a:noFill/>
          </a:ln>
        </p:spPr>
        <p:txBody>
          <a:bodyPr wrap="none" lIns="0" tIns="0" rIns="0" bIns="0" anchor="t" anchorCtr="0">
            <a:spAutoFit/>
          </a:bodyPr>
          <a:lstStyle/>
          <a:p>
            <a:pPr algn="l"/>
            <a:r>
              <a:rPr lang="zh-CN" sz="1350" b="1" dirty="0">
                <a:solidFill>
                  <a:srgbClr val="003366"/>
                </a:solidFill>
                <a:latin typeface="Arial" panose="020B0704020202020204"/>
                <a:ea typeface="Arial" panose="020B0704020202020204"/>
                <a:cs typeface="Arial" panose="020B0704020202020204"/>
              </a:rPr>
              <a:t>Thiết kế Data Model</a:t>
            </a:r>
            <a:endParaRPr lang="zh-CN" sz="1350" b="1" dirty="0">
              <a:solidFill>
                <a:srgbClr val="003366"/>
              </a:solidFill>
              <a:latin typeface="Arial" panose="020B0704020202020204"/>
              <a:ea typeface="Arial" panose="020B0704020202020204"/>
              <a:cs typeface="Arial" panose="020B0704020202020204"/>
            </a:endParaRPr>
          </a:p>
        </p:txBody>
      </p:sp>
      <p:sp>
        <p:nvSpPr>
          <p:cNvPr id="46" name="Line 46"/>
          <p:cNvSpPr/>
          <p:nvPr/>
        </p:nvSpPr>
        <p:spPr>
          <a:xfrm>
            <a:off x="762000" y="4572000"/>
            <a:ext cx="2952750" cy="9525"/>
          </a:xfrm>
          <a:custGeom>
            <a:avLst/>
            <a:gdLst/>
            <a:ahLst/>
            <a:cxnLst/>
            <a:rect l="l" t="t" r="r" b="b"/>
            <a:pathLst>
              <a:path w="2952750" h="9525">
                <a:moveTo>
                  <a:pt x="0" y="0"/>
                </a:moveTo>
                <a:lnTo>
                  <a:pt x="2952750" y="0"/>
                </a:lnTo>
              </a:path>
            </a:pathLst>
          </a:custGeom>
          <a:noFill/>
          <a:ln w="9525">
            <a:solidFill>
              <a:srgbClr val="F1F5F9"/>
            </a:solidFill>
          </a:ln>
        </p:spPr>
      </p:sp>
      <p:sp>
        <p:nvSpPr>
          <p:cNvPr id="47" name="TextBox 47"/>
          <p:cNvSpPr txBox="1"/>
          <p:nvPr/>
        </p:nvSpPr>
        <p:spPr>
          <a:xfrm>
            <a:off x="747712" y="4736306"/>
            <a:ext cx="2895719" cy="228600"/>
          </a:xfrm>
          <a:prstGeom prst="rect">
            <a:avLst/>
          </a:prstGeom>
          <a:noFill/>
          <a:ln>
            <a:noFill/>
          </a:ln>
        </p:spPr>
        <p:txBody>
          <a:bodyPr wrap="none" lIns="0" tIns="0" rIns="0" bIns="0" anchor="t" anchorCtr="0">
            <a:spAutoFit/>
          </a:bodyPr>
          <a:lstStyle/>
          <a:p>
            <a:pPr algn="l"/>
            <a:r>
              <a:rPr lang="zh-CN" sz="1125" dirty="0">
                <a:solidFill>
                  <a:srgbClr val="334155"/>
                </a:solidFill>
                <a:latin typeface="Arial" panose="020B0704020202020204"/>
                <a:ea typeface="Arial" panose="020B0704020202020204"/>
                <a:cs typeface="Arial" panose="020B0704020202020204"/>
              </a:rPr>
              <a:t>• Các Collection chính trên MongoDB</a:t>
            </a:r>
            <a:endParaRPr lang="zh-CN" sz="1125" dirty="0">
              <a:solidFill>
                <a:srgbClr val="334155"/>
              </a:solidFill>
              <a:latin typeface="Arial" panose="020B0704020202020204"/>
              <a:ea typeface="Arial" panose="020B0704020202020204"/>
              <a:cs typeface="Arial" panose="020B0704020202020204"/>
            </a:endParaRPr>
          </a:p>
        </p:txBody>
      </p:sp>
      <p:sp>
        <p:nvSpPr>
          <p:cNvPr id="48" name="TextBox 48"/>
          <p:cNvSpPr txBox="1"/>
          <p:nvPr/>
        </p:nvSpPr>
        <p:spPr>
          <a:xfrm>
            <a:off x="747712" y="5022056"/>
            <a:ext cx="3594021" cy="228600"/>
          </a:xfrm>
          <a:prstGeom prst="rect">
            <a:avLst/>
          </a:prstGeom>
          <a:noFill/>
          <a:ln>
            <a:noFill/>
          </a:ln>
        </p:spPr>
        <p:txBody>
          <a:bodyPr wrap="none" lIns="0" tIns="0" rIns="0" bIns="0" anchor="t" anchorCtr="0">
            <a:spAutoFit/>
          </a:bodyPr>
          <a:lstStyle/>
          <a:p>
            <a:pPr algn="l"/>
            <a:r>
              <a:rPr lang="zh-CN" sz="1125" dirty="0">
                <a:solidFill>
                  <a:srgbClr val="334155"/>
                </a:solidFill>
                <a:latin typeface="Arial" panose="020B0704020202020204"/>
                <a:ea typeface="Arial" panose="020B0704020202020204"/>
                <a:cs typeface="Arial" panose="020B0704020202020204"/>
              </a:rPr>
              <a:t>• Công thức tính cước tự động PricingService</a:t>
            </a:r>
            <a:endParaRPr lang="zh-CN" sz="1125" dirty="0">
              <a:solidFill>
                <a:srgbClr val="334155"/>
              </a:solidFill>
              <a:latin typeface="Arial" panose="020B0704020202020204"/>
              <a:ea typeface="Arial" panose="020B0704020202020204"/>
              <a:cs typeface="Arial" panose="020B0704020202020204"/>
            </a:endParaRPr>
          </a:p>
        </p:txBody>
      </p:sp>
      <p:sp>
        <p:nvSpPr>
          <p:cNvPr id="49" name="TextBox 49"/>
          <p:cNvSpPr txBox="1"/>
          <p:nvPr/>
        </p:nvSpPr>
        <p:spPr>
          <a:xfrm>
            <a:off x="747712" y="5307806"/>
            <a:ext cx="3717250" cy="228600"/>
          </a:xfrm>
          <a:prstGeom prst="rect">
            <a:avLst/>
          </a:prstGeom>
          <a:noFill/>
          <a:ln>
            <a:noFill/>
          </a:ln>
        </p:spPr>
        <p:txBody>
          <a:bodyPr wrap="none" lIns="0" tIns="0" rIns="0" bIns="0" anchor="t" anchorCtr="0">
            <a:spAutoFit/>
          </a:bodyPr>
          <a:lstStyle/>
          <a:p>
            <a:pPr algn="l"/>
            <a:r>
              <a:rPr lang="zh-CN" sz="1125" dirty="0">
                <a:solidFill>
                  <a:srgbClr val="334155"/>
                </a:solidFill>
                <a:latin typeface="Arial" panose="020B0704020202020204"/>
                <a:ea typeface="Arial" panose="020B0704020202020204"/>
                <a:cs typeface="Arial" panose="020B0704020202020204"/>
              </a:rPr>
              <a:t>• Vai trò của Room Database cục bộ (AppDb v6)</a:t>
            </a:r>
            <a:endParaRPr lang="zh-CN" sz="1125" dirty="0">
              <a:solidFill>
                <a:srgbClr val="334155"/>
              </a:solidFill>
              <a:latin typeface="Arial" panose="020B0704020202020204"/>
              <a:ea typeface="Arial" panose="020B0704020202020204"/>
              <a:cs typeface="Arial" panose="020B0704020202020204"/>
            </a:endParaRPr>
          </a:p>
        </p:txBody>
      </p:sp>
      <p:sp>
        <p:nvSpPr>
          <p:cNvPr id="50" name="TextBox 50"/>
          <p:cNvSpPr txBox="1"/>
          <p:nvPr/>
        </p:nvSpPr>
        <p:spPr>
          <a:xfrm>
            <a:off x="749618" y="5590699"/>
            <a:ext cx="615720"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panose="020B0704020202020204"/>
                <a:ea typeface="Arial" panose="020B0704020202020204"/>
                <a:cs typeface="Arial" panose="020B0704020202020204"/>
              </a:rPr>
              <a:t>Trang 09</a:t>
            </a:r>
            <a:endParaRPr lang="zh-CN" sz="975" dirty="0">
              <a:solidFill>
                <a:srgbClr val="64748B"/>
              </a:solidFill>
              <a:latin typeface="Arial" panose="020B0704020202020204"/>
              <a:ea typeface="Arial" panose="020B0704020202020204"/>
              <a:cs typeface="Arial" panose="020B0704020202020204"/>
            </a:endParaRPr>
          </a:p>
        </p:txBody>
      </p:sp>
      <p:sp>
        <p:nvSpPr>
          <p:cNvPr id="51" name="Freeform 51"/>
          <p:cNvSpPr/>
          <p:nvPr/>
        </p:nvSpPr>
        <p:spPr>
          <a:xfrm>
            <a:off x="4381500" y="3810000"/>
            <a:ext cx="3429000" cy="2095500"/>
          </a:xfrm>
          <a:custGeom>
            <a:avLst/>
            <a:gdLst/>
            <a:ahLst/>
            <a:cxnLst/>
            <a:rect l="l" t="t" r="r" b="b"/>
            <a:pathLst>
              <a:path w="3429000" h="2095500">
                <a:moveTo>
                  <a:pt x="76200" y="0"/>
                </a:moveTo>
                <a:lnTo>
                  <a:pt x="3352800" y="0"/>
                </a:lnTo>
                <a:cubicBezTo>
                  <a:pt x="3394884" y="0"/>
                  <a:pt x="3429000" y="34116"/>
                  <a:pt x="3429000" y="76200"/>
                </a:cubicBezTo>
                <a:lnTo>
                  <a:pt x="3429000" y="2019300"/>
                </a:lnTo>
                <a:cubicBezTo>
                  <a:pt x="3429000" y="2061384"/>
                  <a:pt x="3394884" y="2095500"/>
                  <a:pt x="3352800" y="2095500"/>
                </a:cubicBezTo>
                <a:lnTo>
                  <a:pt x="76200" y="2095500"/>
                </a:lnTo>
                <a:cubicBezTo>
                  <a:pt x="34116" y="2095500"/>
                  <a:pt x="0" y="2061384"/>
                  <a:pt x="0" y="2019300"/>
                </a:cubicBezTo>
                <a:lnTo>
                  <a:pt x="0" y="76200"/>
                </a:lnTo>
                <a:cubicBezTo>
                  <a:pt x="0" y="34116"/>
                  <a:pt x="34116" y="0"/>
                  <a:pt x="76200" y="0"/>
                </a:cubicBezTo>
                <a:close/>
              </a:path>
            </a:pathLst>
          </a:custGeom>
          <a:solidFill>
            <a:srgbClr val="FFFFFF"/>
          </a:solidFill>
          <a:ln w="14288">
            <a:solidFill>
              <a:srgbClr val="E2E8F0"/>
            </a:solidFill>
          </a:ln>
        </p:spPr>
      </p:sp>
      <p:sp>
        <p:nvSpPr>
          <p:cNvPr id="52" name="Freeform 52"/>
          <p:cNvSpPr/>
          <p:nvPr/>
        </p:nvSpPr>
        <p:spPr>
          <a:xfrm>
            <a:off x="4381500" y="3810000"/>
            <a:ext cx="3429000" cy="38100"/>
          </a:xfrm>
          <a:custGeom>
            <a:avLst/>
            <a:gdLst/>
            <a:ahLst/>
            <a:cxnLst/>
            <a:rect l="l" t="t" r="r" b="b"/>
            <a:pathLst>
              <a:path w="3429000" h="38100">
                <a:moveTo>
                  <a:pt x="19050" y="0"/>
                </a:moveTo>
                <a:lnTo>
                  <a:pt x="3409950" y="0"/>
                </a:lnTo>
                <a:cubicBezTo>
                  <a:pt x="3420471" y="0"/>
                  <a:pt x="3429000" y="8529"/>
                  <a:pt x="3429000" y="19050"/>
                </a:cubicBezTo>
                <a:lnTo>
                  <a:pt x="3429000" y="19050"/>
                </a:lnTo>
                <a:cubicBezTo>
                  <a:pt x="3429000" y="29571"/>
                  <a:pt x="3420471" y="38100"/>
                  <a:pt x="3409950" y="38100"/>
                </a:cubicBezTo>
                <a:lnTo>
                  <a:pt x="19050" y="38100"/>
                </a:lnTo>
                <a:cubicBezTo>
                  <a:pt x="8529" y="38100"/>
                  <a:pt x="0" y="29571"/>
                  <a:pt x="0" y="19050"/>
                </a:cubicBezTo>
                <a:lnTo>
                  <a:pt x="0" y="19050"/>
                </a:lnTo>
                <a:cubicBezTo>
                  <a:pt x="0" y="8529"/>
                  <a:pt x="8529" y="0"/>
                  <a:pt x="19050" y="0"/>
                </a:cubicBezTo>
                <a:close/>
              </a:path>
            </a:pathLst>
          </a:custGeom>
          <a:solidFill>
            <a:srgbClr val="16A34A"/>
          </a:solidFill>
          <a:ln>
            <a:noFill/>
          </a:ln>
        </p:spPr>
      </p:sp>
      <p:sp>
        <p:nvSpPr>
          <p:cNvPr id="53" name="Freeform 53"/>
          <p:cNvSpPr/>
          <p:nvPr/>
        </p:nvSpPr>
        <p:spPr>
          <a:xfrm>
            <a:off x="4572000" y="4048125"/>
            <a:ext cx="381000" cy="381000"/>
          </a:xfrm>
          <a:custGeom>
            <a:avLst/>
            <a:gdLst/>
            <a:ahLst/>
            <a:cxnLst/>
            <a:rect l="l" t="t" r="r" b="b"/>
            <a:pathLst>
              <a:path w="381000" h="381000">
                <a:moveTo>
                  <a:pt x="76200" y="0"/>
                </a:moveTo>
                <a:lnTo>
                  <a:pt x="304800" y="0"/>
                </a:lnTo>
                <a:cubicBezTo>
                  <a:pt x="346884" y="0"/>
                  <a:pt x="381000" y="34116"/>
                  <a:pt x="381000" y="76200"/>
                </a:cubicBezTo>
                <a:lnTo>
                  <a:pt x="381000" y="304800"/>
                </a:lnTo>
                <a:cubicBezTo>
                  <a:pt x="381000" y="346884"/>
                  <a:pt x="346884" y="381000"/>
                  <a:pt x="304800" y="381000"/>
                </a:cubicBezTo>
                <a:lnTo>
                  <a:pt x="76200" y="381000"/>
                </a:lnTo>
                <a:cubicBezTo>
                  <a:pt x="34116" y="381000"/>
                  <a:pt x="0" y="346884"/>
                  <a:pt x="0" y="304800"/>
                </a:cubicBezTo>
                <a:lnTo>
                  <a:pt x="0" y="76200"/>
                </a:lnTo>
                <a:cubicBezTo>
                  <a:pt x="0" y="34116"/>
                  <a:pt x="34116" y="0"/>
                  <a:pt x="76200" y="0"/>
                </a:cubicBezTo>
                <a:close/>
              </a:path>
            </a:pathLst>
          </a:custGeom>
          <a:solidFill>
            <a:srgbClr val="F0FDF4"/>
          </a:solidFill>
          <a:ln>
            <a:noFill/>
          </a:ln>
        </p:spPr>
      </p:sp>
      <p:sp>
        <p:nvSpPr>
          <p:cNvPr id="54" name="TextBox 54"/>
          <p:cNvSpPr txBox="1"/>
          <p:nvPr/>
        </p:nvSpPr>
        <p:spPr>
          <a:xfrm>
            <a:off x="4616934" y="4143375"/>
            <a:ext cx="291132" cy="304800"/>
          </a:xfrm>
          <a:prstGeom prst="rect">
            <a:avLst/>
          </a:prstGeom>
          <a:noFill/>
          <a:ln>
            <a:noFill/>
          </a:ln>
        </p:spPr>
        <p:txBody>
          <a:bodyPr wrap="none" lIns="0" tIns="0" rIns="0" bIns="0" anchor="t" anchorCtr="0">
            <a:spAutoFit/>
          </a:bodyPr>
          <a:lstStyle/>
          <a:p>
            <a:pPr algn="ctr"/>
            <a:r>
              <a:rPr lang="zh-CN" sz="1500" b="1" dirty="0">
                <a:solidFill>
                  <a:srgbClr val="16A34A"/>
                </a:solidFill>
                <a:latin typeface="Arial" panose="020B0704020202020204"/>
                <a:ea typeface="Arial" panose="020B0704020202020204"/>
                <a:cs typeface="Arial" panose="020B0704020202020204"/>
              </a:rPr>
              <a:t>05</a:t>
            </a:r>
            <a:endParaRPr lang="zh-CN" sz="1500" b="1" dirty="0">
              <a:solidFill>
                <a:srgbClr val="16A34A"/>
              </a:solidFill>
              <a:latin typeface="Arial" panose="020B0704020202020204"/>
              <a:ea typeface="Arial" panose="020B0704020202020204"/>
              <a:cs typeface="Arial" panose="020B0704020202020204"/>
            </a:endParaRPr>
          </a:p>
        </p:txBody>
      </p:sp>
      <p:sp>
        <p:nvSpPr>
          <p:cNvPr id="55" name="TextBox 55"/>
          <p:cNvSpPr txBox="1"/>
          <p:nvPr/>
        </p:nvSpPr>
        <p:spPr>
          <a:xfrm>
            <a:off x="5078730" y="4140518"/>
            <a:ext cx="2311575" cy="274320"/>
          </a:xfrm>
          <a:prstGeom prst="rect">
            <a:avLst/>
          </a:prstGeom>
          <a:noFill/>
          <a:ln>
            <a:noFill/>
          </a:ln>
        </p:spPr>
        <p:txBody>
          <a:bodyPr wrap="none" lIns="0" tIns="0" rIns="0" bIns="0" anchor="t" anchorCtr="0">
            <a:spAutoFit/>
          </a:bodyPr>
          <a:lstStyle/>
          <a:p>
            <a:pPr algn="l"/>
            <a:r>
              <a:rPr lang="zh-CN" sz="1350" b="1" dirty="0">
                <a:solidFill>
                  <a:srgbClr val="003366"/>
                </a:solidFill>
                <a:latin typeface="Arial" panose="020B0704020202020204"/>
                <a:ea typeface="Arial" panose="020B0704020202020204"/>
                <a:cs typeface="Arial" panose="020B0704020202020204"/>
              </a:rPr>
              <a:t>Screen Flow &amp; Kiểm thử</a:t>
            </a:r>
            <a:endParaRPr lang="zh-CN" sz="1350" b="1" dirty="0">
              <a:solidFill>
                <a:srgbClr val="003366"/>
              </a:solidFill>
              <a:latin typeface="Arial" panose="020B0704020202020204"/>
              <a:ea typeface="Arial" panose="020B0704020202020204"/>
              <a:cs typeface="Arial" panose="020B0704020202020204"/>
            </a:endParaRPr>
          </a:p>
        </p:txBody>
      </p:sp>
      <p:sp>
        <p:nvSpPr>
          <p:cNvPr id="56" name="Line 56"/>
          <p:cNvSpPr/>
          <p:nvPr/>
        </p:nvSpPr>
        <p:spPr>
          <a:xfrm>
            <a:off x="4572000" y="4572000"/>
            <a:ext cx="2952750" cy="9525"/>
          </a:xfrm>
          <a:custGeom>
            <a:avLst/>
            <a:gdLst/>
            <a:ahLst/>
            <a:cxnLst/>
            <a:rect l="l" t="t" r="r" b="b"/>
            <a:pathLst>
              <a:path w="2952750" h="9525">
                <a:moveTo>
                  <a:pt x="0" y="0"/>
                </a:moveTo>
                <a:lnTo>
                  <a:pt x="2952750" y="0"/>
                </a:lnTo>
              </a:path>
            </a:pathLst>
          </a:custGeom>
          <a:noFill/>
          <a:ln w="9525">
            <a:solidFill>
              <a:srgbClr val="F1F5F9"/>
            </a:solidFill>
          </a:ln>
        </p:spPr>
      </p:sp>
      <p:sp>
        <p:nvSpPr>
          <p:cNvPr id="57" name="TextBox 57"/>
          <p:cNvSpPr txBox="1"/>
          <p:nvPr/>
        </p:nvSpPr>
        <p:spPr>
          <a:xfrm>
            <a:off x="4557712" y="4736306"/>
            <a:ext cx="3479006" cy="228600"/>
          </a:xfrm>
          <a:prstGeom prst="rect">
            <a:avLst/>
          </a:prstGeom>
          <a:noFill/>
          <a:ln>
            <a:noFill/>
          </a:ln>
        </p:spPr>
        <p:txBody>
          <a:bodyPr wrap="none" lIns="0" tIns="0" rIns="0" bIns="0" anchor="t" anchorCtr="0">
            <a:spAutoFit/>
          </a:bodyPr>
          <a:lstStyle/>
          <a:p>
            <a:pPr algn="l"/>
            <a:r>
              <a:rPr lang="zh-CN" sz="1125" dirty="0">
                <a:solidFill>
                  <a:srgbClr val="334155"/>
                </a:solidFill>
                <a:latin typeface="Arial" panose="020B0704020202020204"/>
                <a:ea typeface="Arial" panose="020B0704020202020204"/>
                <a:cs typeface="Arial" panose="020B0704020202020204"/>
              </a:rPr>
              <a:t>• Luồng màn hình Khách hàng, Tài xế, Admin</a:t>
            </a:r>
            <a:endParaRPr lang="zh-CN" sz="1125" dirty="0">
              <a:solidFill>
                <a:srgbClr val="334155"/>
              </a:solidFill>
              <a:latin typeface="Arial" panose="020B0704020202020204"/>
              <a:ea typeface="Arial" panose="020B0704020202020204"/>
              <a:cs typeface="Arial" panose="020B0704020202020204"/>
            </a:endParaRPr>
          </a:p>
        </p:txBody>
      </p:sp>
      <p:sp>
        <p:nvSpPr>
          <p:cNvPr id="58" name="TextBox 58"/>
          <p:cNvSpPr txBox="1"/>
          <p:nvPr/>
        </p:nvSpPr>
        <p:spPr>
          <a:xfrm>
            <a:off x="4557712" y="5022056"/>
            <a:ext cx="3503652" cy="228600"/>
          </a:xfrm>
          <a:prstGeom prst="rect">
            <a:avLst/>
          </a:prstGeom>
          <a:noFill/>
          <a:ln>
            <a:noFill/>
          </a:ln>
        </p:spPr>
        <p:txBody>
          <a:bodyPr wrap="none" lIns="0" tIns="0" rIns="0" bIns="0" anchor="t" anchorCtr="0">
            <a:spAutoFit/>
          </a:bodyPr>
          <a:lstStyle/>
          <a:p>
            <a:pPr algn="l"/>
            <a:r>
              <a:rPr lang="zh-CN" sz="1125" dirty="0">
                <a:solidFill>
                  <a:srgbClr val="334155"/>
                </a:solidFill>
                <a:latin typeface="Arial" panose="020B0704020202020204"/>
                <a:ea typeface="Arial" panose="020B0704020202020204"/>
                <a:cs typeface="Arial" panose="020B0704020202020204"/>
              </a:rPr>
              <a:t>• Android Manifest, Intent gọi điện &amp; Bản đồ</a:t>
            </a:r>
            <a:endParaRPr lang="zh-CN" sz="1125" dirty="0">
              <a:solidFill>
                <a:srgbClr val="334155"/>
              </a:solidFill>
              <a:latin typeface="Arial" panose="020B0704020202020204"/>
              <a:ea typeface="Arial" panose="020B0704020202020204"/>
              <a:cs typeface="Arial" panose="020B0704020202020204"/>
            </a:endParaRPr>
          </a:p>
        </p:txBody>
      </p:sp>
      <p:sp>
        <p:nvSpPr>
          <p:cNvPr id="59" name="TextBox 59"/>
          <p:cNvSpPr txBox="1"/>
          <p:nvPr/>
        </p:nvSpPr>
        <p:spPr>
          <a:xfrm>
            <a:off x="4557712" y="5307806"/>
            <a:ext cx="3027164" cy="228600"/>
          </a:xfrm>
          <a:prstGeom prst="rect">
            <a:avLst/>
          </a:prstGeom>
          <a:noFill/>
          <a:ln>
            <a:noFill/>
          </a:ln>
        </p:spPr>
        <p:txBody>
          <a:bodyPr wrap="none" lIns="0" tIns="0" rIns="0" bIns="0" anchor="t" anchorCtr="0">
            <a:spAutoFit/>
          </a:bodyPr>
          <a:lstStyle/>
          <a:p>
            <a:pPr algn="l"/>
            <a:r>
              <a:rPr lang="zh-CN" sz="1125" dirty="0">
                <a:solidFill>
                  <a:srgbClr val="334155"/>
                </a:solidFill>
                <a:latin typeface="Arial" panose="020B0704020202020204"/>
                <a:ea typeface="Arial" panose="020B0704020202020204"/>
                <a:cs typeface="Arial" panose="020B0704020202020204"/>
              </a:rPr>
              <a:t>• Báo cáo 12 Test Cases &amp; Xử lý lỗi biên</a:t>
            </a:r>
            <a:endParaRPr lang="zh-CN" sz="1125" dirty="0">
              <a:solidFill>
                <a:srgbClr val="334155"/>
              </a:solidFill>
              <a:latin typeface="Arial" panose="020B0704020202020204"/>
              <a:ea typeface="Arial" panose="020B0704020202020204"/>
              <a:cs typeface="Arial" panose="020B0704020202020204"/>
            </a:endParaRPr>
          </a:p>
        </p:txBody>
      </p:sp>
      <p:sp>
        <p:nvSpPr>
          <p:cNvPr id="60" name="TextBox 60"/>
          <p:cNvSpPr txBox="1"/>
          <p:nvPr/>
        </p:nvSpPr>
        <p:spPr>
          <a:xfrm>
            <a:off x="4559618" y="5590699"/>
            <a:ext cx="864918"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panose="020B0704020202020204"/>
                <a:ea typeface="Arial" panose="020B0704020202020204"/>
                <a:cs typeface="Arial" panose="020B0704020202020204"/>
              </a:rPr>
              <a:t>Trang 10 - 12</a:t>
            </a:r>
            <a:endParaRPr lang="zh-CN" sz="975" dirty="0">
              <a:solidFill>
                <a:srgbClr val="64748B"/>
              </a:solidFill>
              <a:latin typeface="Arial" panose="020B0704020202020204"/>
              <a:ea typeface="Arial" panose="020B0704020202020204"/>
              <a:cs typeface="Arial" panose="020B0704020202020204"/>
            </a:endParaRPr>
          </a:p>
        </p:txBody>
      </p:sp>
      <p:sp>
        <p:nvSpPr>
          <p:cNvPr id="61" name="Freeform 61"/>
          <p:cNvSpPr/>
          <p:nvPr/>
        </p:nvSpPr>
        <p:spPr>
          <a:xfrm>
            <a:off x="8191500" y="3810000"/>
            <a:ext cx="3429000" cy="2095500"/>
          </a:xfrm>
          <a:custGeom>
            <a:avLst/>
            <a:gdLst/>
            <a:ahLst/>
            <a:cxnLst/>
            <a:rect l="l" t="t" r="r" b="b"/>
            <a:pathLst>
              <a:path w="3429000" h="2095500">
                <a:moveTo>
                  <a:pt x="76200" y="0"/>
                </a:moveTo>
                <a:lnTo>
                  <a:pt x="3352800" y="0"/>
                </a:lnTo>
                <a:cubicBezTo>
                  <a:pt x="3394884" y="0"/>
                  <a:pt x="3429000" y="34116"/>
                  <a:pt x="3429000" y="76200"/>
                </a:cubicBezTo>
                <a:lnTo>
                  <a:pt x="3429000" y="2019300"/>
                </a:lnTo>
                <a:cubicBezTo>
                  <a:pt x="3429000" y="2061384"/>
                  <a:pt x="3394884" y="2095500"/>
                  <a:pt x="3352800" y="2095500"/>
                </a:cubicBezTo>
                <a:lnTo>
                  <a:pt x="76200" y="2095500"/>
                </a:lnTo>
                <a:cubicBezTo>
                  <a:pt x="34116" y="2095500"/>
                  <a:pt x="0" y="2061384"/>
                  <a:pt x="0" y="2019300"/>
                </a:cubicBezTo>
                <a:lnTo>
                  <a:pt x="0" y="76200"/>
                </a:lnTo>
                <a:cubicBezTo>
                  <a:pt x="0" y="34116"/>
                  <a:pt x="34116" y="0"/>
                  <a:pt x="76200" y="0"/>
                </a:cubicBezTo>
                <a:close/>
              </a:path>
            </a:pathLst>
          </a:custGeom>
          <a:solidFill>
            <a:srgbClr val="FFFFFF"/>
          </a:solidFill>
          <a:ln w="14288">
            <a:solidFill>
              <a:srgbClr val="E2E8F0"/>
            </a:solidFill>
          </a:ln>
        </p:spPr>
      </p:sp>
      <p:sp>
        <p:nvSpPr>
          <p:cNvPr id="62" name="Freeform 62"/>
          <p:cNvSpPr/>
          <p:nvPr/>
        </p:nvSpPr>
        <p:spPr>
          <a:xfrm>
            <a:off x="8191500" y="3810000"/>
            <a:ext cx="3429000" cy="38100"/>
          </a:xfrm>
          <a:custGeom>
            <a:avLst/>
            <a:gdLst/>
            <a:ahLst/>
            <a:cxnLst/>
            <a:rect l="l" t="t" r="r" b="b"/>
            <a:pathLst>
              <a:path w="3429000" h="38100">
                <a:moveTo>
                  <a:pt x="19050" y="0"/>
                </a:moveTo>
                <a:lnTo>
                  <a:pt x="3409950" y="0"/>
                </a:lnTo>
                <a:cubicBezTo>
                  <a:pt x="3420471" y="0"/>
                  <a:pt x="3429000" y="8529"/>
                  <a:pt x="3429000" y="19050"/>
                </a:cubicBezTo>
                <a:lnTo>
                  <a:pt x="3429000" y="19050"/>
                </a:lnTo>
                <a:cubicBezTo>
                  <a:pt x="3429000" y="29571"/>
                  <a:pt x="3420471" y="38100"/>
                  <a:pt x="3409950" y="38100"/>
                </a:cubicBezTo>
                <a:lnTo>
                  <a:pt x="19050" y="38100"/>
                </a:lnTo>
                <a:cubicBezTo>
                  <a:pt x="8529" y="38100"/>
                  <a:pt x="0" y="29571"/>
                  <a:pt x="0" y="19050"/>
                </a:cubicBezTo>
                <a:lnTo>
                  <a:pt x="0" y="19050"/>
                </a:lnTo>
                <a:cubicBezTo>
                  <a:pt x="0" y="8529"/>
                  <a:pt x="8529" y="0"/>
                  <a:pt x="19050" y="0"/>
                </a:cubicBezTo>
                <a:close/>
              </a:path>
            </a:pathLst>
          </a:custGeom>
          <a:solidFill>
            <a:srgbClr val="7C3AED"/>
          </a:solidFill>
          <a:ln>
            <a:noFill/>
          </a:ln>
        </p:spPr>
      </p:sp>
      <p:sp>
        <p:nvSpPr>
          <p:cNvPr id="63" name="Freeform 63"/>
          <p:cNvSpPr/>
          <p:nvPr/>
        </p:nvSpPr>
        <p:spPr>
          <a:xfrm>
            <a:off x="8382000" y="4048125"/>
            <a:ext cx="381000" cy="381000"/>
          </a:xfrm>
          <a:custGeom>
            <a:avLst/>
            <a:gdLst/>
            <a:ahLst/>
            <a:cxnLst/>
            <a:rect l="l" t="t" r="r" b="b"/>
            <a:pathLst>
              <a:path w="381000" h="381000">
                <a:moveTo>
                  <a:pt x="76200" y="0"/>
                </a:moveTo>
                <a:lnTo>
                  <a:pt x="304800" y="0"/>
                </a:lnTo>
                <a:cubicBezTo>
                  <a:pt x="346884" y="0"/>
                  <a:pt x="381000" y="34116"/>
                  <a:pt x="381000" y="76200"/>
                </a:cubicBezTo>
                <a:lnTo>
                  <a:pt x="381000" y="304800"/>
                </a:lnTo>
                <a:cubicBezTo>
                  <a:pt x="381000" y="346884"/>
                  <a:pt x="346884" y="381000"/>
                  <a:pt x="304800" y="381000"/>
                </a:cubicBezTo>
                <a:lnTo>
                  <a:pt x="76200" y="381000"/>
                </a:lnTo>
                <a:cubicBezTo>
                  <a:pt x="34116" y="381000"/>
                  <a:pt x="0" y="346884"/>
                  <a:pt x="0" y="304800"/>
                </a:cubicBezTo>
                <a:lnTo>
                  <a:pt x="0" y="76200"/>
                </a:lnTo>
                <a:cubicBezTo>
                  <a:pt x="0" y="34116"/>
                  <a:pt x="34116" y="0"/>
                  <a:pt x="76200" y="0"/>
                </a:cubicBezTo>
                <a:close/>
              </a:path>
            </a:pathLst>
          </a:custGeom>
          <a:solidFill>
            <a:srgbClr val="F5F3FF"/>
          </a:solidFill>
          <a:ln>
            <a:noFill/>
          </a:ln>
        </p:spPr>
      </p:sp>
      <p:sp>
        <p:nvSpPr>
          <p:cNvPr id="64" name="TextBox 64"/>
          <p:cNvSpPr txBox="1"/>
          <p:nvPr/>
        </p:nvSpPr>
        <p:spPr>
          <a:xfrm>
            <a:off x="8426934" y="4143375"/>
            <a:ext cx="291132" cy="304800"/>
          </a:xfrm>
          <a:prstGeom prst="rect">
            <a:avLst/>
          </a:prstGeom>
          <a:noFill/>
          <a:ln>
            <a:noFill/>
          </a:ln>
        </p:spPr>
        <p:txBody>
          <a:bodyPr wrap="none" lIns="0" tIns="0" rIns="0" bIns="0" anchor="t" anchorCtr="0">
            <a:spAutoFit/>
          </a:bodyPr>
          <a:lstStyle/>
          <a:p>
            <a:pPr algn="ctr"/>
            <a:r>
              <a:rPr lang="zh-CN" sz="1500" b="1" dirty="0">
                <a:solidFill>
                  <a:srgbClr val="7C3AED"/>
                </a:solidFill>
                <a:latin typeface="Arial" panose="020B0704020202020204"/>
                <a:ea typeface="Arial" panose="020B0704020202020204"/>
                <a:cs typeface="Arial" panose="020B0704020202020204"/>
              </a:rPr>
              <a:t>06</a:t>
            </a:r>
            <a:endParaRPr lang="zh-CN" sz="1500" b="1" dirty="0">
              <a:solidFill>
                <a:srgbClr val="7C3AED"/>
              </a:solidFill>
              <a:latin typeface="Arial" panose="020B0704020202020204"/>
              <a:ea typeface="Arial" panose="020B0704020202020204"/>
              <a:cs typeface="Arial" panose="020B0704020202020204"/>
            </a:endParaRPr>
          </a:p>
        </p:txBody>
      </p:sp>
      <p:sp>
        <p:nvSpPr>
          <p:cNvPr id="65" name="TextBox 65"/>
          <p:cNvSpPr txBox="1"/>
          <p:nvPr/>
        </p:nvSpPr>
        <p:spPr>
          <a:xfrm>
            <a:off x="8888730" y="4140518"/>
            <a:ext cx="2684221" cy="274320"/>
          </a:xfrm>
          <a:prstGeom prst="rect">
            <a:avLst/>
          </a:prstGeom>
          <a:noFill/>
          <a:ln>
            <a:noFill/>
          </a:ln>
        </p:spPr>
        <p:txBody>
          <a:bodyPr wrap="none" lIns="0" tIns="0" rIns="0" bIns="0" anchor="t" anchorCtr="0">
            <a:spAutoFit/>
          </a:bodyPr>
          <a:lstStyle/>
          <a:p>
            <a:pPr algn="l"/>
            <a:r>
              <a:rPr lang="zh-CN" sz="1350" b="1" dirty="0">
                <a:solidFill>
                  <a:srgbClr val="003366"/>
                </a:solidFill>
                <a:latin typeface="Arial" panose="020B0704020202020204"/>
                <a:ea typeface="Arial" panose="020B0704020202020204"/>
                <a:cs typeface="Arial" panose="020B0704020202020204"/>
              </a:rPr>
              <a:t>Kết quả &amp; Hướng phát triển</a:t>
            </a:r>
            <a:endParaRPr lang="zh-CN" sz="1350" b="1" dirty="0">
              <a:solidFill>
                <a:srgbClr val="003366"/>
              </a:solidFill>
              <a:latin typeface="Arial" panose="020B0704020202020204"/>
              <a:ea typeface="Arial" panose="020B0704020202020204"/>
              <a:cs typeface="Arial" panose="020B0704020202020204"/>
            </a:endParaRPr>
          </a:p>
        </p:txBody>
      </p:sp>
      <p:sp>
        <p:nvSpPr>
          <p:cNvPr id="66" name="Line 66"/>
          <p:cNvSpPr/>
          <p:nvPr/>
        </p:nvSpPr>
        <p:spPr>
          <a:xfrm>
            <a:off x="8382000" y="4572000"/>
            <a:ext cx="2952750" cy="9525"/>
          </a:xfrm>
          <a:custGeom>
            <a:avLst/>
            <a:gdLst/>
            <a:ahLst/>
            <a:cxnLst/>
            <a:rect l="l" t="t" r="r" b="b"/>
            <a:pathLst>
              <a:path w="2952750" h="9525">
                <a:moveTo>
                  <a:pt x="0" y="0"/>
                </a:moveTo>
                <a:lnTo>
                  <a:pt x="2952750" y="0"/>
                </a:lnTo>
              </a:path>
            </a:pathLst>
          </a:custGeom>
          <a:noFill/>
          <a:ln w="9525">
            <a:solidFill>
              <a:srgbClr val="F1F5F9"/>
            </a:solidFill>
          </a:ln>
        </p:spPr>
      </p:sp>
      <p:sp>
        <p:nvSpPr>
          <p:cNvPr id="67" name="TextBox 67"/>
          <p:cNvSpPr txBox="1"/>
          <p:nvPr/>
        </p:nvSpPr>
        <p:spPr>
          <a:xfrm>
            <a:off x="8367712" y="4736306"/>
            <a:ext cx="3199686" cy="228600"/>
          </a:xfrm>
          <a:prstGeom prst="rect">
            <a:avLst/>
          </a:prstGeom>
          <a:noFill/>
          <a:ln>
            <a:noFill/>
          </a:ln>
        </p:spPr>
        <p:txBody>
          <a:bodyPr wrap="none" lIns="0" tIns="0" rIns="0" bIns="0" anchor="t" anchorCtr="0">
            <a:spAutoFit/>
          </a:bodyPr>
          <a:lstStyle/>
          <a:p>
            <a:pPr algn="l"/>
            <a:r>
              <a:rPr lang="zh-CN" sz="1125" dirty="0">
                <a:solidFill>
                  <a:srgbClr val="334155"/>
                </a:solidFill>
                <a:latin typeface="Arial" panose="020B0704020202020204"/>
                <a:ea typeface="Arial" panose="020B0704020202020204"/>
                <a:cs typeface="Arial" panose="020B0704020202020204"/>
              </a:rPr>
              <a:t>• Đánh giá kết quả build APK &amp; Độ ổn định</a:t>
            </a:r>
            <a:endParaRPr lang="zh-CN" sz="1125" dirty="0">
              <a:solidFill>
                <a:srgbClr val="334155"/>
              </a:solidFill>
              <a:latin typeface="Arial" panose="020B0704020202020204"/>
              <a:ea typeface="Arial" panose="020B0704020202020204"/>
              <a:cs typeface="Arial" panose="020B0704020202020204"/>
            </a:endParaRPr>
          </a:p>
        </p:txBody>
      </p:sp>
      <p:sp>
        <p:nvSpPr>
          <p:cNvPr id="68" name="TextBox 68"/>
          <p:cNvSpPr txBox="1"/>
          <p:nvPr/>
        </p:nvSpPr>
        <p:spPr>
          <a:xfrm>
            <a:off x="8367712" y="5022056"/>
            <a:ext cx="3388638" cy="228600"/>
          </a:xfrm>
          <a:prstGeom prst="rect">
            <a:avLst/>
          </a:prstGeom>
          <a:noFill/>
          <a:ln>
            <a:noFill/>
          </a:ln>
        </p:spPr>
        <p:txBody>
          <a:bodyPr wrap="none" lIns="0" tIns="0" rIns="0" bIns="0" anchor="t" anchorCtr="0">
            <a:spAutoFit/>
          </a:bodyPr>
          <a:lstStyle/>
          <a:p>
            <a:pPr algn="l"/>
            <a:r>
              <a:rPr lang="zh-CN" sz="1125" dirty="0">
                <a:solidFill>
                  <a:srgbClr val="334155"/>
                </a:solidFill>
                <a:latin typeface="Arial" panose="020B0704020202020204"/>
                <a:ea typeface="Arial" panose="020B0704020202020204"/>
                <a:cs typeface="Arial" panose="020B0704020202020204"/>
              </a:rPr>
              <a:t>• Thách thức khi đổi nguồn dữ liệu &amp; Bài học</a:t>
            </a:r>
            <a:endParaRPr lang="zh-CN" sz="1125" dirty="0">
              <a:solidFill>
                <a:srgbClr val="334155"/>
              </a:solidFill>
              <a:latin typeface="Arial" panose="020B0704020202020204"/>
              <a:ea typeface="Arial" panose="020B0704020202020204"/>
              <a:cs typeface="Arial" panose="020B0704020202020204"/>
            </a:endParaRPr>
          </a:p>
        </p:txBody>
      </p:sp>
      <p:sp>
        <p:nvSpPr>
          <p:cNvPr id="69" name="TextBox 69"/>
          <p:cNvSpPr txBox="1"/>
          <p:nvPr/>
        </p:nvSpPr>
        <p:spPr>
          <a:xfrm>
            <a:off x="8367712" y="5307806"/>
            <a:ext cx="3462576" cy="228600"/>
          </a:xfrm>
          <a:prstGeom prst="rect">
            <a:avLst/>
          </a:prstGeom>
          <a:noFill/>
          <a:ln>
            <a:noFill/>
          </a:ln>
        </p:spPr>
        <p:txBody>
          <a:bodyPr wrap="none" lIns="0" tIns="0" rIns="0" bIns="0" anchor="t" anchorCtr="0">
            <a:spAutoFit/>
          </a:bodyPr>
          <a:lstStyle/>
          <a:p>
            <a:pPr algn="l"/>
            <a:r>
              <a:rPr lang="zh-CN" sz="1125" dirty="0">
                <a:solidFill>
                  <a:srgbClr val="334155"/>
                </a:solidFill>
                <a:latin typeface="Arial" panose="020B0704020202020204"/>
                <a:ea typeface="Arial" panose="020B0704020202020204"/>
                <a:cs typeface="Arial" panose="020B0704020202020204"/>
              </a:rPr>
              <a:t>• Hạn chế hiện tại &amp; Hướng mở rộng tương lai</a:t>
            </a:r>
            <a:endParaRPr lang="zh-CN" sz="1125" dirty="0">
              <a:solidFill>
                <a:srgbClr val="334155"/>
              </a:solidFill>
              <a:latin typeface="Arial" panose="020B0704020202020204"/>
              <a:ea typeface="Arial" panose="020B0704020202020204"/>
              <a:cs typeface="Arial" panose="020B0704020202020204"/>
            </a:endParaRPr>
          </a:p>
        </p:txBody>
      </p:sp>
      <p:sp>
        <p:nvSpPr>
          <p:cNvPr id="70" name="TextBox 70"/>
          <p:cNvSpPr txBox="1"/>
          <p:nvPr/>
        </p:nvSpPr>
        <p:spPr>
          <a:xfrm>
            <a:off x="8369618" y="5590699"/>
            <a:ext cx="864918"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panose="020B0704020202020204"/>
                <a:ea typeface="Arial" panose="020B0704020202020204"/>
                <a:cs typeface="Arial" panose="020B0704020202020204"/>
              </a:rPr>
              <a:t>Trang 13 - 14</a:t>
            </a:r>
            <a:endParaRPr lang="zh-CN" sz="975" dirty="0">
              <a:solidFill>
                <a:srgbClr val="64748B"/>
              </a:solidFill>
              <a:latin typeface="Arial" panose="020B0704020202020204"/>
              <a:ea typeface="Arial" panose="020B0704020202020204"/>
              <a:cs typeface="Arial" panose="020B0704020202020204"/>
            </a:endParaRPr>
          </a:p>
        </p:txBody>
      </p:sp>
      <p:sp>
        <p:nvSpPr>
          <p:cNvPr id="71" name="Line 71"/>
          <p:cNvSpPr/>
          <p:nvPr/>
        </p:nvSpPr>
        <p:spPr>
          <a:xfrm>
            <a:off x="381000" y="6334125"/>
            <a:ext cx="11430000" cy="9525"/>
          </a:xfrm>
          <a:custGeom>
            <a:avLst/>
            <a:gdLst/>
            <a:ahLst/>
            <a:cxnLst/>
            <a:rect l="l" t="t" r="r" b="b"/>
            <a:pathLst>
              <a:path w="11430000" h="9525">
                <a:moveTo>
                  <a:pt x="0" y="0"/>
                </a:moveTo>
                <a:lnTo>
                  <a:pt x="11430000" y="0"/>
                </a:lnTo>
              </a:path>
            </a:pathLst>
          </a:custGeom>
          <a:noFill/>
          <a:ln w="9525">
            <a:solidFill>
              <a:srgbClr val="CBD5E1"/>
            </a:solidFill>
          </a:ln>
        </p:spPr>
      </p:sp>
      <p:sp>
        <p:nvSpPr>
          <p:cNvPr id="72" name="TextBox 72"/>
          <p:cNvSpPr txBox="1"/>
          <p:nvPr/>
        </p:nvSpPr>
        <p:spPr>
          <a:xfrm>
            <a:off x="368618" y="6514624"/>
            <a:ext cx="3563374"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panose="020B0704020202020204"/>
                <a:ea typeface="Arial" panose="020B0704020202020204"/>
                <a:cs typeface="Arial" panose="020B0704020202020204"/>
              </a:rPr>
              <a:t>Báo cáo Đồ án Lập trình Di động (MOB402) • Nhóm 10</a:t>
            </a:r>
            <a:endParaRPr lang="zh-CN" sz="975" dirty="0">
              <a:solidFill>
                <a:srgbClr val="64748B"/>
              </a:solidFill>
              <a:latin typeface="Arial" panose="020B0704020202020204"/>
              <a:ea typeface="Arial" panose="020B0704020202020204"/>
              <a:cs typeface="Arial" panose="020B0704020202020204"/>
            </a:endParaRPr>
          </a:p>
        </p:txBody>
      </p:sp>
      <p:sp>
        <p:nvSpPr>
          <p:cNvPr id="73" name="TextBox 73"/>
          <p:cNvSpPr txBox="1"/>
          <p:nvPr/>
        </p:nvSpPr>
        <p:spPr>
          <a:xfrm>
            <a:off x="5531822" y="6514624"/>
            <a:ext cx="1128355" cy="198120"/>
          </a:xfrm>
          <a:prstGeom prst="rect">
            <a:avLst/>
          </a:prstGeom>
          <a:noFill/>
          <a:ln>
            <a:noFill/>
          </a:ln>
        </p:spPr>
        <p:txBody>
          <a:bodyPr wrap="none" lIns="0" tIns="0" rIns="0" bIns="0" anchor="t" anchorCtr="0">
            <a:spAutoFit/>
          </a:bodyPr>
          <a:lstStyle/>
          <a:p>
            <a:pPr algn="ctr"/>
            <a:r>
              <a:rPr lang="zh-CN" sz="975" dirty="0">
                <a:solidFill>
                  <a:srgbClr val="94A3B8"/>
                </a:solidFill>
                <a:latin typeface="Arial" panose="020B0704020202020204"/>
                <a:ea typeface="Arial" panose="020B0704020202020204"/>
                <a:cs typeface="Arial" panose="020B0704020202020204"/>
              </a:rPr>
              <a:t>Mục lục nội dung</a:t>
            </a:r>
            <a:endParaRPr lang="zh-CN" sz="975" dirty="0">
              <a:solidFill>
                <a:srgbClr val="94A3B8"/>
              </a:solidFill>
              <a:latin typeface="Arial" panose="020B0704020202020204"/>
              <a:ea typeface="Arial" panose="020B0704020202020204"/>
              <a:cs typeface="Arial" panose="020B0704020202020204"/>
            </a:endParaRPr>
          </a:p>
        </p:txBody>
      </p:sp>
      <p:sp>
        <p:nvSpPr>
          <p:cNvPr id="74" name="TextBox 74"/>
          <p:cNvSpPr txBox="1"/>
          <p:nvPr/>
        </p:nvSpPr>
        <p:spPr>
          <a:xfrm>
            <a:off x="11298503" y="6506528"/>
            <a:ext cx="525832" cy="213360"/>
          </a:xfrm>
          <a:prstGeom prst="rect">
            <a:avLst/>
          </a:prstGeom>
          <a:noFill/>
          <a:ln>
            <a:noFill/>
          </a:ln>
        </p:spPr>
        <p:txBody>
          <a:bodyPr wrap="none" lIns="0" tIns="0" rIns="0" bIns="0" anchor="t" anchorCtr="0">
            <a:spAutoFit/>
          </a:bodyPr>
          <a:lstStyle/>
          <a:p>
            <a:pPr algn="r"/>
            <a:r>
              <a:rPr lang="zh-CN" sz="1050" b="1" dirty="0">
                <a:solidFill>
                  <a:srgbClr val="003366"/>
                </a:solidFill>
                <a:latin typeface="Arial" panose="020B0704020202020204"/>
                <a:ea typeface="Arial" panose="020B0704020202020204"/>
                <a:cs typeface="Arial" panose="020B0704020202020204"/>
              </a:rPr>
              <a:t>02 / 14</a:t>
            </a:r>
            <a:endParaRPr lang="zh-CN" sz="1050" b="1" dirty="0">
              <a:solidFill>
                <a:srgbClr val="003366"/>
              </a:solidFill>
              <a:latin typeface="Arial" panose="020B0704020202020204"/>
              <a:ea typeface="Arial" panose="020B0704020202020204"/>
              <a:cs typeface="Arial" panose="020B07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858000"/>
          </a:xfrm>
          <a:prstGeom prst="rect">
            <a:avLst/>
          </a:prstGeom>
          <a:solidFill>
            <a:srgbClr val="F8FAFC"/>
          </a:solidFill>
          <a:ln>
            <a:noFill/>
          </a:ln>
        </p:spPr>
      </p:sp>
      <p:sp>
        <p:nvSpPr>
          <p:cNvPr id="4" name="Rectangle 4"/>
          <p:cNvSpPr/>
          <p:nvPr/>
        </p:nvSpPr>
        <p:spPr>
          <a:xfrm>
            <a:off x="0" y="0"/>
            <a:ext cx="12192000" cy="666750"/>
          </a:xfrm>
          <a:prstGeom prst="rect">
            <a:avLst/>
          </a:prstGeom>
          <a:solidFill>
            <a:srgbClr val="003366"/>
          </a:solidFill>
          <a:ln>
            <a:noFill/>
          </a:ln>
        </p:spPr>
      </p:sp>
      <p:sp>
        <p:nvSpPr>
          <p:cNvPr id="5" name="Rectangle 5"/>
          <p:cNvSpPr/>
          <p:nvPr/>
        </p:nvSpPr>
        <p:spPr>
          <a:xfrm>
            <a:off x="0" y="0"/>
            <a:ext cx="57150" cy="666750"/>
          </a:xfrm>
          <a:prstGeom prst="rect">
            <a:avLst/>
          </a:prstGeom>
          <a:solidFill>
            <a:srgbClr val="E65100"/>
          </a:solidFill>
          <a:ln>
            <a:noFill/>
          </a:ln>
        </p:spPr>
      </p:sp>
      <p:sp>
        <p:nvSpPr>
          <p:cNvPr id="6" name="TextBox 6"/>
          <p:cNvSpPr txBox="1"/>
          <p:nvPr/>
        </p:nvSpPr>
        <p:spPr>
          <a:xfrm>
            <a:off x="356235" y="227648"/>
            <a:ext cx="6389122" cy="396240"/>
          </a:xfrm>
          <a:prstGeom prst="rect">
            <a:avLst/>
          </a:prstGeom>
          <a:noFill/>
          <a:ln>
            <a:noFill/>
          </a:ln>
        </p:spPr>
        <p:txBody>
          <a:bodyPr wrap="none" lIns="0" tIns="0" rIns="0" bIns="0" anchor="t" anchorCtr="0">
            <a:spAutoFit/>
          </a:bodyPr>
          <a:lstStyle/>
          <a:p>
            <a:pPr algn="l"/>
            <a:r>
              <a:rPr lang="zh-CN" sz="1950" b="1" dirty="0">
                <a:solidFill>
                  <a:srgbClr val="FFFFFF"/>
                </a:solidFill>
                <a:latin typeface="Arial" panose="020B0704020202020204"/>
                <a:ea typeface="Arial" panose="020B0704020202020204"/>
                <a:cs typeface="Arial" panose="020B0704020202020204"/>
              </a:rPr>
              <a:t>01. PHÂN CÔNG CÔNG VIỆC &amp; LỘ TRÌNH THỰC HIỆN</a:t>
            </a:r>
            <a:endParaRPr lang="zh-CN" sz="1950" b="1" dirty="0">
              <a:solidFill>
                <a:srgbClr val="FFFFFF"/>
              </a:solidFill>
              <a:latin typeface="Arial" panose="020B0704020202020204"/>
              <a:ea typeface="Arial" panose="020B0704020202020204"/>
              <a:cs typeface="Arial" panose="020B0704020202020204"/>
            </a:endParaRPr>
          </a:p>
        </p:txBody>
      </p:sp>
      <p:sp>
        <p:nvSpPr>
          <p:cNvPr id="7" name="TextBox 7"/>
          <p:cNvSpPr txBox="1"/>
          <p:nvPr/>
        </p:nvSpPr>
        <p:spPr>
          <a:xfrm>
            <a:off x="10295973" y="299085"/>
            <a:ext cx="1530267" cy="243840"/>
          </a:xfrm>
          <a:prstGeom prst="rect">
            <a:avLst/>
          </a:prstGeom>
          <a:noFill/>
          <a:ln>
            <a:noFill/>
          </a:ln>
        </p:spPr>
        <p:txBody>
          <a:bodyPr wrap="none" lIns="0" tIns="0" rIns="0" bIns="0" anchor="t" anchorCtr="0">
            <a:spAutoFit/>
          </a:bodyPr>
          <a:lstStyle/>
          <a:p>
            <a:pPr algn="r"/>
            <a:r>
              <a:rPr lang="zh-CN" sz="1200" b="1" dirty="0">
                <a:solidFill>
                  <a:srgbClr val="93C5FD"/>
                </a:solidFill>
                <a:latin typeface="Arial" panose="020B0704020202020204"/>
                <a:ea typeface="Arial" panose="020B0704020202020204"/>
                <a:cs typeface="Arial" panose="020B0704020202020204"/>
              </a:rPr>
              <a:t>GODROP DELIVERY</a:t>
            </a:r>
            <a:endParaRPr lang="zh-CN" sz="1200" b="1" dirty="0">
              <a:solidFill>
                <a:srgbClr val="93C5FD"/>
              </a:solidFill>
              <a:latin typeface="Arial" panose="020B0704020202020204"/>
              <a:ea typeface="Arial" panose="020B0704020202020204"/>
              <a:cs typeface="Arial" panose="020B0704020202020204"/>
            </a:endParaRPr>
          </a:p>
        </p:txBody>
      </p:sp>
      <p:sp>
        <p:nvSpPr>
          <p:cNvPr id="8" name="Rectangle 8"/>
          <p:cNvSpPr/>
          <p:nvPr/>
        </p:nvSpPr>
        <p:spPr>
          <a:xfrm>
            <a:off x="0" y="666750"/>
            <a:ext cx="12192000" cy="476250"/>
          </a:xfrm>
          <a:prstGeom prst="rect">
            <a:avLst/>
          </a:prstGeom>
          <a:solidFill>
            <a:srgbClr val="E8F4FC"/>
          </a:solidFill>
          <a:ln>
            <a:noFill/>
          </a:ln>
        </p:spPr>
      </p:sp>
      <p:sp>
        <p:nvSpPr>
          <p:cNvPr id="9" name="Rectangle 9"/>
          <p:cNvSpPr/>
          <p:nvPr/>
        </p:nvSpPr>
        <p:spPr>
          <a:xfrm>
            <a:off x="0" y="666750"/>
            <a:ext cx="57150" cy="476250"/>
          </a:xfrm>
          <a:prstGeom prst="rect">
            <a:avLst/>
          </a:prstGeom>
          <a:solidFill>
            <a:srgbClr val="0066CC"/>
          </a:solidFill>
          <a:ln>
            <a:noFill/>
          </a:ln>
        </p:spPr>
      </p:sp>
      <p:sp>
        <p:nvSpPr>
          <p:cNvPr id="10" name="TextBox 10"/>
          <p:cNvSpPr txBox="1"/>
          <p:nvPr/>
        </p:nvSpPr>
        <p:spPr>
          <a:xfrm>
            <a:off x="364808" y="824389"/>
            <a:ext cx="10991064" cy="259080"/>
          </a:xfrm>
          <a:prstGeom prst="rect">
            <a:avLst/>
          </a:prstGeom>
          <a:noFill/>
          <a:ln>
            <a:noFill/>
          </a:ln>
        </p:spPr>
        <p:txBody>
          <a:bodyPr wrap="none" lIns="0" tIns="0" rIns="0" bIns="0" anchor="t" anchorCtr="0">
            <a:spAutoFit/>
          </a:bodyPr>
          <a:lstStyle/>
          <a:p>
            <a:pPr algn="l"/>
            <a:r>
              <a:rPr lang="zh-CN" sz="1275" dirty="0">
                <a:solidFill>
                  <a:srgbClr val="0F172A"/>
                </a:solidFill>
                <a:latin typeface="Arial" panose="020B0704020202020204"/>
                <a:ea typeface="Arial" panose="020B0704020202020204"/>
                <a:cs typeface="Arial" panose="020B0704020202020204"/>
              </a:rPr>
              <a:t>Quá trình phát triển 4 tuần với bước chuyển then chốt từ cơ sở dữ liệu Room sang kiến trúc REST API &amp; MongoDB dùng chung</a:t>
            </a:r>
            <a:endParaRPr lang="zh-CN" sz="1275" dirty="0">
              <a:solidFill>
                <a:srgbClr val="0F172A"/>
              </a:solidFill>
              <a:latin typeface="Arial" panose="020B0704020202020204"/>
              <a:ea typeface="Arial" panose="020B0704020202020204"/>
              <a:cs typeface="Arial" panose="020B0704020202020204"/>
            </a:endParaRPr>
          </a:p>
        </p:txBody>
      </p:sp>
      <p:sp>
        <p:nvSpPr>
          <p:cNvPr id="11" name="Freeform 11"/>
          <p:cNvSpPr/>
          <p:nvPr/>
        </p:nvSpPr>
        <p:spPr>
          <a:xfrm>
            <a:off x="381000" y="1285875"/>
            <a:ext cx="11430000" cy="857250"/>
          </a:xfrm>
          <a:custGeom>
            <a:avLst/>
            <a:gdLst/>
            <a:ahLst/>
            <a:cxnLst/>
            <a:rect l="l" t="t" r="r" b="b"/>
            <a:pathLst>
              <a:path w="11430000" h="857250">
                <a:moveTo>
                  <a:pt x="76200" y="0"/>
                </a:moveTo>
                <a:lnTo>
                  <a:pt x="11353800" y="0"/>
                </a:lnTo>
                <a:cubicBezTo>
                  <a:pt x="11395884" y="0"/>
                  <a:pt x="11430000" y="34116"/>
                  <a:pt x="11430000" y="76200"/>
                </a:cubicBezTo>
                <a:lnTo>
                  <a:pt x="11430000" y="781050"/>
                </a:lnTo>
                <a:cubicBezTo>
                  <a:pt x="11430000" y="823134"/>
                  <a:pt x="11395884" y="857250"/>
                  <a:pt x="11353800" y="857250"/>
                </a:cubicBezTo>
                <a:lnTo>
                  <a:pt x="76200" y="857250"/>
                </a:lnTo>
                <a:cubicBezTo>
                  <a:pt x="34116" y="857250"/>
                  <a:pt x="0" y="823134"/>
                  <a:pt x="0" y="781050"/>
                </a:cubicBezTo>
                <a:lnTo>
                  <a:pt x="0" y="76200"/>
                </a:lnTo>
                <a:cubicBezTo>
                  <a:pt x="0" y="34116"/>
                  <a:pt x="34116" y="0"/>
                  <a:pt x="76200" y="0"/>
                </a:cubicBezTo>
                <a:close/>
              </a:path>
            </a:pathLst>
          </a:custGeom>
          <a:solidFill>
            <a:srgbClr val="FFFFFF"/>
          </a:solidFill>
          <a:ln w="9525">
            <a:solidFill>
              <a:srgbClr val="E2E8F0"/>
            </a:solidFill>
          </a:ln>
        </p:spPr>
      </p:sp>
      <p:sp>
        <p:nvSpPr>
          <p:cNvPr id="12" name="Freeform 12"/>
          <p:cNvSpPr/>
          <p:nvPr/>
        </p:nvSpPr>
        <p:spPr>
          <a:xfrm>
            <a:off x="523875" y="1400175"/>
            <a:ext cx="2619375" cy="628650"/>
          </a:xfrm>
          <a:custGeom>
            <a:avLst/>
            <a:gdLst/>
            <a:ahLst/>
            <a:cxnLst/>
            <a:rect l="l" t="t" r="r" b="b"/>
            <a:pathLst>
              <a:path w="2619375" h="628650">
                <a:moveTo>
                  <a:pt x="57150" y="0"/>
                </a:moveTo>
                <a:lnTo>
                  <a:pt x="2562225" y="0"/>
                </a:lnTo>
                <a:cubicBezTo>
                  <a:pt x="2593788" y="0"/>
                  <a:pt x="2619375" y="25587"/>
                  <a:pt x="2619375" y="57150"/>
                </a:cubicBezTo>
                <a:lnTo>
                  <a:pt x="2619375" y="571500"/>
                </a:lnTo>
                <a:cubicBezTo>
                  <a:pt x="2619375" y="603063"/>
                  <a:pt x="2593788" y="628650"/>
                  <a:pt x="2562225" y="628650"/>
                </a:cubicBezTo>
                <a:lnTo>
                  <a:pt x="57150" y="628650"/>
                </a:lnTo>
                <a:cubicBezTo>
                  <a:pt x="25587" y="628650"/>
                  <a:pt x="0" y="603063"/>
                  <a:pt x="0" y="571500"/>
                </a:cubicBezTo>
                <a:lnTo>
                  <a:pt x="0" y="57150"/>
                </a:lnTo>
                <a:cubicBezTo>
                  <a:pt x="0" y="25587"/>
                  <a:pt x="25587" y="0"/>
                  <a:pt x="57150" y="0"/>
                </a:cubicBezTo>
                <a:close/>
              </a:path>
            </a:pathLst>
          </a:custGeom>
          <a:solidFill>
            <a:srgbClr val="F8FAFC"/>
          </a:solidFill>
          <a:ln w="9525">
            <a:solidFill>
              <a:srgbClr val="CBD5E1"/>
            </a:solidFill>
          </a:ln>
        </p:spPr>
      </p:sp>
      <p:sp>
        <p:nvSpPr>
          <p:cNvPr id="13" name="Freeform 13"/>
          <p:cNvSpPr/>
          <p:nvPr/>
        </p:nvSpPr>
        <p:spPr>
          <a:xfrm>
            <a:off x="523875" y="1400175"/>
            <a:ext cx="57150" cy="628650"/>
          </a:xfrm>
          <a:custGeom>
            <a:avLst/>
            <a:gdLst/>
            <a:ahLst/>
            <a:cxnLst/>
            <a:rect l="l" t="t" r="r" b="b"/>
            <a:pathLst>
              <a:path w="57150" h="628650">
                <a:moveTo>
                  <a:pt x="28575" y="0"/>
                </a:moveTo>
                <a:lnTo>
                  <a:pt x="28575" y="0"/>
                </a:lnTo>
                <a:cubicBezTo>
                  <a:pt x="44357" y="0"/>
                  <a:pt x="57150" y="12793"/>
                  <a:pt x="57150" y="28575"/>
                </a:cubicBezTo>
                <a:lnTo>
                  <a:pt x="57150" y="600075"/>
                </a:lnTo>
                <a:cubicBezTo>
                  <a:pt x="57150" y="615857"/>
                  <a:pt x="44357" y="628650"/>
                  <a:pt x="28575" y="628650"/>
                </a:cubicBezTo>
                <a:lnTo>
                  <a:pt x="28575" y="628650"/>
                </a:lnTo>
                <a:cubicBezTo>
                  <a:pt x="12793" y="628650"/>
                  <a:pt x="0" y="615857"/>
                  <a:pt x="0" y="600075"/>
                </a:cubicBezTo>
                <a:lnTo>
                  <a:pt x="0" y="28575"/>
                </a:lnTo>
                <a:cubicBezTo>
                  <a:pt x="0" y="12793"/>
                  <a:pt x="12793" y="0"/>
                  <a:pt x="28575" y="0"/>
                </a:cubicBezTo>
                <a:close/>
              </a:path>
            </a:pathLst>
          </a:custGeom>
          <a:solidFill>
            <a:srgbClr val="003366"/>
          </a:solidFill>
          <a:ln>
            <a:noFill/>
          </a:ln>
        </p:spPr>
      </p:sp>
      <p:sp>
        <p:nvSpPr>
          <p:cNvPr id="14" name="TextBox 14"/>
          <p:cNvSpPr txBox="1"/>
          <p:nvPr/>
        </p:nvSpPr>
        <p:spPr>
          <a:xfrm>
            <a:off x="701040" y="1524952"/>
            <a:ext cx="1733483" cy="213360"/>
          </a:xfrm>
          <a:prstGeom prst="rect">
            <a:avLst/>
          </a:prstGeom>
          <a:noFill/>
          <a:ln>
            <a:noFill/>
          </a:ln>
        </p:spPr>
        <p:txBody>
          <a:bodyPr wrap="none" lIns="0" tIns="0" rIns="0" bIns="0" anchor="t" anchorCtr="0">
            <a:spAutoFit/>
          </a:bodyPr>
          <a:lstStyle/>
          <a:p>
            <a:pPr algn="l"/>
            <a:r>
              <a:rPr lang="zh-CN" sz="1050" b="1" dirty="0">
                <a:solidFill>
                  <a:srgbClr val="003366"/>
                </a:solidFill>
                <a:latin typeface="Arial" panose="020B0704020202020204"/>
                <a:ea typeface="Arial" panose="020B0704020202020204"/>
                <a:cs typeface="Arial" panose="020B0704020202020204"/>
              </a:rPr>
              <a:t>TUẦN 1 (26/07 – 31/07)</a:t>
            </a:r>
            <a:endParaRPr lang="zh-CN" sz="1050" b="1" dirty="0">
              <a:solidFill>
                <a:srgbClr val="003366"/>
              </a:solidFill>
              <a:latin typeface="Arial" panose="020B0704020202020204"/>
              <a:ea typeface="Arial" panose="020B0704020202020204"/>
              <a:cs typeface="Arial" panose="020B0704020202020204"/>
            </a:endParaRPr>
          </a:p>
        </p:txBody>
      </p:sp>
      <p:sp>
        <p:nvSpPr>
          <p:cNvPr id="15" name="TextBox 15"/>
          <p:cNvSpPr txBox="1"/>
          <p:nvPr/>
        </p:nvSpPr>
        <p:spPr>
          <a:xfrm>
            <a:off x="701992" y="1761649"/>
            <a:ext cx="2075307"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panose="020B0704020202020204"/>
                <a:ea typeface="Arial" panose="020B0704020202020204"/>
                <a:cs typeface="Arial" panose="020B0704020202020204"/>
              </a:rPr>
              <a:t>Phân tích &amp; Thiết kế UML, ERD</a:t>
            </a:r>
            <a:endParaRPr lang="zh-CN" sz="975" dirty="0">
              <a:solidFill>
                <a:srgbClr val="475569"/>
              </a:solidFill>
              <a:latin typeface="Arial" panose="020B0704020202020204"/>
              <a:ea typeface="Arial" panose="020B0704020202020204"/>
              <a:cs typeface="Arial" panose="020B0704020202020204"/>
            </a:endParaRPr>
          </a:p>
        </p:txBody>
      </p:sp>
      <p:sp>
        <p:nvSpPr>
          <p:cNvPr id="16" name="Polygon 16"/>
          <p:cNvSpPr/>
          <p:nvPr/>
        </p:nvSpPr>
        <p:spPr>
          <a:xfrm>
            <a:off x="3238500" y="1666875"/>
            <a:ext cx="95250" cy="47625"/>
          </a:xfrm>
          <a:custGeom>
            <a:avLst/>
            <a:gdLst/>
            <a:ahLst/>
            <a:cxnLst/>
            <a:rect l="l" t="t" r="r" b="b"/>
            <a:pathLst>
              <a:path w="95250" h="47625">
                <a:moveTo>
                  <a:pt x="0" y="47625"/>
                </a:moveTo>
                <a:lnTo>
                  <a:pt x="95250" y="47625"/>
                </a:lnTo>
                <a:lnTo>
                  <a:pt x="47625" y="0"/>
                </a:lnTo>
                <a:close/>
              </a:path>
            </a:pathLst>
          </a:custGeom>
          <a:solidFill>
            <a:srgbClr val="94A3B8"/>
          </a:solidFill>
          <a:ln>
            <a:noFill/>
          </a:ln>
        </p:spPr>
      </p:sp>
      <p:sp>
        <p:nvSpPr>
          <p:cNvPr id="17" name="Polygon 17"/>
          <p:cNvSpPr/>
          <p:nvPr/>
        </p:nvSpPr>
        <p:spPr>
          <a:xfrm>
            <a:off x="3286125" y="1666875"/>
            <a:ext cx="66675" cy="95250"/>
          </a:xfrm>
          <a:custGeom>
            <a:avLst/>
            <a:gdLst/>
            <a:ahLst/>
            <a:cxnLst/>
            <a:rect l="l" t="t" r="r" b="b"/>
            <a:pathLst>
              <a:path w="66675" h="95250">
                <a:moveTo>
                  <a:pt x="0" y="0"/>
                </a:moveTo>
                <a:lnTo>
                  <a:pt x="66675" y="47625"/>
                </a:lnTo>
                <a:lnTo>
                  <a:pt x="0" y="95250"/>
                </a:lnTo>
                <a:close/>
              </a:path>
            </a:pathLst>
          </a:custGeom>
          <a:solidFill>
            <a:srgbClr val="003366"/>
          </a:solidFill>
          <a:ln>
            <a:noFill/>
          </a:ln>
        </p:spPr>
      </p:sp>
      <p:sp>
        <p:nvSpPr>
          <p:cNvPr id="18" name="Freeform 18"/>
          <p:cNvSpPr/>
          <p:nvPr/>
        </p:nvSpPr>
        <p:spPr>
          <a:xfrm>
            <a:off x="3429000" y="1400175"/>
            <a:ext cx="2619375" cy="628650"/>
          </a:xfrm>
          <a:custGeom>
            <a:avLst/>
            <a:gdLst/>
            <a:ahLst/>
            <a:cxnLst/>
            <a:rect l="l" t="t" r="r" b="b"/>
            <a:pathLst>
              <a:path w="2619375" h="628650">
                <a:moveTo>
                  <a:pt x="57150" y="0"/>
                </a:moveTo>
                <a:lnTo>
                  <a:pt x="2562225" y="0"/>
                </a:lnTo>
                <a:cubicBezTo>
                  <a:pt x="2593788" y="0"/>
                  <a:pt x="2619375" y="25587"/>
                  <a:pt x="2619375" y="57150"/>
                </a:cubicBezTo>
                <a:lnTo>
                  <a:pt x="2619375" y="571500"/>
                </a:lnTo>
                <a:cubicBezTo>
                  <a:pt x="2619375" y="603063"/>
                  <a:pt x="2593788" y="628650"/>
                  <a:pt x="2562225" y="628650"/>
                </a:cubicBezTo>
                <a:lnTo>
                  <a:pt x="57150" y="628650"/>
                </a:lnTo>
                <a:cubicBezTo>
                  <a:pt x="25587" y="628650"/>
                  <a:pt x="0" y="603063"/>
                  <a:pt x="0" y="571500"/>
                </a:cubicBezTo>
                <a:lnTo>
                  <a:pt x="0" y="57150"/>
                </a:lnTo>
                <a:cubicBezTo>
                  <a:pt x="0" y="25587"/>
                  <a:pt x="25587" y="0"/>
                  <a:pt x="57150" y="0"/>
                </a:cubicBezTo>
                <a:close/>
              </a:path>
            </a:pathLst>
          </a:custGeom>
          <a:solidFill>
            <a:srgbClr val="F8FAFC"/>
          </a:solidFill>
          <a:ln w="9525">
            <a:solidFill>
              <a:srgbClr val="CBD5E1"/>
            </a:solidFill>
          </a:ln>
        </p:spPr>
      </p:sp>
      <p:sp>
        <p:nvSpPr>
          <p:cNvPr id="19" name="Freeform 19"/>
          <p:cNvSpPr/>
          <p:nvPr/>
        </p:nvSpPr>
        <p:spPr>
          <a:xfrm>
            <a:off x="3429000" y="1400175"/>
            <a:ext cx="57150" cy="628650"/>
          </a:xfrm>
          <a:custGeom>
            <a:avLst/>
            <a:gdLst/>
            <a:ahLst/>
            <a:cxnLst/>
            <a:rect l="l" t="t" r="r" b="b"/>
            <a:pathLst>
              <a:path w="57150" h="628650">
                <a:moveTo>
                  <a:pt x="28575" y="0"/>
                </a:moveTo>
                <a:lnTo>
                  <a:pt x="28575" y="0"/>
                </a:lnTo>
                <a:cubicBezTo>
                  <a:pt x="44357" y="0"/>
                  <a:pt x="57150" y="12793"/>
                  <a:pt x="57150" y="28575"/>
                </a:cubicBezTo>
                <a:lnTo>
                  <a:pt x="57150" y="600075"/>
                </a:lnTo>
                <a:cubicBezTo>
                  <a:pt x="57150" y="615857"/>
                  <a:pt x="44357" y="628650"/>
                  <a:pt x="28575" y="628650"/>
                </a:cubicBezTo>
                <a:lnTo>
                  <a:pt x="28575" y="628650"/>
                </a:lnTo>
                <a:cubicBezTo>
                  <a:pt x="12793" y="628650"/>
                  <a:pt x="0" y="615857"/>
                  <a:pt x="0" y="600075"/>
                </a:cubicBezTo>
                <a:lnTo>
                  <a:pt x="0" y="28575"/>
                </a:lnTo>
                <a:cubicBezTo>
                  <a:pt x="0" y="12793"/>
                  <a:pt x="12793" y="0"/>
                  <a:pt x="28575" y="0"/>
                </a:cubicBezTo>
                <a:close/>
              </a:path>
            </a:pathLst>
          </a:custGeom>
          <a:solidFill>
            <a:srgbClr val="0066CC"/>
          </a:solidFill>
          <a:ln>
            <a:noFill/>
          </a:ln>
        </p:spPr>
      </p:sp>
      <p:sp>
        <p:nvSpPr>
          <p:cNvPr id="20" name="TextBox 20"/>
          <p:cNvSpPr txBox="1"/>
          <p:nvPr/>
        </p:nvSpPr>
        <p:spPr>
          <a:xfrm>
            <a:off x="3606165" y="1524952"/>
            <a:ext cx="1773738" cy="213360"/>
          </a:xfrm>
          <a:prstGeom prst="rect">
            <a:avLst/>
          </a:prstGeom>
          <a:noFill/>
          <a:ln>
            <a:noFill/>
          </a:ln>
        </p:spPr>
        <p:txBody>
          <a:bodyPr wrap="none" lIns="0" tIns="0" rIns="0" bIns="0" anchor="t" anchorCtr="0">
            <a:spAutoFit/>
          </a:bodyPr>
          <a:lstStyle/>
          <a:p>
            <a:pPr algn="l"/>
            <a:r>
              <a:rPr lang="zh-CN" sz="1050" b="1" dirty="0">
                <a:solidFill>
                  <a:srgbClr val="0066CC"/>
                </a:solidFill>
                <a:latin typeface="Arial" panose="020B0704020202020204"/>
                <a:ea typeface="Arial" panose="020B0704020202020204"/>
                <a:cs typeface="Arial" panose="020B0704020202020204"/>
              </a:rPr>
              <a:t>TUẦN 2 (06/08 – 13/08)</a:t>
            </a:r>
            <a:endParaRPr lang="zh-CN" sz="1050" b="1" dirty="0">
              <a:solidFill>
                <a:srgbClr val="0066CC"/>
              </a:solidFill>
              <a:latin typeface="Arial" panose="020B0704020202020204"/>
              <a:ea typeface="Arial" panose="020B0704020202020204"/>
              <a:cs typeface="Arial" panose="020B0704020202020204"/>
            </a:endParaRPr>
          </a:p>
        </p:txBody>
      </p:sp>
      <p:sp>
        <p:nvSpPr>
          <p:cNvPr id="21" name="TextBox 21"/>
          <p:cNvSpPr txBox="1"/>
          <p:nvPr/>
        </p:nvSpPr>
        <p:spPr>
          <a:xfrm>
            <a:off x="3607118" y="1761649"/>
            <a:ext cx="1996988"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panose="020B0704020202020204"/>
                <a:ea typeface="Arial" panose="020B0704020202020204"/>
                <a:cs typeface="Arial" panose="020B0704020202020204"/>
              </a:rPr>
              <a:t>Khung Android, Room &amp; UI Gốc</a:t>
            </a:r>
            <a:endParaRPr lang="zh-CN" sz="975" dirty="0">
              <a:solidFill>
                <a:srgbClr val="475569"/>
              </a:solidFill>
              <a:latin typeface="Arial" panose="020B0704020202020204"/>
              <a:ea typeface="Arial" panose="020B0704020202020204"/>
              <a:cs typeface="Arial" panose="020B0704020202020204"/>
            </a:endParaRPr>
          </a:p>
        </p:txBody>
      </p:sp>
      <p:sp>
        <p:nvSpPr>
          <p:cNvPr id="22" name="Polygon 22"/>
          <p:cNvSpPr/>
          <p:nvPr/>
        </p:nvSpPr>
        <p:spPr>
          <a:xfrm>
            <a:off x="6143625" y="1666875"/>
            <a:ext cx="66675" cy="95250"/>
          </a:xfrm>
          <a:custGeom>
            <a:avLst/>
            <a:gdLst/>
            <a:ahLst/>
            <a:cxnLst/>
            <a:rect l="l" t="t" r="r" b="b"/>
            <a:pathLst>
              <a:path w="66675" h="95250">
                <a:moveTo>
                  <a:pt x="0" y="0"/>
                </a:moveTo>
                <a:lnTo>
                  <a:pt x="66675" y="47625"/>
                </a:lnTo>
                <a:lnTo>
                  <a:pt x="0" y="95250"/>
                </a:lnTo>
                <a:close/>
              </a:path>
            </a:pathLst>
          </a:custGeom>
          <a:solidFill>
            <a:srgbClr val="0066CC"/>
          </a:solidFill>
          <a:ln>
            <a:noFill/>
          </a:ln>
        </p:spPr>
      </p:sp>
      <p:sp>
        <p:nvSpPr>
          <p:cNvPr id="23" name="Freeform 23"/>
          <p:cNvSpPr/>
          <p:nvPr/>
        </p:nvSpPr>
        <p:spPr>
          <a:xfrm>
            <a:off x="6334125" y="1400175"/>
            <a:ext cx="2619375" cy="628650"/>
          </a:xfrm>
          <a:custGeom>
            <a:avLst/>
            <a:gdLst/>
            <a:ahLst/>
            <a:cxnLst/>
            <a:rect l="l" t="t" r="r" b="b"/>
            <a:pathLst>
              <a:path w="2619375" h="628650">
                <a:moveTo>
                  <a:pt x="57150" y="0"/>
                </a:moveTo>
                <a:lnTo>
                  <a:pt x="2562225" y="0"/>
                </a:lnTo>
                <a:cubicBezTo>
                  <a:pt x="2593788" y="0"/>
                  <a:pt x="2619375" y="25587"/>
                  <a:pt x="2619375" y="57150"/>
                </a:cubicBezTo>
                <a:lnTo>
                  <a:pt x="2619375" y="571500"/>
                </a:lnTo>
                <a:cubicBezTo>
                  <a:pt x="2619375" y="603063"/>
                  <a:pt x="2593788" y="628650"/>
                  <a:pt x="2562225" y="628650"/>
                </a:cubicBezTo>
                <a:lnTo>
                  <a:pt x="57150" y="628650"/>
                </a:lnTo>
                <a:cubicBezTo>
                  <a:pt x="25587" y="628650"/>
                  <a:pt x="0" y="603063"/>
                  <a:pt x="0" y="571500"/>
                </a:cubicBezTo>
                <a:lnTo>
                  <a:pt x="0" y="57150"/>
                </a:lnTo>
                <a:cubicBezTo>
                  <a:pt x="0" y="25587"/>
                  <a:pt x="25587" y="0"/>
                  <a:pt x="57150" y="0"/>
                </a:cubicBezTo>
                <a:close/>
              </a:path>
            </a:pathLst>
          </a:custGeom>
          <a:solidFill>
            <a:srgbClr val="F8FAFC"/>
          </a:solidFill>
          <a:ln w="9525">
            <a:solidFill>
              <a:srgbClr val="CBD5E1"/>
            </a:solidFill>
          </a:ln>
        </p:spPr>
      </p:sp>
      <p:sp>
        <p:nvSpPr>
          <p:cNvPr id="24" name="Freeform 24"/>
          <p:cNvSpPr/>
          <p:nvPr/>
        </p:nvSpPr>
        <p:spPr>
          <a:xfrm>
            <a:off x="6334125" y="1400175"/>
            <a:ext cx="57150" cy="628650"/>
          </a:xfrm>
          <a:custGeom>
            <a:avLst/>
            <a:gdLst/>
            <a:ahLst/>
            <a:cxnLst/>
            <a:rect l="l" t="t" r="r" b="b"/>
            <a:pathLst>
              <a:path w="57150" h="628650">
                <a:moveTo>
                  <a:pt x="28575" y="0"/>
                </a:moveTo>
                <a:lnTo>
                  <a:pt x="28575" y="0"/>
                </a:lnTo>
                <a:cubicBezTo>
                  <a:pt x="44357" y="0"/>
                  <a:pt x="57150" y="12793"/>
                  <a:pt x="57150" y="28575"/>
                </a:cubicBezTo>
                <a:lnTo>
                  <a:pt x="57150" y="600075"/>
                </a:lnTo>
                <a:cubicBezTo>
                  <a:pt x="57150" y="615857"/>
                  <a:pt x="44357" y="628650"/>
                  <a:pt x="28575" y="628650"/>
                </a:cubicBezTo>
                <a:lnTo>
                  <a:pt x="28575" y="628650"/>
                </a:lnTo>
                <a:cubicBezTo>
                  <a:pt x="12793" y="628650"/>
                  <a:pt x="0" y="615857"/>
                  <a:pt x="0" y="600075"/>
                </a:cubicBezTo>
                <a:lnTo>
                  <a:pt x="0" y="28575"/>
                </a:lnTo>
                <a:cubicBezTo>
                  <a:pt x="0" y="12793"/>
                  <a:pt x="12793" y="0"/>
                  <a:pt x="28575" y="0"/>
                </a:cubicBezTo>
                <a:close/>
              </a:path>
            </a:pathLst>
          </a:custGeom>
          <a:solidFill>
            <a:srgbClr val="D97706"/>
          </a:solidFill>
          <a:ln>
            <a:noFill/>
          </a:ln>
        </p:spPr>
      </p:sp>
      <p:sp>
        <p:nvSpPr>
          <p:cNvPr id="25" name="TextBox 25"/>
          <p:cNvSpPr txBox="1"/>
          <p:nvPr/>
        </p:nvSpPr>
        <p:spPr>
          <a:xfrm>
            <a:off x="6511290" y="1524952"/>
            <a:ext cx="1733483" cy="213360"/>
          </a:xfrm>
          <a:prstGeom prst="rect">
            <a:avLst/>
          </a:prstGeom>
          <a:noFill/>
          <a:ln>
            <a:noFill/>
          </a:ln>
        </p:spPr>
        <p:txBody>
          <a:bodyPr wrap="none" lIns="0" tIns="0" rIns="0" bIns="0" anchor="t" anchorCtr="0">
            <a:spAutoFit/>
          </a:bodyPr>
          <a:lstStyle/>
          <a:p>
            <a:pPr algn="l"/>
            <a:r>
              <a:rPr lang="zh-CN" sz="1050" b="1" dirty="0">
                <a:solidFill>
                  <a:srgbClr val="D97706"/>
                </a:solidFill>
                <a:latin typeface="Arial" panose="020B0704020202020204"/>
                <a:ea typeface="Arial" panose="020B0704020202020204"/>
                <a:cs typeface="Arial" panose="020B0704020202020204"/>
              </a:rPr>
              <a:t>TUẦN 3 (15/08 – 17/08)</a:t>
            </a:r>
            <a:endParaRPr lang="zh-CN" sz="1050" b="1" dirty="0">
              <a:solidFill>
                <a:srgbClr val="D97706"/>
              </a:solidFill>
              <a:latin typeface="Arial" panose="020B0704020202020204"/>
              <a:ea typeface="Arial" panose="020B0704020202020204"/>
              <a:cs typeface="Arial" panose="020B0704020202020204"/>
            </a:endParaRPr>
          </a:p>
        </p:txBody>
      </p:sp>
      <p:sp>
        <p:nvSpPr>
          <p:cNvPr id="26" name="TextBox 26"/>
          <p:cNvSpPr txBox="1"/>
          <p:nvPr/>
        </p:nvSpPr>
        <p:spPr>
          <a:xfrm>
            <a:off x="6512242" y="1761649"/>
            <a:ext cx="1918668"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panose="020B0704020202020204"/>
                <a:ea typeface="Arial" panose="020B0704020202020204"/>
                <a:cs typeface="Arial" panose="020B0704020202020204"/>
              </a:rPr>
              <a:t>Hoàn thiện Room &amp; Logic Đơn</a:t>
            </a:r>
            <a:endParaRPr lang="zh-CN" sz="975" dirty="0">
              <a:solidFill>
                <a:srgbClr val="475569"/>
              </a:solidFill>
              <a:latin typeface="Arial" panose="020B0704020202020204"/>
              <a:ea typeface="Arial" panose="020B0704020202020204"/>
              <a:cs typeface="Arial" panose="020B0704020202020204"/>
            </a:endParaRPr>
          </a:p>
        </p:txBody>
      </p:sp>
      <p:sp>
        <p:nvSpPr>
          <p:cNvPr id="27" name="Polygon 27"/>
          <p:cNvSpPr/>
          <p:nvPr/>
        </p:nvSpPr>
        <p:spPr>
          <a:xfrm>
            <a:off x="9048750" y="1666875"/>
            <a:ext cx="66675" cy="95250"/>
          </a:xfrm>
          <a:custGeom>
            <a:avLst/>
            <a:gdLst/>
            <a:ahLst/>
            <a:cxnLst/>
            <a:rect l="l" t="t" r="r" b="b"/>
            <a:pathLst>
              <a:path w="66675" h="95250">
                <a:moveTo>
                  <a:pt x="0" y="0"/>
                </a:moveTo>
                <a:lnTo>
                  <a:pt x="66675" y="47625"/>
                </a:lnTo>
                <a:lnTo>
                  <a:pt x="0" y="95250"/>
                </a:lnTo>
                <a:close/>
              </a:path>
            </a:pathLst>
          </a:custGeom>
          <a:solidFill>
            <a:srgbClr val="E65100"/>
          </a:solidFill>
          <a:ln>
            <a:noFill/>
          </a:ln>
        </p:spPr>
      </p:sp>
      <p:sp>
        <p:nvSpPr>
          <p:cNvPr id="28" name="Freeform 28"/>
          <p:cNvSpPr/>
          <p:nvPr/>
        </p:nvSpPr>
        <p:spPr>
          <a:xfrm>
            <a:off x="9191625" y="1400175"/>
            <a:ext cx="2524125" cy="628650"/>
          </a:xfrm>
          <a:custGeom>
            <a:avLst/>
            <a:gdLst/>
            <a:ahLst/>
            <a:cxnLst/>
            <a:rect l="l" t="t" r="r" b="b"/>
            <a:pathLst>
              <a:path w="2524125" h="628650">
                <a:moveTo>
                  <a:pt x="57150" y="0"/>
                </a:moveTo>
                <a:lnTo>
                  <a:pt x="2466975" y="0"/>
                </a:lnTo>
                <a:cubicBezTo>
                  <a:pt x="2498538" y="0"/>
                  <a:pt x="2524125" y="25587"/>
                  <a:pt x="2524125" y="57150"/>
                </a:cubicBezTo>
                <a:lnTo>
                  <a:pt x="2524125" y="571500"/>
                </a:lnTo>
                <a:cubicBezTo>
                  <a:pt x="2524125" y="603063"/>
                  <a:pt x="2498538" y="628650"/>
                  <a:pt x="2466975" y="628650"/>
                </a:cubicBezTo>
                <a:lnTo>
                  <a:pt x="57150" y="628650"/>
                </a:lnTo>
                <a:cubicBezTo>
                  <a:pt x="25587" y="628650"/>
                  <a:pt x="0" y="603063"/>
                  <a:pt x="0" y="571500"/>
                </a:cubicBezTo>
                <a:lnTo>
                  <a:pt x="0" y="57150"/>
                </a:lnTo>
                <a:cubicBezTo>
                  <a:pt x="0" y="25587"/>
                  <a:pt x="25587" y="0"/>
                  <a:pt x="57150" y="0"/>
                </a:cubicBezTo>
                <a:close/>
              </a:path>
            </a:pathLst>
          </a:custGeom>
          <a:solidFill>
            <a:srgbClr val="FFF7ED"/>
          </a:solidFill>
          <a:ln w="14288">
            <a:solidFill>
              <a:srgbClr val="FDBA74"/>
            </a:solidFill>
          </a:ln>
        </p:spPr>
      </p:sp>
      <p:sp>
        <p:nvSpPr>
          <p:cNvPr id="29" name="Freeform 29"/>
          <p:cNvSpPr/>
          <p:nvPr/>
        </p:nvSpPr>
        <p:spPr>
          <a:xfrm>
            <a:off x="9191625" y="1400175"/>
            <a:ext cx="57150" cy="628650"/>
          </a:xfrm>
          <a:custGeom>
            <a:avLst/>
            <a:gdLst/>
            <a:ahLst/>
            <a:cxnLst/>
            <a:rect l="l" t="t" r="r" b="b"/>
            <a:pathLst>
              <a:path w="57150" h="628650">
                <a:moveTo>
                  <a:pt x="28575" y="0"/>
                </a:moveTo>
                <a:lnTo>
                  <a:pt x="28575" y="0"/>
                </a:lnTo>
                <a:cubicBezTo>
                  <a:pt x="44357" y="0"/>
                  <a:pt x="57150" y="12793"/>
                  <a:pt x="57150" y="28575"/>
                </a:cubicBezTo>
                <a:lnTo>
                  <a:pt x="57150" y="600075"/>
                </a:lnTo>
                <a:cubicBezTo>
                  <a:pt x="57150" y="615857"/>
                  <a:pt x="44357" y="628650"/>
                  <a:pt x="28575" y="628650"/>
                </a:cubicBezTo>
                <a:lnTo>
                  <a:pt x="28575" y="628650"/>
                </a:lnTo>
                <a:cubicBezTo>
                  <a:pt x="12793" y="628650"/>
                  <a:pt x="0" y="615857"/>
                  <a:pt x="0" y="600075"/>
                </a:cubicBezTo>
                <a:lnTo>
                  <a:pt x="0" y="28575"/>
                </a:lnTo>
                <a:cubicBezTo>
                  <a:pt x="0" y="12793"/>
                  <a:pt x="12793" y="0"/>
                  <a:pt x="28575" y="0"/>
                </a:cubicBezTo>
                <a:close/>
              </a:path>
            </a:pathLst>
          </a:custGeom>
          <a:solidFill>
            <a:srgbClr val="E65100"/>
          </a:solidFill>
          <a:ln>
            <a:noFill/>
          </a:ln>
        </p:spPr>
      </p:sp>
      <p:sp>
        <p:nvSpPr>
          <p:cNvPr id="30" name="TextBox 30"/>
          <p:cNvSpPr txBox="1"/>
          <p:nvPr/>
        </p:nvSpPr>
        <p:spPr>
          <a:xfrm>
            <a:off x="9368790" y="1524952"/>
            <a:ext cx="1773738" cy="213360"/>
          </a:xfrm>
          <a:prstGeom prst="rect">
            <a:avLst/>
          </a:prstGeom>
          <a:noFill/>
          <a:ln>
            <a:noFill/>
          </a:ln>
        </p:spPr>
        <p:txBody>
          <a:bodyPr wrap="none" lIns="0" tIns="0" rIns="0" bIns="0" anchor="t" anchorCtr="0">
            <a:spAutoFit/>
          </a:bodyPr>
          <a:lstStyle/>
          <a:p>
            <a:pPr algn="l"/>
            <a:r>
              <a:rPr lang="zh-CN" sz="1050" b="1" dirty="0">
                <a:solidFill>
                  <a:srgbClr val="C2410C"/>
                </a:solidFill>
                <a:latin typeface="Arial" panose="020B0704020202020204"/>
                <a:ea typeface="Arial" panose="020B0704020202020204"/>
                <a:cs typeface="Arial" panose="020B0704020202020204"/>
              </a:rPr>
              <a:t>TUẦN 4 (18/08 – 27/08)</a:t>
            </a:r>
            <a:endParaRPr lang="zh-CN" sz="1050" b="1" dirty="0">
              <a:solidFill>
                <a:srgbClr val="C2410C"/>
              </a:solidFill>
              <a:latin typeface="Arial" panose="020B0704020202020204"/>
              <a:ea typeface="Arial" panose="020B0704020202020204"/>
              <a:cs typeface="Arial" panose="020B0704020202020204"/>
            </a:endParaRPr>
          </a:p>
        </p:txBody>
      </p:sp>
      <p:sp>
        <p:nvSpPr>
          <p:cNvPr id="31" name="TextBox 31"/>
          <p:cNvSpPr txBox="1"/>
          <p:nvPr/>
        </p:nvSpPr>
        <p:spPr>
          <a:xfrm>
            <a:off x="9369742" y="1761649"/>
            <a:ext cx="2189226" cy="198120"/>
          </a:xfrm>
          <a:prstGeom prst="rect">
            <a:avLst/>
          </a:prstGeom>
          <a:noFill/>
          <a:ln>
            <a:noFill/>
          </a:ln>
        </p:spPr>
        <p:txBody>
          <a:bodyPr wrap="none" lIns="0" tIns="0" rIns="0" bIns="0" anchor="t" anchorCtr="0">
            <a:spAutoFit/>
          </a:bodyPr>
          <a:lstStyle/>
          <a:p>
            <a:pPr algn="l"/>
            <a:r>
              <a:rPr lang="zh-CN" sz="975" dirty="0">
                <a:solidFill>
                  <a:srgbClr val="9A3412"/>
                </a:solidFill>
                <a:latin typeface="Arial" panose="020B0704020202020204"/>
                <a:ea typeface="Arial" panose="020B0704020202020204"/>
                <a:cs typeface="Arial" panose="020B0704020202020204"/>
              </a:rPr>
              <a:t>Chuyển sang REST API &amp; MongoDB</a:t>
            </a:r>
            <a:endParaRPr lang="zh-CN" sz="975" dirty="0">
              <a:solidFill>
                <a:srgbClr val="9A3412"/>
              </a:solidFill>
              <a:latin typeface="Arial" panose="020B0704020202020204"/>
              <a:ea typeface="Arial" panose="020B0704020202020204"/>
              <a:cs typeface="Arial" panose="020B0704020202020204"/>
            </a:endParaRPr>
          </a:p>
        </p:txBody>
      </p:sp>
      <p:sp>
        <p:nvSpPr>
          <p:cNvPr id="32" name="Freeform 32"/>
          <p:cNvSpPr/>
          <p:nvPr/>
        </p:nvSpPr>
        <p:spPr>
          <a:xfrm>
            <a:off x="381000" y="2286000"/>
            <a:ext cx="2743200" cy="3857625"/>
          </a:xfrm>
          <a:custGeom>
            <a:avLst/>
            <a:gdLst/>
            <a:ahLst/>
            <a:cxnLst/>
            <a:rect l="l" t="t" r="r" b="b"/>
            <a:pathLst>
              <a:path w="2743200" h="3857625">
                <a:moveTo>
                  <a:pt x="76200" y="0"/>
                </a:moveTo>
                <a:lnTo>
                  <a:pt x="2667000" y="0"/>
                </a:lnTo>
                <a:cubicBezTo>
                  <a:pt x="2709084" y="0"/>
                  <a:pt x="2743200" y="34116"/>
                  <a:pt x="2743200" y="76200"/>
                </a:cubicBezTo>
                <a:lnTo>
                  <a:pt x="2743200" y="3781425"/>
                </a:lnTo>
                <a:cubicBezTo>
                  <a:pt x="2743200" y="3823509"/>
                  <a:pt x="2709084" y="3857625"/>
                  <a:pt x="2667000" y="3857625"/>
                </a:cubicBezTo>
                <a:lnTo>
                  <a:pt x="76200" y="3857625"/>
                </a:lnTo>
                <a:cubicBezTo>
                  <a:pt x="34116" y="3857625"/>
                  <a:pt x="0" y="3823509"/>
                  <a:pt x="0" y="3781425"/>
                </a:cubicBezTo>
                <a:lnTo>
                  <a:pt x="0" y="76200"/>
                </a:lnTo>
                <a:cubicBezTo>
                  <a:pt x="0" y="34116"/>
                  <a:pt x="34116" y="0"/>
                  <a:pt x="76200" y="0"/>
                </a:cubicBezTo>
                <a:close/>
              </a:path>
            </a:pathLst>
          </a:custGeom>
          <a:solidFill>
            <a:srgbClr val="FFFFFF"/>
          </a:solidFill>
          <a:ln w="14288">
            <a:solidFill>
              <a:srgbClr val="E2E8F0"/>
            </a:solidFill>
          </a:ln>
        </p:spPr>
      </p:sp>
      <p:sp>
        <p:nvSpPr>
          <p:cNvPr id="33" name="Freeform 33"/>
          <p:cNvSpPr/>
          <p:nvPr/>
        </p:nvSpPr>
        <p:spPr>
          <a:xfrm>
            <a:off x="381000" y="2286000"/>
            <a:ext cx="2743200" cy="428625"/>
          </a:xfrm>
          <a:custGeom>
            <a:avLst/>
            <a:gdLst/>
            <a:ahLst/>
            <a:cxnLst/>
            <a:rect l="l" t="t" r="r" b="b"/>
            <a:pathLst>
              <a:path w="2743200" h="428625">
                <a:moveTo>
                  <a:pt x="76200" y="0"/>
                </a:moveTo>
                <a:lnTo>
                  <a:pt x="2667000" y="0"/>
                </a:lnTo>
                <a:cubicBezTo>
                  <a:pt x="2709084" y="0"/>
                  <a:pt x="2743200" y="34116"/>
                  <a:pt x="2743200" y="76200"/>
                </a:cubicBezTo>
                <a:lnTo>
                  <a:pt x="2743200" y="352425"/>
                </a:lnTo>
                <a:cubicBezTo>
                  <a:pt x="2743200" y="394509"/>
                  <a:pt x="2709084" y="428625"/>
                  <a:pt x="2667000" y="428625"/>
                </a:cubicBezTo>
                <a:lnTo>
                  <a:pt x="76200" y="428625"/>
                </a:lnTo>
                <a:cubicBezTo>
                  <a:pt x="34116" y="428625"/>
                  <a:pt x="0" y="394509"/>
                  <a:pt x="0" y="352425"/>
                </a:cubicBezTo>
                <a:lnTo>
                  <a:pt x="0" y="76200"/>
                </a:lnTo>
                <a:cubicBezTo>
                  <a:pt x="0" y="34116"/>
                  <a:pt x="34116" y="0"/>
                  <a:pt x="76200" y="0"/>
                </a:cubicBezTo>
                <a:close/>
              </a:path>
            </a:pathLst>
          </a:custGeom>
          <a:solidFill>
            <a:srgbClr val="F1F5F9"/>
          </a:solidFill>
          <a:ln>
            <a:noFill/>
          </a:ln>
        </p:spPr>
      </p:sp>
      <p:sp>
        <p:nvSpPr>
          <p:cNvPr id="34" name="Freeform 34"/>
          <p:cNvSpPr/>
          <p:nvPr/>
        </p:nvSpPr>
        <p:spPr>
          <a:xfrm>
            <a:off x="583406" y="2412206"/>
            <a:ext cx="71438" cy="71438"/>
          </a:xfrm>
          <a:custGeom>
            <a:avLst/>
            <a:gdLst/>
            <a:ahLst/>
            <a:cxnLst/>
            <a:rect l="l" t="t" r="r" b="b"/>
            <a:pathLst>
              <a:path w="71438" h="71438">
                <a:moveTo>
                  <a:pt x="35719" y="71438"/>
                </a:moveTo>
                <a:cubicBezTo>
                  <a:pt x="55446" y="71438"/>
                  <a:pt x="71438" y="55446"/>
                  <a:pt x="71438" y="35719"/>
                </a:cubicBezTo>
                <a:cubicBezTo>
                  <a:pt x="71438" y="15992"/>
                  <a:pt x="55446" y="0"/>
                  <a:pt x="35719" y="0"/>
                </a:cubicBezTo>
                <a:cubicBezTo>
                  <a:pt x="15992" y="0"/>
                  <a:pt x="0" y="15992"/>
                  <a:pt x="0" y="35719"/>
                </a:cubicBezTo>
                <a:cubicBezTo>
                  <a:pt x="0" y="55446"/>
                  <a:pt x="15992" y="71438"/>
                  <a:pt x="35719" y="71438"/>
                </a:cubicBezTo>
                <a:close/>
              </a:path>
            </a:pathLst>
          </a:custGeom>
          <a:solidFill>
            <a:srgbClr val="003366"/>
          </a:solidFill>
          <a:ln>
            <a:noFill/>
          </a:ln>
        </p:spPr>
      </p:sp>
      <p:sp>
        <p:nvSpPr>
          <p:cNvPr id="35" name="Freeform 35"/>
          <p:cNvSpPr/>
          <p:nvPr/>
        </p:nvSpPr>
        <p:spPr>
          <a:xfrm>
            <a:off x="547688" y="2507456"/>
            <a:ext cx="142875" cy="71438"/>
          </a:xfrm>
          <a:custGeom>
            <a:avLst/>
            <a:gdLst/>
            <a:ahLst/>
            <a:cxnLst/>
            <a:rect l="l" t="t" r="r" b="b"/>
            <a:pathLst>
              <a:path w="142875" h="71438">
                <a:moveTo>
                  <a:pt x="142875" y="35719"/>
                </a:moveTo>
                <a:cubicBezTo>
                  <a:pt x="142875" y="15991"/>
                  <a:pt x="126884" y="0"/>
                  <a:pt x="107156" y="0"/>
                </a:cubicBezTo>
                <a:lnTo>
                  <a:pt x="35719" y="0"/>
                </a:lnTo>
                <a:cubicBezTo>
                  <a:pt x="15992" y="0"/>
                  <a:pt x="0" y="15991"/>
                  <a:pt x="0" y="35719"/>
                </a:cubicBezTo>
                <a:lnTo>
                  <a:pt x="0" y="71438"/>
                </a:lnTo>
                <a:lnTo>
                  <a:pt x="142875" y="71438"/>
                </a:lnTo>
                <a:lnTo>
                  <a:pt x="142875" y="35719"/>
                </a:lnTo>
                <a:close/>
              </a:path>
            </a:pathLst>
          </a:custGeom>
          <a:solidFill>
            <a:srgbClr val="003366"/>
          </a:solidFill>
          <a:ln>
            <a:noFill/>
          </a:ln>
        </p:spPr>
      </p:sp>
      <p:sp>
        <p:nvSpPr>
          <p:cNvPr id="36" name="TextBox 36"/>
          <p:cNvSpPr txBox="1"/>
          <p:nvPr/>
        </p:nvSpPr>
        <p:spPr>
          <a:xfrm>
            <a:off x="794385" y="2423160"/>
            <a:ext cx="1410652" cy="243840"/>
          </a:xfrm>
          <a:prstGeom prst="rect">
            <a:avLst/>
          </a:prstGeom>
          <a:noFill/>
          <a:ln>
            <a:noFill/>
          </a:ln>
        </p:spPr>
        <p:txBody>
          <a:bodyPr wrap="none" lIns="0" tIns="0" rIns="0" bIns="0" anchor="t" anchorCtr="0">
            <a:spAutoFit/>
          </a:bodyPr>
          <a:lstStyle/>
          <a:p>
            <a:pPr algn="l"/>
            <a:r>
              <a:rPr lang="zh-CN" sz="1200" b="1" dirty="0">
                <a:solidFill>
                  <a:srgbClr val="003366"/>
                </a:solidFill>
                <a:latin typeface="Arial" panose="020B0704020202020204"/>
                <a:ea typeface="Arial" panose="020B0704020202020204"/>
                <a:cs typeface="Arial" panose="020B0704020202020204"/>
              </a:rPr>
              <a:t>Nguyễn Tấn Hiệp</a:t>
            </a:r>
            <a:endParaRPr lang="zh-CN" sz="1200" b="1" dirty="0">
              <a:solidFill>
                <a:srgbClr val="003366"/>
              </a:solidFill>
              <a:latin typeface="Arial" panose="020B0704020202020204"/>
              <a:ea typeface="Arial" panose="020B0704020202020204"/>
              <a:cs typeface="Arial" panose="020B0704020202020204"/>
            </a:endParaRPr>
          </a:p>
        </p:txBody>
      </p:sp>
      <p:sp>
        <p:nvSpPr>
          <p:cNvPr id="37" name="TextBox 37"/>
          <p:cNvSpPr txBox="1"/>
          <p:nvPr/>
        </p:nvSpPr>
        <p:spPr>
          <a:xfrm>
            <a:off x="511492" y="2847499"/>
            <a:ext cx="1475096" cy="198120"/>
          </a:xfrm>
          <a:prstGeom prst="rect">
            <a:avLst/>
          </a:prstGeom>
          <a:noFill/>
          <a:ln>
            <a:noFill/>
          </a:ln>
        </p:spPr>
        <p:txBody>
          <a:bodyPr wrap="none" lIns="0" tIns="0" rIns="0" bIns="0" anchor="t" anchorCtr="0">
            <a:spAutoFit/>
          </a:bodyPr>
          <a:lstStyle/>
          <a:p>
            <a:pPr algn="l"/>
            <a:r>
              <a:rPr lang="zh-CN" sz="975" b="1" dirty="0">
                <a:solidFill>
                  <a:srgbClr val="003366"/>
                </a:solidFill>
                <a:latin typeface="Arial" panose="020B0704020202020204"/>
                <a:ea typeface="Arial" panose="020B0704020202020204"/>
                <a:cs typeface="Arial" panose="020B0704020202020204"/>
              </a:rPr>
              <a:t>Tuần 1: Khởi tạo UML</a:t>
            </a:r>
            <a:endParaRPr lang="zh-CN" sz="975" b="1" dirty="0">
              <a:solidFill>
                <a:srgbClr val="003366"/>
              </a:solidFill>
              <a:latin typeface="Arial" panose="020B0704020202020204"/>
              <a:ea typeface="Arial" panose="020B0704020202020204"/>
              <a:cs typeface="Arial" panose="020B0704020202020204"/>
            </a:endParaRPr>
          </a:p>
        </p:txBody>
      </p:sp>
      <p:sp>
        <p:nvSpPr>
          <p:cNvPr id="38" name="TextBox 38"/>
          <p:cNvSpPr txBox="1"/>
          <p:nvPr/>
        </p:nvSpPr>
        <p:spPr>
          <a:xfrm>
            <a:off x="511492" y="3018949"/>
            <a:ext cx="2523863"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panose="020B0704020202020204"/>
                <a:ea typeface="Arial" panose="020B0704020202020204"/>
                <a:cs typeface="Arial" panose="020B0704020202020204"/>
              </a:rPr>
              <a:t>• Use Case tổng quát, Khách &amp; Tài xế</a:t>
            </a:r>
            <a:endParaRPr lang="zh-CN" sz="975" dirty="0">
              <a:solidFill>
                <a:srgbClr val="475569"/>
              </a:solidFill>
              <a:latin typeface="Arial" panose="020B0704020202020204"/>
              <a:ea typeface="Arial" panose="020B0704020202020204"/>
              <a:cs typeface="Arial" panose="020B0704020202020204"/>
            </a:endParaRPr>
          </a:p>
        </p:txBody>
      </p:sp>
      <p:sp>
        <p:nvSpPr>
          <p:cNvPr id="39" name="TextBox 39"/>
          <p:cNvSpPr txBox="1"/>
          <p:nvPr/>
        </p:nvSpPr>
        <p:spPr>
          <a:xfrm>
            <a:off x="511492" y="3323749"/>
            <a:ext cx="1774134" cy="198120"/>
          </a:xfrm>
          <a:prstGeom prst="rect">
            <a:avLst/>
          </a:prstGeom>
          <a:noFill/>
          <a:ln>
            <a:noFill/>
          </a:ln>
        </p:spPr>
        <p:txBody>
          <a:bodyPr wrap="none" lIns="0" tIns="0" rIns="0" bIns="0" anchor="t" anchorCtr="0">
            <a:spAutoFit/>
          </a:bodyPr>
          <a:lstStyle/>
          <a:p>
            <a:pPr algn="l"/>
            <a:r>
              <a:rPr lang="zh-CN" sz="975" b="1" dirty="0">
                <a:solidFill>
                  <a:srgbClr val="0066CC"/>
                </a:solidFill>
                <a:latin typeface="Arial" panose="020B0704020202020204"/>
                <a:ea typeface="Arial" panose="020B0704020202020204"/>
                <a:cs typeface="Arial" panose="020B0704020202020204"/>
              </a:rPr>
              <a:t>Tuần 2: Điều hướng cơ sở</a:t>
            </a:r>
            <a:endParaRPr lang="zh-CN" sz="975" b="1" dirty="0">
              <a:solidFill>
                <a:srgbClr val="0066CC"/>
              </a:solidFill>
              <a:latin typeface="Arial" panose="020B0704020202020204"/>
              <a:ea typeface="Arial" panose="020B0704020202020204"/>
              <a:cs typeface="Arial" panose="020B0704020202020204"/>
            </a:endParaRPr>
          </a:p>
        </p:txBody>
      </p:sp>
      <p:sp>
        <p:nvSpPr>
          <p:cNvPr id="40" name="TextBox 40"/>
          <p:cNvSpPr txBox="1"/>
          <p:nvPr/>
        </p:nvSpPr>
        <p:spPr>
          <a:xfrm>
            <a:off x="511492" y="3495199"/>
            <a:ext cx="2481143"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panose="020B0704020202020204"/>
                <a:ea typeface="Arial" panose="020B0704020202020204"/>
                <a:cs typeface="Arial" panose="020B0704020202020204"/>
              </a:rPr>
              <a:t>• Stitch, Đăng nhập, Điều hướng app</a:t>
            </a:r>
            <a:endParaRPr lang="zh-CN" sz="975" dirty="0">
              <a:solidFill>
                <a:srgbClr val="475569"/>
              </a:solidFill>
              <a:latin typeface="Arial" panose="020B0704020202020204"/>
              <a:ea typeface="Arial" panose="020B0704020202020204"/>
              <a:cs typeface="Arial" panose="020B0704020202020204"/>
            </a:endParaRPr>
          </a:p>
        </p:txBody>
      </p:sp>
      <p:sp>
        <p:nvSpPr>
          <p:cNvPr id="41" name="TextBox 41"/>
          <p:cNvSpPr txBox="1"/>
          <p:nvPr/>
        </p:nvSpPr>
        <p:spPr>
          <a:xfrm>
            <a:off x="511492" y="3799999"/>
            <a:ext cx="1557332" cy="198120"/>
          </a:xfrm>
          <a:prstGeom prst="rect">
            <a:avLst/>
          </a:prstGeom>
          <a:noFill/>
          <a:ln>
            <a:noFill/>
          </a:ln>
        </p:spPr>
        <p:txBody>
          <a:bodyPr wrap="none" lIns="0" tIns="0" rIns="0" bIns="0" anchor="t" anchorCtr="0">
            <a:spAutoFit/>
          </a:bodyPr>
          <a:lstStyle/>
          <a:p>
            <a:pPr algn="l"/>
            <a:r>
              <a:rPr lang="zh-CN" sz="975" b="1" dirty="0">
                <a:solidFill>
                  <a:srgbClr val="D97706"/>
                </a:solidFill>
                <a:latin typeface="Arial" panose="020B0704020202020204"/>
                <a:ea typeface="Arial" panose="020B0704020202020204"/>
                <a:cs typeface="Arial" panose="020B0704020202020204"/>
              </a:rPr>
              <a:t>Tuần 3: Quản lý phiên</a:t>
            </a:r>
            <a:endParaRPr lang="zh-CN" sz="975" b="1" dirty="0">
              <a:solidFill>
                <a:srgbClr val="D97706"/>
              </a:solidFill>
              <a:latin typeface="Arial" panose="020B0704020202020204"/>
              <a:ea typeface="Arial" panose="020B0704020202020204"/>
              <a:cs typeface="Arial" panose="020B0704020202020204"/>
            </a:endParaRPr>
          </a:p>
        </p:txBody>
      </p:sp>
      <p:sp>
        <p:nvSpPr>
          <p:cNvPr id="42" name="TextBox 42"/>
          <p:cNvSpPr txBox="1"/>
          <p:nvPr/>
        </p:nvSpPr>
        <p:spPr>
          <a:xfrm>
            <a:off x="511492" y="3971449"/>
            <a:ext cx="2438424"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panose="020B0704020202020204"/>
                <a:ea typeface="Arial" panose="020B0704020202020204"/>
                <a:cs typeface="Arial" panose="020B0704020202020204"/>
              </a:rPr>
              <a:t>• Auth, Session, Tích hợp tổng thể</a:t>
            </a:r>
            <a:endParaRPr lang="zh-CN" sz="975" dirty="0">
              <a:solidFill>
                <a:srgbClr val="475569"/>
              </a:solidFill>
              <a:latin typeface="Arial" panose="020B0704020202020204"/>
              <a:ea typeface="Arial" panose="020B0704020202020204"/>
              <a:cs typeface="Arial" panose="020B0704020202020204"/>
            </a:endParaRPr>
          </a:p>
        </p:txBody>
      </p:sp>
      <p:sp>
        <p:nvSpPr>
          <p:cNvPr id="43" name="Freeform 43"/>
          <p:cNvSpPr/>
          <p:nvPr/>
        </p:nvSpPr>
        <p:spPr>
          <a:xfrm>
            <a:off x="457200" y="4286250"/>
            <a:ext cx="2590800" cy="1714500"/>
          </a:xfrm>
          <a:custGeom>
            <a:avLst/>
            <a:gdLst/>
            <a:ahLst/>
            <a:cxnLst/>
            <a:rect l="l" t="t" r="r" b="b"/>
            <a:pathLst>
              <a:path w="2590800" h="1714500">
                <a:moveTo>
                  <a:pt x="57150" y="0"/>
                </a:moveTo>
                <a:lnTo>
                  <a:pt x="2533650" y="0"/>
                </a:lnTo>
                <a:cubicBezTo>
                  <a:pt x="2565213" y="0"/>
                  <a:pt x="2590800" y="25587"/>
                  <a:pt x="2590800" y="57150"/>
                </a:cubicBezTo>
                <a:lnTo>
                  <a:pt x="2590800" y="1657350"/>
                </a:lnTo>
                <a:cubicBezTo>
                  <a:pt x="2590800" y="1688913"/>
                  <a:pt x="2565213" y="1714500"/>
                  <a:pt x="2533650" y="1714500"/>
                </a:cubicBezTo>
                <a:lnTo>
                  <a:pt x="57150" y="1714500"/>
                </a:lnTo>
                <a:cubicBezTo>
                  <a:pt x="25587" y="1714500"/>
                  <a:pt x="0" y="1688913"/>
                  <a:pt x="0" y="1657350"/>
                </a:cubicBezTo>
                <a:lnTo>
                  <a:pt x="0" y="57150"/>
                </a:lnTo>
                <a:cubicBezTo>
                  <a:pt x="0" y="25587"/>
                  <a:pt x="25587" y="0"/>
                  <a:pt x="57150" y="0"/>
                </a:cubicBezTo>
                <a:close/>
              </a:path>
            </a:pathLst>
          </a:custGeom>
          <a:solidFill>
            <a:srgbClr val="EFF6FF"/>
          </a:solidFill>
          <a:ln w="9525">
            <a:solidFill>
              <a:srgbClr val="BFDBFE"/>
            </a:solidFill>
          </a:ln>
        </p:spPr>
      </p:sp>
      <p:sp>
        <p:nvSpPr>
          <p:cNvPr id="44" name="TextBox 44"/>
          <p:cNvSpPr txBox="1"/>
          <p:nvPr/>
        </p:nvSpPr>
        <p:spPr>
          <a:xfrm>
            <a:off x="539115" y="4411028"/>
            <a:ext cx="2425870" cy="213360"/>
          </a:xfrm>
          <a:prstGeom prst="rect">
            <a:avLst/>
          </a:prstGeom>
          <a:noFill/>
          <a:ln>
            <a:noFill/>
          </a:ln>
        </p:spPr>
        <p:txBody>
          <a:bodyPr wrap="none" lIns="0" tIns="0" rIns="0" bIns="0" anchor="t" anchorCtr="0">
            <a:spAutoFit/>
          </a:bodyPr>
          <a:lstStyle/>
          <a:p>
            <a:pPr algn="l"/>
            <a:r>
              <a:rPr lang="zh-CN" sz="1050" b="1" dirty="0">
                <a:solidFill>
                  <a:srgbClr val="1D4ED8"/>
                </a:solidFill>
                <a:latin typeface="Arial" panose="020B0704020202020204"/>
                <a:ea typeface="Arial" panose="020B0704020202020204"/>
                <a:cs typeface="Arial" panose="020B0704020202020204"/>
              </a:rPr>
              <a:t>★ Tuần 4 (Trọng tâm Backend):</a:t>
            </a:r>
            <a:endParaRPr lang="zh-CN" sz="1050" b="1" dirty="0">
              <a:solidFill>
                <a:srgbClr val="1D4ED8"/>
              </a:solidFill>
              <a:latin typeface="Arial" panose="020B0704020202020204"/>
              <a:ea typeface="Arial" panose="020B0704020202020204"/>
              <a:cs typeface="Arial" panose="020B0704020202020204"/>
            </a:endParaRPr>
          </a:p>
        </p:txBody>
      </p:sp>
      <p:sp>
        <p:nvSpPr>
          <p:cNvPr id="45" name="TextBox 45"/>
          <p:cNvSpPr txBox="1"/>
          <p:nvPr/>
        </p:nvSpPr>
        <p:spPr>
          <a:xfrm>
            <a:off x="540068" y="4676299"/>
            <a:ext cx="2167866" cy="198120"/>
          </a:xfrm>
          <a:prstGeom prst="rect">
            <a:avLst/>
          </a:prstGeom>
          <a:noFill/>
          <a:ln>
            <a:noFill/>
          </a:ln>
        </p:spPr>
        <p:txBody>
          <a:bodyPr wrap="none" lIns="0" tIns="0" rIns="0" bIns="0" anchor="t" anchorCtr="0">
            <a:spAutoFit/>
          </a:bodyPr>
          <a:lstStyle/>
          <a:p>
            <a:pPr algn="l"/>
            <a:r>
              <a:rPr lang="zh-CN" sz="975" dirty="0">
                <a:solidFill>
                  <a:srgbClr val="1E3A8A"/>
                </a:solidFill>
                <a:latin typeface="Arial" panose="020B0704020202020204"/>
                <a:ea typeface="Arial" panose="020B0704020202020204"/>
                <a:cs typeface="Arial" panose="020B0704020202020204"/>
              </a:rPr>
              <a:t>• Xây dựng Spring Boot REST API</a:t>
            </a:r>
            <a:endParaRPr lang="zh-CN" sz="975" dirty="0">
              <a:solidFill>
                <a:srgbClr val="1E3A8A"/>
              </a:solidFill>
              <a:latin typeface="Arial" panose="020B0704020202020204"/>
              <a:ea typeface="Arial" panose="020B0704020202020204"/>
              <a:cs typeface="Arial" panose="020B0704020202020204"/>
            </a:endParaRPr>
          </a:p>
        </p:txBody>
      </p:sp>
      <p:sp>
        <p:nvSpPr>
          <p:cNvPr id="46" name="TextBox 46"/>
          <p:cNvSpPr txBox="1"/>
          <p:nvPr/>
        </p:nvSpPr>
        <p:spPr>
          <a:xfrm>
            <a:off x="540068" y="4914424"/>
            <a:ext cx="2708981" cy="198120"/>
          </a:xfrm>
          <a:prstGeom prst="rect">
            <a:avLst/>
          </a:prstGeom>
          <a:noFill/>
          <a:ln>
            <a:noFill/>
          </a:ln>
        </p:spPr>
        <p:txBody>
          <a:bodyPr wrap="none" lIns="0" tIns="0" rIns="0" bIns="0" anchor="t" anchorCtr="0">
            <a:spAutoFit/>
          </a:bodyPr>
          <a:lstStyle/>
          <a:p>
            <a:pPr algn="l"/>
            <a:r>
              <a:rPr lang="zh-CN" sz="975" dirty="0">
                <a:solidFill>
                  <a:srgbClr val="1E3A8A"/>
                </a:solidFill>
                <a:latin typeface="Arial" panose="020B0704020202020204"/>
                <a:ea typeface="Arial" panose="020B0704020202020204"/>
                <a:cs typeface="Arial" panose="020B0704020202020204"/>
              </a:rPr>
              <a:t>• Spring Security + JWT Authentication</a:t>
            </a:r>
            <a:endParaRPr lang="zh-CN" sz="975" dirty="0">
              <a:solidFill>
                <a:srgbClr val="1E3A8A"/>
              </a:solidFill>
              <a:latin typeface="Arial" panose="020B0704020202020204"/>
              <a:ea typeface="Arial" panose="020B0704020202020204"/>
              <a:cs typeface="Arial" panose="020B0704020202020204"/>
            </a:endParaRPr>
          </a:p>
        </p:txBody>
      </p:sp>
      <p:sp>
        <p:nvSpPr>
          <p:cNvPr id="47" name="TextBox 47"/>
          <p:cNvSpPr txBox="1"/>
          <p:nvPr/>
        </p:nvSpPr>
        <p:spPr>
          <a:xfrm>
            <a:off x="540068" y="5152549"/>
            <a:ext cx="2118027" cy="198120"/>
          </a:xfrm>
          <a:prstGeom prst="rect">
            <a:avLst/>
          </a:prstGeom>
          <a:noFill/>
          <a:ln>
            <a:noFill/>
          </a:ln>
        </p:spPr>
        <p:txBody>
          <a:bodyPr wrap="none" lIns="0" tIns="0" rIns="0" bIns="0" anchor="t" anchorCtr="0">
            <a:spAutoFit/>
          </a:bodyPr>
          <a:lstStyle/>
          <a:p>
            <a:pPr algn="l"/>
            <a:r>
              <a:rPr lang="zh-CN" sz="975" dirty="0">
                <a:solidFill>
                  <a:srgbClr val="1E3A8A"/>
                </a:solidFill>
                <a:latin typeface="Arial" panose="020B0704020202020204"/>
                <a:ea typeface="Arial" panose="020B0704020202020204"/>
                <a:cs typeface="Arial" panose="020B0704020202020204"/>
              </a:rPr>
              <a:t>• Thiết kế MongoDB Collections</a:t>
            </a:r>
            <a:endParaRPr lang="zh-CN" sz="975" dirty="0">
              <a:solidFill>
                <a:srgbClr val="1E3A8A"/>
              </a:solidFill>
              <a:latin typeface="Arial" panose="020B0704020202020204"/>
              <a:ea typeface="Arial" panose="020B0704020202020204"/>
              <a:cs typeface="Arial" panose="020B0704020202020204"/>
            </a:endParaRPr>
          </a:p>
        </p:txBody>
      </p:sp>
      <p:sp>
        <p:nvSpPr>
          <p:cNvPr id="48" name="TextBox 48"/>
          <p:cNvSpPr txBox="1"/>
          <p:nvPr/>
        </p:nvSpPr>
        <p:spPr>
          <a:xfrm>
            <a:off x="540068" y="5390674"/>
            <a:ext cx="2296025" cy="198120"/>
          </a:xfrm>
          <a:prstGeom prst="rect">
            <a:avLst/>
          </a:prstGeom>
          <a:noFill/>
          <a:ln>
            <a:noFill/>
          </a:ln>
        </p:spPr>
        <p:txBody>
          <a:bodyPr wrap="none" lIns="0" tIns="0" rIns="0" bIns="0" anchor="t" anchorCtr="0">
            <a:spAutoFit/>
          </a:bodyPr>
          <a:lstStyle/>
          <a:p>
            <a:pPr algn="l"/>
            <a:r>
              <a:rPr lang="zh-CN" sz="975" dirty="0">
                <a:solidFill>
                  <a:srgbClr val="1E3A8A"/>
                </a:solidFill>
                <a:latin typeface="Arial" panose="020B0704020202020204"/>
                <a:ea typeface="Arial" panose="020B0704020202020204"/>
                <a:cs typeface="Arial" panose="020B0704020202020204"/>
              </a:rPr>
              <a:t>• Logic khóa đơn &amp; Đồng bộ dữ liệu</a:t>
            </a:r>
            <a:endParaRPr lang="zh-CN" sz="975" dirty="0">
              <a:solidFill>
                <a:srgbClr val="1E3A8A"/>
              </a:solidFill>
              <a:latin typeface="Arial" panose="020B0704020202020204"/>
              <a:ea typeface="Arial" panose="020B0704020202020204"/>
              <a:cs typeface="Arial" panose="020B0704020202020204"/>
            </a:endParaRPr>
          </a:p>
        </p:txBody>
      </p:sp>
      <p:sp>
        <p:nvSpPr>
          <p:cNvPr id="49" name="Freeform 49"/>
          <p:cNvSpPr/>
          <p:nvPr/>
        </p:nvSpPr>
        <p:spPr>
          <a:xfrm>
            <a:off x="3276600" y="2286000"/>
            <a:ext cx="2743200" cy="3857625"/>
          </a:xfrm>
          <a:custGeom>
            <a:avLst/>
            <a:gdLst/>
            <a:ahLst/>
            <a:cxnLst/>
            <a:rect l="l" t="t" r="r" b="b"/>
            <a:pathLst>
              <a:path w="2743200" h="3857625">
                <a:moveTo>
                  <a:pt x="76200" y="0"/>
                </a:moveTo>
                <a:lnTo>
                  <a:pt x="2667000" y="0"/>
                </a:lnTo>
                <a:cubicBezTo>
                  <a:pt x="2709084" y="0"/>
                  <a:pt x="2743200" y="34116"/>
                  <a:pt x="2743200" y="76200"/>
                </a:cubicBezTo>
                <a:lnTo>
                  <a:pt x="2743200" y="3781425"/>
                </a:lnTo>
                <a:cubicBezTo>
                  <a:pt x="2743200" y="3823509"/>
                  <a:pt x="2709084" y="3857625"/>
                  <a:pt x="2667000" y="3857625"/>
                </a:cubicBezTo>
                <a:lnTo>
                  <a:pt x="76200" y="3857625"/>
                </a:lnTo>
                <a:cubicBezTo>
                  <a:pt x="34116" y="3857625"/>
                  <a:pt x="0" y="3823509"/>
                  <a:pt x="0" y="3781425"/>
                </a:cubicBezTo>
                <a:lnTo>
                  <a:pt x="0" y="76200"/>
                </a:lnTo>
                <a:cubicBezTo>
                  <a:pt x="0" y="34116"/>
                  <a:pt x="34116" y="0"/>
                  <a:pt x="76200" y="0"/>
                </a:cubicBezTo>
                <a:close/>
              </a:path>
            </a:pathLst>
          </a:custGeom>
          <a:solidFill>
            <a:srgbClr val="FFFFFF"/>
          </a:solidFill>
          <a:ln w="14288">
            <a:solidFill>
              <a:srgbClr val="E2E8F0"/>
            </a:solidFill>
          </a:ln>
        </p:spPr>
      </p:sp>
      <p:sp>
        <p:nvSpPr>
          <p:cNvPr id="50" name="Freeform 50"/>
          <p:cNvSpPr/>
          <p:nvPr/>
        </p:nvSpPr>
        <p:spPr>
          <a:xfrm>
            <a:off x="3276600" y="2286000"/>
            <a:ext cx="2743200" cy="428625"/>
          </a:xfrm>
          <a:custGeom>
            <a:avLst/>
            <a:gdLst/>
            <a:ahLst/>
            <a:cxnLst/>
            <a:rect l="l" t="t" r="r" b="b"/>
            <a:pathLst>
              <a:path w="2743200" h="428625">
                <a:moveTo>
                  <a:pt x="76200" y="0"/>
                </a:moveTo>
                <a:lnTo>
                  <a:pt x="2667000" y="0"/>
                </a:lnTo>
                <a:cubicBezTo>
                  <a:pt x="2709084" y="0"/>
                  <a:pt x="2743200" y="34116"/>
                  <a:pt x="2743200" y="76200"/>
                </a:cubicBezTo>
                <a:lnTo>
                  <a:pt x="2743200" y="352425"/>
                </a:lnTo>
                <a:cubicBezTo>
                  <a:pt x="2743200" y="394509"/>
                  <a:pt x="2709084" y="428625"/>
                  <a:pt x="2667000" y="428625"/>
                </a:cubicBezTo>
                <a:lnTo>
                  <a:pt x="76200" y="428625"/>
                </a:lnTo>
                <a:cubicBezTo>
                  <a:pt x="34116" y="428625"/>
                  <a:pt x="0" y="394509"/>
                  <a:pt x="0" y="352425"/>
                </a:cubicBezTo>
                <a:lnTo>
                  <a:pt x="0" y="76200"/>
                </a:lnTo>
                <a:cubicBezTo>
                  <a:pt x="0" y="34116"/>
                  <a:pt x="34116" y="0"/>
                  <a:pt x="76200" y="0"/>
                </a:cubicBezTo>
                <a:close/>
              </a:path>
            </a:pathLst>
          </a:custGeom>
          <a:solidFill>
            <a:srgbClr val="F1F5F9"/>
          </a:solidFill>
          <a:ln>
            <a:noFill/>
          </a:ln>
        </p:spPr>
      </p:sp>
      <p:sp>
        <p:nvSpPr>
          <p:cNvPr id="51" name="Freeform 51"/>
          <p:cNvSpPr/>
          <p:nvPr/>
        </p:nvSpPr>
        <p:spPr>
          <a:xfrm>
            <a:off x="3479006" y="2412206"/>
            <a:ext cx="71438" cy="71438"/>
          </a:xfrm>
          <a:custGeom>
            <a:avLst/>
            <a:gdLst/>
            <a:ahLst/>
            <a:cxnLst/>
            <a:rect l="l" t="t" r="r" b="b"/>
            <a:pathLst>
              <a:path w="71438" h="71438">
                <a:moveTo>
                  <a:pt x="35719" y="71438"/>
                </a:moveTo>
                <a:cubicBezTo>
                  <a:pt x="55446" y="71438"/>
                  <a:pt x="71438" y="55446"/>
                  <a:pt x="71438" y="35719"/>
                </a:cubicBezTo>
                <a:cubicBezTo>
                  <a:pt x="71438" y="15992"/>
                  <a:pt x="55446" y="0"/>
                  <a:pt x="35719" y="0"/>
                </a:cubicBezTo>
                <a:cubicBezTo>
                  <a:pt x="15992" y="0"/>
                  <a:pt x="0" y="15992"/>
                  <a:pt x="0" y="35719"/>
                </a:cubicBezTo>
                <a:cubicBezTo>
                  <a:pt x="0" y="55446"/>
                  <a:pt x="15992" y="71438"/>
                  <a:pt x="35719" y="71438"/>
                </a:cubicBezTo>
                <a:close/>
              </a:path>
            </a:pathLst>
          </a:custGeom>
          <a:solidFill>
            <a:srgbClr val="003366"/>
          </a:solidFill>
          <a:ln>
            <a:noFill/>
          </a:ln>
        </p:spPr>
      </p:sp>
      <p:sp>
        <p:nvSpPr>
          <p:cNvPr id="52" name="Freeform 52"/>
          <p:cNvSpPr/>
          <p:nvPr/>
        </p:nvSpPr>
        <p:spPr>
          <a:xfrm>
            <a:off x="3443288" y="2507456"/>
            <a:ext cx="142875" cy="71438"/>
          </a:xfrm>
          <a:custGeom>
            <a:avLst/>
            <a:gdLst/>
            <a:ahLst/>
            <a:cxnLst/>
            <a:rect l="l" t="t" r="r" b="b"/>
            <a:pathLst>
              <a:path w="142875" h="71438">
                <a:moveTo>
                  <a:pt x="142875" y="35719"/>
                </a:moveTo>
                <a:cubicBezTo>
                  <a:pt x="142875" y="15991"/>
                  <a:pt x="126884" y="0"/>
                  <a:pt x="107156" y="0"/>
                </a:cubicBezTo>
                <a:lnTo>
                  <a:pt x="35719" y="0"/>
                </a:lnTo>
                <a:cubicBezTo>
                  <a:pt x="15992" y="0"/>
                  <a:pt x="0" y="15991"/>
                  <a:pt x="0" y="35719"/>
                </a:cubicBezTo>
                <a:lnTo>
                  <a:pt x="0" y="71438"/>
                </a:lnTo>
                <a:lnTo>
                  <a:pt x="142875" y="71438"/>
                </a:lnTo>
                <a:lnTo>
                  <a:pt x="142875" y="35719"/>
                </a:lnTo>
                <a:close/>
              </a:path>
            </a:pathLst>
          </a:custGeom>
          <a:solidFill>
            <a:srgbClr val="003366"/>
          </a:solidFill>
          <a:ln>
            <a:noFill/>
          </a:ln>
        </p:spPr>
      </p:sp>
      <p:sp>
        <p:nvSpPr>
          <p:cNvPr id="53" name="TextBox 53"/>
          <p:cNvSpPr txBox="1"/>
          <p:nvPr/>
        </p:nvSpPr>
        <p:spPr>
          <a:xfrm>
            <a:off x="3689985" y="2423160"/>
            <a:ext cx="1695888" cy="243840"/>
          </a:xfrm>
          <a:prstGeom prst="rect">
            <a:avLst/>
          </a:prstGeom>
          <a:noFill/>
          <a:ln>
            <a:noFill/>
          </a:ln>
        </p:spPr>
        <p:txBody>
          <a:bodyPr wrap="none" lIns="0" tIns="0" rIns="0" bIns="0" anchor="t" anchorCtr="0">
            <a:spAutoFit/>
          </a:bodyPr>
          <a:lstStyle/>
          <a:p>
            <a:pPr algn="l"/>
            <a:r>
              <a:rPr lang="zh-CN" sz="1200" b="1" dirty="0">
                <a:solidFill>
                  <a:srgbClr val="003366"/>
                </a:solidFill>
                <a:latin typeface="Arial" panose="020B0704020202020204"/>
                <a:ea typeface="Arial" panose="020B0704020202020204"/>
                <a:cs typeface="Arial" panose="020B0704020202020204"/>
              </a:rPr>
              <a:t>Nguyễn Quốc Thịnh</a:t>
            </a:r>
            <a:endParaRPr lang="zh-CN" sz="1200" b="1" dirty="0">
              <a:solidFill>
                <a:srgbClr val="003366"/>
              </a:solidFill>
              <a:latin typeface="Arial" panose="020B0704020202020204"/>
              <a:ea typeface="Arial" panose="020B0704020202020204"/>
              <a:cs typeface="Arial" panose="020B0704020202020204"/>
            </a:endParaRPr>
          </a:p>
        </p:txBody>
      </p:sp>
      <p:sp>
        <p:nvSpPr>
          <p:cNvPr id="54" name="TextBox 54"/>
          <p:cNvSpPr txBox="1"/>
          <p:nvPr/>
        </p:nvSpPr>
        <p:spPr>
          <a:xfrm>
            <a:off x="3407092" y="2847499"/>
            <a:ext cx="1676946" cy="198120"/>
          </a:xfrm>
          <a:prstGeom prst="rect">
            <a:avLst/>
          </a:prstGeom>
          <a:noFill/>
          <a:ln>
            <a:noFill/>
          </a:ln>
        </p:spPr>
        <p:txBody>
          <a:bodyPr wrap="none" lIns="0" tIns="0" rIns="0" bIns="0" anchor="t" anchorCtr="0">
            <a:spAutoFit/>
          </a:bodyPr>
          <a:lstStyle/>
          <a:p>
            <a:pPr algn="l"/>
            <a:r>
              <a:rPr lang="zh-CN" sz="975" b="1" dirty="0">
                <a:solidFill>
                  <a:srgbClr val="003366"/>
                </a:solidFill>
                <a:latin typeface="Arial" panose="020B0704020202020204"/>
                <a:ea typeface="Arial" panose="020B0704020202020204"/>
                <a:cs typeface="Arial" panose="020B0704020202020204"/>
              </a:rPr>
              <a:t>Tuần 1: Luồng màn hình</a:t>
            </a:r>
            <a:endParaRPr lang="zh-CN" sz="975" b="1" dirty="0">
              <a:solidFill>
                <a:srgbClr val="003366"/>
              </a:solidFill>
              <a:latin typeface="Arial" panose="020B0704020202020204"/>
              <a:ea typeface="Arial" panose="020B0704020202020204"/>
              <a:cs typeface="Arial" panose="020B0704020202020204"/>
            </a:endParaRPr>
          </a:p>
        </p:txBody>
      </p:sp>
      <p:sp>
        <p:nvSpPr>
          <p:cNvPr id="55" name="TextBox 55"/>
          <p:cNvSpPr txBox="1"/>
          <p:nvPr/>
        </p:nvSpPr>
        <p:spPr>
          <a:xfrm>
            <a:off x="3407092" y="3018949"/>
            <a:ext cx="2616422"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panose="020B0704020202020204"/>
                <a:ea typeface="Arial" panose="020B0704020202020204"/>
                <a:cs typeface="Arial" panose="020B0704020202020204"/>
              </a:rPr>
              <a:t>• Screen Flow &amp; Architecture Diagram</a:t>
            </a:r>
            <a:endParaRPr lang="zh-CN" sz="975" dirty="0">
              <a:solidFill>
                <a:srgbClr val="475569"/>
              </a:solidFill>
              <a:latin typeface="Arial" panose="020B0704020202020204"/>
              <a:ea typeface="Arial" panose="020B0704020202020204"/>
              <a:cs typeface="Arial" panose="020B0704020202020204"/>
            </a:endParaRPr>
          </a:p>
        </p:txBody>
      </p:sp>
      <p:sp>
        <p:nvSpPr>
          <p:cNvPr id="56" name="TextBox 56"/>
          <p:cNvSpPr txBox="1"/>
          <p:nvPr/>
        </p:nvSpPr>
        <p:spPr>
          <a:xfrm>
            <a:off x="3407092" y="3323749"/>
            <a:ext cx="1482572" cy="198120"/>
          </a:xfrm>
          <a:prstGeom prst="rect">
            <a:avLst/>
          </a:prstGeom>
          <a:noFill/>
          <a:ln>
            <a:noFill/>
          </a:ln>
        </p:spPr>
        <p:txBody>
          <a:bodyPr wrap="none" lIns="0" tIns="0" rIns="0" bIns="0" anchor="t" anchorCtr="0">
            <a:spAutoFit/>
          </a:bodyPr>
          <a:lstStyle/>
          <a:p>
            <a:pPr algn="l"/>
            <a:r>
              <a:rPr lang="zh-CN" sz="975" b="1" dirty="0">
                <a:solidFill>
                  <a:srgbClr val="0066CC"/>
                </a:solidFill>
                <a:latin typeface="Arial" panose="020B0704020202020204"/>
                <a:ea typeface="Arial" panose="020B0704020202020204"/>
                <a:cs typeface="Arial" panose="020B0704020202020204"/>
              </a:rPr>
              <a:t>Tuần 2: Luồng tài xế</a:t>
            </a:r>
            <a:endParaRPr lang="zh-CN" sz="975" b="1" dirty="0">
              <a:solidFill>
                <a:srgbClr val="0066CC"/>
              </a:solidFill>
              <a:latin typeface="Arial" panose="020B0704020202020204"/>
              <a:ea typeface="Arial" panose="020B0704020202020204"/>
              <a:cs typeface="Arial" panose="020B0704020202020204"/>
            </a:endParaRPr>
          </a:p>
        </p:txBody>
      </p:sp>
      <p:sp>
        <p:nvSpPr>
          <p:cNvPr id="57" name="TextBox 57"/>
          <p:cNvSpPr txBox="1"/>
          <p:nvPr/>
        </p:nvSpPr>
        <p:spPr>
          <a:xfrm>
            <a:off x="3407092" y="3495199"/>
            <a:ext cx="2516743"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panose="020B0704020202020204"/>
                <a:ea typeface="Arial" panose="020B0704020202020204"/>
                <a:cs typeface="Arial" panose="020B0704020202020204"/>
              </a:rPr>
              <a:t>• Xây dựng màn hình và logic Shipper</a:t>
            </a:r>
            <a:endParaRPr lang="zh-CN" sz="975" dirty="0">
              <a:solidFill>
                <a:srgbClr val="475569"/>
              </a:solidFill>
              <a:latin typeface="Arial" panose="020B0704020202020204"/>
              <a:ea typeface="Arial" panose="020B0704020202020204"/>
              <a:cs typeface="Arial" panose="020B0704020202020204"/>
            </a:endParaRPr>
          </a:p>
        </p:txBody>
      </p:sp>
      <p:sp>
        <p:nvSpPr>
          <p:cNvPr id="58" name="TextBox 58"/>
          <p:cNvSpPr txBox="1"/>
          <p:nvPr/>
        </p:nvSpPr>
        <p:spPr>
          <a:xfrm>
            <a:off x="3407092" y="3799999"/>
            <a:ext cx="1647043" cy="198120"/>
          </a:xfrm>
          <a:prstGeom prst="rect">
            <a:avLst/>
          </a:prstGeom>
          <a:noFill/>
          <a:ln>
            <a:noFill/>
          </a:ln>
        </p:spPr>
        <p:txBody>
          <a:bodyPr wrap="none" lIns="0" tIns="0" rIns="0" bIns="0" anchor="t" anchorCtr="0">
            <a:spAutoFit/>
          </a:bodyPr>
          <a:lstStyle/>
          <a:p>
            <a:pPr algn="l"/>
            <a:r>
              <a:rPr lang="zh-CN" sz="975" b="1" dirty="0">
                <a:solidFill>
                  <a:srgbClr val="D97706"/>
                </a:solidFill>
                <a:latin typeface="Arial" panose="020B0704020202020204"/>
                <a:ea typeface="Arial" panose="020B0704020202020204"/>
                <a:cs typeface="Arial" panose="020B0704020202020204"/>
              </a:rPr>
              <a:t>Tuần 3: Trạng thái đơn</a:t>
            </a:r>
            <a:endParaRPr lang="zh-CN" sz="975" b="1" dirty="0">
              <a:solidFill>
                <a:srgbClr val="D97706"/>
              </a:solidFill>
              <a:latin typeface="Arial" panose="020B0704020202020204"/>
              <a:ea typeface="Arial" panose="020B0704020202020204"/>
              <a:cs typeface="Arial" panose="020B0704020202020204"/>
            </a:endParaRPr>
          </a:p>
        </p:txBody>
      </p:sp>
      <p:sp>
        <p:nvSpPr>
          <p:cNvPr id="59" name="TextBox 59"/>
          <p:cNvSpPr txBox="1"/>
          <p:nvPr/>
        </p:nvSpPr>
        <p:spPr>
          <a:xfrm>
            <a:off x="3407092" y="3971449"/>
            <a:ext cx="2445544"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panose="020B0704020202020204"/>
                <a:ea typeface="Arial" panose="020B0704020202020204"/>
                <a:cs typeface="Arial" panose="020B0704020202020204"/>
              </a:rPr>
              <a:t>• Xử lý đơn chờ, nhận đơn, cập nhật</a:t>
            </a:r>
            <a:endParaRPr lang="zh-CN" sz="975" dirty="0">
              <a:solidFill>
                <a:srgbClr val="475569"/>
              </a:solidFill>
              <a:latin typeface="Arial" panose="020B0704020202020204"/>
              <a:ea typeface="Arial" panose="020B0704020202020204"/>
              <a:cs typeface="Arial" panose="020B0704020202020204"/>
            </a:endParaRPr>
          </a:p>
        </p:txBody>
      </p:sp>
      <p:sp>
        <p:nvSpPr>
          <p:cNvPr id="60" name="Freeform 60"/>
          <p:cNvSpPr/>
          <p:nvPr/>
        </p:nvSpPr>
        <p:spPr>
          <a:xfrm>
            <a:off x="3352800" y="4286250"/>
            <a:ext cx="2590800" cy="1714500"/>
          </a:xfrm>
          <a:custGeom>
            <a:avLst/>
            <a:gdLst/>
            <a:ahLst/>
            <a:cxnLst/>
            <a:rect l="l" t="t" r="r" b="b"/>
            <a:pathLst>
              <a:path w="2590800" h="1714500">
                <a:moveTo>
                  <a:pt x="57150" y="0"/>
                </a:moveTo>
                <a:lnTo>
                  <a:pt x="2533650" y="0"/>
                </a:lnTo>
                <a:cubicBezTo>
                  <a:pt x="2565213" y="0"/>
                  <a:pt x="2590800" y="25587"/>
                  <a:pt x="2590800" y="57150"/>
                </a:cubicBezTo>
                <a:lnTo>
                  <a:pt x="2590800" y="1657350"/>
                </a:lnTo>
                <a:cubicBezTo>
                  <a:pt x="2590800" y="1688913"/>
                  <a:pt x="2565213" y="1714500"/>
                  <a:pt x="2533650" y="1714500"/>
                </a:cubicBezTo>
                <a:lnTo>
                  <a:pt x="57150" y="1714500"/>
                </a:lnTo>
                <a:cubicBezTo>
                  <a:pt x="25587" y="1714500"/>
                  <a:pt x="0" y="1688913"/>
                  <a:pt x="0" y="1657350"/>
                </a:cubicBezTo>
                <a:lnTo>
                  <a:pt x="0" y="57150"/>
                </a:lnTo>
                <a:cubicBezTo>
                  <a:pt x="0" y="25587"/>
                  <a:pt x="25587" y="0"/>
                  <a:pt x="57150" y="0"/>
                </a:cubicBezTo>
                <a:close/>
              </a:path>
            </a:pathLst>
          </a:custGeom>
          <a:solidFill>
            <a:srgbClr val="EFF6FF"/>
          </a:solidFill>
          <a:ln w="9525">
            <a:solidFill>
              <a:srgbClr val="BFDBFE"/>
            </a:solidFill>
          </a:ln>
        </p:spPr>
      </p:sp>
      <p:sp>
        <p:nvSpPr>
          <p:cNvPr id="61" name="TextBox 61"/>
          <p:cNvSpPr txBox="1"/>
          <p:nvPr/>
        </p:nvSpPr>
        <p:spPr>
          <a:xfrm>
            <a:off x="3434715" y="4411028"/>
            <a:ext cx="2458074" cy="213360"/>
          </a:xfrm>
          <a:prstGeom prst="rect">
            <a:avLst/>
          </a:prstGeom>
          <a:noFill/>
          <a:ln>
            <a:noFill/>
          </a:ln>
        </p:spPr>
        <p:txBody>
          <a:bodyPr wrap="none" lIns="0" tIns="0" rIns="0" bIns="0" anchor="t" anchorCtr="0">
            <a:spAutoFit/>
          </a:bodyPr>
          <a:lstStyle/>
          <a:p>
            <a:pPr algn="l"/>
            <a:r>
              <a:rPr lang="zh-CN" sz="1050" b="1" dirty="0">
                <a:solidFill>
                  <a:srgbClr val="1D4ED8"/>
                </a:solidFill>
                <a:latin typeface="Arial" panose="020B0704020202020204"/>
                <a:ea typeface="Arial" panose="020B0704020202020204"/>
                <a:cs typeface="Arial" panose="020B0704020202020204"/>
              </a:rPr>
              <a:t>★ Tuần 4 (Trọng tâm Network):</a:t>
            </a:r>
            <a:endParaRPr lang="zh-CN" sz="1050" b="1" dirty="0">
              <a:solidFill>
                <a:srgbClr val="1D4ED8"/>
              </a:solidFill>
              <a:latin typeface="Arial" panose="020B0704020202020204"/>
              <a:ea typeface="Arial" panose="020B0704020202020204"/>
              <a:cs typeface="Arial" panose="020B0704020202020204"/>
            </a:endParaRPr>
          </a:p>
        </p:txBody>
      </p:sp>
      <p:sp>
        <p:nvSpPr>
          <p:cNvPr id="62" name="TextBox 62"/>
          <p:cNvSpPr txBox="1"/>
          <p:nvPr/>
        </p:nvSpPr>
        <p:spPr>
          <a:xfrm>
            <a:off x="3435668" y="4676299"/>
            <a:ext cx="2474024" cy="198120"/>
          </a:xfrm>
          <a:prstGeom prst="rect">
            <a:avLst/>
          </a:prstGeom>
          <a:noFill/>
          <a:ln>
            <a:noFill/>
          </a:ln>
        </p:spPr>
        <p:txBody>
          <a:bodyPr wrap="none" lIns="0" tIns="0" rIns="0" bIns="0" anchor="t" anchorCtr="0">
            <a:spAutoFit/>
          </a:bodyPr>
          <a:lstStyle/>
          <a:p>
            <a:pPr algn="l"/>
            <a:r>
              <a:rPr lang="zh-CN" sz="975" dirty="0">
                <a:solidFill>
                  <a:srgbClr val="1E3A8A"/>
                </a:solidFill>
                <a:latin typeface="Arial" panose="020B0704020202020204"/>
                <a:ea typeface="Arial" panose="020B0704020202020204"/>
                <a:cs typeface="Arial" panose="020B0704020202020204"/>
              </a:rPr>
              <a:t>• Cấu hình Retrofit &amp; OkHttp Client</a:t>
            </a:r>
            <a:endParaRPr lang="zh-CN" sz="975" dirty="0">
              <a:solidFill>
                <a:srgbClr val="1E3A8A"/>
              </a:solidFill>
              <a:latin typeface="Arial" panose="020B0704020202020204"/>
              <a:ea typeface="Arial" panose="020B0704020202020204"/>
              <a:cs typeface="Arial" panose="020B0704020202020204"/>
            </a:endParaRPr>
          </a:p>
        </p:txBody>
      </p:sp>
      <p:sp>
        <p:nvSpPr>
          <p:cNvPr id="63" name="TextBox 63"/>
          <p:cNvSpPr txBox="1"/>
          <p:nvPr/>
        </p:nvSpPr>
        <p:spPr>
          <a:xfrm>
            <a:off x="3435668" y="4914424"/>
            <a:ext cx="2580823" cy="198120"/>
          </a:xfrm>
          <a:prstGeom prst="rect">
            <a:avLst/>
          </a:prstGeom>
          <a:noFill/>
          <a:ln>
            <a:noFill/>
          </a:ln>
        </p:spPr>
        <p:txBody>
          <a:bodyPr wrap="none" lIns="0" tIns="0" rIns="0" bIns="0" anchor="t" anchorCtr="0">
            <a:spAutoFit/>
          </a:bodyPr>
          <a:lstStyle/>
          <a:p>
            <a:pPr algn="l"/>
            <a:r>
              <a:rPr lang="zh-CN" sz="975" dirty="0">
                <a:solidFill>
                  <a:srgbClr val="1E3A8A"/>
                </a:solidFill>
                <a:latin typeface="Arial" panose="020B0704020202020204"/>
                <a:ea typeface="Arial" panose="020B0704020202020204"/>
                <a:cs typeface="Arial" panose="020B0704020202020204"/>
              </a:rPr>
              <a:t>• Định nghĩa DTO Request / Response</a:t>
            </a:r>
            <a:endParaRPr lang="zh-CN" sz="975" dirty="0">
              <a:solidFill>
                <a:srgbClr val="1E3A8A"/>
              </a:solidFill>
              <a:latin typeface="Arial" panose="020B0704020202020204"/>
              <a:ea typeface="Arial" panose="020B0704020202020204"/>
              <a:cs typeface="Arial" panose="020B0704020202020204"/>
            </a:endParaRPr>
          </a:p>
        </p:txBody>
      </p:sp>
      <p:sp>
        <p:nvSpPr>
          <p:cNvPr id="64" name="TextBox 64"/>
          <p:cNvSpPr txBox="1"/>
          <p:nvPr/>
        </p:nvSpPr>
        <p:spPr>
          <a:xfrm>
            <a:off x="3435668" y="5152549"/>
            <a:ext cx="2481143" cy="198120"/>
          </a:xfrm>
          <a:prstGeom prst="rect">
            <a:avLst/>
          </a:prstGeom>
          <a:noFill/>
          <a:ln>
            <a:noFill/>
          </a:ln>
        </p:spPr>
        <p:txBody>
          <a:bodyPr wrap="none" lIns="0" tIns="0" rIns="0" bIns="0" anchor="t" anchorCtr="0">
            <a:spAutoFit/>
          </a:bodyPr>
          <a:lstStyle/>
          <a:p>
            <a:pPr algn="l"/>
            <a:r>
              <a:rPr lang="zh-CN" sz="975" dirty="0">
                <a:solidFill>
                  <a:srgbClr val="1E3A8A"/>
                </a:solidFill>
                <a:latin typeface="Arial" panose="020B0704020202020204"/>
                <a:ea typeface="Arial" panose="020B0704020202020204"/>
                <a:cs typeface="Arial" panose="020B0704020202020204"/>
              </a:rPr>
              <a:t>• Chuyển đổi sang REST Repositories</a:t>
            </a:r>
            <a:endParaRPr lang="zh-CN" sz="975" dirty="0">
              <a:solidFill>
                <a:srgbClr val="1E3A8A"/>
              </a:solidFill>
              <a:latin typeface="Arial" panose="020B0704020202020204"/>
              <a:ea typeface="Arial" panose="020B0704020202020204"/>
              <a:cs typeface="Arial" panose="020B0704020202020204"/>
            </a:endParaRPr>
          </a:p>
        </p:txBody>
      </p:sp>
      <p:sp>
        <p:nvSpPr>
          <p:cNvPr id="65" name="TextBox 65"/>
          <p:cNvSpPr txBox="1"/>
          <p:nvPr/>
        </p:nvSpPr>
        <p:spPr>
          <a:xfrm>
            <a:off x="3435668" y="5390674"/>
            <a:ext cx="2395704" cy="198120"/>
          </a:xfrm>
          <a:prstGeom prst="rect">
            <a:avLst/>
          </a:prstGeom>
          <a:noFill/>
          <a:ln>
            <a:noFill/>
          </a:ln>
        </p:spPr>
        <p:txBody>
          <a:bodyPr wrap="none" lIns="0" tIns="0" rIns="0" bIns="0" anchor="t" anchorCtr="0">
            <a:spAutoFit/>
          </a:bodyPr>
          <a:lstStyle/>
          <a:p>
            <a:pPr algn="l"/>
            <a:r>
              <a:rPr lang="zh-CN" sz="975" dirty="0">
                <a:solidFill>
                  <a:srgbClr val="1E3A8A"/>
                </a:solidFill>
                <a:latin typeface="Arial" panose="020B0704020202020204"/>
                <a:ea typeface="Arial" panose="020B0704020202020204"/>
                <a:cs typeface="Arial" panose="020B0704020202020204"/>
              </a:rPr>
              <a:t>• ShipperRepository &amp; Flow kết nối</a:t>
            </a:r>
            <a:endParaRPr lang="zh-CN" sz="975" dirty="0">
              <a:solidFill>
                <a:srgbClr val="1E3A8A"/>
              </a:solidFill>
              <a:latin typeface="Arial" panose="020B0704020202020204"/>
              <a:ea typeface="Arial" panose="020B0704020202020204"/>
              <a:cs typeface="Arial" panose="020B0704020202020204"/>
            </a:endParaRPr>
          </a:p>
        </p:txBody>
      </p:sp>
      <p:sp>
        <p:nvSpPr>
          <p:cNvPr id="66" name="Freeform 66"/>
          <p:cNvSpPr/>
          <p:nvPr/>
        </p:nvSpPr>
        <p:spPr>
          <a:xfrm>
            <a:off x="6172200" y="2286000"/>
            <a:ext cx="2743200" cy="3857625"/>
          </a:xfrm>
          <a:custGeom>
            <a:avLst/>
            <a:gdLst/>
            <a:ahLst/>
            <a:cxnLst/>
            <a:rect l="l" t="t" r="r" b="b"/>
            <a:pathLst>
              <a:path w="2743200" h="3857625">
                <a:moveTo>
                  <a:pt x="76200" y="0"/>
                </a:moveTo>
                <a:lnTo>
                  <a:pt x="2667000" y="0"/>
                </a:lnTo>
                <a:cubicBezTo>
                  <a:pt x="2709084" y="0"/>
                  <a:pt x="2743200" y="34116"/>
                  <a:pt x="2743200" y="76200"/>
                </a:cubicBezTo>
                <a:lnTo>
                  <a:pt x="2743200" y="3781425"/>
                </a:lnTo>
                <a:cubicBezTo>
                  <a:pt x="2743200" y="3823509"/>
                  <a:pt x="2709084" y="3857625"/>
                  <a:pt x="2667000" y="3857625"/>
                </a:cubicBezTo>
                <a:lnTo>
                  <a:pt x="76200" y="3857625"/>
                </a:lnTo>
                <a:cubicBezTo>
                  <a:pt x="34116" y="3857625"/>
                  <a:pt x="0" y="3823509"/>
                  <a:pt x="0" y="3781425"/>
                </a:cubicBezTo>
                <a:lnTo>
                  <a:pt x="0" y="76200"/>
                </a:lnTo>
                <a:cubicBezTo>
                  <a:pt x="0" y="34116"/>
                  <a:pt x="34116" y="0"/>
                  <a:pt x="76200" y="0"/>
                </a:cubicBezTo>
                <a:close/>
              </a:path>
            </a:pathLst>
          </a:custGeom>
          <a:solidFill>
            <a:srgbClr val="FFFFFF"/>
          </a:solidFill>
          <a:ln w="14288">
            <a:solidFill>
              <a:srgbClr val="E2E8F0"/>
            </a:solidFill>
          </a:ln>
        </p:spPr>
      </p:sp>
      <p:sp>
        <p:nvSpPr>
          <p:cNvPr id="67" name="Freeform 67"/>
          <p:cNvSpPr/>
          <p:nvPr/>
        </p:nvSpPr>
        <p:spPr>
          <a:xfrm>
            <a:off x="6172200" y="2286000"/>
            <a:ext cx="2743200" cy="428625"/>
          </a:xfrm>
          <a:custGeom>
            <a:avLst/>
            <a:gdLst/>
            <a:ahLst/>
            <a:cxnLst/>
            <a:rect l="l" t="t" r="r" b="b"/>
            <a:pathLst>
              <a:path w="2743200" h="428625">
                <a:moveTo>
                  <a:pt x="76200" y="0"/>
                </a:moveTo>
                <a:lnTo>
                  <a:pt x="2667000" y="0"/>
                </a:lnTo>
                <a:cubicBezTo>
                  <a:pt x="2709084" y="0"/>
                  <a:pt x="2743200" y="34116"/>
                  <a:pt x="2743200" y="76200"/>
                </a:cubicBezTo>
                <a:lnTo>
                  <a:pt x="2743200" y="352425"/>
                </a:lnTo>
                <a:cubicBezTo>
                  <a:pt x="2743200" y="394509"/>
                  <a:pt x="2709084" y="428625"/>
                  <a:pt x="2667000" y="428625"/>
                </a:cubicBezTo>
                <a:lnTo>
                  <a:pt x="76200" y="428625"/>
                </a:lnTo>
                <a:cubicBezTo>
                  <a:pt x="34116" y="428625"/>
                  <a:pt x="0" y="394509"/>
                  <a:pt x="0" y="352425"/>
                </a:cubicBezTo>
                <a:lnTo>
                  <a:pt x="0" y="76200"/>
                </a:lnTo>
                <a:cubicBezTo>
                  <a:pt x="0" y="34116"/>
                  <a:pt x="34116" y="0"/>
                  <a:pt x="76200" y="0"/>
                </a:cubicBezTo>
                <a:close/>
              </a:path>
            </a:pathLst>
          </a:custGeom>
          <a:solidFill>
            <a:srgbClr val="F1F5F9"/>
          </a:solidFill>
          <a:ln>
            <a:noFill/>
          </a:ln>
        </p:spPr>
      </p:sp>
      <p:sp>
        <p:nvSpPr>
          <p:cNvPr id="68" name="Freeform 68"/>
          <p:cNvSpPr/>
          <p:nvPr/>
        </p:nvSpPr>
        <p:spPr>
          <a:xfrm>
            <a:off x="6374606" y="2412206"/>
            <a:ext cx="71438" cy="71438"/>
          </a:xfrm>
          <a:custGeom>
            <a:avLst/>
            <a:gdLst/>
            <a:ahLst/>
            <a:cxnLst/>
            <a:rect l="l" t="t" r="r" b="b"/>
            <a:pathLst>
              <a:path w="71438" h="71438">
                <a:moveTo>
                  <a:pt x="35719" y="71438"/>
                </a:moveTo>
                <a:cubicBezTo>
                  <a:pt x="55446" y="71438"/>
                  <a:pt x="71438" y="55446"/>
                  <a:pt x="71438" y="35719"/>
                </a:cubicBezTo>
                <a:cubicBezTo>
                  <a:pt x="71438" y="15992"/>
                  <a:pt x="55446" y="0"/>
                  <a:pt x="35719" y="0"/>
                </a:cubicBezTo>
                <a:cubicBezTo>
                  <a:pt x="15992" y="0"/>
                  <a:pt x="0" y="15992"/>
                  <a:pt x="0" y="35719"/>
                </a:cubicBezTo>
                <a:cubicBezTo>
                  <a:pt x="0" y="55446"/>
                  <a:pt x="15992" y="71438"/>
                  <a:pt x="35719" y="71438"/>
                </a:cubicBezTo>
                <a:close/>
              </a:path>
            </a:pathLst>
          </a:custGeom>
          <a:solidFill>
            <a:srgbClr val="003366"/>
          </a:solidFill>
          <a:ln>
            <a:noFill/>
          </a:ln>
        </p:spPr>
      </p:sp>
      <p:sp>
        <p:nvSpPr>
          <p:cNvPr id="69" name="Freeform 69"/>
          <p:cNvSpPr/>
          <p:nvPr/>
        </p:nvSpPr>
        <p:spPr>
          <a:xfrm>
            <a:off x="6338888" y="2507456"/>
            <a:ext cx="142875" cy="71438"/>
          </a:xfrm>
          <a:custGeom>
            <a:avLst/>
            <a:gdLst/>
            <a:ahLst/>
            <a:cxnLst/>
            <a:rect l="l" t="t" r="r" b="b"/>
            <a:pathLst>
              <a:path w="142875" h="71438">
                <a:moveTo>
                  <a:pt x="142875" y="35719"/>
                </a:moveTo>
                <a:cubicBezTo>
                  <a:pt x="142875" y="15991"/>
                  <a:pt x="126884" y="0"/>
                  <a:pt x="107156" y="0"/>
                </a:cubicBezTo>
                <a:lnTo>
                  <a:pt x="35719" y="0"/>
                </a:lnTo>
                <a:cubicBezTo>
                  <a:pt x="15992" y="0"/>
                  <a:pt x="0" y="15991"/>
                  <a:pt x="0" y="35719"/>
                </a:cubicBezTo>
                <a:lnTo>
                  <a:pt x="0" y="71438"/>
                </a:lnTo>
                <a:lnTo>
                  <a:pt x="142875" y="71438"/>
                </a:lnTo>
                <a:lnTo>
                  <a:pt x="142875" y="35719"/>
                </a:lnTo>
                <a:close/>
              </a:path>
            </a:pathLst>
          </a:custGeom>
          <a:solidFill>
            <a:srgbClr val="003366"/>
          </a:solidFill>
          <a:ln>
            <a:noFill/>
          </a:ln>
        </p:spPr>
      </p:sp>
      <p:sp>
        <p:nvSpPr>
          <p:cNvPr id="70" name="TextBox 70"/>
          <p:cNvSpPr txBox="1"/>
          <p:nvPr/>
        </p:nvSpPr>
        <p:spPr>
          <a:xfrm>
            <a:off x="6585585" y="2423160"/>
            <a:ext cx="1392250" cy="243840"/>
          </a:xfrm>
          <a:prstGeom prst="rect">
            <a:avLst/>
          </a:prstGeom>
          <a:noFill/>
          <a:ln>
            <a:noFill/>
          </a:ln>
        </p:spPr>
        <p:txBody>
          <a:bodyPr wrap="none" lIns="0" tIns="0" rIns="0" bIns="0" anchor="t" anchorCtr="0">
            <a:spAutoFit/>
          </a:bodyPr>
          <a:lstStyle/>
          <a:p>
            <a:pPr algn="l"/>
            <a:r>
              <a:rPr lang="zh-CN" sz="1200" b="1" dirty="0">
                <a:solidFill>
                  <a:srgbClr val="003366"/>
                </a:solidFill>
                <a:latin typeface="Arial" panose="020B0704020202020204"/>
                <a:ea typeface="Arial" panose="020B0704020202020204"/>
                <a:cs typeface="Arial" panose="020B0704020202020204"/>
              </a:rPr>
              <a:t>Huỳnh Nhật Nam</a:t>
            </a:r>
            <a:endParaRPr lang="zh-CN" sz="1200" b="1" dirty="0">
              <a:solidFill>
                <a:srgbClr val="003366"/>
              </a:solidFill>
              <a:latin typeface="Arial" panose="020B0704020202020204"/>
              <a:ea typeface="Arial" panose="020B0704020202020204"/>
              <a:cs typeface="Arial" panose="020B0704020202020204"/>
            </a:endParaRPr>
          </a:p>
        </p:txBody>
      </p:sp>
      <p:sp>
        <p:nvSpPr>
          <p:cNvPr id="71" name="TextBox 71"/>
          <p:cNvSpPr txBox="1"/>
          <p:nvPr/>
        </p:nvSpPr>
        <p:spPr>
          <a:xfrm>
            <a:off x="6302692" y="2847499"/>
            <a:ext cx="1953556" cy="198120"/>
          </a:xfrm>
          <a:prstGeom prst="rect">
            <a:avLst/>
          </a:prstGeom>
          <a:noFill/>
          <a:ln>
            <a:noFill/>
          </a:ln>
        </p:spPr>
        <p:txBody>
          <a:bodyPr wrap="none" lIns="0" tIns="0" rIns="0" bIns="0" anchor="t" anchorCtr="0">
            <a:spAutoFit/>
          </a:bodyPr>
          <a:lstStyle/>
          <a:p>
            <a:pPr algn="l"/>
            <a:r>
              <a:rPr lang="zh-CN" sz="975" b="1" dirty="0">
                <a:solidFill>
                  <a:srgbClr val="003366"/>
                </a:solidFill>
                <a:latin typeface="Arial" panose="020B0704020202020204"/>
                <a:ea typeface="Arial" panose="020B0704020202020204"/>
                <a:cs typeface="Arial" panose="020B0704020202020204"/>
              </a:rPr>
              <a:t>Tuần 1: Dữ liệu &amp; Trạng thái</a:t>
            </a:r>
            <a:endParaRPr lang="zh-CN" sz="975" b="1" dirty="0">
              <a:solidFill>
                <a:srgbClr val="003366"/>
              </a:solidFill>
              <a:latin typeface="Arial" panose="020B0704020202020204"/>
              <a:ea typeface="Arial" panose="020B0704020202020204"/>
              <a:cs typeface="Arial" panose="020B0704020202020204"/>
            </a:endParaRPr>
          </a:p>
        </p:txBody>
      </p:sp>
      <p:sp>
        <p:nvSpPr>
          <p:cNvPr id="72" name="TextBox 72"/>
          <p:cNvSpPr txBox="1"/>
          <p:nvPr/>
        </p:nvSpPr>
        <p:spPr>
          <a:xfrm>
            <a:off x="6302692" y="3018949"/>
            <a:ext cx="2559463"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panose="020B0704020202020204"/>
                <a:ea typeface="Arial" panose="020B0704020202020204"/>
                <a:cs typeface="Arial" panose="020B0704020202020204"/>
              </a:rPr>
              <a:t>• State Diagram, ERD, Từ điển dữ liệu</a:t>
            </a:r>
            <a:endParaRPr lang="zh-CN" sz="975" dirty="0">
              <a:solidFill>
                <a:srgbClr val="475569"/>
              </a:solidFill>
              <a:latin typeface="Arial" panose="020B0704020202020204"/>
              <a:ea typeface="Arial" panose="020B0704020202020204"/>
              <a:cs typeface="Arial" panose="020B0704020202020204"/>
            </a:endParaRPr>
          </a:p>
        </p:txBody>
      </p:sp>
      <p:sp>
        <p:nvSpPr>
          <p:cNvPr id="73" name="TextBox 73"/>
          <p:cNvSpPr txBox="1"/>
          <p:nvPr/>
        </p:nvSpPr>
        <p:spPr>
          <a:xfrm>
            <a:off x="6302692" y="3323749"/>
            <a:ext cx="1669471" cy="198120"/>
          </a:xfrm>
          <a:prstGeom prst="rect">
            <a:avLst/>
          </a:prstGeom>
          <a:noFill/>
          <a:ln>
            <a:noFill/>
          </a:ln>
        </p:spPr>
        <p:txBody>
          <a:bodyPr wrap="none" lIns="0" tIns="0" rIns="0" bIns="0" anchor="t" anchorCtr="0">
            <a:spAutoFit/>
          </a:bodyPr>
          <a:lstStyle/>
          <a:p>
            <a:pPr algn="l"/>
            <a:r>
              <a:rPr lang="zh-CN" sz="975" b="1" dirty="0">
                <a:solidFill>
                  <a:srgbClr val="0066CC"/>
                </a:solidFill>
                <a:latin typeface="Arial" panose="020B0704020202020204"/>
                <a:ea typeface="Arial" panose="020B0704020202020204"/>
                <a:cs typeface="Arial" panose="020B0704020202020204"/>
              </a:rPr>
              <a:t>Tuần 2: Room Database</a:t>
            </a:r>
            <a:endParaRPr lang="zh-CN" sz="975" b="1" dirty="0">
              <a:solidFill>
                <a:srgbClr val="0066CC"/>
              </a:solidFill>
              <a:latin typeface="Arial" panose="020B0704020202020204"/>
              <a:ea typeface="Arial" panose="020B0704020202020204"/>
              <a:cs typeface="Arial" panose="020B0704020202020204"/>
            </a:endParaRPr>
          </a:p>
        </p:txBody>
      </p:sp>
      <p:sp>
        <p:nvSpPr>
          <p:cNvPr id="74" name="TextBox 74"/>
          <p:cNvSpPr txBox="1"/>
          <p:nvPr/>
        </p:nvSpPr>
        <p:spPr>
          <a:xfrm>
            <a:off x="6302692" y="3495199"/>
            <a:ext cx="2217706"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panose="020B0704020202020204"/>
                <a:ea typeface="Arial" panose="020B0704020202020204"/>
                <a:cs typeface="Arial" panose="020B0704020202020204"/>
              </a:rPr>
              <a:t>• Entity, DAO, Room Repository</a:t>
            </a:r>
            <a:endParaRPr lang="zh-CN" sz="975" dirty="0">
              <a:solidFill>
                <a:srgbClr val="475569"/>
              </a:solidFill>
              <a:latin typeface="Arial" panose="020B0704020202020204"/>
              <a:ea typeface="Arial" panose="020B0704020202020204"/>
              <a:cs typeface="Arial" panose="020B0704020202020204"/>
            </a:endParaRPr>
          </a:p>
        </p:txBody>
      </p:sp>
      <p:sp>
        <p:nvSpPr>
          <p:cNvPr id="75" name="TextBox 75"/>
          <p:cNvSpPr txBox="1"/>
          <p:nvPr/>
        </p:nvSpPr>
        <p:spPr>
          <a:xfrm>
            <a:off x="6302692" y="3799999"/>
            <a:ext cx="1841417" cy="198120"/>
          </a:xfrm>
          <a:prstGeom prst="rect">
            <a:avLst/>
          </a:prstGeom>
          <a:noFill/>
          <a:ln>
            <a:noFill/>
          </a:ln>
        </p:spPr>
        <p:txBody>
          <a:bodyPr wrap="none" lIns="0" tIns="0" rIns="0" bIns="0" anchor="t" anchorCtr="0">
            <a:spAutoFit/>
          </a:bodyPr>
          <a:lstStyle/>
          <a:p>
            <a:pPr algn="l"/>
            <a:r>
              <a:rPr lang="zh-CN" sz="975" b="1" dirty="0">
                <a:solidFill>
                  <a:srgbClr val="D97706"/>
                </a:solidFill>
                <a:latin typeface="Arial" panose="020B0704020202020204"/>
                <a:ea typeface="Arial" panose="020B0704020202020204"/>
                <a:cs typeface="Arial" panose="020B0704020202020204"/>
              </a:rPr>
              <a:t>Tuần 3: Schema &amp; FeeRule</a:t>
            </a:r>
            <a:endParaRPr lang="zh-CN" sz="975" b="1" dirty="0">
              <a:solidFill>
                <a:srgbClr val="D97706"/>
              </a:solidFill>
              <a:latin typeface="Arial" panose="020B0704020202020204"/>
              <a:ea typeface="Arial" panose="020B0704020202020204"/>
              <a:cs typeface="Arial" panose="020B0704020202020204"/>
            </a:endParaRPr>
          </a:p>
        </p:txBody>
      </p:sp>
      <p:sp>
        <p:nvSpPr>
          <p:cNvPr id="76" name="TextBox 76"/>
          <p:cNvSpPr txBox="1"/>
          <p:nvPr/>
        </p:nvSpPr>
        <p:spPr>
          <a:xfrm>
            <a:off x="6302692" y="3971449"/>
            <a:ext cx="2495383"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panose="020B0704020202020204"/>
                <a:ea typeface="Arial" panose="020B0704020202020204"/>
                <a:cs typeface="Arial" panose="020B0704020202020204"/>
              </a:rPr>
              <a:t>• Schema mở rộng, Tạo đơn, FeeRule</a:t>
            </a:r>
            <a:endParaRPr lang="zh-CN" sz="975" dirty="0">
              <a:solidFill>
                <a:srgbClr val="475569"/>
              </a:solidFill>
              <a:latin typeface="Arial" panose="020B0704020202020204"/>
              <a:ea typeface="Arial" panose="020B0704020202020204"/>
              <a:cs typeface="Arial" panose="020B0704020202020204"/>
            </a:endParaRPr>
          </a:p>
        </p:txBody>
      </p:sp>
      <p:sp>
        <p:nvSpPr>
          <p:cNvPr id="77" name="Freeform 77"/>
          <p:cNvSpPr/>
          <p:nvPr/>
        </p:nvSpPr>
        <p:spPr>
          <a:xfrm>
            <a:off x="6248400" y="4286250"/>
            <a:ext cx="2590800" cy="1714500"/>
          </a:xfrm>
          <a:custGeom>
            <a:avLst/>
            <a:gdLst/>
            <a:ahLst/>
            <a:cxnLst/>
            <a:rect l="l" t="t" r="r" b="b"/>
            <a:pathLst>
              <a:path w="2590800" h="1714500">
                <a:moveTo>
                  <a:pt x="57150" y="0"/>
                </a:moveTo>
                <a:lnTo>
                  <a:pt x="2533650" y="0"/>
                </a:lnTo>
                <a:cubicBezTo>
                  <a:pt x="2565213" y="0"/>
                  <a:pt x="2590800" y="25587"/>
                  <a:pt x="2590800" y="57150"/>
                </a:cubicBezTo>
                <a:lnTo>
                  <a:pt x="2590800" y="1657350"/>
                </a:lnTo>
                <a:cubicBezTo>
                  <a:pt x="2590800" y="1688913"/>
                  <a:pt x="2565213" y="1714500"/>
                  <a:pt x="2533650" y="1714500"/>
                </a:cubicBezTo>
                <a:lnTo>
                  <a:pt x="57150" y="1714500"/>
                </a:lnTo>
                <a:cubicBezTo>
                  <a:pt x="25587" y="1714500"/>
                  <a:pt x="0" y="1688913"/>
                  <a:pt x="0" y="1657350"/>
                </a:cubicBezTo>
                <a:lnTo>
                  <a:pt x="0" y="57150"/>
                </a:lnTo>
                <a:cubicBezTo>
                  <a:pt x="0" y="25587"/>
                  <a:pt x="25587" y="0"/>
                  <a:pt x="57150" y="0"/>
                </a:cubicBezTo>
                <a:close/>
              </a:path>
            </a:pathLst>
          </a:custGeom>
          <a:solidFill>
            <a:srgbClr val="EFF6FF"/>
          </a:solidFill>
          <a:ln w="9525">
            <a:solidFill>
              <a:srgbClr val="BFDBFE"/>
            </a:solidFill>
          </a:ln>
        </p:spPr>
      </p:sp>
      <p:sp>
        <p:nvSpPr>
          <p:cNvPr id="78" name="TextBox 78"/>
          <p:cNvSpPr txBox="1"/>
          <p:nvPr/>
        </p:nvSpPr>
        <p:spPr>
          <a:xfrm>
            <a:off x="6330315" y="4411028"/>
            <a:ext cx="2441972" cy="213360"/>
          </a:xfrm>
          <a:prstGeom prst="rect">
            <a:avLst/>
          </a:prstGeom>
          <a:noFill/>
          <a:ln>
            <a:noFill/>
          </a:ln>
        </p:spPr>
        <p:txBody>
          <a:bodyPr wrap="none" lIns="0" tIns="0" rIns="0" bIns="0" anchor="t" anchorCtr="0">
            <a:spAutoFit/>
          </a:bodyPr>
          <a:lstStyle/>
          <a:p>
            <a:pPr algn="l"/>
            <a:r>
              <a:rPr lang="zh-CN" sz="1050" b="1" dirty="0">
                <a:solidFill>
                  <a:srgbClr val="1D4ED8"/>
                </a:solidFill>
                <a:latin typeface="Arial" panose="020B0704020202020204"/>
                <a:ea typeface="Arial" panose="020B0704020202020204"/>
                <a:cs typeface="Arial" panose="020B0704020202020204"/>
              </a:rPr>
              <a:t>★ Tuần 4 (Trọng tâm UI Tài xế):</a:t>
            </a:r>
            <a:endParaRPr lang="zh-CN" sz="1050" b="1" dirty="0">
              <a:solidFill>
                <a:srgbClr val="1D4ED8"/>
              </a:solidFill>
              <a:latin typeface="Arial" panose="020B0704020202020204"/>
              <a:ea typeface="Arial" panose="020B0704020202020204"/>
              <a:cs typeface="Arial" panose="020B0704020202020204"/>
            </a:endParaRPr>
          </a:p>
        </p:txBody>
      </p:sp>
      <p:sp>
        <p:nvSpPr>
          <p:cNvPr id="79" name="TextBox 79"/>
          <p:cNvSpPr txBox="1"/>
          <p:nvPr/>
        </p:nvSpPr>
        <p:spPr>
          <a:xfrm>
            <a:off x="6331268" y="4676299"/>
            <a:ext cx="2174986" cy="198120"/>
          </a:xfrm>
          <a:prstGeom prst="rect">
            <a:avLst/>
          </a:prstGeom>
          <a:noFill/>
          <a:ln>
            <a:noFill/>
          </a:ln>
        </p:spPr>
        <p:txBody>
          <a:bodyPr wrap="none" lIns="0" tIns="0" rIns="0" bIns="0" anchor="t" anchorCtr="0">
            <a:spAutoFit/>
          </a:bodyPr>
          <a:lstStyle/>
          <a:p>
            <a:pPr algn="l"/>
            <a:r>
              <a:rPr lang="zh-CN" sz="975" dirty="0">
                <a:solidFill>
                  <a:srgbClr val="1E3A8A"/>
                </a:solidFill>
                <a:latin typeface="Arial" panose="020B0704020202020204"/>
                <a:ea typeface="Arial" panose="020B0704020202020204"/>
                <a:cs typeface="Arial" panose="020B0704020202020204"/>
              </a:rPr>
              <a:t>• Compose UI DriverHomeScreen</a:t>
            </a:r>
            <a:endParaRPr lang="zh-CN" sz="975" dirty="0">
              <a:solidFill>
                <a:srgbClr val="1E3A8A"/>
              </a:solidFill>
              <a:latin typeface="Arial" panose="020B0704020202020204"/>
              <a:ea typeface="Arial" panose="020B0704020202020204"/>
              <a:cs typeface="Arial" panose="020B0704020202020204"/>
            </a:endParaRPr>
          </a:p>
        </p:txBody>
      </p:sp>
      <p:sp>
        <p:nvSpPr>
          <p:cNvPr id="80" name="TextBox 80"/>
          <p:cNvSpPr txBox="1"/>
          <p:nvPr/>
        </p:nvSpPr>
        <p:spPr>
          <a:xfrm>
            <a:off x="6331268" y="4914424"/>
            <a:ext cx="2303145" cy="198120"/>
          </a:xfrm>
          <a:prstGeom prst="rect">
            <a:avLst/>
          </a:prstGeom>
          <a:noFill/>
          <a:ln>
            <a:noFill/>
          </a:ln>
        </p:spPr>
        <p:txBody>
          <a:bodyPr wrap="none" lIns="0" tIns="0" rIns="0" bIns="0" anchor="t" anchorCtr="0">
            <a:spAutoFit/>
          </a:bodyPr>
          <a:lstStyle/>
          <a:p>
            <a:pPr algn="l"/>
            <a:r>
              <a:rPr lang="zh-CN" sz="975" dirty="0">
                <a:solidFill>
                  <a:srgbClr val="1E3A8A"/>
                </a:solidFill>
                <a:latin typeface="Arial" panose="020B0704020202020204"/>
                <a:ea typeface="Arial" panose="020B0704020202020204"/>
                <a:cs typeface="Arial" panose="020B0704020202020204"/>
              </a:rPr>
              <a:t>• Tích hợp Intent mở Google Maps</a:t>
            </a:r>
            <a:endParaRPr lang="zh-CN" sz="975" dirty="0">
              <a:solidFill>
                <a:srgbClr val="1E3A8A"/>
              </a:solidFill>
              <a:latin typeface="Arial" panose="020B0704020202020204"/>
              <a:ea typeface="Arial" panose="020B0704020202020204"/>
              <a:cs typeface="Arial" panose="020B0704020202020204"/>
            </a:endParaRPr>
          </a:p>
        </p:txBody>
      </p:sp>
      <p:sp>
        <p:nvSpPr>
          <p:cNvPr id="81" name="TextBox 81"/>
          <p:cNvSpPr txBox="1"/>
          <p:nvPr/>
        </p:nvSpPr>
        <p:spPr>
          <a:xfrm>
            <a:off x="6331268" y="5152549"/>
            <a:ext cx="2602182" cy="198120"/>
          </a:xfrm>
          <a:prstGeom prst="rect">
            <a:avLst/>
          </a:prstGeom>
          <a:noFill/>
          <a:ln>
            <a:noFill/>
          </a:ln>
        </p:spPr>
        <p:txBody>
          <a:bodyPr wrap="none" lIns="0" tIns="0" rIns="0" bIns="0" anchor="t" anchorCtr="0">
            <a:spAutoFit/>
          </a:bodyPr>
          <a:lstStyle/>
          <a:p>
            <a:pPr algn="l"/>
            <a:r>
              <a:rPr lang="zh-CN" sz="975" dirty="0">
                <a:solidFill>
                  <a:srgbClr val="1E3A8A"/>
                </a:solidFill>
                <a:latin typeface="Arial" panose="020B0704020202020204"/>
                <a:ea typeface="Arial" panose="020B0704020202020204"/>
                <a:cs typeface="Arial" panose="020B0704020202020204"/>
              </a:rPr>
              <a:t>• Logic chụp ảnh giao hàng thành công</a:t>
            </a:r>
            <a:endParaRPr lang="zh-CN" sz="975" dirty="0">
              <a:solidFill>
                <a:srgbClr val="1E3A8A"/>
              </a:solidFill>
              <a:latin typeface="Arial" panose="020B0704020202020204"/>
              <a:ea typeface="Arial" panose="020B0704020202020204"/>
              <a:cs typeface="Arial" panose="020B0704020202020204"/>
            </a:endParaRPr>
          </a:p>
        </p:txBody>
      </p:sp>
      <p:sp>
        <p:nvSpPr>
          <p:cNvPr id="82" name="TextBox 82"/>
          <p:cNvSpPr txBox="1"/>
          <p:nvPr/>
        </p:nvSpPr>
        <p:spPr>
          <a:xfrm>
            <a:off x="6331268" y="5390674"/>
            <a:ext cx="2523863" cy="198120"/>
          </a:xfrm>
          <a:prstGeom prst="rect">
            <a:avLst/>
          </a:prstGeom>
          <a:noFill/>
          <a:ln>
            <a:noFill/>
          </a:ln>
        </p:spPr>
        <p:txBody>
          <a:bodyPr wrap="none" lIns="0" tIns="0" rIns="0" bIns="0" anchor="t" anchorCtr="0">
            <a:spAutoFit/>
          </a:bodyPr>
          <a:lstStyle/>
          <a:p>
            <a:pPr algn="l"/>
            <a:r>
              <a:rPr lang="zh-CN" sz="975" dirty="0">
                <a:solidFill>
                  <a:srgbClr val="1E3A8A"/>
                </a:solidFill>
                <a:latin typeface="Arial" panose="020B0704020202020204"/>
                <a:ea typeface="Arial" panose="020B0704020202020204"/>
                <a:cs typeface="Arial" panose="020B0704020202020204"/>
              </a:rPr>
              <a:t>• Đồng bộ trạng thái đơn với Backend</a:t>
            </a:r>
            <a:endParaRPr lang="zh-CN" sz="975" dirty="0">
              <a:solidFill>
                <a:srgbClr val="1E3A8A"/>
              </a:solidFill>
              <a:latin typeface="Arial" panose="020B0704020202020204"/>
              <a:ea typeface="Arial" panose="020B0704020202020204"/>
              <a:cs typeface="Arial" panose="020B0704020202020204"/>
            </a:endParaRPr>
          </a:p>
        </p:txBody>
      </p:sp>
      <p:sp>
        <p:nvSpPr>
          <p:cNvPr id="83" name="Freeform 83"/>
          <p:cNvSpPr/>
          <p:nvPr/>
        </p:nvSpPr>
        <p:spPr>
          <a:xfrm>
            <a:off x="9067800" y="2286000"/>
            <a:ext cx="2743200" cy="3857625"/>
          </a:xfrm>
          <a:custGeom>
            <a:avLst/>
            <a:gdLst/>
            <a:ahLst/>
            <a:cxnLst/>
            <a:rect l="l" t="t" r="r" b="b"/>
            <a:pathLst>
              <a:path w="2743200" h="3857625">
                <a:moveTo>
                  <a:pt x="76200" y="0"/>
                </a:moveTo>
                <a:lnTo>
                  <a:pt x="2667000" y="0"/>
                </a:lnTo>
                <a:cubicBezTo>
                  <a:pt x="2709084" y="0"/>
                  <a:pt x="2743200" y="34116"/>
                  <a:pt x="2743200" y="76200"/>
                </a:cubicBezTo>
                <a:lnTo>
                  <a:pt x="2743200" y="3781425"/>
                </a:lnTo>
                <a:cubicBezTo>
                  <a:pt x="2743200" y="3823509"/>
                  <a:pt x="2709084" y="3857625"/>
                  <a:pt x="2667000" y="3857625"/>
                </a:cubicBezTo>
                <a:lnTo>
                  <a:pt x="76200" y="3857625"/>
                </a:lnTo>
                <a:cubicBezTo>
                  <a:pt x="34116" y="3857625"/>
                  <a:pt x="0" y="3823509"/>
                  <a:pt x="0" y="3781425"/>
                </a:cubicBezTo>
                <a:lnTo>
                  <a:pt x="0" y="76200"/>
                </a:lnTo>
                <a:cubicBezTo>
                  <a:pt x="0" y="34116"/>
                  <a:pt x="34116" y="0"/>
                  <a:pt x="76200" y="0"/>
                </a:cubicBezTo>
                <a:close/>
              </a:path>
            </a:pathLst>
          </a:custGeom>
          <a:solidFill>
            <a:srgbClr val="FFFFFF"/>
          </a:solidFill>
          <a:ln w="14288">
            <a:solidFill>
              <a:srgbClr val="E2E8F0"/>
            </a:solidFill>
          </a:ln>
        </p:spPr>
      </p:sp>
      <p:sp>
        <p:nvSpPr>
          <p:cNvPr id="84" name="Freeform 84"/>
          <p:cNvSpPr/>
          <p:nvPr/>
        </p:nvSpPr>
        <p:spPr>
          <a:xfrm>
            <a:off x="9067800" y="2286000"/>
            <a:ext cx="2743200" cy="428625"/>
          </a:xfrm>
          <a:custGeom>
            <a:avLst/>
            <a:gdLst/>
            <a:ahLst/>
            <a:cxnLst/>
            <a:rect l="l" t="t" r="r" b="b"/>
            <a:pathLst>
              <a:path w="2743200" h="428625">
                <a:moveTo>
                  <a:pt x="76200" y="0"/>
                </a:moveTo>
                <a:lnTo>
                  <a:pt x="2667000" y="0"/>
                </a:lnTo>
                <a:cubicBezTo>
                  <a:pt x="2709084" y="0"/>
                  <a:pt x="2743200" y="34116"/>
                  <a:pt x="2743200" y="76200"/>
                </a:cubicBezTo>
                <a:lnTo>
                  <a:pt x="2743200" y="352425"/>
                </a:lnTo>
                <a:cubicBezTo>
                  <a:pt x="2743200" y="394509"/>
                  <a:pt x="2709084" y="428625"/>
                  <a:pt x="2667000" y="428625"/>
                </a:cubicBezTo>
                <a:lnTo>
                  <a:pt x="76200" y="428625"/>
                </a:lnTo>
                <a:cubicBezTo>
                  <a:pt x="34116" y="428625"/>
                  <a:pt x="0" y="394509"/>
                  <a:pt x="0" y="352425"/>
                </a:cubicBezTo>
                <a:lnTo>
                  <a:pt x="0" y="76200"/>
                </a:lnTo>
                <a:cubicBezTo>
                  <a:pt x="0" y="34116"/>
                  <a:pt x="34116" y="0"/>
                  <a:pt x="76200" y="0"/>
                </a:cubicBezTo>
                <a:close/>
              </a:path>
            </a:pathLst>
          </a:custGeom>
          <a:solidFill>
            <a:srgbClr val="F1F5F9"/>
          </a:solidFill>
          <a:ln>
            <a:noFill/>
          </a:ln>
        </p:spPr>
      </p:sp>
      <p:sp>
        <p:nvSpPr>
          <p:cNvPr id="85" name="Freeform 85"/>
          <p:cNvSpPr/>
          <p:nvPr/>
        </p:nvSpPr>
        <p:spPr>
          <a:xfrm>
            <a:off x="9270206" y="2412206"/>
            <a:ext cx="71438" cy="71438"/>
          </a:xfrm>
          <a:custGeom>
            <a:avLst/>
            <a:gdLst/>
            <a:ahLst/>
            <a:cxnLst/>
            <a:rect l="l" t="t" r="r" b="b"/>
            <a:pathLst>
              <a:path w="71438" h="71438">
                <a:moveTo>
                  <a:pt x="35719" y="71438"/>
                </a:moveTo>
                <a:cubicBezTo>
                  <a:pt x="55446" y="71438"/>
                  <a:pt x="71438" y="55446"/>
                  <a:pt x="71438" y="35719"/>
                </a:cubicBezTo>
                <a:cubicBezTo>
                  <a:pt x="71438" y="15992"/>
                  <a:pt x="55446" y="0"/>
                  <a:pt x="35719" y="0"/>
                </a:cubicBezTo>
                <a:cubicBezTo>
                  <a:pt x="15992" y="0"/>
                  <a:pt x="0" y="15992"/>
                  <a:pt x="0" y="35719"/>
                </a:cubicBezTo>
                <a:cubicBezTo>
                  <a:pt x="0" y="55446"/>
                  <a:pt x="15992" y="71438"/>
                  <a:pt x="35719" y="71438"/>
                </a:cubicBezTo>
                <a:close/>
              </a:path>
            </a:pathLst>
          </a:custGeom>
          <a:solidFill>
            <a:srgbClr val="003366"/>
          </a:solidFill>
          <a:ln>
            <a:noFill/>
          </a:ln>
        </p:spPr>
      </p:sp>
      <p:sp>
        <p:nvSpPr>
          <p:cNvPr id="86" name="Freeform 86"/>
          <p:cNvSpPr/>
          <p:nvPr/>
        </p:nvSpPr>
        <p:spPr>
          <a:xfrm>
            <a:off x="9234488" y="2507456"/>
            <a:ext cx="142875" cy="71438"/>
          </a:xfrm>
          <a:custGeom>
            <a:avLst/>
            <a:gdLst/>
            <a:ahLst/>
            <a:cxnLst/>
            <a:rect l="l" t="t" r="r" b="b"/>
            <a:pathLst>
              <a:path w="142875" h="71438">
                <a:moveTo>
                  <a:pt x="142875" y="35719"/>
                </a:moveTo>
                <a:cubicBezTo>
                  <a:pt x="142875" y="15991"/>
                  <a:pt x="126884" y="0"/>
                  <a:pt x="107156" y="0"/>
                </a:cubicBezTo>
                <a:lnTo>
                  <a:pt x="35719" y="0"/>
                </a:lnTo>
                <a:cubicBezTo>
                  <a:pt x="15992" y="0"/>
                  <a:pt x="0" y="15991"/>
                  <a:pt x="0" y="35719"/>
                </a:cubicBezTo>
                <a:lnTo>
                  <a:pt x="0" y="71438"/>
                </a:lnTo>
                <a:lnTo>
                  <a:pt x="142875" y="71438"/>
                </a:lnTo>
                <a:lnTo>
                  <a:pt x="142875" y="35719"/>
                </a:lnTo>
                <a:close/>
              </a:path>
            </a:pathLst>
          </a:custGeom>
          <a:solidFill>
            <a:srgbClr val="003366"/>
          </a:solidFill>
          <a:ln>
            <a:noFill/>
          </a:ln>
        </p:spPr>
      </p:sp>
      <p:sp>
        <p:nvSpPr>
          <p:cNvPr id="87" name="TextBox 87"/>
          <p:cNvSpPr txBox="1"/>
          <p:nvPr/>
        </p:nvSpPr>
        <p:spPr>
          <a:xfrm>
            <a:off x="9481185" y="2423160"/>
            <a:ext cx="1852308" cy="243840"/>
          </a:xfrm>
          <a:prstGeom prst="rect">
            <a:avLst/>
          </a:prstGeom>
          <a:noFill/>
          <a:ln>
            <a:noFill/>
          </a:ln>
        </p:spPr>
        <p:txBody>
          <a:bodyPr wrap="none" lIns="0" tIns="0" rIns="0" bIns="0" anchor="t" anchorCtr="0">
            <a:spAutoFit/>
          </a:bodyPr>
          <a:lstStyle/>
          <a:p>
            <a:pPr algn="l"/>
            <a:r>
              <a:rPr lang="zh-CN" sz="1200" b="1" dirty="0">
                <a:solidFill>
                  <a:srgbClr val="003366"/>
                </a:solidFill>
                <a:latin typeface="Arial" panose="020B0704020202020204"/>
                <a:ea typeface="Arial" panose="020B0704020202020204"/>
                <a:cs typeface="Arial" panose="020B0704020202020204"/>
              </a:rPr>
              <a:t>Nguyễn Lâm Hữu Hùng</a:t>
            </a:r>
            <a:endParaRPr lang="zh-CN" sz="1200" b="1" dirty="0">
              <a:solidFill>
                <a:srgbClr val="003366"/>
              </a:solidFill>
              <a:latin typeface="Arial" panose="020B0704020202020204"/>
              <a:ea typeface="Arial" panose="020B0704020202020204"/>
              <a:cs typeface="Arial" panose="020B0704020202020204"/>
            </a:endParaRPr>
          </a:p>
        </p:txBody>
      </p:sp>
      <p:sp>
        <p:nvSpPr>
          <p:cNvPr id="88" name="TextBox 88"/>
          <p:cNvSpPr txBox="1"/>
          <p:nvPr/>
        </p:nvSpPr>
        <p:spPr>
          <a:xfrm>
            <a:off x="9198292" y="2847499"/>
            <a:ext cx="1781610" cy="198120"/>
          </a:xfrm>
          <a:prstGeom prst="rect">
            <a:avLst/>
          </a:prstGeom>
          <a:noFill/>
          <a:ln>
            <a:noFill/>
          </a:ln>
        </p:spPr>
        <p:txBody>
          <a:bodyPr wrap="none" lIns="0" tIns="0" rIns="0" bIns="0" anchor="t" anchorCtr="0">
            <a:spAutoFit/>
          </a:bodyPr>
          <a:lstStyle/>
          <a:p>
            <a:pPr algn="l"/>
            <a:r>
              <a:rPr lang="zh-CN" sz="975" b="1" dirty="0">
                <a:solidFill>
                  <a:srgbClr val="003366"/>
                </a:solidFill>
                <a:latin typeface="Arial" panose="020B0704020202020204"/>
                <a:ea typeface="Arial" panose="020B0704020202020204"/>
                <a:cs typeface="Arial" panose="020B0704020202020204"/>
              </a:rPr>
              <a:t>Tuần 1: Thiết kế Activity</a:t>
            </a:r>
            <a:endParaRPr lang="zh-CN" sz="975" b="1" dirty="0">
              <a:solidFill>
                <a:srgbClr val="003366"/>
              </a:solidFill>
              <a:latin typeface="Arial" panose="020B0704020202020204"/>
              <a:ea typeface="Arial" panose="020B0704020202020204"/>
              <a:cs typeface="Arial" panose="020B0704020202020204"/>
            </a:endParaRPr>
          </a:p>
        </p:txBody>
      </p:sp>
      <p:sp>
        <p:nvSpPr>
          <p:cNvPr id="89" name="TextBox 89"/>
          <p:cNvSpPr txBox="1"/>
          <p:nvPr/>
        </p:nvSpPr>
        <p:spPr>
          <a:xfrm>
            <a:off x="9198292" y="3018949"/>
            <a:ext cx="2118027"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panose="020B0704020202020204"/>
                <a:ea typeface="Arial" panose="020B0704020202020204"/>
                <a:cs typeface="Arial" panose="020B0704020202020204"/>
              </a:rPr>
              <a:t>• Xây dựng 4 Activity Diagrams</a:t>
            </a:r>
            <a:endParaRPr lang="zh-CN" sz="975" dirty="0">
              <a:solidFill>
                <a:srgbClr val="475569"/>
              </a:solidFill>
              <a:latin typeface="Arial" panose="020B0704020202020204"/>
              <a:ea typeface="Arial" panose="020B0704020202020204"/>
              <a:cs typeface="Arial" panose="020B0704020202020204"/>
            </a:endParaRPr>
          </a:p>
        </p:txBody>
      </p:sp>
      <p:sp>
        <p:nvSpPr>
          <p:cNvPr id="90" name="TextBox 90"/>
          <p:cNvSpPr txBox="1"/>
          <p:nvPr/>
        </p:nvSpPr>
        <p:spPr>
          <a:xfrm>
            <a:off x="9198292" y="3323749"/>
            <a:ext cx="1848893" cy="198120"/>
          </a:xfrm>
          <a:prstGeom prst="rect">
            <a:avLst/>
          </a:prstGeom>
          <a:noFill/>
          <a:ln>
            <a:noFill/>
          </a:ln>
        </p:spPr>
        <p:txBody>
          <a:bodyPr wrap="none" lIns="0" tIns="0" rIns="0" bIns="0" anchor="t" anchorCtr="0">
            <a:spAutoFit/>
          </a:bodyPr>
          <a:lstStyle/>
          <a:p>
            <a:pPr algn="l"/>
            <a:r>
              <a:rPr lang="zh-CN" sz="975" b="1" dirty="0">
                <a:solidFill>
                  <a:srgbClr val="0066CC"/>
                </a:solidFill>
                <a:latin typeface="Arial" panose="020B0704020202020204"/>
                <a:ea typeface="Arial" panose="020B0704020202020204"/>
                <a:cs typeface="Arial" panose="020B0704020202020204"/>
              </a:rPr>
              <a:t>Tuần 2: Luồng Khách hàng</a:t>
            </a:r>
            <a:endParaRPr lang="zh-CN" sz="975" b="1" dirty="0">
              <a:solidFill>
                <a:srgbClr val="0066CC"/>
              </a:solidFill>
              <a:latin typeface="Arial" panose="020B0704020202020204"/>
              <a:ea typeface="Arial" panose="020B0704020202020204"/>
              <a:cs typeface="Arial" panose="020B0704020202020204"/>
            </a:endParaRPr>
          </a:p>
        </p:txBody>
      </p:sp>
      <p:sp>
        <p:nvSpPr>
          <p:cNvPr id="91" name="TextBox 91"/>
          <p:cNvSpPr txBox="1"/>
          <p:nvPr/>
        </p:nvSpPr>
        <p:spPr>
          <a:xfrm>
            <a:off x="9198292" y="3495199"/>
            <a:ext cx="1989868"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panose="020B0704020202020204"/>
                <a:ea typeface="Arial" panose="020B0704020202020204"/>
                <a:cs typeface="Arial" panose="020B0704020202020204"/>
              </a:rPr>
              <a:t>• Compose UI màn hình Client</a:t>
            </a:r>
            <a:endParaRPr lang="zh-CN" sz="975" dirty="0">
              <a:solidFill>
                <a:srgbClr val="475569"/>
              </a:solidFill>
              <a:latin typeface="Arial" panose="020B0704020202020204"/>
              <a:ea typeface="Arial" panose="020B0704020202020204"/>
              <a:cs typeface="Arial" panose="020B0704020202020204"/>
            </a:endParaRPr>
          </a:p>
        </p:txBody>
      </p:sp>
      <p:sp>
        <p:nvSpPr>
          <p:cNvPr id="92" name="TextBox 92"/>
          <p:cNvSpPr txBox="1"/>
          <p:nvPr/>
        </p:nvSpPr>
        <p:spPr>
          <a:xfrm>
            <a:off x="9198292" y="3799999"/>
            <a:ext cx="1811513" cy="198120"/>
          </a:xfrm>
          <a:prstGeom prst="rect">
            <a:avLst/>
          </a:prstGeom>
          <a:noFill/>
          <a:ln>
            <a:noFill/>
          </a:ln>
        </p:spPr>
        <p:txBody>
          <a:bodyPr wrap="none" lIns="0" tIns="0" rIns="0" bIns="0" anchor="t" anchorCtr="0">
            <a:spAutoFit/>
          </a:bodyPr>
          <a:lstStyle/>
          <a:p>
            <a:pPr algn="l"/>
            <a:r>
              <a:rPr lang="zh-CN" sz="975" b="1" dirty="0">
                <a:solidFill>
                  <a:srgbClr val="D97706"/>
                </a:solidFill>
                <a:latin typeface="Arial" panose="020B0704020202020204"/>
                <a:ea typeface="Arial" panose="020B0704020202020204"/>
                <a:cs typeface="Arial" panose="020B0704020202020204"/>
              </a:rPr>
              <a:t>Tuần 3: Thao tác hủy đơn</a:t>
            </a:r>
            <a:endParaRPr lang="zh-CN" sz="975" b="1" dirty="0">
              <a:solidFill>
                <a:srgbClr val="D97706"/>
              </a:solidFill>
              <a:latin typeface="Arial" panose="020B0704020202020204"/>
              <a:ea typeface="Arial" panose="020B0704020202020204"/>
              <a:cs typeface="Arial" panose="020B0704020202020204"/>
            </a:endParaRPr>
          </a:p>
        </p:txBody>
      </p:sp>
      <p:sp>
        <p:nvSpPr>
          <p:cNvPr id="93" name="TextBox 93"/>
          <p:cNvSpPr txBox="1"/>
          <p:nvPr/>
        </p:nvSpPr>
        <p:spPr>
          <a:xfrm>
            <a:off x="9198292" y="3971449"/>
            <a:ext cx="2516743"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panose="020B0704020202020204"/>
                <a:ea typeface="Arial" panose="020B0704020202020204"/>
                <a:cs typeface="Arial" panose="020B0704020202020204"/>
              </a:rPr>
              <a:t>• Quản lý đơn khách &amp; Cơ chế hủy đơn</a:t>
            </a:r>
            <a:endParaRPr lang="zh-CN" sz="975" dirty="0">
              <a:solidFill>
                <a:srgbClr val="475569"/>
              </a:solidFill>
              <a:latin typeface="Arial" panose="020B0704020202020204"/>
              <a:ea typeface="Arial" panose="020B0704020202020204"/>
              <a:cs typeface="Arial" panose="020B0704020202020204"/>
            </a:endParaRPr>
          </a:p>
        </p:txBody>
      </p:sp>
      <p:sp>
        <p:nvSpPr>
          <p:cNvPr id="94" name="Freeform 94"/>
          <p:cNvSpPr/>
          <p:nvPr/>
        </p:nvSpPr>
        <p:spPr>
          <a:xfrm>
            <a:off x="9144000" y="4286250"/>
            <a:ext cx="2590800" cy="1714500"/>
          </a:xfrm>
          <a:custGeom>
            <a:avLst/>
            <a:gdLst/>
            <a:ahLst/>
            <a:cxnLst/>
            <a:rect l="l" t="t" r="r" b="b"/>
            <a:pathLst>
              <a:path w="2590800" h="1714500">
                <a:moveTo>
                  <a:pt x="57150" y="0"/>
                </a:moveTo>
                <a:lnTo>
                  <a:pt x="2533650" y="0"/>
                </a:lnTo>
                <a:cubicBezTo>
                  <a:pt x="2565213" y="0"/>
                  <a:pt x="2590800" y="25587"/>
                  <a:pt x="2590800" y="57150"/>
                </a:cubicBezTo>
                <a:lnTo>
                  <a:pt x="2590800" y="1657350"/>
                </a:lnTo>
                <a:cubicBezTo>
                  <a:pt x="2590800" y="1688913"/>
                  <a:pt x="2565213" y="1714500"/>
                  <a:pt x="2533650" y="1714500"/>
                </a:cubicBezTo>
                <a:lnTo>
                  <a:pt x="57150" y="1714500"/>
                </a:lnTo>
                <a:cubicBezTo>
                  <a:pt x="25587" y="1714500"/>
                  <a:pt x="0" y="1688913"/>
                  <a:pt x="0" y="1657350"/>
                </a:cubicBezTo>
                <a:lnTo>
                  <a:pt x="0" y="57150"/>
                </a:lnTo>
                <a:cubicBezTo>
                  <a:pt x="0" y="25587"/>
                  <a:pt x="25587" y="0"/>
                  <a:pt x="57150" y="0"/>
                </a:cubicBezTo>
                <a:close/>
              </a:path>
            </a:pathLst>
          </a:custGeom>
          <a:solidFill>
            <a:srgbClr val="EFF6FF"/>
          </a:solidFill>
          <a:ln w="9525">
            <a:solidFill>
              <a:srgbClr val="BFDBFE"/>
            </a:solidFill>
          </a:ln>
        </p:spPr>
      </p:sp>
      <p:sp>
        <p:nvSpPr>
          <p:cNvPr id="95" name="TextBox 95"/>
          <p:cNvSpPr txBox="1"/>
          <p:nvPr/>
        </p:nvSpPr>
        <p:spPr>
          <a:xfrm>
            <a:off x="9225915" y="4411028"/>
            <a:ext cx="2876726" cy="213360"/>
          </a:xfrm>
          <a:prstGeom prst="rect">
            <a:avLst/>
          </a:prstGeom>
          <a:noFill/>
          <a:ln>
            <a:noFill/>
          </a:ln>
        </p:spPr>
        <p:txBody>
          <a:bodyPr wrap="none" lIns="0" tIns="0" rIns="0" bIns="0" anchor="t" anchorCtr="0">
            <a:spAutoFit/>
          </a:bodyPr>
          <a:lstStyle/>
          <a:p>
            <a:pPr algn="l"/>
            <a:r>
              <a:rPr lang="zh-CN" sz="1050" b="1" dirty="0">
                <a:solidFill>
                  <a:srgbClr val="1D4ED8"/>
                </a:solidFill>
                <a:latin typeface="Arial" panose="020B0704020202020204"/>
                <a:ea typeface="Arial" panose="020B0704020202020204"/>
                <a:cs typeface="Arial" panose="020B0704020202020204"/>
              </a:rPr>
              <a:t>★ Tuần 4 (Trọng tâm Client &amp; Admin):</a:t>
            </a:r>
            <a:endParaRPr lang="zh-CN" sz="1050" b="1" dirty="0">
              <a:solidFill>
                <a:srgbClr val="1D4ED8"/>
              </a:solidFill>
              <a:latin typeface="Arial" panose="020B0704020202020204"/>
              <a:ea typeface="Arial" panose="020B0704020202020204"/>
              <a:cs typeface="Arial" panose="020B0704020202020204"/>
            </a:endParaRPr>
          </a:p>
        </p:txBody>
      </p:sp>
      <p:sp>
        <p:nvSpPr>
          <p:cNvPr id="96" name="TextBox 96"/>
          <p:cNvSpPr txBox="1"/>
          <p:nvPr/>
        </p:nvSpPr>
        <p:spPr>
          <a:xfrm>
            <a:off x="9226868" y="4676299"/>
            <a:ext cx="2296025" cy="198120"/>
          </a:xfrm>
          <a:prstGeom prst="rect">
            <a:avLst/>
          </a:prstGeom>
          <a:noFill/>
          <a:ln>
            <a:noFill/>
          </a:ln>
        </p:spPr>
        <p:txBody>
          <a:bodyPr wrap="none" lIns="0" tIns="0" rIns="0" bIns="0" anchor="t" anchorCtr="0">
            <a:spAutoFit/>
          </a:bodyPr>
          <a:lstStyle/>
          <a:p>
            <a:pPr algn="l"/>
            <a:r>
              <a:rPr lang="zh-CN" sz="975" dirty="0">
                <a:solidFill>
                  <a:srgbClr val="1E3A8A"/>
                </a:solidFill>
                <a:latin typeface="Arial" panose="020B0704020202020204"/>
                <a:ea typeface="Arial" panose="020B0704020202020204"/>
                <a:cs typeface="Arial" panose="020B0704020202020204"/>
              </a:rPr>
              <a:t>• Màn hình AdminDashboard 5 tab</a:t>
            </a:r>
            <a:endParaRPr lang="zh-CN" sz="975" dirty="0">
              <a:solidFill>
                <a:srgbClr val="1E3A8A"/>
              </a:solidFill>
              <a:latin typeface="Arial" panose="020B0704020202020204"/>
              <a:ea typeface="Arial" panose="020B0704020202020204"/>
              <a:cs typeface="Arial" panose="020B0704020202020204"/>
            </a:endParaRPr>
          </a:p>
        </p:txBody>
      </p:sp>
      <p:sp>
        <p:nvSpPr>
          <p:cNvPr id="97" name="TextBox 97"/>
          <p:cNvSpPr txBox="1"/>
          <p:nvPr/>
        </p:nvSpPr>
        <p:spPr>
          <a:xfrm>
            <a:off x="9226868" y="4914424"/>
            <a:ext cx="2082427" cy="198120"/>
          </a:xfrm>
          <a:prstGeom prst="rect">
            <a:avLst/>
          </a:prstGeom>
          <a:noFill/>
          <a:ln>
            <a:noFill/>
          </a:ln>
        </p:spPr>
        <p:txBody>
          <a:bodyPr wrap="none" lIns="0" tIns="0" rIns="0" bIns="0" anchor="t" anchorCtr="0">
            <a:spAutoFit/>
          </a:bodyPr>
          <a:lstStyle/>
          <a:p>
            <a:pPr algn="l"/>
            <a:r>
              <a:rPr lang="zh-CN" sz="975" dirty="0">
                <a:solidFill>
                  <a:srgbClr val="1E3A8A"/>
                </a:solidFill>
                <a:latin typeface="Arial" panose="020B0704020202020204"/>
                <a:ea typeface="Arial" panose="020B0704020202020204"/>
                <a:cs typeface="Arial" panose="020B0704020202020204"/>
              </a:rPr>
              <a:t>• Form tạo đơn &amp; Gợi ý địa chỉ</a:t>
            </a:r>
            <a:endParaRPr lang="zh-CN" sz="975" dirty="0">
              <a:solidFill>
                <a:srgbClr val="1E3A8A"/>
              </a:solidFill>
              <a:latin typeface="Arial" panose="020B0704020202020204"/>
              <a:ea typeface="Arial" panose="020B0704020202020204"/>
              <a:cs typeface="Arial" panose="020B0704020202020204"/>
            </a:endParaRPr>
          </a:p>
        </p:txBody>
      </p:sp>
      <p:sp>
        <p:nvSpPr>
          <p:cNvPr id="98" name="TextBox 98"/>
          <p:cNvSpPr txBox="1"/>
          <p:nvPr/>
        </p:nvSpPr>
        <p:spPr>
          <a:xfrm>
            <a:off x="9226868" y="5152549"/>
            <a:ext cx="2210586" cy="198120"/>
          </a:xfrm>
          <a:prstGeom prst="rect">
            <a:avLst/>
          </a:prstGeom>
          <a:noFill/>
          <a:ln>
            <a:noFill/>
          </a:ln>
        </p:spPr>
        <p:txBody>
          <a:bodyPr wrap="none" lIns="0" tIns="0" rIns="0" bIns="0" anchor="t" anchorCtr="0">
            <a:spAutoFit/>
          </a:bodyPr>
          <a:lstStyle/>
          <a:p>
            <a:pPr algn="l"/>
            <a:r>
              <a:rPr lang="zh-CN" sz="975" dirty="0">
                <a:solidFill>
                  <a:srgbClr val="1E3A8A"/>
                </a:solidFill>
                <a:latin typeface="Arial" panose="020B0704020202020204"/>
                <a:ea typeface="Arial" panose="020B0704020202020204"/>
                <a:cs typeface="Arial" panose="020B0704020202020204"/>
              </a:rPr>
              <a:t>• Luồng đánh giá tài xế (Rating)</a:t>
            </a:r>
            <a:endParaRPr lang="zh-CN" sz="975" dirty="0">
              <a:solidFill>
                <a:srgbClr val="1E3A8A"/>
              </a:solidFill>
              <a:latin typeface="Arial" panose="020B0704020202020204"/>
              <a:ea typeface="Arial" panose="020B0704020202020204"/>
              <a:cs typeface="Arial" panose="020B0704020202020204"/>
            </a:endParaRPr>
          </a:p>
        </p:txBody>
      </p:sp>
      <p:sp>
        <p:nvSpPr>
          <p:cNvPr id="99" name="TextBox 99"/>
          <p:cNvSpPr txBox="1"/>
          <p:nvPr/>
        </p:nvSpPr>
        <p:spPr>
          <a:xfrm>
            <a:off x="9226868" y="5390674"/>
            <a:ext cx="2324505" cy="198120"/>
          </a:xfrm>
          <a:prstGeom prst="rect">
            <a:avLst/>
          </a:prstGeom>
          <a:noFill/>
          <a:ln>
            <a:noFill/>
          </a:ln>
        </p:spPr>
        <p:txBody>
          <a:bodyPr wrap="none" lIns="0" tIns="0" rIns="0" bIns="0" anchor="t" anchorCtr="0">
            <a:spAutoFit/>
          </a:bodyPr>
          <a:lstStyle/>
          <a:p>
            <a:pPr algn="l"/>
            <a:r>
              <a:rPr lang="zh-CN" sz="975" dirty="0">
                <a:solidFill>
                  <a:srgbClr val="1E3A8A"/>
                </a:solidFill>
                <a:latin typeface="Arial" panose="020B0704020202020204"/>
                <a:ea typeface="Arial" panose="020B0704020202020204"/>
                <a:cs typeface="Arial" panose="020B0704020202020204"/>
              </a:rPr>
              <a:t>• Kiểm thử giao diện 12 Test Cases</a:t>
            </a:r>
            <a:endParaRPr lang="zh-CN" sz="975" dirty="0">
              <a:solidFill>
                <a:srgbClr val="1E3A8A"/>
              </a:solidFill>
              <a:latin typeface="Arial" panose="020B0704020202020204"/>
              <a:ea typeface="Arial" panose="020B0704020202020204"/>
              <a:cs typeface="Arial" panose="020B0704020202020204"/>
            </a:endParaRPr>
          </a:p>
        </p:txBody>
      </p:sp>
      <p:sp>
        <p:nvSpPr>
          <p:cNvPr id="100" name="Line 100"/>
          <p:cNvSpPr/>
          <p:nvPr/>
        </p:nvSpPr>
        <p:spPr>
          <a:xfrm>
            <a:off x="381000" y="6334125"/>
            <a:ext cx="11430000" cy="9525"/>
          </a:xfrm>
          <a:custGeom>
            <a:avLst/>
            <a:gdLst/>
            <a:ahLst/>
            <a:cxnLst/>
            <a:rect l="l" t="t" r="r" b="b"/>
            <a:pathLst>
              <a:path w="11430000" h="9525">
                <a:moveTo>
                  <a:pt x="0" y="0"/>
                </a:moveTo>
                <a:lnTo>
                  <a:pt x="11430000" y="0"/>
                </a:lnTo>
              </a:path>
            </a:pathLst>
          </a:custGeom>
          <a:noFill/>
          <a:ln w="9525">
            <a:solidFill>
              <a:srgbClr val="CBD5E1"/>
            </a:solidFill>
          </a:ln>
        </p:spPr>
      </p:sp>
      <p:sp>
        <p:nvSpPr>
          <p:cNvPr id="101" name="TextBox 101"/>
          <p:cNvSpPr txBox="1"/>
          <p:nvPr/>
        </p:nvSpPr>
        <p:spPr>
          <a:xfrm>
            <a:off x="368618" y="6514624"/>
            <a:ext cx="3563374"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panose="020B0704020202020204"/>
                <a:ea typeface="Arial" panose="020B0704020202020204"/>
                <a:cs typeface="Arial" panose="020B0704020202020204"/>
              </a:rPr>
              <a:t>Báo cáo Đồ án Lập trình Di động (MOB402) • Nhóm 10</a:t>
            </a:r>
            <a:endParaRPr lang="zh-CN" sz="975" dirty="0">
              <a:solidFill>
                <a:srgbClr val="64748B"/>
              </a:solidFill>
              <a:latin typeface="Arial" panose="020B0704020202020204"/>
              <a:ea typeface="Arial" panose="020B0704020202020204"/>
              <a:cs typeface="Arial" panose="020B0704020202020204"/>
            </a:endParaRPr>
          </a:p>
        </p:txBody>
      </p:sp>
      <p:sp>
        <p:nvSpPr>
          <p:cNvPr id="102" name="TextBox 102"/>
          <p:cNvSpPr txBox="1"/>
          <p:nvPr/>
        </p:nvSpPr>
        <p:spPr>
          <a:xfrm>
            <a:off x="4641830" y="6514624"/>
            <a:ext cx="2908340" cy="198120"/>
          </a:xfrm>
          <a:prstGeom prst="rect">
            <a:avLst/>
          </a:prstGeom>
          <a:noFill/>
          <a:ln>
            <a:noFill/>
          </a:ln>
        </p:spPr>
        <p:txBody>
          <a:bodyPr wrap="none" lIns="0" tIns="0" rIns="0" bIns="0" anchor="t" anchorCtr="0">
            <a:spAutoFit/>
          </a:bodyPr>
          <a:lstStyle/>
          <a:p>
            <a:pPr algn="ctr"/>
            <a:r>
              <a:rPr lang="zh-CN" sz="975" dirty="0">
                <a:solidFill>
                  <a:srgbClr val="94A3B8"/>
                </a:solidFill>
                <a:latin typeface="Arial" panose="020B0704020202020204"/>
                <a:ea typeface="Arial" panose="020B0704020202020204"/>
                <a:cs typeface="Arial" panose="020B0704020202020204"/>
              </a:rPr>
              <a:t>Phân công công việc &amp; Quá trình thực hiện</a:t>
            </a:r>
            <a:endParaRPr lang="zh-CN" sz="975" dirty="0">
              <a:solidFill>
                <a:srgbClr val="94A3B8"/>
              </a:solidFill>
              <a:latin typeface="Arial" panose="020B0704020202020204"/>
              <a:ea typeface="Arial" panose="020B0704020202020204"/>
              <a:cs typeface="Arial" panose="020B0704020202020204"/>
            </a:endParaRPr>
          </a:p>
        </p:txBody>
      </p:sp>
      <p:sp>
        <p:nvSpPr>
          <p:cNvPr id="103" name="TextBox 103"/>
          <p:cNvSpPr txBox="1"/>
          <p:nvPr/>
        </p:nvSpPr>
        <p:spPr>
          <a:xfrm>
            <a:off x="11298503" y="6506528"/>
            <a:ext cx="525832" cy="213360"/>
          </a:xfrm>
          <a:prstGeom prst="rect">
            <a:avLst/>
          </a:prstGeom>
          <a:noFill/>
          <a:ln>
            <a:noFill/>
          </a:ln>
        </p:spPr>
        <p:txBody>
          <a:bodyPr wrap="none" lIns="0" tIns="0" rIns="0" bIns="0" anchor="t" anchorCtr="0">
            <a:spAutoFit/>
          </a:bodyPr>
          <a:lstStyle/>
          <a:p>
            <a:pPr algn="r"/>
            <a:r>
              <a:rPr lang="zh-CN" sz="1050" b="1" dirty="0">
                <a:solidFill>
                  <a:srgbClr val="003366"/>
                </a:solidFill>
                <a:latin typeface="Arial" panose="020B0704020202020204"/>
                <a:ea typeface="Arial" panose="020B0704020202020204"/>
                <a:cs typeface="Arial" panose="020B0704020202020204"/>
              </a:rPr>
              <a:t>03 / 14</a:t>
            </a:r>
            <a:endParaRPr lang="zh-CN" sz="1050" b="1" dirty="0">
              <a:solidFill>
                <a:srgbClr val="003366"/>
              </a:solidFill>
              <a:latin typeface="Arial" panose="020B0704020202020204"/>
              <a:ea typeface="Arial" panose="020B0704020202020204"/>
              <a:cs typeface="Arial" panose="020B0704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390120" cy="6858000"/>
          </a:xfrm>
          <a:prstGeom prst="rect">
            <a:avLst/>
          </a:prstGeom>
          <a:solidFill>
            <a:srgbClr val="F8FAFC"/>
          </a:solidFill>
          <a:ln>
            <a:noFill/>
          </a:ln>
        </p:spPr>
      </p:sp>
      <p:sp>
        <p:nvSpPr>
          <p:cNvPr id="4" name="Rectangle 4"/>
          <p:cNvSpPr/>
          <p:nvPr/>
        </p:nvSpPr>
        <p:spPr>
          <a:xfrm>
            <a:off x="0" y="0"/>
            <a:ext cx="12372340" cy="666750"/>
          </a:xfrm>
          <a:prstGeom prst="rect">
            <a:avLst/>
          </a:prstGeom>
          <a:solidFill>
            <a:srgbClr val="003366"/>
          </a:solidFill>
          <a:ln>
            <a:noFill/>
          </a:ln>
        </p:spPr>
      </p:sp>
      <p:sp>
        <p:nvSpPr>
          <p:cNvPr id="5" name="Rectangle 5"/>
          <p:cNvSpPr/>
          <p:nvPr/>
        </p:nvSpPr>
        <p:spPr>
          <a:xfrm>
            <a:off x="0" y="0"/>
            <a:ext cx="57150" cy="666750"/>
          </a:xfrm>
          <a:prstGeom prst="rect">
            <a:avLst/>
          </a:prstGeom>
          <a:solidFill>
            <a:srgbClr val="E65100"/>
          </a:solidFill>
          <a:ln>
            <a:noFill/>
          </a:ln>
        </p:spPr>
      </p:sp>
      <p:sp>
        <p:nvSpPr>
          <p:cNvPr id="6" name="TextBox 6"/>
          <p:cNvSpPr txBox="1"/>
          <p:nvPr/>
        </p:nvSpPr>
        <p:spPr>
          <a:xfrm>
            <a:off x="356235" y="227648"/>
            <a:ext cx="7256331" cy="396240"/>
          </a:xfrm>
          <a:prstGeom prst="rect">
            <a:avLst/>
          </a:prstGeom>
          <a:noFill/>
          <a:ln>
            <a:noFill/>
          </a:ln>
        </p:spPr>
        <p:txBody>
          <a:bodyPr wrap="none" lIns="0" tIns="0" rIns="0" bIns="0" anchor="t" anchorCtr="0">
            <a:spAutoFit/>
          </a:bodyPr>
          <a:lstStyle/>
          <a:p>
            <a:pPr algn="l"/>
            <a:r>
              <a:rPr lang="zh-CN" sz="1950" b="1" dirty="0">
                <a:solidFill>
                  <a:srgbClr val="FFFFFF"/>
                </a:solidFill>
                <a:latin typeface="Arial" panose="020B0704020202020204"/>
                <a:ea typeface="Arial" panose="020B0704020202020204"/>
                <a:cs typeface="Arial" panose="020B0704020202020204"/>
              </a:rPr>
              <a:t>01. LÝ DO CHỌN ĐỀ TÀI, MỤC TIÊU &amp; PHẠM VI HỆ THỐNG</a:t>
            </a:r>
            <a:endParaRPr lang="zh-CN" sz="1950" b="1" dirty="0">
              <a:solidFill>
                <a:srgbClr val="FFFFFF"/>
              </a:solidFill>
              <a:latin typeface="Arial" panose="020B0704020202020204"/>
              <a:ea typeface="Arial" panose="020B0704020202020204"/>
              <a:cs typeface="Arial" panose="020B0704020202020204"/>
            </a:endParaRPr>
          </a:p>
        </p:txBody>
      </p:sp>
      <p:sp>
        <p:nvSpPr>
          <p:cNvPr id="7" name="TextBox 7"/>
          <p:cNvSpPr txBox="1"/>
          <p:nvPr/>
        </p:nvSpPr>
        <p:spPr>
          <a:xfrm>
            <a:off x="10295973" y="299085"/>
            <a:ext cx="1530267" cy="243840"/>
          </a:xfrm>
          <a:prstGeom prst="rect">
            <a:avLst/>
          </a:prstGeom>
          <a:noFill/>
          <a:ln>
            <a:noFill/>
          </a:ln>
        </p:spPr>
        <p:txBody>
          <a:bodyPr wrap="none" lIns="0" tIns="0" rIns="0" bIns="0" anchor="t" anchorCtr="0">
            <a:spAutoFit/>
          </a:bodyPr>
          <a:lstStyle/>
          <a:p>
            <a:pPr algn="r"/>
            <a:r>
              <a:rPr lang="zh-CN" sz="1200" b="1" dirty="0">
                <a:solidFill>
                  <a:srgbClr val="93C5FD"/>
                </a:solidFill>
                <a:latin typeface="Arial" panose="020B0704020202020204"/>
                <a:ea typeface="Arial" panose="020B0704020202020204"/>
                <a:cs typeface="Arial" panose="020B0704020202020204"/>
              </a:rPr>
              <a:t>GODROP DELIVERY</a:t>
            </a:r>
            <a:endParaRPr lang="zh-CN" sz="1200" b="1" dirty="0">
              <a:solidFill>
                <a:srgbClr val="93C5FD"/>
              </a:solidFill>
              <a:latin typeface="Arial" panose="020B0704020202020204"/>
              <a:ea typeface="Arial" panose="020B0704020202020204"/>
              <a:cs typeface="Arial" panose="020B0704020202020204"/>
            </a:endParaRPr>
          </a:p>
        </p:txBody>
      </p:sp>
      <p:sp>
        <p:nvSpPr>
          <p:cNvPr id="8" name="Rectangle 8"/>
          <p:cNvSpPr/>
          <p:nvPr/>
        </p:nvSpPr>
        <p:spPr>
          <a:xfrm>
            <a:off x="0" y="666750"/>
            <a:ext cx="12383135" cy="476250"/>
          </a:xfrm>
          <a:prstGeom prst="rect">
            <a:avLst/>
          </a:prstGeom>
          <a:solidFill>
            <a:srgbClr val="E8F4FC"/>
          </a:solidFill>
          <a:ln>
            <a:noFill/>
          </a:ln>
        </p:spPr>
      </p:sp>
      <p:sp>
        <p:nvSpPr>
          <p:cNvPr id="9" name="Rectangle 9"/>
          <p:cNvSpPr/>
          <p:nvPr/>
        </p:nvSpPr>
        <p:spPr>
          <a:xfrm>
            <a:off x="0" y="666750"/>
            <a:ext cx="57150" cy="476250"/>
          </a:xfrm>
          <a:prstGeom prst="rect">
            <a:avLst/>
          </a:prstGeom>
          <a:solidFill>
            <a:srgbClr val="0066CC"/>
          </a:solidFill>
          <a:ln>
            <a:noFill/>
          </a:ln>
        </p:spPr>
      </p:sp>
      <p:sp>
        <p:nvSpPr>
          <p:cNvPr id="10" name="TextBox 10"/>
          <p:cNvSpPr txBox="1"/>
          <p:nvPr/>
        </p:nvSpPr>
        <p:spPr>
          <a:xfrm>
            <a:off x="364808" y="824389"/>
            <a:ext cx="11475220" cy="259080"/>
          </a:xfrm>
          <a:prstGeom prst="rect">
            <a:avLst/>
          </a:prstGeom>
          <a:noFill/>
          <a:ln>
            <a:noFill/>
          </a:ln>
        </p:spPr>
        <p:txBody>
          <a:bodyPr wrap="none" lIns="0" tIns="0" rIns="0" bIns="0" anchor="t" anchorCtr="0">
            <a:spAutoFit/>
          </a:bodyPr>
          <a:lstStyle/>
          <a:p>
            <a:pPr algn="l"/>
            <a:r>
              <a:rPr lang="zh-CN" sz="1275" dirty="0">
                <a:solidFill>
                  <a:srgbClr val="0F172A"/>
                </a:solidFill>
                <a:latin typeface="Arial" panose="020B0704020202020204"/>
                <a:ea typeface="Arial" panose="020B0704020202020204"/>
                <a:cs typeface="Arial" panose="020B0704020202020204"/>
              </a:rPr>
              <a:t>Mô hình hóa bài toán giao kiện hàng đa trạng thái, tích hợp 3 vai trò và kiểm soát tính toàn vẹn dữ liệu trên máy chủ tập trung</a:t>
            </a:r>
            <a:endParaRPr lang="zh-CN" sz="1275" dirty="0">
              <a:solidFill>
                <a:srgbClr val="0F172A"/>
              </a:solidFill>
              <a:latin typeface="Arial" panose="020B0704020202020204"/>
              <a:ea typeface="Arial" panose="020B0704020202020204"/>
              <a:cs typeface="Arial" panose="020B0704020202020204"/>
            </a:endParaRPr>
          </a:p>
        </p:txBody>
      </p:sp>
      <p:sp>
        <p:nvSpPr>
          <p:cNvPr id="11" name="Freeform 11"/>
          <p:cNvSpPr/>
          <p:nvPr/>
        </p:nvSpPr>
        <p:spPr>
          <a:xfrm>
            <a:off x="206375" y="1333500"/>
            <a:ext cx="5906770" cy="4810125"/>
          </a:xfrm>
          <a:custGeom>
            <a:avLst/>
            <a:gdLst/>
            <a:ahLst/>
            <a:cxnLst/>
            <a:rect l="l" t="t" r="r" b="b"/>
            <a:pathLst>
              <a:path w="5572125" h="4810125">
                <a:moveTo>
                  <a:pt x="95250" y="0"/>
                </a:moveTo>
                <a:lnTo>
                  <a:pt x="5476875" y="0"/>
                </a:lnTo>
                <a:cubicBezTo>
                  <a:pt x="5529480" y="0"/>
                  <a:pt x="5572125" y="42645"/>
                  <a:pt x="5572125" y="95250"/>
                </a:cubicBezTo>
                <a:lnTo>
                  <a:pt x="5572125" y="4714875"/>
                </a:lnTo>
                <a:cubicBezTo>
                  <a:pt x="5572125" y="4767480"/>
                  <a:pt x="5529480" y="4810125"/>
                  <a:pt x="5476875" y="4810125"/>
                </a:cubicBezTo>
                <a:lnTo>
                  <a:pt x="95250" y="4810125"/>
                </a:lnTo>
                <a:cubicBezTo>
                  <a:pt x="42645" y="4810125"/>
                  <a:pt x="0" y="4767480"/>
                  <a:pt x="0" y="4714875"/>
                </a:cubicBezTo>
                <a:lnTo>
                  <a:pt x="0" y="95250"/>
                </a:lnTo>
                <a:cubicBezTo>
                  <a:pt x="0" y="42645"/>
                  <a:pt x="42645" y="0"/>
                  <a:pt x="95250" y="0"/>
                </a:cubicBezTo>
                <a:close/>
              </a:path>
            </a:pathLst>
          </a:custGeom>
          <a:solidFill>
            <a:srgbClr val="FFFFFF"/>
          </a:solidFill>
          <a:ln w="14288">
            <a:solidFill>
              <a:srgbClr val="E2E8F0"/>
            </a:solidFill>
          </a:ln>
        </p:spPr>
      </p:sp>
      <p:sp>
        <p:nvSpPr>
          <p:cNvPr id="12" name="Freeform 12"/>
          <p:cNvSpPr/>
          <p:nvPr/>
        </p:nvSpPr>
        <p:spPr>
          <a:xfrm>
            <a:off x="381000" y="1333500"/>
            <a:ext cx="5725795" cy="476250"/>
          </a:xfrm>
          <a:custGeom>
            <a:avLst/>
            <a:gdLst/>
            <a:ahLst/>
            <a:cxnLst/>
            <a:rect l="l" t="t" r="r" b="b"/>
            <a:pathLst>
              <a:path w="5572125" h="476250">
                <a:moveTo>
                  <a:pt x="95250" y="0"/>
                </a:moveTo>
                <a:lnTo>
                  <a:pt x="5476875" y="0"/>
                </a:lnTo>
                <a:cubicBezTo>
                  <a:pt x="5529480" y="0"/>
                  <a:pt x="5572125" y="42645"/>
                  <a:pt x="5572125" y="95250"/>
                </a:cubicBezTo>
                <a:lnTo>
                  <a:pt x="5572125" y="381000"/>
                </a:lnTo>
                <a:cubicBezTo>
                  <a:pt x="5572125" y="433605"/>
                  <a:pt x="5529480" y="476250"/>
                  <a:pt x="5476875" y="476250"/>
                </a:cubicBezTo>
                <a:lnTo>
                  <a:pt x="95250" y="476250"/>
                </a:lnTo>
                <a:cubicBezTo>
                  <a:pt x="42645" y="476250"/>
                  <a:pt x="0" y="433605"/>
                  <a:pt x="0" y="381000"/>
                </a:cubicBezTo>
                <a:lnTo>
                  <a:pt x="0" y="95250"/>
                </a:lnTo>
                <a:cubicBezTo>
                  <a:pt x="0" y="42645"/>
                  <a:pt x="42645" y="0"/>
                  <a:pt x="95250" y="0"/>
                </a:cubicBezTo>
                <a:close/>
              </a:path>
            </a:pathLst>
          </a:custGeom>
          <a:solidFill>
            <a:srgbClr val="F1F5F9"/>
          </a:solidFill>
          <a:ln>
            <a:noFill/>
          </a:ln>
        </p:spPr>
      </p:sp>
      <p:sp>
        <p:nvSpPr>
          <p:cNvPr id="13" name="Freeform 13"/>
          <p:cNvSpPr/>
          <p:nvPr/>
        </p:nvSpPr>
        <p:spPr>
          <a:xfrm>
            <a:off x="571500" y="1485900"/>
            <a:ext cx="228600" cy="185738"/>
          </a:xfrm>
          <a:custGeom>
            <a:avLst/>
            <a:gdLst/>
            <a:ahLst/>
            <a:cxnLst/>
            <a:rect l="l" t="t" r="r" b="b"/>
            <a:pathLst>
              <a:path w="228600" h="185738">
                <a:moveTo>
                  <a:pt x="157162" y="0"/>
                </a:moveTo>
                <a:lnTo>
                  <a:pt x="0" y="0"/>
                </a:lnTo>
                <a:lnTo>
                  <a:pt x="0" y="157162"/>
                </a:lnTo>
                <a:lnTo>
                  <a:pt x="28575" y="157162"/>
                </a:lnTo>
                <a:cubicBezTo>
                  <a:pt x="28575" y="172944"/>
                  <a:pt x="41368" y="185738"/>
                  <a:pt x="57150" y="185738"/>
                </a:cubicBezTo>
                <a:cubicBezTo>
                  <a:pt x="72932" y="185738"/>
                  <a:pt x="85725" y="172944"/>
                  <a:pt x="85725" y="157162"/>
                </a:cubicBezTo>
                <a:lnTo>
                  <a:pt x="142875" y="157162"/>
                </a:lnTo>
                <a:cubicBezTo>
                  <a:pt x="142875" y="172944"/>
                  <a:pt x="155668" y="185738"/>
                  <a:pt x="171450" y="185738"/>
                </a:cubicBezTo>
                <a:cubicBezTo>
                  <a:pt x="187232" y="185738"/>
                  <a:pt x="200025" y="172944"/>
                  <a:pt x="200025" y="157162"/>
                </a:cubicBezTo>
                <a:lnTo>
                  <a:pt x="228600" y="157162"/>
                </a:lnTo>
                <a:lnTo>
                  <a:pt x="228600" y="85725"/>
                </a:lnTo>
                <a:cubicBezTo>
                  <a:pt x="228600" y="62053"/>
                  <a:pt x="209410" y="42862"/>
                  <a:pt x="185738" y="42862"/>
                </a:cubicBezTo>
                <a:lnTo>
                  <a:pt x="157162" y="42862"/>
                </a:lnTo>
                <a:lnTo>
                  <a:pt x="157162" y="0"/>
                </a:lnTo>
                <a:close/>
                <a:moveTo>
                  <a:pt x="157162" y="71438"/>
                </a:moveTo>
                <a:lnTo>
                  <a:pt x="157162" y="100012"/>
                </a:lnTo>
                <a:lnTo>
                  <a:pt x="200025" y="100012"/>
                </a:lnTo>
                <a:lnTo>
                  <a:pt x="200025" y="71438"/>
                </a:lnTo>
                <a:lnTo>
                  <a:pt x="157162" y="71438"/>
                </a:lnTo>
                <a:close/>
              </a:path>
            </a:pathLst>
          </a:custGeom>
          <a:solidFill>
            <a:srgbClr val="003366"/>
          </a:solidFill>
          <a:ln>
            <a:noFill/>
          </a:ln>
        </p:spPr>
      </p:sp>
      <p:sp>
        <p:nvSpPr>
          <p:cNvPr id="14" name="TextBox 14"/>
          <p:cNvSpPr txBox="1"/>
          <p:nvPr/>
        </p:nvSpPr>
        <p:spPr>
          <a:xfrm>
            <a:off x="887730" y="1492568"/>
            <a:ext cx="3957430" cy="274320"/>
          </a:xfrm>
          <a:prstGeom prst="rect">
            <a:avLst/>
          </a:prstGeom>
          <a:noFill/>
          <a:ln>
            <a:noFill/>
          </a:ln>
        </p:spPr>
        <p:txBody>
          <a:bodyPr wrap="none" lIns="0" tIns="0" rIns="0" bIns="0" anchor="t" anchorCtr="0">
            <a:spAutoFit/>
          </a:bodyPr>
          <a:lstStyle/>
          <a:p>
            <a:pPr algn="l"/>
            <a:r>
              <a:rPr lang="zh-CN" sz="1350" b="1" dirty="0">
                <a:solidFill>
                  <a:srgbClr val="003366"/>
                </a:solidFill>
                <a:latin typeface="Arial" panose="020B0704020202020204"/>
                <a:ea typeface="Arial" panose="020B0704020202020204"/>
                <a:cs typeface="Arial" panose="020B0704020202020204"/>
              </a:rPr>
              <a:t>Lý do chọn đề tài &amp; Thách thức kỹ thuật</a:t>
            </a:r>
            <a:endParaRPr lang="zh-CN" sz="1350" b="1" dirty="0">
              <a:solidFill>
                <a:srgbClr val="003366"/>
              </a:solidFill>
              <a:latin typeface="Arial" panose="020B0704020202020204"/>
              <a:ea typeface="Arial" panose="020B0704020202020204"/>
              <a:cs typeface="Arial" panose="020B0704020202020204"/>
            </a:endParaRPr>
          </a:p>
        </p:txBody>
      </p:sp>
      <p:sp>
        <p:nvSpPr>
          <p:cNvPr id="15" name="Freeform 15"/>
          <p:cNvSpPr/>
          <p:nvPr/>
        </p:nvSpPr>
        <p:spPr>
          <a:xfrm>
            <a:off x="319405" y="2000250"/>
            <a:ext cx="5659755" cy="1088390"/>
          </a:xfrm>
          <a:custGeom>
            <a:avLst/>
            <a:gdLst/>
            <a:ahLst/>
            <a:cxnLst/>
            <a:rect l="l" t="t" r="r" b="b"/>
            <a:pathLst>
              <a:path w="5191125" h="1047750">
                <a:moveTo>
                  <a:pt x="76200" y="0"/>
                </a:moveTo>
                <a:lnTo>
                  <a:pt x="5114925" y="0"/>
                </a:lnTo>
                <a:cubicBezTo>
                  <a:pt x="5157009" y="0"/>
                  <a:pt x="5191125" y="34116"/>
                  <a:pt x="5191125" y="76200"/>
                </a:cubicBezTo>
                <a:lnTo>
                  <a:pt x="5191125" y="971550"/>
                </a:lnTo>
                <a:cubicBezTo>
                  <a:pt x="5191125" y="1013634"/>
                  <a:pt x="5157009" y="1047750"/>
                  <a:pt x="5114925" y="1047750"/>
                </a:cubicBezTo>
                <a:lnTo>
                  <a:pt x="76200" y="1047750"/>
                </a:lnTo>
                <a:cubicBezTo>
                  <a:pt x="34116" y="1047750"/>
                  <a:pt x="0" y="1013634"/>
                  <a:pt x="0" y="971550"/>
                </a:cubicBezTo>
                <a:lnTo>
                  <a:pt x="0" y="76200"/>
                </a:lnTo>
                <a:cubicBezTo>
                  <a:pt x="0" y="34116"/>
                  <a:pt x="34116" y="0"/>
                  <a:pt x="76200" y="0"/>
                </a:cubicBezTo>
                <a:close/>
              </a:path>
            </a:pathLst>
          </a:custGeom>
          <a:solidFill>
            <a:srgbClr val="F8FAFC"/>
          </a:solidFill>
          <a:ln w="9525">
            <a:solidFill>
              <a:srgbClr val="E2E8F0"/>
            </a:solidFill>
          </a:ln>
        </p:spPr>
        <p:txBody>
          <a:bodyPr/>
          <a:p>
            <a:endParaRPr lang="en-US"/>
          </a:p>
        </p:txBody>
      </p:sp>
      <p:sp>
        <p:nvSpPr>
          <p:cNvPr id="16" name="TextBox 16"/>
          <p:cNvSpPr txBox="1"/>
          <p:nvPr/>
        </p:nvSpPr>
        <p:spPr>
          <a:xfrm>
            <a:off x="571500" y="2082800"/>
            <a:ext cx="3269285" cy="243840"/>
          </a:xfrm>
          <a:prstGeom prst="rect">
            <a:avLst/>
          </a:prstGeom>
          <a:noFill/>
          <a:ln>
            <a:noFill/>
          </a:ln>
        </p:spPr>
        <p:txBody>
          <a:bodyPr wrap="none" lIns="0" tIns="0" rIns="0" bIns="0" anchor="t" anchorCtr="0">
            <a:spAutoFit/>
          </a:bodyPr>
          <a:lstStyle/>
          <a:p>
            <a:pPr algn="l"/>
            <a:r>
              <a:rPr lang="zh-CN" sz="1200" b="1" dirty="0">
                <a:solidFill>
                  <a:srgbClr val="0066CC"/>
                </a:solidFill>
                <a:latin typeface="Arial" panose="020B0704020202020204"/>
                <a:ea typeface="Arial" panose="020B0704020202020204"/>
                <a:cs typeface="Arial" panose="020B0704020202020204"/>
              </a:rPr>
              <a:t>1. Bài toán giao vận hàng hóa thực tế</a:t>
            </a:r>
            <a:endParaRPr lang="zh-CN" sz="1200" b="1" dirty="0">
              <a:solidFill>
                <a:srgbClr val="0066CC"/>
              </a:solidFill>
              <a:latin typeface="Arial" panose="020B0704020202020204"/>
              <a:ea typeface="Arial" panose="020B0704020202020204"/>
              <a:cs typeface="Arial" panose="020B0704020202020204"/>
            </a:endParaRPr>
          </a:p>
        </p:txBody>
      </p:sp>
      <p:sp>
        <p:nvSpPr>
          <p:cNvPr id="17" name="TextBox 17"/>
          <p:cNvSpPr txBox="1"/>
          <p:nvPr/>
        </p:nvSpPr>
        <p:spPr>
          <a:xfrm>
            <a:off x="489744" y="2326719"/>
            <a:ext cx="6404622" cy="220980"/>
          </a:xfrm>
          <a:prstGeom prst="rect">
            <a:avLst/>
          </a:prstGeom>
          <a:noFill/>
          <a:ln>
            <a:noFill/>
          </a:ln>
        </p:spPr>
        <p:txBody>
          <a:bodyPr wrap="none" lIns="0" tIns="0" rIns="0" bIns="0" anchor="t" anchorCtr="0">
            <a:spAutoFit/>
          </a:bodyPr>
          <a:lstStyle/>
          <a:p>
            <a:pPr algn="l"/>
            <a:r>
              <a:rPr lang="zh-CN" sz="1090" dirty="0">
                <a:solidFill>
                  <a:srgbClr val="334155"/>
                </a:solidFill>
                <a:latin typeface="Arial" panose="020B0704020202020204"/>
                <a:ea typeface="Arial" panose="020B0704020202020204"/>
                <a:cs typeface="Arial" panose="020B0704020202020204"/>
              </a:rPr>
              <a:t>• Kiện hàng trải qua vòng đời phức tạp: Tạo đơn ➔ Tìm tài xế ➔ Lấy hàng ➔ Giao hàng.</a:t>
            </a:r>
            <a:endParaRPr lang="zh-CN" sz="1090" dirty="0">
              <a:solidFill>
                <a:srgbClr val="334155"/>
              </a:solidFill>
              <a:latin typeface="Arial" panose="020B0704020202020204"/>
              <a:ea typeface="Arial" panose="020B0704020202020204"/>
              <a:cs typeface="Arial" panose="020B0704020202020204"/>
            </a:endParaRPr>
          </a:p>
        </p:txBody>
      </p:sp>
      <p:sp>
        <p:nvSpPr>
          <p:cNvPr id="18" name="TextBox 18"/>
          <p:cNvSpPr txBox="1"/>
          <p:nvPr/>
        </p:nvSpPr>
        <p:spPr>
          <a:xfrm>
            <a:off x="489744" y="2588974"/>
            <a:ext cx="6754047" cy="220980"/>
          </a:xfrm>
          <a:prstGeom prst="rect">
            <a:avLst/>
          </a:prstGeom>
          <a:noFill/>
          <a:ln>
            <a:noFill/>
          </a:ln>
        </p:spPr>
        <p:txBody>
          <a:bodyPr wrap="none" lIns="0" tIns="0" rIns="0" bIns="0" anchor="t" anchorCtr="0">
            <a:spAutoFit/>
          </a:bodyPr>
          <a:lstStyle/>
          <a:p>
            <a:pPr algn="l"/>
            <a:r>
              <a:rPr lang="zh-CN" sz="1090" dirty="0">
                <a:solidFill>
                  <a:srgbClr val="334155"/>
                </a:solidFill>
                <a:latin typeface="Arial" panose="020B0704020202020204"/>
                <a:ea typeface="Arial" panose="020B0704020202020204"/>
                <a:cs typeface="Arial" panose="020B0704020202020204"/>
              </a:rPr>
              <a:t>• Gắn liền với các thao tác mobile thực tế: chọn địa chỉ, tính phí, gọi điện, chỉ đường.</a:t>
            </a:r>
            <a:endParaRPr lang="zh-CN" sz="1090" dirty="0">
              <a:solidFill>
                <a:srgbClr val="334155"/>
              </a:solidFill>
              <a:latin typeface="Arial" panose="020B0704020202020204"/>
              <a:ea typeface="Arial" panose="020B0704020202020204"/>
              <a:cs typeface="Arial" panose="020B0704020202020204"/>
            </a:endParaRPr>
          </a:p>
        </p:txBody>
      </p:sp>
      <p:sp>
        <p:nvSpPr>
          <p:cNvPr id="19" name="TextBox 19"/>
          <p:cNvSpPr txBox="1"/>
          <p:nvPr/>
        </p:nvSpPr>
        <p:spPr>
          <a:xfrm>
            <a:off x="489744" y="2809954"/>
            <a:ext cx="5173694" cy="220980"/>
          </a:xfrm>
          <a:prstGeom prst="rect">
            <a:avLst/>
          </a:prstGeom>
          <a:noFill/>
          <a:ln>
            <a:noFill/>
          </a:ln>
        </p:spPr>
        <p:txBody>
          <a:bodyPr wrap="none" lIns="0" tIns="0" rIns="0" bIns="0" anchor="t" anchorCtr="0">
            <a:spAutoFit/>
          </a:bodyPr>
          <a:lstStyle/>
          <a:p>
            <a:pPr algn="l"/>
            <a:r>
              <a:rPr lang="zh-CN" sz="1090" dirty="0">
                <a:solidFill>
                  <a:srgbClr val="334155"/>
                </a:solidFill>
                <a:latin typeface="Arial" panose="020B0704020202020204"/>
                <a:ea typeface="Arial" panose="020B0704020202020204"/>
                <a:cs typeface="Arial" panose="020B0704020202020204"/>
              </a:rPr>
              <a:t>• Tên giải pháp: GoDrop Delivery — Ứng dụng giao kiện hàng tức thời.</a:t>
            </a:r>
            <a:endParaRPr lang="zh-CN" sz="1090" dirty="0">
              <a:solidFill>
                <a:srgbClr val="334155"/>
              </a:solidFill>
              <a:latin typeface="Arial" panose="020B0704020202020204"/>
              <a:ea typeface="Arial" panose="020B0704020202020204"/>
              <a:cs typeface="Arial" panose="020B0704020202020204"/>
            </a:endParaRPr>
          </a:p>
        </p:txBody>
      </p:sp>
      <p:sp>
        <p:nvSpPr>
          <p:cNvPr id="20" name="Freeform 20"/>
          <p:cNvSpPr/>
          <p:nvPr/>
        </p:nvSpPr>
        <p:spPr>
          <a:xfrm>
            <a:off x="320040" y="3249295"/>
            <a:ext cx="5653405" cy="1285875"/>
          </a:xfrm>
          <a:custGeom>
            <a:avLst/>
            <a:gdLst/>
            <a:ahLst/>
            <a:cxnLst/>
            <a:rect l="l" t="t" r="r" b="b"/>
            <a:pathLst>
              <a:path w="5191125" h="1285875">
                <a:moveTo>
                  <a:pt x="76200" y="0"/>
                </a:moveTo>
                <a:lnTo>
                  <a:pt x="5114925" y="0"/>
                </a:lnTo>
                <a:cubicBezTo>
                  <a:pt x="5157009" y="0"/>
                  <a:pt x="5191125" y="34116"/>
                  <a:pt x="5191125" y="76200"/>
                </a:cubicBezTo>
                <a:lnTo>
                  <a:pt x="5191125" y="1209675"/>
                </a:lnTo>
                <a:cubicBezTo>
                  <a:pt x="5191125" y="1251759"/>
                  <a:pt x="5157009" y="1285875"/>
                  <a:pt x="5114925" y="1285875"/>
                </a:cubicBezTo>
                <a:lnTo>
                  <a:pt x="76200" y="1285875"/>
                </a:lnTo>
                <a:cubicBezTo>
                  <a:pt x="34116" y="1285875"/>
                  <a:pt x="0" y="1251759"/>
                  <a:pt x="0" y="1209675"/>
                </a:cubicBezTo>
                <a:lnTo>
                  <a:pt x="0" y="76200"/>
                </a:lnTo>
                <a:cubicBezTo>
                  <a:pt x="0" y="34116"/>
                  <a:pt x="34116" y="0"/>
                  <a:pt x="76200" y="0"/>
                </a:cubicBezTo>
                <a:close/>
              </a:path>
            </a:pathLst>
          </a:custGeom>
          <a:solidFill>
            <a:srgbClr val="FFF7ED"/>
          </a:solidFill>
          <a:ln w="9525">
            <a:solidFill>
              <a:srgbClr val="FDBA74"/>
            </a:solidFill>
          </a:ln>
        </p:spPr>
      </p:sp>
      <p:sp>
        <p:nvSpPr>
          <p:cNvPr id="21" name="TextBox 21"/>
          <p:cNvSpPr txBox="1"/>
          <p:nvPr/>
        </p:nvSpPr>
        <p:spPr>
          <a:xfrm>
            <a:off x="571500" y="3347085"/>
            <a:ext cx="3199130" cy="184150"/>
          </a:xfrm>
          <a:prstGeom prst="rect">
            <a:avLst/>
          </a:prstGeom>
          <a:noFill/>
          <a:ln>
            <a:noFill/>
          </a:ln>
        </p:spPr>
        <p:txBody>
          <a:bodyPr wrap="square" lIns="0" tIns="0" rIns="0" bIns="0" anchor="t" anchorCtr="0">
            <a:spAutoFit/>
          </a:bodyPr>
          <a:lstStyle/>
          <a:p>
            <a:pPr algn="l"/>
            <a:r>
              <a:rPr lang="zh-CN" sz="1200" b="1" dirty="0">
                <a:solidFill>
                  <a:srgbClr val="C2410C"/>
                </a:solidFill>
                <a:latin typeface="Arial" panose="020B0704020202020204"/>
                <a:ea typeface="Arial" panose="020B0704020202020204"/>
                <a:cs typeface="Arial" panose="020B0704020202020204"/>
              </a:rPr>
              <a:t>2. Các bài toán kỹ thuật cần giải quyết</a:t>
            </a:r>
            <a:endParaRPr lang="zh-CN" sz="1200" b="1" dirty="0">
              <a:solidFill>
                <a:srgbClr val="C2410C"/>
              </a:solidFill>
              <a:latin typeface="Arial" panose="020B0704020202020204"/>
              <a:ea typeface="Arial" panose="020B0704020202020204"/>
              <a:cs typeface="Arial" panose="020B0704020202020204"/>
            </a:endParaRPr>
          </a:p>
        </p:txBody>
      </p:sp>
      <p:sp>
        <p:nvSpPr>
          <p:cNvPr id="22" name="TextBox 22"/>
          <p:cNvSpPr txBox="1"/>
          <p:nvPr/>
        </p:nvSpPr>
        <p:spPr>
          <a:xfrm>
            <a:off x="489585" y="3596640"/>
            <a:ext cx="5579745" cy="240665"/>
          </a:xfrm>
          <a:prstGeom prst="rect">
            <a:avLst/>
          </a:prstGeom>
          <a:noFill/>
          <a:ln>
            <a:noFill/>
          </a:ln>
        </p:spPr>
        <p:txBody>
          <a:bodyPr wrap="none" lIns="0" tIns="0" rIns="0" bIns="0" anchor="t" anchorCtr="0">
            <a:noAutofit/>
          </a:bodyPr>
          <a:lstStyle/>
          <a:p>
            <a:pPr algn="l"/>
            <a:r>
              <a:rPr lang="zh-CN" sz="1090" dirty="0">
                <a:solidFill>
                  <a:srgbClr val="7C2D12"/>
                </a:solidFill>
                <a:latin typeface="Arial" panose="020B0704020202020204"/>
                <a:ea typeface="Arial" panose="020B0704020202020204"/>
                <a:cs typeface="Arial" panose="020B0704020202020204"/>
              </a:rPr>
              <a:t>• Xử lý tranh chấp nhận đơn: Khi 2 tài xế cùng bấm nhận 1 đơn, chỉ 1 người thành công.</a:t>
            </a:r>
            <a:endParaRPr lang="zh-CN" sz="1090" dirty="0">
              <a:solidFill>
                <a:srgbClr val="7C2D12"/>
              </a:solidFill>
              <a:latin typeface="Arial" panose="020B0704020202020204"/>
              <a:ea typeface="Arial" panose="020B0704020202020204"/>
              <a:cs typeface="Arial" panose="020B0704020202020204"/>
            </a:endParaRPr>
          </a:p>
        </p:txBody>
      </p:sp>
      <p:sp>
        <p:nvSpPr>
          <p:cNvPr id="23" name="TextBox 23"/>
          <p:cNvSpPr txBox="1"/>
          <p:nvPr/>
        </p:nvSpPr>
        <p:spPr>
          <a:xfrm>
            <a:off x="489585" y="3836670"/>
            <a:ext cx="5617210" cy="238760"/>
          </a:xfrm>
          <a:prstGeom prst="rect">
            <a:avLst/>
          </a:prstGeom>
          <a:noFill/>
          <a:ln>
            <a:noFill/>
          </a:ln>
        </p:spPr>
        <p:txBody>
          <a:bodyPr wrap="none" lIns="0" tIns="0" rIns="0" bIns="0" anchor="t" anchorCtr="0">
            <a:noAutofit/>
          </a:bodyPr>
          <a:lstStyle/>
          <a:p>
            <a:pPr algn="l"/>
            <a:r>
              <a:rPr lang="zh-CN" sz="1090" dirty="0">
                <a:solidFill>
                  <a:srgbClr val="7C2D12"/>
                </a:solidFill>
                <a:latin typeface="Arial" panose="020B0704020202020204"/>
                <a:ea typeface="Arial" panose="020B0704020202020204"/>
                <a:cs typeface="Arial" panose="020B0704020202020204"/>
              </a:rPr>
              <a:t>• Kiểm soát quyền hủy: Chặn khách hủy khi tài xế đã lấy kiện hàng trên đường giao.</a:t>
            </a:r>
            <a:endParaRPr lang="zh-CN" sz="1090" dirty="0">
              <a:solidFill>
                <a:srgbClr val="7C2D12"/>
              </a:solidFill>
              <a:latin typeface="Arial" panose="020B0704020202020204"/>
              <a:ea typeface="Arial" panose="020B0704020202020204"/>
              <a:cs typeface="Arial" panose="020B0704020202020204"/>
            </a:endParaRPr>
          </a:p>
        </p:txBody>
      </p:sp>
      <p:sp>
        <p:nvSpPr>
          <p:cNvPr id="24" name="TextBox 24"/>
          <p:cNvSpPr txBox="1"/>
          <p:nvPr/>
        </p:nvSpPr>
        <p:spPr>
          <a:xfrm>
            <a:off x="489744" y="4060904"/>
            <a:ext cx="6650807" cy="220980"/>
          </a:xfrm>
          <a:prstGeom prst="rect">
            <a:avLst/>
          </a:prstGeom>
          <a:noFill/>
          <a:ln>
            <a:noFill/>
          </a:ln>
        </p:spPr>
        <p:txBody>
          <a:bodyPr wrap="none" lIns="0" tIns="0" rIns="0" bIns="0" anchor="t" anchorCtr="0">
            <a:spAutoFit/>
          </a:bodyPr>
          <a:lstStyle/>
          <a:p>
            <a:pPr algn="l"/>
            <a:r>
              <a:rPr lang="zh-CN" sz="1090" dirty="0">
                <a:solidFill>
                  <a:srgbClr val="7C2D12"/>
                </a:solidFill>
                <a:latin typeface="Arial" panose="020B0704020202020204"/>
                <a:ea typeface="Arial" panose="020B0704020202020204"/>
                <a:cs typeface="Arial" panose="020B0704020202020204"/>
              </a:rPr>
              <a:t>• Tính toàn vẹn dữ liệu: Tính cước độc lập tại Backend, chống gian lận dữ liệu gửi từ UI.</a:t>
            </a:r>
            <a:endParaRPr lang="zh-CN" sz="1090" dirty="0">
              <a:solidFill>
                <a:srgbClr val="7C2D12"/>
              </a:solidFill>
              <a:latin typeface="Arial" panose="020B0704020202020204"/>
              <a:ea typeface="Arial" panose="020B0704020202020204"/>
              <a:cs typeface="Arial" panose="020B0704020202020204"/>
            </a:endParaRPr>
          </a:p>
        </p:txBody>
      </p:sp>
      <p:sp>
        <p:nvSpPr>
          <p:cNvPr id="25" name="TextBox 25"/>
          <p:cNvSpPr txBox="1"/>
          <p:nvPr/>
        </p:nvSpPr>
        <p:spPr>
          <a:xfrm>
            <a:off x="489744" y="4292679"/>
            <a:ext cx="6325207" cy="220980"/>
          </a:xfrm>
          <a:prstGeom prst="rect">
            <a:avLst/>
          </a:prstGeom>
          <a:noFill/>
          <a:ln>
            <a:noFill/>
          </a:ln>
        </p:spPr>
        <p:txBody>
          <a:bodyPr wrap="none" lIns="0" tIns="0" rIns="0" bIns="0" anchor="t" anchorCtr="0">
            <a:spAutoFit/>
          </a:bodyPr>
          <a:lstStyle/>
          <a:p>
            <a:pPr algn="l"/>
            <a:r>
              <a:rPr lang="zh-CN" sz="1090" dirty="0">
                <a:solidFill>
                  <a:srgbClr val="7C2D12"/>
                </a:solidFill>
                <a:latin typeface="Arial" panose="020B0704020202020204"/>
                <a:ea typeface="Arial" panose="020B0704020202020204"/>
                <a:cs typeface="Arial" panose="020B0704020202020204"/>
              </a:rPr>
              <a:t>• Đồng bộ trạng thái: Phản ánh đồng thời tiến độ giữa khách và tài xế qua REST API.</a:t>
            </a:r>
            <a:endParaRPr lang="zh-CN" sz="1090" dirty="0">
              <a:solidFill>
                <a:srgbClr val="7C2D12"/>
              </a:solidFill>
              <a:latin typeface="Arial" panose="020B0704020202020204"/>
              <a:ea typeface="Arial" panose="020B0704020202020204"/>
              <a:cs typeface="Arial" panose="020B0704020202020204"/>
            </a:endParaRPr>
          </a:p>
        </p:txBody>
      </p:sp>
      <p:sp>
        <p:nvSpPr>
          <p:cNvPr id="26" name="Freeform 26"/>
          <p:cNvSpPr/>
          <p:nvPr/>
        </p:nvSpPr>
        <p:spPr>
          <a:xfrm>
            <a:off x="320040" y="4714875"/>
            <a:ext cx="5633720" cy="1238250"/>
          </a:xfrm>
          <a:custGeom>
            <a:avLst/>
            <a:gdLst/>
            <a:ahLst/>
            <a:cxnLst/>
            <a:rect l="l" t="t" r="r" b="b"/>
            <a:pathLst>
              <a:path w="5191125" h="1238250">
                <a:moveTo>
                  <a:pt x="76200" y="0"/>
                </a:moveTo>
                <a:lnTo>
                  <a:pt x="5114925" y="0"/>
                </a:lnTo>
                <a:cubicBezTo>
                  <a:pt x="5157009" y="0"/>
                  <a:pt x="5191125" y="34116"/>
                  <a:pt x="5191125" y="76200"/>
                </a:cubicBezTo>
                <a:lnTo>
                  <a:pt x="5191125" y="1162050"/>
                </a:lnTo>
                <a:cubicBezTo>
                  <a:pt x="5191125" y="1204134"/>
                  <a:pt x="5157009" y="1238250"/>
                  <a:pt x="5114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F0FDF4"/>
          </a:solidFill>
          <a:ln w="9525">
            <a:solidFill>
              <a:srgbClr val="BBF7D0"/>
            </a:solidFill>
          </a:ln>
        </p:spPr>
      </p:sp>
      <p:sp>
        <p:nvSpPr>
          <p:cNvPr id="27" name="TextBox 27"/>
          <p:cNvSpPr txBox="1"/>
          <p:nvPr/>
        </p:nvSpPr>
        <p:spPr>
          <a:xfrm>
            <a:off x="571500" y="4831715"/>
            <a:ext cx="3184525" cy="235585"/>
          </a:xfrm>
          <a:prstGeom prst="rect">
            <a:avLst/>
          </a:prstGeom>
          <a:noFill/>
          <a:ln>
            <a:noFill/>
          </a:ln>
        </p:spPr>
        <p:txBody>
          <a:bodyPr wrap="none" lIns="0" tIns="0" rIns="0" bIns="0" anchor="t" anchorCtr="0">
            <a:noAutofit/>
          </a:bodyPr>
          <a:lstStyle/>
          <a:p>
            <a:pPr algn="l"/>
            <a:r>
              <a:rPr lang="zh-CN" sz="1200" b="1" dirty="0">
                <a:solidFill>
                  <a:srgbClr val="15803D"/>
                </a:solidFill>
                <a:latin typeface="Arial" panose="020B0704020202020204"/>
                <a:ea typeface="Arial" panose="020B0704020202020204"/>
                <a:cs typeface="Arial" panose="020B0704020202020204"/>
              </a:rPr>
              <a:t>3. Giá trị thực tiễn &amp; Đào tạo học phần</a:t>
            </a:r>
            <a:endParaRPr lang="zh-CN" sz="1200" b="1" dirty="0">
              <a:solidFill>
                <a:srgbClr val="15803D"/>
              </a:solidFill>
              <a:latin typeface="Arial" panose="020B0704020202020204"/>
              <a:ea typeface="Arial" panose="020B0704020202020204"/>
              <a:cs typeface="Arial" panose="020B0704020202020204"/>
            </a:endParaRPr>
          </a:p>
        </p:txBody>
      </p:sp>
      <p:sp>
        <p:nvSpPr>
          <p:cNvPr id="28" name="TextBox 28"/>
          <p:cNvSpPr txBox="1"/>
          <p:nvPr/>
        </p:nvSpPr>
        <p:spPr>
          <a:xfrm>
            <a:off x="489744" y="5060394"/>
            <a:ext cx="6341090" cy="220980"/>
          </a:xfrm>
          <a:prstGeom prst="rect">
            <a:avLst/>
          </a:prstGeom>
          <a:noFill/>
          <a:ln>
            <a:noFill/>
          </a:ln>
        </p:spPr>
        <p:txBody>
          <a:bodyPr wrap="none" lIns="0" tIns="0" rIns="0" bIns="0" anchor="t" anchorCtr="0">
            <a:spAutoFit/>
          </a:bodyPr>
          <a:lstStyle/>
          <a:p>
            <a:pPr algn="l"/>
            <a:r>
              <a:rPr lang="zh-CN" sz="1090" dirty="0">
                <a:solidFill>
                  <a:srgbClr val="14532D"/>
                </a:solidFill>
                <a:latin typeface="Arial" panose="020B0704020202020204"/>
                <a:ea typeface="Arial" panose="020B0704020202020204"/>
                <a:cs typeface="Arial" panose="020B0704020202020204"/>
              </a:rPr>
              <a:t>• Rèn luyện kỹ năng xây dựng App Android hoàn chỉnh với Jetpack Compose hiện đại.</a:t>
            </a:r>
            <a:endParaRPr lang="zh-CN" sz="1090" dirty="0">
              <a:solidFill>
                <a:srgbClr val="14532D"/>
              </a:solidFill>
              <a:latin typeface="Arial" panose="020B0704020202020204"/>
              <a:ea typeface="Arial" panose="020B0704020202020204"/>
              <a:cs typeface="Arial" panose="020B0704020202020204"/>
            </a:endParaRPr>
          </a:p>
        </p:txBody>
      </p:sp>
      <p:sp>
        <p:nvSpPr>
          <p:cNvPr id="29" name="TextBox 29"/>
          <p:cNvSpPr txBox="1"/>
          <p:nvPr/>
        </p:nvSpPr>
        <p:spPr>
          <a:xfrm>
            <a:off x="489744" y="5327094"/>
            <a:ext cx="5793129" cy="220980"/>
          </a:xfrm>
          <a:prstGeom prst="rect">
            <a:avLst/>
          </a:prstGeom>
          <a:noFill/>
          <a:ln>
            <a:noFill/>
          </a:ln>
        </p:spPr>
        <p:txBody>
          <a:bodyPr wrap="none" lIns="0" tIns="0" rIns="0" bIns="0" anchor="t" anchorCtr="0">
            <a:spAutoFit/>
          </a:bodyPr>
          <a:lstStyle/>
          <a:p>
            <a:pPr algn="l"/>
            <a:r>
              <a:rPr lang="zh-CN" sz="1090" dirty="0">
                <a:solidFill>
                  <a:srgbClr val="14532D"/>
                </a:solidFill>
                <a:latin typeface="Arial" panose="020B0704020202020204"/>
                <a:ea typeface="Arial" panose="020B0704020202020204"/>
                <a:cs typeface="Arial" panose="020B0704020202020204"/>
              </a:rPr>
              <a:t>• Thực hành thiết kế API chuẩn REST, bảo mật JWT và cơ sở dữ liệu MongoDB.</a:t>
            </a:r>
            <a:endParaRPr lang="zh-CN" sz="1090" dirty="0">
              <a:solidFill>
                <a:srgbClr val="14532D"/>
              </a:solidFill>
              <a:latin typeface="Arial" panose="020B0704020202020204"/>
              <a:ea typeface="Arial" panose="020B0704020202020204"/>
              <a:cs typeface="Arial" panose="020B0704020202020204"/>
            </a:endParaRPr>
          </a:p>
        </p:txBody>
      </p:sp>
      <p:sp>
        <p:nvSpPr>
          <p:cNvPr id="30" name="TextBox 30"/>
          <p:cNvSpPr txBox="1"/>
          <p:nvPr/>
        </p:nvSpPr>
        <p:spPr>
          <a:xfrm>
            <a:off x="487204" y="5621099"/>
            <a:ext cx="6118729" cy="220980"/>
          </a:xfrm>
          <a:prstGeom prst="rect">
            <a:avLst/>
          </a:prstGeom>
          <a:noFill/>
          <a:ln>
            <a:noFill/>
          </a:ln>
        </p:spPr>
        <p:txBody>
          <a:bodyPr wrap="none" lIns="0" tIns="0" rIns="0" bIns="0" anchor="t" anchorCtr="0">
            <a:spAutoFit/>
          </a:bodyPr>
          <a:lstStyle/>
          <a:p>
            <a:pPr algn="l"/>
            <a:r>
              <a:rPr lang="zh-CN" sz="1090" dirty="0">
                <a:solidFill>
                  <a:srgbClr val="14532D"/>
                </a:solidFill>
                <a:latin typeface="Arial" panose="020B0704020202020204"/>
                <a:ea typeface="Arial" panose="020B0704020202020204"/>
                <a:cs typeface="Arial" panose="020B0704020202020204"/>
              </a:rPr>
              <a:t>• Nắm vững mô hình MVVM, Repository Pattern và Coroutines xử lý bất đồng bộ.</a:t>
            </a:r>
            <a:endParaRPr lang="zh-CN" sz="1090" dirty="0">
              <a:solidFill>
                <a:srgbClr val="14532D"/>
              </a:solidFill>
              <a:latin typeface="Arial" panose="020B0704020202020204"/>
              <a:ea typeface="Arial" panose="020B0704020202020204"/>
              <a:cs typeface="Arial" panose="020B0704020202020204"/>
            </a:endParaRPr>
          </a:p>
        </p:txBody>
      </p:sp>
      <p:sp>
        <p:nvSpPr>
          <p:cNvPr id="31" name="Freeform 31"/>
          <p:cNvSpPr/>
          <p:nvPr/>
        </p:nvSpPr>
        <p:spPr>
          <a:xfrm>
            <a:off x="6241415" y="1333500"/>
            <a:ext cx="6070600" cy="4810125"/>
          </a:xfrm>
          <a:custGeom>
            <a:avLst/>
            <a:gdLst/>
            <a:ahLst/>
            <a:cxnLst/>
            <a:rect l="l" t="t" r="r" b="b"/>
            <a:pathLst>
              <a:path w="5572125" h="4810125">
                <a:moveTo>
                  <a:pt x="95250" y="0"/>
                </a:moveTo>
                <a:lnTo>
                  <a:pt x="5476875" y="0"/>
                </a:lnTo>
                <a:cubicBezTo>
                  <a:pt x="5529480" y="0"/>
                  <a:pt x="5572125" y="42645"/>
                  <a:pt x="5572125" y="95250"/>
                </a:cubicBezTo>
                <a:lnTo>
                  <a:pt x="5572125" y="4714875"/>
                </a:lnTo>
                <a:cubicBezTo>
                  <a:pt x="5572125" y="4767480"/>
                  <a:pt x="5529480" y="4810125"/>
                  <a:pt x="5476875" y="4810125"/>
                </a:cubicBezTo>
                <a:lnTo>
                  <a:pt x="95250" y="4810125"/>
                </a:lnTo>
                <a:cubicBezTo>
                  <a:pt x="42645" y="4810125"/>
                  <a:pt x="0" y="4767480"/>
                  <a:pt x="0" y="4714875"/>
                </a:cubicBezTo>
                <a:lnTo>
                  <a:pt x="0" y="95250"/>
                </a:lnTo>
                <a:cubicBezTo>
                  <a:pt x="0" y="42645"/>
                  <a:pt x="42645" y="0"/>
                  <a:pt x="95250" y="0"/>
                </a:cubicBezTo>
                <a:close/>
              </a:path>
            </a:pathLst>
          </a:custGeom>
          <a:solidFill>
            <a:srgbClr val="FFFFFF"/>
          </a:solidFill>
          <a:ln w="14288">
            <a:solidFill>
              <a:srgbClr val="E2E8F0"/>
            </a:solidFill>
          </a:ln>
        </p:spPr>
      </p:sp>
      <p:sp>
        <p:nvSpPr>
          <p:cNvPr id="32" name="Freeform 32"/>
          <p:cNvSpPr/>
          <p:nvPr/>
        </p:nvSpPr>
        <p:spPr>
          <a:xfrm>
            <a:off x="6238875" y="1333500"/>
            <a:ext cx="5953125" cy="476250"/>
          </a:xfrm>
          <a:custGeom>
            <a:avLst/>
            <a:gdLst/>
            <a:ahLst/>
            <a:cxnLst/>
            <a:rect l="l" t="t" r="r" b="b"/>
            <a:pathLst>
              <a:path w="5572125" h="476250">
                <a:moveTo>
                  <a:pt x="95250" y="0"/>
                </a:moveTo>
                <a:lnTo>
                  <a:pt x="5476875" y="0"/>
                </a:lnTo>
                <a:cubicBezTo>
                  <a:pt x="5529480" y="0"/>
                  <a:pt x="5572125" y="42645"/>
                  <a:pt x="5572125" y="95250"/>
                </a:cubicBezTo>
                <a:lnTo>
                  <a:pt x="5572125" y="381000"/>
                </a:lnTo>
                <a:cubicBezTo>
                  <a:pt x="5572125" y="433605"/>
                  <a:pt x="5529480" y="476250"/>
                  <a:pt x="5476875" y="476250"/>
                </a:cubicBezTo>
                <a:lnTo>
                  <a:pt x="95250" y="476250"/>
                </a:lnTo>
                <a:cubicBezTo>
                  <a:pt x="42645" y="476250"/>
                  <a:pt x="0" y="433605"/>
                  <a:pt x="0" y="381000"/>
                </a:cubicBezTo>
                <a:lnTo>
                  <a:pt x="0" y="95250"/>
                </a:lnTo>
                <a:cubicBezTo>
                  <a:pt x="0" y="42645"/>
                  <a:pt x="42645" y="0"/>
                  <a:pt x="95250" y="0"/>
                </a:cubicBezTo>
                <a:close/>
              </a:path>
            </a:pathLst>
          </a:custGeom>
          <a:solidFill>
            <a:srgbClr val="F1F5F9"/>
          </a:solidFill>
          <a:ln>
            <a:noFill/>
          </a:ln>
        </p:spPr>
      </p:sp>
      <p:sp>
        <p:nvSpPr>
          <p:cNvPr id="33" name="Freeform 33"/>
          <p:cNvSpPr/>
          <p:nvPr/>
        </p:nvSpPr>
        <p:spPr>
          <a:xfrm>
            <a:off x="6472238" y="1471612"/>
            <a:ext cx="71438" cy="71438"/>
          </a:xfrm>
          <a:custGeom>
            <a:avLst/>
            <a:gdLst/>
            <a:ahLst/>
            <a:cxnLst/>
            <a:rect l="l" t="t" r="r" b="b"/>
            <a:pathLst>
              <a:path w="71438" h="71438">
                <a:moveTo>
                  <a:pt x="71438" y="35719"/>
                </a:moveTo>
                <a:cubicBezTo>
                  <a:pt x="71438" y="55446"/>
                  <a:pt x="55446" y="71438"/>
                  <a:pt x="35719" y="71438"/>
                </a:cubicBezTo>
                <a:cubicBezTo>
                  <a:pt x="15992" y="71438"/>
                  <a:pt x="0" y="55446"/>
                  <a:pt x="0" y="35719"/>
                </a:cubicBezTo>
                <a:cubicBezTo>
                  <a:pt x="0" y="15992"/>
                  <a:pt x="15992" y="0"/>
                  <a:pt x="35719" y="0"/>
                </a:cubicBezTo>
                <a:cubicBezTo>
                  <a:pt x="55446" y="0"/>
                  <a:pt x="71438" y="15992"/>
                  <a:pt x="71438" y="35719"/>
                </a:cubicBezTo>
                <a:close/>
              </a:path>
            </a:pathLst>
          </a:custGeom>
          <a:solidFill>
            <a:srgbClr val="003366"/>
          </a:solidFill>
          <a:ln>
            <a:noFill/>
          </a:ln>
        </p:spPr>
      </p:sp>
      <p:sp>
        <p:nvSpPr>
          <p:cNvPr id="34" name="Freeform 34"/>
          <p:cNvSpPr/>
          <p:nvPr/>
        </p:nvSpPr>
        <p:spPr>
          <a:xfrm>
            <a:off x="6429375" y="1571625"/>
            <a:ext cx="114300" cy="100012"/>
          </a:xfrm>
          <a:custGeom>
            <a:avLst/>
            <a:gdLst/>
            <a:ahLst/>
            <a:cxnLst/>
            <a:rect l="l" t="t" r="r" b="b"/>
            <a:pathLst>
              <a:path w="114300" h="100012">
                <a:moveTo>
                  <a:pt x="42862" y="0"/>
                </a:moveTo>
                <a:cubicBezTo>
                  <a:pt x="19190" y="0"/>
                  <a:pt x="0" y="19190"/>
                  <a:pt x="0" y="42862"/>
                </a:cubicBezTo>
                <a:lnTo>
                  <a:pt x="0" y="100012"/>
                </a:lnTo>
                <a:lnTo>
                  <a:pt x="114300" y="100012"/>
                </a:lnTo>
                <a:lnTo>
                  <a:pt x="114300" y="0"/>
                </a:lnTo>
                <a:lnTo>
                  <a:pt x="42862" y="0"/>
                </a:lnTo>
                <a:close/>
              </a:path>
            </a:pathLst>
          </a:custGeom>
          <a:solidFill>
            <a:srgbClr val="003366"/>
          </a:solidFill>
          <a:ln>
            <a:noFill/>
          </a:ln>
        </p:spPr>
      </p:sp>
      <p:sp>
        <p:nvSpPr>
          <p:cNvPr id="35" name="Freeform 35"/>
          <p:cNvSpPr/>
          <p:nvPr/>
        </p:nvSpPr>
        <p:spPr>
          <a:xfrm>
            <a:off x="6572250" y="1571625"/>
            <a:ext cx="85725" cy="100012"/>
          </a:xfrm>
          <a:custGeom>
            <a:avLst/>
            <a:gdLst/>
            <a:ahLst/>
            <a:cxnLst/>
            <a:rect l="l" t="t" r="r" b="b"/>
            <a:pathLst>
              <a:path w="85725" h="100012">
                <a:moveTo>
                  <a:pt x="42862" y="0"/>
                </a:moveTo>
                <a:lnTo>
                  <a:pt x="0" y="0"/>
                </a:lnTo>
                <a:lnTo>
                  <a:pt x="0" y="100012"/>
                </a:lnTo>
                <a:lnTo>
                  <a:pt x="85725" y="100012"/>
                </a:lnTo>
                <a:lnTo>
                  <a:pt x="85725" y="42862"/>
                </a:lnTo>
                <a:cubicBezTo>
                  <a:pt x="85725" y="19190"/>
                  <a:pt x="66535" y="0"/>
                  <a:pt x="42862" y="0"/>
                </a:cubicBezTo>
                <a:close/>
              </a:path>
            </a:pathLst>
          </a:custGeom>
          <a:solidFill>
            <a:srgbClr val="003366"/>
          </a:solidFill>
          <a:ln>
            <a:noFill/>
          </a:ln>
        </p:spPr>
      </p:sp>
      <p:sp>
        <p:nvSpPr>
          <p:cNvPr id="36" name="Freeform 36"/>
          <p:cNvSpPr/>
          <p:nvPr/>
        </p:nvSpPr>
        <p:spPr>
          <a:xfrm>
            <a:off x="6572250" y="1485900"/>
            <a:ext cx="57150" cy="57150"/>
          </a:xfrm>
          <a:custGeom>
            <a:avLst/>
            <a:gdLst/>
            <a:ahLst/>
            <a:cxnLst/>
            <a:rect l="l" t="t" r="r" b="b"/>
            <a:pathLst>
              <a:path w="57150" h="57150">
                <a:moveTo>
                  <a:pt x="28575" y="57150"/>
                </a:moveTo>
                <a:cubicBezTo>
                  <a:pt x="44357" y="57150"/>
                  <a:pt x="57150" y="44357"/>
                  <a:pt x="57150" y="28575"/>
                </a:cubicBezTo>
                <a:cubicBezTo>
                  <a:pt x="57150" y="12793"/>
                  <a:pt x="44357" y="0"/>
                  <a:pt x="28575" y="0"/>
                </a:cubicBezTo>
                <a:cubicBezTo>
                  <a:pt x="12793" y="0"/>
                  <a:pt x="0" y="12793"/>
                  <a:pt x="0" y="28575"/>
                </a:cubicBezTo>
                <a:cubicBezTo>
                  <a:pt x="0" y="44357"/>
                  <a:pt x="12793" y="57150"/>
                  <a:pt x="28575" y="57150"/>
                </a:cubicBezTo>
                <a:close/>
              </a:path>
            </a:pathLst>
          </a:custGeom>
          <a:solidFill>
            <a:srgbClr val="003366"/>
          </a:solidFill>
          <a:ln>
            <a:noFill/>
          </a:ln>
        </p:spPr>
      </p:sp>
      <p:sp>
        <p:nvSpPr>
          <p:cNvPr id="37" name="TextBox 37"/>
          <p:cNvSpPr txBox="1"/>
          <p:nvPr/>
        </p:nvSpPr>
        <p:spPr>
          <a:xfrm>
            <a:off x="6745605" y="1492568"/>
            <a:ext cx="3791810" cy="274320"/>
          </a:xfrm>
          <a:prstGeom prst="rect">
            <a:avLst/>
          </a:prstGeom>
          <a:noFill/>
          <a:ln>
            <a:noFill/>
          </a:ln>
        </p:spPr>
        <p:txBody>
          <a:bodyPr wrap="none" lIns="0" tIns="0" rIns="0" bIns="0" anchor="t" anchorCtr="0">
            <a:spAutoFit/>
          </a:bodyPr>
          <a:lstStyle/>
          <a:p>
            <a:pPr algn="l"/>
            <a:r>
              <a:rPr lang="zh-CN" sz="1350" b="1" dirty="0">
                <a:solidFill>
                  <a:srgbClr val="003366"/>
                </a:solidFill>
                <a:latin typeface="Arial" panose="020B0704020202020204"/>
                <a:ea typeface="Arial" panose="020B0704020202020204"/>
                <a:cs typeface="Arial" panose="020B0704020202020204"/>
              </a:rPr>
              <a:t>Mục tiêu 3 vai trò &amp; Giới hạn thực hiện</a:t>
            </a:r>
            <a:endParaRPr lang="zh-CN" sz="1350" b="1" dirty="0">
              <a:solidFill>
                <a:srgbClr val="003366"/>
              </a:solidFill>
              <a:latin typeface="Arial" panose="020B0704020202020204"/>
              <a:ea typeface="Arial" panose="020B0704020202020204"/>
              <a:cs typeface="Arial" panose="020B0704020202020204"/>
            </a:endParaRPr>
          </a:p>
        </p:txBody>
      </p:sp>
      <p:sp>
        <p:nvSpPr>
          <p:cNvPr id="38" name="Freeform 38"/>
          <p:cNvSpPr/>
          <p:nvPr/>
        </p:nvSpPr>
        <p:spPr>
          <a:xfrm>
            <a:off x="6429375" y="2000250"/>
            <a:ext cx="5558790" cy="809625"/>
          </a:xfrm>
          <a:custGeom>
            <a:avLst/>
            <a:gdLst/>
            <a:ahLst/>
            <a:cxnLst/>
            <a:rect l="l" t="t" r="r" b="b"/>
            <a:pathLst>
              <a:path w="5191125" h="809625">
                <a:moveTo>
                  <a:pt x="76200" y="0"/>
                </a:moveTo>
                <a:lnTo>
                  <a:pt x="5114925" y="0"/>
                </a:lnTo>
                <a:cubicBezTo>
                  <a:pt x="5157009" y="0"/>
                  <a:pt x="5191125" y="34116"/>
                  <a:pt x="5191125" y="76200"/>
                </a:cubicBezTo>
                <a:lnTo>
                  <a:pt x="5191125" y="733425"/>
                </a:lnTo>
                <a:cubicBezTo>
                  <a:pt x="5191125" y="775509"/>
                  <a:pt x="5157009" y="809625"/>
                  <a:pt x="5114925" y="809625"/>
                </a:cubicBezTo>
                <a:lnTo>
                  <a:pt x="76200" y="809625"/>
                </a:lnTo>
                <a:cubicBezTo>
                  <a:pt x="34116" y="809625"/>
                  <a:pt x="0" y="775509"/>
                  <a:pt x="0" y="733425"/>
                </a:cubicBezTo>
                <a:lnTo>
                  <a:pt x="0" y="76200"/>
                </a:lnTo>
                <a:cubicBezTo>
                  <a:pt x="0" y="34116"/>
                  <a:pt x="34116" y="0"/>
                  <a:pt x="76200" y="0"/>
                </a:cubicBezTo>
                <a:close/>
              </a:path>
            </a:pathLst>
          </a:custGeom>
          <a:solidFill>
            <a:srgbClr val="F8FAFC"/>
          </a:solidFill>
          <a:ln w="9525">
            <a:solidFill>
              <a:srgbClr val="E2E8F0"/>
            </a:solidFill>
          </a:ln>
        </p:spPr>
      </p:sp>
      <p:sp>
        <p:nvSpPr>
          <p:cNvPr id="39" name="Freeform 39"/>
          <p:cNvSpPr/>
          <p:nvPr/>
        </p:nvSpPr>
        <p:spPr>
          <a:xfrm>
            <a:off x="6429375" y="2000250"/>
            <a:ext cx="57150" cy="809625"/>
          </a:xfrm>
          <a:custGeom>
            <a:avLst/>
            <a:gdLst/>
            <a:ahLst/>
            <a:cxnLst/>
            <a:rect l="l" t="t" r="r" b="b"/>
            <a:pathLst>
              <a:path w="57150" h="809625">
                <a:moveTo>
                  <a:pt x="28575" y="0"/>
                </a:moveTo>
                <a:lnTo>
                  <a:pt x="28575" y="0"/>
                </a:lnTo>
                <a:cubicBezTo>
                  <a:pt x="44357" y="0"/>
                  <a:pt x="57150" y="12793"/>
                  <a:pt x="57150" y="28575"/>
                </a:cubicBezTo>
                <a:lnTo>
                  <a:pt x="57150" y="781050"/>
                </a:lnTo>
                <a:cubicBezTo>
                  <a:pt x="57150" y="796832"/>
                  <a:pt x="44357" y="809625"/>
                  <a:pt x="28575" y="809625"/>
                </a:cubicBezTo>
                <a:lnTo>
                  <a:pt x="28575" y="809625"/>
                </a:lnTo>
                <a:cubicBezTo>
                  <a:pt x="12793" y="809625"/>
                  <a:pt x="0" y="796832"/>
                  <a:pt x="0" y="781050"/>
                </a:cubicBezTo>
                <a:lnTo>
                  <a:pt x="0" y="28575"/>
                </a:lnTo>
                <a:cubicBezTo>
                  <a:pt x="0" y="12793"/>
                  <a:pt x="12793" y="0"/>
                  <a:pt x="28575" y="0"/>
                </a:cubicBezTo>
                <a:close/>
              </a:path>
            </a:pathLst>
          </a:custGeom>
          <a:solidFill>
            <a:srgbClr val="0066CC"/>
          </a:solidFill>
          <a:ln>
            <a:noFill/>
          </a:ln>
        </p:spPr>
      </p:sp>
      <p:sp>
        <p:nvSpPr>
          <p:cNvPr id="40" name="TextBox 40"/>
          <p:cNvSpPr txBox="1"/>
          <p:nvPr/>
        </p:nvSpPr>
        <p:spPr>
          <a:xfrm>
            <a:off x="6605588" y="2097881"/>
            <a:ext cx="1658904" cy="228600"/>
          </a:xfrm>
          <a:prstGeom prst="rect">
            <a:avLst/>
          </a:prstGeom>
          <a:noFill/>
          <a:ln>
            <a:noFill/>
          </a:ln>
        </p:spPr>
        <p:txBody>
          <a:bodyPr wrap="none" lIns="0" tIns="0" rIns="0" bIns="0" anchor="t" anchorCtr="0">
            <a:spAutoFit/>
          </a:bodyPr>
          <a:lstStyle/>
          <a:p>
            <a:pPr algn="l"/>
            <a:r>
              <a:rPr lang="zh-CN" sz="1125" b="1" dirty="0">
                <a:solidFill>
                  <a:srgbClr val="003366"/>
                </a:solidFill>
                <a:latin typeface="Arial" panose="020B0704020202020204"/>
                <a:ea typeface="Arial" panose="020B0704020202020204"/>
                <a:cs typeface="Arial" panose="020B0704020202020204"/>
              </a:rPr>
              <a:t>Khách hàng (Client)</a:t>
            </a:r>
            <a:endParaRPr lang="zh-CN" sz="1125" b="1" dirty="0">
              <a:solidFill>
                <a:srgbClr val="003366"/>
              </a:solidFill>
              <a:latin typeface="Arial" panose="020B0704020202020204"/>
              <a:ea typeface="Arial" panose="020B0704020202020204"/>
              <a:cs typeface="Arial" panose="020B0704020202020204"/>
            </a:endParaRPr>
          </a:p>
        </p:txBody>
      </p:sp>
      <p:sp>
        <p:nvSpPr>
          <p:cNvPr id="41" name="TextBox 41"/>
          <p:cNvSpPr txBox="1"/>
          <p:nvPr/>
        </p:nvSpPr>
        <p:spPr>
          <a:xfrm>
            <a:off x="6606540" y="2344102"/>
            <a:ext cx="6559486" cy="213360"/>
          </a:xfrm>
          <a:prstGeom prst="rect">
            <a:avLst/>
          </a:prstGeom>
          <a:noFill/>
          <a:ln>
            <a:noFill/>
          </a:ln>
        </p:spPr>
        <p:txBody>
          <a:bodyPr wrap="none" lIns="0" tIns="0" rIns="0" bIns="0" anchor="t" anchorCtr="0">
            <a:spAutoFit/>
          </a:bodyPr>
          <a:lstStyle/>
          <a:p>
            <a:pPr algn="l"/>
            <a:r>
              <a:rPr lang="zh-CN" sz="1050" dirty="0">
                <a:solidFill>
                  <a:srgbClr val="334155"/>
                </a:solidFill>
                <a:latin typeface="Arial" panose="020B0704020202020204"/>
                <a:ea typeface="Arial" panose="020B0704020202020204"/>
                <a:cs typeface="Arial" panose="020B0704020202020204"/>
              </a:rPr>
              <a:t>• Đăng ký/đăng nhập, gợi ý địa chỉ, nhập kích thước/khối lượng kiện hàng, nhận báo giá.</a:t>
            </a:r>
            <a:endParaRPr lang="zh-CN" sz="1050" dirty="0">
              <a:solidFill>
                <a:srgbClr val="334155"/>
              </a:solidFill>
              <a:latin typeface="Arial" panose="020B0704020202020204"/>
              <a:ea typeface="Arial" panose="020B0704020202020204"/>
              <a:cs typeface="Arial" panose="020B0704020202020204"/>
            </a:endParaRPr>
          </a:p>
        </p:txBody>
      </p:sp>
      <p:sp>
        <p:nvSpPr>
          <p:cNvPr id="42" name="TextBox 42"/>
          <p:cNvSpPr txBox="1"/>
          <p:nvPr/>
        </p:nvSpPr>
        <p:spPr>
          <a:xfrm>
            <a:off x="6606540" y="2553652"/>
            <a:ext cx="6137767" cy="213360"/>
          </a:xfrm>
          <a:prstGeom prst="rect">
            <a:avLst/>
          </a:prstGeom>
          <a:noFill/>
          <a:ln>
            <a:noFill/>
          </a:ln>
        </p:spPr>
        <p:txBody>
          <a:bodyPr wrap="none" lIns="0" tIns="0" rIns="0" bIns="0" anchor="t" anchorCtr="0">
            <a:spAutoFit/>
          </a:bodyPr>
          <a:lstStyle/>
          <a:p>
            <a:pPr algn="l"/>
            <a:r>
              <a:rPr lang="zh-CN" sz="1050" dirty="0">
                <a:solidFill>
                  <a:srgbClr val="334155"/>
                </a:solidFill>
                <a:latin typeface="Arial" panose="020B0704020202020204"/>
                <a:ea typeface="Arial" panose="020B0704020202020204"/>
                <a:cs typeface="Arial" panose="020B0704020202020204"/>
              </a:rPr>
              <a:t>• Xem lịch sử đơn, theo dõi hành trình, hủy đơn hợp lệ, đánh giá chất lượng tài xế.</a:t>
            </a:r>
            <a:endParaRPr lang="zh-CN" sz="1050" dirty="0">
              <a:solidFill>
                <a:srgbClr val="334155"/>
              </a:solidFill>
              <a:latin typeface="Arial" panose="020B0704020202020204"/>
              <a:ea typeface="Arial" panose="020B0704020202020204"/>
              <a:cs typeface="Arial" panose="020B0704020202020204"/>
            </a:endParaRPr>
          </a:p>
        </p:txBody>
      </p:sp>
      <p:sp>
        <p:nvSpPr>
          <p:cNvPr id="43" name="Freeform 43"/>
          <p:cNvSpPr/>
          <p:nvPr/>
        </p:nvSpPr>
        <p:spPr>
          <a:xfrm>
            <a:off x="6429375" y="2905125"/>
            <a:ext cx="5410835" cy="809625"/>
          </a:xfrm>
          <a:custGeom>
            <a:avLst/>
            <a:gdLst/>
            <a:ahLst/>
            <a:cxnLst/>
            <a:rect l="l" t="t" r="r" b="b"/>
            <a:pathLst>
              <a:path w="5191125" h="809625">
                <a:moveTo>
                  <a:pt x="76200" y="0"/>
                </a:moveTo>
                <a:lnTo>
                  <a:pt x="5114925" y="0"/>
                </a:lnTo>
                <a:cubicBezTo>
                  <a:pt x="5157009" y="0"/>
                  <a:pt x="5191125" y="34116"/>
                  <a:pt x="5191125" y="76200"/>
                </a:cubicBezTo>
                <a:lnTo>
                  <a:pt x="5191125" y="733425"/>
                </a:lnTo>
                <a:cubicBezTo>
                  <a:pt x="5191125" y="775509"/>
                  <a:pt x="5157009" y="809625"/>
                  <a:pt x="5114925" y="809625"/>
                </a:cubicBezTo>
                <a:lnTo>
                  <a:pt x="76200" y="809625"/>
                </a:lnTo>
                <a:cubicBezTo>
                  <a:pt x="34116" y="809625"/>
                  <a:pt x="0" y="775509"/>
                  <a:pt x="0" y="733425"/>
                </a:cubicBezTo>
                <a:lnTo>
                  <a:pt x="0" y="76200"/>
                </a:lnTo>
                <a:cubicBezTo>
                  <a:pt x="0" y="34116"/>
                  <a:pt x="34116" y="0"/>
                  <a:pt x="76200" y="0"/>
                </a:cubicBezTo>
                <a:close/>
              </a:path>
            </a:pathLst>
          </a:custGeom>
          <a:solidFill>
            <a:srgbClr val="F8FAFC"/>
          </a:solidFill>
          <a:ln w="9525">
            <a:solidFill>
              <a:srgbClr val="E2E8F0"/>
            </a:solidFill>
          </a:ln>
        </p:spPr>
      </p:sp>
      <p:sp>
        <p:nvSpPr>
          <p:cNvPr id="44" name="Freeform 44"/>
          <p:cNvSpPr/>
          <p:nvPr/>
        </p:nvSpPr>
        <p:spPr>
          <a:xfrm>
            <a:off x="6429375" y="2905125"/>
            <a:ext cx="57150" cy="809625"/>
          </a:xfrm>
          <a:custGeom>
            <a:avLst/>
            <a:gdLst/>
            <a:ahLst/>
            <a:cxnLst/>
            <a:rect l="l" t="t" r="r" b="b"/>
            <a:pathLst>
              <a:path w="57150" h="809625">
                <a:moveTo>
                  <a:pt x="28575" y="0"/>
                </a:moveTo>
                <a:lnTo>
                  <a:pt x="28575" y="0"/>
                </a:lnTo>
                <a:cubicBezTo>
                  <a:pt x="44357" y="0"/>
                  <a:pt x="57150" y="12793"/>
                  <a:pt x="57150" y="28575"/>
                </a:cubicBezTo>
                <a:lnTo>
                  <a:pt x="57150" y="781050"/>
                </a:lnTo>
                <a:cubicBezTo>
                  <a:pt x="57150" y="796832"/>
                  <a:pt x="44357" y="809625"/>
                  <a:pt x="28575" y="809625"/>
                </a:cubicBezTo>
                <a:lnTo>
                  <a:pt x="28575" y="809625"/>
                </a:lnTo>
                <a:cubicBezTo>
                  <a:pt x="12793" y="809625"/>
                  <a:pt x="0" y="796832"/>
                  <a:pt x="0" y="781050"/>
                </a:cubicBezTo>
                <a:lnTo>
                  <a:pt x="0" y="28575"/>
                </a:lnTo>
                <a:cubicBezTo>
                  <a:pt x="0" y="12793"/>
                  <a:pt x="12793" y="0"/>
                  <a:pt x="28575" y="0"/>
                </a:cubicBezTo>
                <a:close/>
              </a:path>
            </a:pathLst>
          </a:custGeom>
          <a:solidFill>
            <a:srgbClr val="E65100"/>
          </a:solidFill>
          <a:ln>
            <a:noFill/>
          </a:ln>
        </p:spPr>
      </p:sp>
      <p:sp>
        <p:nvSpPr>
          <p:cNvPr id="45" name="TextBox 45"/>
          <p:cNvSpPr txBox="1"/>
          <p:nvPr/>
        </p:nvSpPr>
        <p:spPr>
          <a:xfrm>
            <a:off x="6605588" y="3002756"/>
            <a:ext cx="2098834" cy="228600"/>
          </a:xfrm>
          <a:prstGeom prst="rect">
            <a:avLst/>
          </a:prstGeom>
          <a:noFill/>
          <a:ln>
            <a:noFill/>
          </a:ln>
        </p:spPr>
        <p:txBody>
          <a:bodyPr wrap="none" lIns="0" tIns="0" rIns="0" bIns="0" anchor="t" anchorCtr="0">
            <a:spAutoFit/>
          </a:bodyPr>
          <a:lstStyle/>
          <a:p>
            <a:pPr algn="l"/>
            <a:r>
              <a:rPr lang="zh-CN" sz="1125" b="1" dirty="0">
                <a:solidFill>
                  <a:srgbClr val="C2410C"/>
                </a:solidFill>
                <a:latin typeface="Arial" panose="020B0704020202020204"/>
                <a:ea typeface="Arial" panose="020B0704020202020204"/>
                <a:cs typeface="Arial" panose="020B0704020202020204"/>
              </a:rPr>
              <a:t>Tài xế (Driver / Shipper)</a:t>
            </a:r>
            <a:endParaRPr lang="zh-CN" sz="1125" b="1" dirty="0">
              <a:solidFill>
                <a:srgbClr val="C2410C"/>
              </a:solidFill>
              <a:latin typeface="Arial" panose="020B0704020202020204"/>
              <a:ea typeface="Arial" panose="020B0704020202020204"/>
              <a:cs typeface="Arial" panose="020B0704020202020204"/>
            </a:endParaRPr>
          </a:p>
        </p:txBody>
      </p:sp>
      <p:sp>
        <p:nvSpPr>
          <p:cNvPr id="46" name="TextBox 46"/>
          <p:cNvSpPr txBox="1"/>
          <p:nvPr/>
        </p:nvSpPr>
        <p:spPr>
          <a:xfrm>
            <a:off x="6606540" y="3248978"/>
            <a:ext cx="6160770" cy="213360"/>
          </a:xfrm>
          <a:prstGeom prst="rect">
            <a:avLst/>
          </a:prstGeom>
          <a:noFill/>
          <a:ln>
            <a:noFill/>
          </a:ln>
        </p:spPr>
        <p:txBody>
          <a:bodyPr wrap="none" lIns="0" tIns="0" rIns="0" bIns="0" anchor="t" anchorCtr="0">
            <a:spAutoFit/>
          </a:bodyPr>
          <a:lstStyle/>
          <a:p>
            <a:pPr algn="l"/>
            <a:r>
              <a:rPr lang="zh-CN" sz="1050" dirty="0">
                <a:solidFill>
                  <a:srgbClr val="334155"/>
                </a:solidFill>
                <a:latin typeface="Arial" panose="020B0704020202020204"/>
                <a:ea typeface="Arial" panose="020B0704020202020204"/>
                <a:cs typeface="Arial" panose="020B0704020202020204"/>
              </a:rPr>
              <a:t>• Chuyển đổi trạng thái Sẵn sàng / Bận, xem danh sách đơn chờ nhận trong khu vực.</a:t>
            </a:r>
            <a:endParaRPr lang="zh-CN" sz="1050" dirty="0">
              <a:solidFill>
                <a:srgbClr val="334155"/>
              </a:solidFill>
              <a:latin typeface="Arial" panose="020B0704020202020204"/>
              <a:ea typeface="Arial" panose="020B0704020202020204"/>
              <a:cs typeface="Arial" panose="020B0704020202020204"/>
            </a:endParaRPr>
          </a:p>
        </p:txBody>
      </p:sp>
      <p:sp>
        <p:nvSpPr>
          <p:cNvPr id="47" name="TextBox 47"/>
          <p:cNvSpPr txBox="1"/>
          <p:nvPr/>
        </p:nvSpPr>
        <p:spPr>
          <a:xfrm>
            <a:off x="6606540" y="3458528"/>
            <a:ext cx="6314122" cy="213360"/>
          </a:xfrm>
          <a:prstGeom prst="rect">
            <a:avLst/>
          </a:prstGeom>
          <a:noFill/>
          <a:ln>
            <a:noFill/>
          </a:ln>
        </p:spPr>
        <p:txBody>
          <a:bodyPr wrap="none" lIns="0" tIns="0" rIns="0" bIns="0" anchor="t" anchorCtr="0">
            <a:spAutoFit/>
          </a:bodyPr>
          <a:lstStyle/>
          <a:p>
            <a:pPr algn="l"/>
            <a:r>
              <a:rPr lang="zh-CN" sz="1050" dirty="0">
                <a:solidFill>
                  <a:srgbClr val="334155"/>
                </a:solidFill>
                <a:latin typeface="Arial" panose="020B0704020202020204"/>
                <a:ea typeface="Arial" panose="020B0704020202020204"/>
                <a:cs typeface="Arial" panose="020B0704020202020204"/>
              </a:rPr>
              <a:t>• Nhận đơn độc quyền, mở Maps dẫn đường, cập nhật tiến trình và chụp ảnh xác nhận.</a:t>
            </a:r>
            <a:endParaRPr lang="zh-CN" sz="1050" dirty="0">
              <a:solidFill>
                <a:srgbClr val="334155"/>
              </a:solidFill>
              <a:latin typeface="Arial" panose="020B0704020202020204"/>
              <a:ea typeface="Arial" panose="020B0704020202020204"/>
              <a:cs typeface="Arial" panose="020B0704020202020204"/>
            </a:endParaRPr>
          </a:p>
        </p:txBody>
      </p:sp>
      <p:sp>
        <p:nvSpPr>
          <p:cNvPr id="48" name="Freeform 48"/>
          <p:cNvSpPr/>
          <p:nvPr/>
        </p:nvSpPr>
        <p:spPr>
          <a:xfrm>
            <a:off x="6429375" y="3810000"/>
            <a:ext cx="5191125" cy="809625"/>
          </a:xfrm>
          <a:custGeom>
            <a:avLst/>
            <a:gdLst/>
            <a:ahLst/>
            <a:cxnLst/>
            <a:rect l="l" t="t" r="r" b="b"/>
            <a:pathLst>
              <a:path w="5191125" h="809625">
                <a:moveTo>
                  <a:pt x="76200" y="0"/>
                </a:moveTo>
                <a:lnTo>
                  <a:pt x="5114925" y="0"/>
                </a:lnTo>
                <a:cubicBezTo>
                  <a:pt x="5157009" y="0"/>
                  <a:pt x="5191125" y="34116"/>
                  <a:pt x="5191125" y="76200"/>
                </a:cubicBezTo>
                <a:lnTo>
                  <a:pt x="5191125" y="733425"/>
                </a:lnTo>
                <a:cubicBezTo>
                  <a:pt x="5191125" y="775509"/>
                  <a:pt x="5157009" y="809625"/>
                  <a:pt x="5114925" y="809625"/>
                </a:cubicBezTo>
                <a:lnTo>
                  <a:pt x="76200" y="809625"/>
                </a:lnTo>
                <a:cubicBezTo>
                  <a:pt x="34116" y="809625"/>
                  <a:pt x="0" y="775509"/>
                  <a:pt x="0" y="733425"/>
                </a:cubicBezTo>
                <a:lnTo>
                  <a:pt x="0" y="76200"/>
                </a:lnTo>
                <a:cubicBezTo>
                  <a:pt x="0" y="34116"/>
                  <a:pt x="34116" y="0"/>
                  <a:pt x="76200" y="0"/>
                </a:cubicBezTo>
                <a:close/>
              </a:path>
            </a:pathLst>
          </a:custGeom>
          <a:solidFill>
            <a:srgbClr val="F8FAFC"/>
          </a:solidFill>
          <a:ln w="9525">
            <a:solidFill>
              <a:srgbClr val="E2E8F0"/>
            </a:solidFill>
          </a:ln>
        </p:spPr>
      </p:sp>
      <p:sp>
        <p:nvSpPr>
          <p:cNvPr id="49" name="Freeform 49"/>
          <p:cNvSpPr/>
          <p:nvPr/>
        </p:nvSpPr>
        <p:spPr>
          <a:xfrm>
            <a:off x="6429375" y="3810000"/>
            <a:ext cx="76200" cy="809625"/>
          </a:xfrm>
          <a:custGeom>
            <a:avLst/>
            <a:gdLst/>
            <a:ahLst/>
            <a:cxnLst/>
            <a:rect l="l" t="t" r="r" b="b"/>
            <a:pathLst>
              <a:path w="57150" h="809625">
                <a:moveTo>
                  <a:pt x="28575" y="0"/>
                </a:moveTo>
                <a:lnTo>
                  <a:pt x="28575" y="0"/>
                </a:lnTo>
                <a:cubicBezTo>
                  <a:pt x="44357" y="0"/>
                  <a:pt x="57150" y="12793"/>
                  <a:pt x="57150" y="28575"/>
                </a:cubicBezTo>
                <a:lnTo>
                  <a:pt x="57150" y="781050"/>
                </a:lnTo>
                <a:cubicBezTo>
                  <a:pt x="57150" y="796832"/>
                  <a:pt x="44357" y="809625"/>
                  <a:pt x="28575" y="809625"/>
                </a:cubicBezTo>
                <a:lnTo>
                  <a:pt x="28575" y="809625"/>
                </a:lnTo>
                <a:cubicBezTo>
                  <a:pt x="12793" y="809625"/>
                  <a:pt x="0" y="796832"/>
                  <a:pt x="0" y="781050"/>
                </a:cubicBezTo>
                <a:lnTo>
                  <a:pt x="0" y="28575"/>
                </a:lnTo>
                <a:cubicBezTo>
                  <a:pt x="0" y="12793"/>
                  <a:pt x="12793" y="0"/>
                  <a:pt x="28575" y="0"/>
                </a:cubicBezTo>
                <a:close/>
              </a:path>
            </a:pathLst>
          </a:custGeom>
          <a:solidFill>
            <a:srgbClr val="7C3AED"/>
          </a:solidFill>
          <a:ln>
            <a:noFill/>
          </a:ln>
        </p:spPr>
      </p:sp>
      <p:sp>
        <p:nvSpPr>
          <p:cNvPr id="50" name="TextBox 50"/>
          <p:cNvSpPr txBox="1"/>
          <p:nvPr/>
        </p:nvSpPr>
        <p:spPr>
          <a:xfrm>
            <a:off x="6605588" y="3907631"/>
            <a:ext cx="1874556" cy="228600"/>
          </a:xfrm>
          <a:prstGeom prst="rect">
            <a:avLst/>
          </a:prstGeom>
          <a:noFill/>
          <a:ln>
            <a:noFill/>
          </a:ln>
        </p:spPr>
        <p:txBody>
          <a:bodyPr wrap="none" lIns="0" tIns="0" rIns="0" bIns="0" anchor="t" anchorCtr="0">
            <a:spAutoFit/>
          </a:bodyPr>
          <a:lstStyle/>
          <a:p>
            <a:pPr algn="l"/>
            <a:r>
              <a:rPr lang="zh-CN" sz="1125" b="1" dirty="0">
                <a:solidFill>
                  <a:srgbClr val="6D28D9"/>
                </a:solidFill>
                <a:latin typeface="Arial" panose="020B0704020202020204"/>
                <a:ea typeface="Arial" panose="020B0704020202020204"/>
                <a:cs typeface="Arial" panose="020B0704020202020204"/>
              </a:rPr>
              <a:t>Quản trị viên (Admin)</a:t>
            </a:r>
            <a:endParaRPr lang="zh-CN" sz="1125" b="1" dirty="0">
              <a:solidFill>
                <a:srgbClr val="6D28D9"/>
              </a:solidFill>
              <a:latin typeface="Arial" panose="020B0704020202020204"/>
              <a:ea typeface="Arial" panose="020B0704020202020204"/>
              <a:cs typeface="Arial" panose="020B0704020202020204"/>
            </a:endParaRPr>
          </a:p>
        </p:txBody>
      </p:sp>
      <p:sp>
        <p:nvSpPr>
          <p:cNvPr id="51" name="TextBox 51"/>
          <p:cNvSpPr txBox="1"/>
          <p:nvPr/>
        </p:nvSpPr>
        <p:spPr>
          <a:xfrm>
            <a:off x="6606540" y="4153852"/>
            <a:ext cx="5777389" cy="213360"/>
          </a:xfrm>
          <a:prstGeom prst="rect">
            <a:avLst/>
          </a:prstGeom>
          <a:noFill/>
          <a:ln>
            <a:noFill/>
          </a:ln>
        </p:spPr>
        <p:txBody>
          <a:bodyPr wrap="none" lIns="0" tIns="0" rIns="0" bIns="0" anchor="t" anchorCtr="0">
            <a:spAutoFit/>
          </a:bodyPr>
          <a:lstStyle/>
          <a:p>
            <a:pPr algn="l"/>
            <a:r>
              <a:rPr lang="zh-CN" sz="1050" dirty="0">
                <a:solidFill>
                  <a:srgbClr val="334155"/>
                </a:solidFill>
                <a:latin typeface="Arial" panose="020B0704020202020204"/>
                <a:ea typeface="Arial" panose="020B0704020202020204"/>
                <a:cs typeface="Arial" panose="020B0704020202020204"/>
              </a:rPr>
              <a:t>• Dashboard tổng quan: số đơn hàng, doanh thu, phân bổ trạng thái hệ thống.</a:t>
            </a:r>
            <a:endParaRPr lang="zh-CN" sz="1050" dirty="0">
              <a:solidFill>
                <a:srgbClr val="334155"/>
              </a:solidFill>
              <a:latin typeface="Arial" panose="020B0704020202020204"/>
              <a:ea typeface="Arial" panose="020B0704020202020204"/>
              <a:cs typeface="Arial" panose="020B0704020202020204"/>
            </a:endParaRPr>
          </a:p>
        </p:txBody>
      </p:sp>
      <p:sp>
        <p:nvSpPr>
          <p:cNvPr id="52" name="TextBox 52"/>
          <p:cNvSpPr txBox="1"/>
          <p:nvPr/>
        </p:nvSpPr>
        <p:spPr>
          <a:xfrm>
            <a:off x="6606540" y="4363402"/>
            <a:ext cx="5746718" cy="213360"/>
          </a:xfrm>
          <a:prstGeom prst="rect">
            <a:avLst/>
          </a:prstGeom>
          <a:noFill/>
          <a:ln>
            <a:noFill/>
          </a:ln>
        </p:spPr>
        <p:txBody>
          <a:bodyPr wrap="none" lIns="0" tIns="0" rIns="0" bIns="0" anchor="t" anchorCtr="0">
            <a:spAutoFit/>
          </a:bodyPr>
          <a:lstStyle/>
          <a:p>
            <a:pPr algn="l"/>
            <a:r>
              <a:rPr lang="zh-CN" sz="1050" dirty="0">
                <a:solidFill>
                  <a:srgbClr val="334155"/>
                </a:solidFill>
                <a:latin typeface="Arial" panose="020B0704020202020204"/>
                <a:ea typeface="Arial" panose="020B0704020202020204"/>
                <a:cs typeface="Arial" panose="020B0704020202020204"/>
              </a:rPr>
              <a:t>• Xem danh sách &amp; lọc theo điều kiện: Đơn hàng, Người dùng, Tài xế, Cảnh báo.</a:t>
            </a:r>
            <a:endParaRPr lang="zh-CN" sz="1050" dirty="0">
              <a:solidFill>
                <a:srgbClr val="334155"/>
              </a:solidFill>
              <a:latin typeface="Arial" panose="020B0704020202020204"/>
              <a:ea typeface="Arial" panose="020B0704020202020204"/>
              <a:cs typeface="Arial" panose="020B0704020202020204"/>
            </a:endParaRPr>
          </a:p>
        </p:txBody>
      </p:sp>
      <p:sp>
        <p:nvSpPr>
          <p:cNvPr id="53" name="Freeform 53"/>
          <p:cNvSpPr/>
          <p:nvPr/>
        </p:nvSpPr>
        <p:spPr>
          <a:xfrm>
            <a:off x="6429375" y="4714875"/>
            <a:ext cx="5762625" cy="1238250"/>
          </a:xfrm>
          <a:custGeom>
            <a:avLst/>
            <a:gdLst/>
            <a:ahLst/>
            <a:cxnLst/>
            <a:rect l="l" t="t" r="r" b="b"/>
            <a:pathLst>
              <a:path w="5191125" h="1238250">
                <a:moveTo>
                  <a:pt x="76200" y="0"/>
                </a:moveTo>
                <a:lnTo>
                  <a:pt x="5114925" y="0"/>
                </a:lnTo>
                <a:cubicBezTo>
                  <a:pt x="5157009" y="0"/>
                  <a:pt x="5191125" y="34116"/>
                  <a:pt x="5191125" y="76200"/>
                </a:cubicBezTo>
                <a:lnTo>
                  <a:pt x="5191125" y="1162050"/>
                </a:lnTo>
                <a:cubicBezTo>
                  <a:pt x="5191125" y="1204134"/>
                  <a:pt x="5157009" y="1238250"/>
                  <a:pt x="5114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FEF2F2"/>
          </a:solidFill>
          <a:ln w="9525">
            <a:solidFill>
              <a:srgbClr val="FECACA"/>
            </a:solidFill>
          </a:ln>
        </p:spPr>
      </p:sp>
      <p:sp>
        <p:nvSpPr>
          <p:cNvPr id="54" name="TextBox 54"/>
          <p:cNvSpPr txBox="1"/>
          <p:nvPr/>
        </p:nvSpPr>
        <p:spPr>
          <a:xfrm>
            <a:off x="6605588" y="4831556"/>
            <a:ext cx="3263354" cy="228600"/>
          </a:xfrm>
          <a:prstGeom prst="rect">
            <a:avLst/>
          </a:prstGeom>
          <a:noFill/>
          <a:ln>
            <a:noFill/>
          </a:ln>
        </p:spPr>
        <p:txBody>
          <a:bodyPr wrap="none" lIns="0" tIns="0" rIns="0" bIns="0" anchor="t" anchorCtr="0">
            <a:spAutoFit/>
          </a:bodyPr>
          <a:lstStyle/>
          <a:p>
            <a:pPr algn="l"/>
            <a:r>
              <a:rPr lang="zh-CN" sz="1125" b="1" dirty="0">
                <a:solidFill>
                  <a:srgbClr val="B91C1C"/>
                </a:solidFill>
                <a:latin typeface="Arial" panose="020B0704020202020204"/>
                <a:ea typeface="Arial" panose="020B0704020202020204"/>
                <a:cs typeface="Arial" panose="020B0704020202020204"/>
              </a:rPr>
              <a:t>Giới hạn kỹ thuật của phiên bản hiện tại</a:t>
            </a:r>
            <a:endParaRPr lang="zh-CN" sz="1125" b="1" dirty="0">
              <a:solidFill>
                <a:srgbClr val="B91C1C"/>
              </a:solidFill>
              <a:latin typeface="Arial" panose="020B0704020202020204"/>
              <a:ea typeface="Arial" panose="020B0704020202020204"/>
              <a:cs typeface="Arial" panose="020B0704020202020204"/>
            </a:endParaRPr>
          </a:p>
        </p:txBody>
      </p:sp>
      <p:sp>
        <p:nvSpPr>
          <p:cNvPr id="55" name="TextBox 55"/>
          <p:cNvSpPr txBox="1"/>
          <p:nvPr/>
        </p:nvSpPr>
        <p:spPr>
          <a:xfrm>
            <a:off x="6606540" y="5096828"/>
            <a:ext cx="6260449" cy="213360"/>
          </a:xfrm>
          <a:prstGeom prst="rect">
            <a:avLst/>
          </a:prstGeom>
          <a:noFill/>
          <a:ln>
            <a:noFill/>
          </a:ln>
        </p:spPr>
        <p:txBody>
          <a:bodyPr wrap="none" lIns="0" tIns="0" rIns="0" bIns="0" anchor="t" anchorCtr="0">
            <a:spAutoFit/>
          </a:bodyPr>
          <a:lstStyle/>
          <a:p>
            <a:pPr algn="l"/>
            <a:r>
              <a:rPr lang="zh-CN" sz="1050" dirty="0">
                <a:solidFill>
                  <a:srgbClr val="7F1D1D"/>
                </a:solidFill>
                <a:latin typeface="Arial" panose="020B0704020202020204"/>
                <a:ea typeface="Arial" panose="020B0704020202020204"/>
                <a:cs typeface="Arial" panose="020B0704020202020204"/>
              </a:rPr>
              <a:t>• Phạm vi Admin hiện tại là chỉ đọc &amp; lọc (chưa có chỉnh sửa cước phí hay tài khoản).</a:t>
            </a:r>
            <a:endParaRPr lang="zh-CN" sz="1050" dirty="0">
              <a:solidFill>
                <a:srgbClr val="7F1D1D"/>
              </a:solidFill>
              <a:latin typeface="Arial" panose="020B0704020202020204"/>
              <a:ea typeface="Arial" panose="020B0704020202020204"/>
              <a:cs typeface="Arial" panose="020B0704020202020204"/>
            </a:endParaRPr>
          </a:p>
        </p:txBody>
      </p:sp>
      <p:sp>
        <p:nvSpPr>
          <p:cNvPr id="56" name="TextBox 56"/>
          <p:cNvSpPr txBox="1"/>
          <p:nvPr/>
        </p:nvSpPr>
        <p:spPr>
          <a:xfrm>
            <a:off x="6606540" y="5334952"/>
            <a:ext cx="6620828" cy="213360"/>
          </a:xfrm>
          <a:prstGeom prst="rect">
            <a:avLst/>
          </a:prstGeom>
          <a:noFill/>
          <a:ln>
            <a:noFill/>
          </a:ln>
        </p:spPr>
        <p:txBody>
          <a:bodyPr wrap="none" lIns="0" tIns="0" rIns="0" bIns="0" anchor="t" anchorCtr="0">
            <a:spAutoFit/>
          </a:bodyPr>
          <a:lstStyle/>
          <a:p>
            <a:pPr algn="l"/>
            <a:r>
              <a:rPr lang="zh-CN" sz="1050" dirty="0">
                <a:solidFill>
                  <a:srgbClr val="7F1D1D"/>
                </a:solidFill>
                <a:latin typeface="Arial" panose="020B0704020202020204"/>
                <a:ea typeface="Arial" panose="020B0704020202020204"/>
                <a:cs typeface="Arial" panose="020B0704020202020204"/>
              </a:rPr>
              <a:t>• Bản đồ dẫn đường mở ngoài qua Google Maps Intent (chưa nhúng GPS tracking trực tiếp).</a:t>
            </a:r>
            <a:endParaRPr lang="zh-CN" sz="1050" dirty="0">
              <a:solidFill>
                <a:srgbClr val="7F1D1D"/>
              </a:solidFill>
              <a:latin typeface="Arial" panose="020B0704020202020204"/>
              <a:ea typeface="Arial" panose="020B0704020202020204"/>
              <a:cs typeface="Arial" panose="020B0704020202020204"/>
            </a:endParaRPr>
          </a:p>
        </p:txBody>
      </p:sp>
      <p:sp>
        <p:nvSpPr>
          <p:cNvPr id="57" name="TextBox 57"/>
          <p:cNvSpPr txBox="1"/>
          <p:nvPr/>
        </p:nvSpPr>
        <p:spPr>
          <a:xfrm>
            <a:off x="6606540" y="5573078"/>
            <a:ext cx="6551819" cy="213360"/>
          </a:xfrm>
          <a:prstGeom prst="rect">
            <a:avLst/>
          </a:prstGeom>
          <a:noFill/>
          <a:ln>
            <a:noFill/>
          </a:ln>
        </p:spPr>
        <p:txBody>
          <a:bodyPr wrap="none" lIns="0" tIns="0" rIns="0" bIns="0" anchor="t" anchorCtr="0">
            <a:spAutoFit/>
          </a:bodyPr>
          <a:lstStyle/>
          <a:p>
            <a:pPr algn="l"/>
            <a:r>
              <a:rPr lang="zh-CN" sz="1050" dirty="0">
                <a:solidFill>
                  <a:srgbClr val="7F1D1D"/>
                </a:solidFill>
                <a:latin typeface="Arial" panose="020B0704020202020204"/>
                <a:ea typeface="Arial" panose="020B0704020202020204"/>
                <a:cs typeface="Arial" panose="020B0704020202020204"/>
              </a:rPr>
              <a:t>• Yêu cầu kết nối mạng online để đồng bộ (chưa hỗ trợ offline mode &amp; Push Notification).</a:t>
            </a:r>
            <a:endParaRPr lang="zh-CN" sz="1050" dirty="0">
              <a:solidFill>
                <a:srgbClr val="7F1D1D"/>
              </a:solidFill>
              <a:latin typeface="Arial" panose="020B0704020202020204"/>
              <a:ea typeface="Arial" panose="020B0704020202020204"/>
              <a:cs typeface="Arial" panose="020B0704020202020204"/>
            </a:endParaRPr>
          </a:p>
        </p:txBody>
      </p:sp>
      <p:sp>
        <p:nvSpPr>
          <p:cNvPr id="58" name="Line 58"/>
          <p:cNvSpPr/>
          <p:nvPr/>
        </p:nvSpPr>
        <p:spPr>
          <a:xfrm>
            <a:off x="381000" y="6334125"/>
            <a:ext cx="11430000" cy="9525"/>
          </a:xfrm>
          <a:custGeom>
            <a:avLst/>
            <a:gdLst/>
            <a:ahLst/>
            <a:cxnLst/>
            <a:rect l="l" t="t" r="r" b="b"/>
            <a:pathLst>
              <a:path w="11430000" h="9525">
                <a:moveTo>
                  <a:pt x="0" y="0"/>
                </a:moveTo>
                <a:lnTo>
                  <a:pt x="11430000" y="0"/>
                </a:lnTo>
              </a:path>
            </a:pathLst>
          </a:custGeom>
          <a:noFill/>
          <a:ln w="9525">
            <a:solidFill>
              <a:srgbClr val="CBD5E1"/>
            </a:solidFill>
          </a:ln>
        </p:spPr>
      </p:sp>
      <p:sp>
        <p:nvSpPr>
          <p:cNvPr id="59" name="TextBox 59"/>
          <p:cNvSpPr txBox="1"/>
          <p:nvPr/>
        </p:nvSpPr>
        <p:spPr>
          <a:xfrm>
            <a:off x="368618" y="6514624"/>
            <a:ext cx="3563374"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panose="020B0704020202020204"/>
                <a:ea typeface="Arial" panose="020B0704020202020204"/>
                <a:cs typeface="Arial" panose="020B0704020202020204"/>
              </a:rPr>
              <a:t>Báo cáo Đồ án Lập trình Di động (MOB402) • Nhóm 10</a:t>
            </a:r>
            <a:endParaRPr lang="zh-CN" sz="975" dirty="0">
              <a:solidFill>
                <a:srgbClr val="64748B"/>
              </a:solidFill>
              <a:latin typeface="Arial" panose="020B0704020202020204"/>
              <a:ea typeface="Arial" panose="020B0704020202020204"/>
              <a:cs typeface="Arial" panose="020B0704020202020204"/>
            </a:endParaRPr>
          </a:p>
        </p:txBody>
      </p:sp>
      <p:sp>
        <p:nvSpPr>
          <p:cNvPr id="60" name="TextBox 60"/>
          <p:cNvSpPr txBox="1"/>
          <p:nvPr/>
        </p:nvSpPr>
        <p:spPr>
          <a:xfrm>
            <a:off x="4819829" y="6514624"/>
            <a:ext cx="2552343" cy="198120"/>
          </a:xfrm>
          <a:prstGeom prst="rect">
            <a:avLst/>
          </a:prstGeom>
          <a:noFill/>
          <a:ln>
            <a:noFill/>
          </a:ln>
        </p:spPr>
        <p:txBody>
          <a:bodyPr wrap="none" lIns="0" tIns="0" rIns="0" bIns="0" anchor="t" anchorCtr="0">
            <a:spAutoFit/>
          </a:bodyPr>
          <a:lstStyle/>
          <a:p>
            <a:pPr algn="ctr"/>
            <a:r>
              <a:rPr lang="zh-CN" sz="975" dirty="0">
                <a:solidFill>
                  <a:srgbClr val="94A3B8"/>
                </a:solidFill>
                <a:latin typeface="Arial" panose="020B0704020202020204"/>
                <a:ea typeface="Arial" panose="020B0704020202020204"/>
                <a:cs typeface="Arial" panose="020B0704020202020204"/>
              </a:rPr>
              <a:t>Lý do chọn đề tài, Mục tiêu &amp; Phạm vi</a:t>
            </a:r>
            <a:endParaRPr lang="zh-CN" sz="975" dirty="0">
              <a:solidFill>
                <a:srgbClr val="94A3B8"/>
              </a:solidFill>
              <a:latin typeface="Arial" panose="020B0704020202020204"/>
              <a:ea typeface="Arial" panose="020B0704020202020204"/>
              <a:cs typeface="Arial" panose="020B0704020202020204"/>
            </a:endParaRPr>
          </a:p>
        </p:txBody>
      </p:sp>
      <p:sp>
        <p:nvSpPr>
          <p:cNvPr id="61" name="TextBox 61"/>
          <p:cNvSpPr txBox="1"/>
          <p:nvPr/>
        </p:nvSpPr>
        <p:spPr>
          <a:xfrm>
            <a:off x="11298503" y="6506528"/>
            <a:ext cx="525832" cy="213360"/>
          </a:xfrm>
          <a:prstGeom prst="rect">
            <a:avLst/>
          </a:prstGeom>
          <a:noFill/>
          <a:ln>
            <a:noFill/>
          </a:ln>
        </p:spPr>
        <p:txBody>
          <a:bodyPr wrap="none" lIns="0" tIns="0" rIns="0" bIns="0" anchor="t" anchorCtr="0">
            <a:spAutoFit/>
          </a:bodyPr>
          <a:lstStyle/>
          <a:p>
            <a:pPr algn="r"/>
            <a:r>
              <a:rPr lang="zh-CN" sz="1050" b="1" dirty="0">
                <a:solidFill>
                  <a:srgbClr val="003366"/>
                </a:solidFill>
                <a:latin typeface="Arial" panose="020B0704020202020204"/>
                <a:ea typeface="Arial" panose="020B0704020202020204"/>
                <a:cs typeface="Arial" panose="020B0704020202020204"/>
              </a:rPr>
              <a:t>04 / 14</a:t>
            </a:r>
            <a:endParaRPr lang="zh-CN" sz="1050" b="1" dirty="0">
              <a:solidFill>
                <a:srgbClr val="003366"/>
              </a:solidFill>
              <a:latin typeface="Arial" panose="020B0704020202020204"/>
              <a:ea typeface="Arial" panose="020B0704020202020204"/>
              <a:cs typeface="Arial" panose="020B070402020202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640945" cy="6858000"/>
          </a:xfrm>
          <a:prstGeom prst="rect">
            <a:avLst/>
          </a:prstGeom>
          <a:solidFill>
            <a:srgbClr val="F8FAFC"/>
          </a:solidFill>
          <a:ln>
            <a:noFill/>
          </a:ln>
        </p:spPr>
      </p:sp>
      <p:sp>
        <p:nvSpPr>
          <p:cNvPr id="4" name="Rectangle 4"/>
          <p:cNvSpPr/>
          <p:nvPr/>
        </p:nvSpPr>
        <p:spPr>
          <a:xfrm>
            <a:off x="0" y="0"/>
            <a:ext cx="12192000" cy="666750"/>
          </a:xfrm>
          <a:prstGeom prst="rect">
            <a:avLst/>
          </a:prstGeom>
          <a:solidFill>
            <a:srgbClr val="003366"/>
          </a:solidFill>
          <a:ln>
            <a:noFill/>
          </a:ln>
        </p:spPr>
      </p:sp>
      <p:sp>
        <p:nvSpPr>
          <p:cNvPr id="5" name="Rectangle 5"/>
          <p:cNvSpPr/>
          <p:nvPr/>
        </p:nvSpPr>
        <p:spPr>
          <a:xfrm>
            <a:off x="0" y="0"/>
            <a:ext cx="57150" cy="666750"/>
          </a:xfrm>
          <a:prstGeom prst="rect">
            <a:avLst/>
          </a:prstGeom>
          <a:solidFill>
            <a:srgbClr val="E65100"/>
          </a:solidFill>
          <a:ln>
            <a:noFill/>
          </a:ln>
        </p:spPr>
      </p:sp>
      <p:sp>
        <p:nvSpPr>
          <p:cNvPr id="6" name="TextBox 6"/>
          <p:cNvSpPr txBox="1"/>
          <p:nvPr/>
        </p:nvSpPr>
        <p:spPr>
          <a:xfrm>
            <a:off x="356235" y="227648"/>
            <a:ext cx="6703112" cy="396240"/>
          </a:xfrm>
          <a:prstGeom prst="rect">
            <a:avLst/>
          </a:prstGeom>
          <a:noFill/>
          <a:ln>
            <a:noFill/>
          </a:ln>
        </p:spPr>
        <p:txBody>
          <a:bodyPr wrap="none" lIns="0" tIns="0" rIns="0" bIns="0" anchor="t" anchorCtr="0">
            <a:spAutoFit/>
          </a:bodyPr>
          <a:lstStyle/>
          <a:p>
            <a:pPr algn="l"/>
            <a:r>
              <a:rPr lang="zh-CN" sz="1950" b="1" dirty="0">
                <a:solidFill>
                  <a:srgbClr val="FFFFFF"/>
                </a:solidFill>
                <a:latin typeface="Arial" panose="020B0704020202020204"/>
                <a:ea typeface="Arial" panose="020B0704020202020204"/>
                <a:cs typeface="Arial" panose="020B0704020202020204"/>
              </a:rPr>
              <a:t>02. CƠ SỞ LÝ THUYẾT &amp; STACK CÔNG NGHỆ SỬ DỤNG</a:t>
            </a:r>
            <a:endParaRPr lang="zh-CN" sz="1950" b="1" dirty="0">
              <a:solidFill>
                <a:srgbClr val="FFFFFF"/>
              </a:solidFill>
              <a:latin typeface="Arial" panose="020B0704020202020204"/>
              <a:ea typeface="Arial" panose="020B0704020202020204"/>
              <a:cs typeface="Arial" panose="020B0704020202020204"/>
            </a:endParaRPr>
          </a:p>
        </p:txBody>
      </p:sp>
      <p:sp>
        <p:nvSpPr>
          <p:cNvPr id="7" name="TextBox 7"/>
          <p:cNvSpPr txBox="1"/>
          <p:nvPr/>
        </p:nvSpPr>
        <p:spPr>
          <a:xfrm>
            <a:off x="10295973" y="299085"/>
            <a:ext cx="1530267" cy="243840"/>
          </a:xfrm>
          <a:prstGeom prst="rect">
            <a:avLst/>
          </a:prstGeom>
          <a:noFill/>
          <a:ln>
            <a:noFill/>
          </a:ln>
        </p:spPr>
        <p:txBody>
          <a:bodyPr wrap="none" lIns="0" tIns="0" rIns="0" bIns="0" anchor="t" anchorCtr="0">
            <a:spAutoFit/>
          </a:bodyPr>
          <a:lstStyle/>
          <a:p>
            <a:pPr algn="r"/>
            <a:r>
              <a:rPr lang="zh-CN" sz="1200" b="1" dirty="0">
                <a:solidFill>
                  <a:srgbClr val="93C5FD"/>
                </a:solidFill>
                <a:latin typeface="Arial" panose="020B0704020202020204"/>
                <a:ea typeface="Arial" panose="020B0704020202020204"/>
                <a:cs typeface="Arial" panose="020B0704020202020204"/>
              </a:rPr>
              <a:t>GODROP DELIVERY</a:t>
            </a:r>
            <a:endParaRPr lang="zh-CN" sz="1200" b="1" dirty="0">
              <a:solidFill>
                <a:srgbClr val="93C5FD"/>
              </a:solidFill>
              <a:latin typeface="Arial" panose="020B0704020202020204"/>
              <a:ea typeface="Arial" panose="020B0704020202020204"/>
              <a:cs typeface="Arial" panose="020B0704020202020204"/>
            </a:endParaRPr>
          </a:p>
        </p:txBody>
      </p:sp>
      <p:sp>
        <p:nvSpPr>
          <p:cNvPr id="8" name="Rectangle 8"/>
          <p:cNvSpPr/>
          <p:nvPr/>
        </p:nvSpPr>
        <p:spPr>
          <a:xfrm>
            <a:off x="0" y="666750"/>
            <a:ext cx="12192000" cy="476250"/>
          </a:xfrm>
          <a:prstGeom prst="rect">
            <a:avLst/>
          </a:prstGeom>
          <a:solidFill>
            <a:srgbClr val="E8F4FC"/>
          </a:solidFill>
          <a:ln>
            <a:noFill/>
          </a:ln>
        </p:spPr>
      </p:sp>
      <p:sp>
        <p:nvSpPr>
          <p:cNvPr id="9" name="Rectangle 9"/>
          <p:cNvSpPr/>
          <p:nvPr/>
        </p:nvSpPr>
        <p:spPr>
          <a:xfrm>
            <a:off x="0" y="666750"/>
            <a:ext cx="57150" cy="476250"/>
          </a:xfrm>
          <a:prstGeom prst="rect">
            <a:avLst/>
          </a:prstGeom>
          <a:solidFill>
            <a:srgbClr val="0066CC"/>
          </a:solidFill>
          <a:ln>
            <a:noFill/>
          </a:ln>
        </p:spPr>
      </p:sp>
      <p:sp>
        <p:nvSpPr>
          <p:cNvPr id="10" name="TextBox 10"/>
          <p:cNvSpPr txBox="1"/>
          <p:nvPr/>
        </p:nvSpPr>
        <p:spPr>
          <a:xfrm>
            <a:off x="364808" y="824389"/>
            <a:ext cx="10069306" cy="259080"/>
          </a:xfrm>
          <a:prstGeom prst="rect">
            <a:avLst/>
          </a:prstGeom>
          <a:noFill/>
          <a:ln>
            <a:noFill/>
          </a:ln>
        </p:spPr>
        <p:txBody>
          <a:bodyPr wrap="none" lIns="0" tIns="0" rIns="0" bIns="0" anchor="t" anchorCtr="0">
            <a:spAutoFit/>
          </a:bodyPr>
          <a:lstStyle/>
          <a:p>
            <a:pPr algn="l"/>
            <a:r>
              <a:rPr lang="zh-CN" sz="1275" dirty="0">
                <a:solidFill>
                  <a:srgbClr val="0F172A"/>
                </a:solidFill>
                <a:latin typeface="Arial" panose="020B0704020202020204"/>
                <a:ea typeface="Arial" panose="020B0704020202020204"/>
                <a:cs typeface="Arial" panose="020B0704020202020204"/>
              </a:rPr>
              <a:t>Kiến trúc Modern Android kết hợp Backend RESTful API hướng dịch vụ, đảm bảo hiệu năng và tính toàn vẹn dữ liệu</a:t>
            </a:r>
            <a:endParaRPr lang="zh-CN" sz="1275" dirty="0">
              <a:solidFill>
                <a:srgbClr val="0F172A"/>
              </a:solidFill>
              <a:latin typeface="Arial" panose="020B0704020202020204"/>
              <a:ea typeface="Arial" panose="020B0704020202020204"/>
              <a:cs typeface="Arial" panose="020B0704020202020204"/>
            </a:endParaRPr>
          </a:p>
        </p:txBody>
      </p:sp>
      <p:sp>
        <p:nvSpPr>
          <p:cNvPr id="11" name="Freeform 11"/>
          <p:cNvSpPr/>
          <p:nvPr/>
        </p:nvSpPr>
        <p:spPr>
          <a:xfrm>
            <a:off x="190500" y="1333500"/>
            <a:ext cx="5784215" cy="3810000"/>
          </a:xfrm>
          <a:custGeom>
            <a:avLst/>
            <a:gdLst/>
            <a:ahLst/>
            <a:cxnLst/>
            <a:rect l="l" t="t" r="r" b="b"/>
            <a:pathLst>
              <a:path w="5572125" h="3810000">
                <a:moveTo>
                  <a:pt x="95250" y="0"/>
                </a:moveTo>
                <a:lnTo>
                  <a:pt x="5476875" y="0"/>
                </a:lnTo>
                <a:cubicBezTo>
                  <a:pt x="5529480" y="0"/>
                  <a:pt x="5572125" y="42645"/>
                  <a:pt x="5572125" y="95250"/>
                </a:cubicBezTo>
                <a:lnTo>
                  <a:pt x="5572125" y="3714750"/>
                </a:lnTo>
                <a:cubicBezTo>
                  <a:pt x="5572125" y="3767355"/>
                  <a:pt x="5529480" y="3810000"/>
                  <a:pt x="5476875" y="3810000"/>
                </a:cubicBezTo>
                <a:lnTo>
                  <a:pt x="95250" y="3810000"/>
                </a:lnTo>
                <a:cubicBezTo>
                  <a:pt x="42645" y="3810000"/>
                  <a:pt x="0" y="3767355"/>
                  <a:pt x="0" y="3714750"/>
                </a:cubicBezTo>
                <a:lnTo>
                  <a:pt x="0" y="95250"/>
                </a:lnTo>
                <a:cubicBezTo>
                  <a:pt x="0" y="42645"/>
                  <a:pt x="42645" y="0"/>
                  <a:pt x="95250" y="0"/>
                </a:cubicBezTo>
                <a:close/>
              </a:path>
            </a:pathLst>
          </a:custGeom>
          <a:solidFill>
            <a:srgbClr val="FFFFFF"/>
          </a:solidFill>
          <a:ln w="14288">
            <a:solidFill>
              <a:srgbClr val="E2E8F0"/>
            </a:solidFill>
          </a:ln>
        </p:spPr>
      </p:sp>
      <p:sp>
        <p:nvSpPr>
          <p:cNvPr id="12" name="Freeform 12"/>
          <p:cNvSpPr/>
          <p:nvPr/>
        </p:nvSpPr>
        <p:spPr>
          <a:xfrm>
            <a:off x="190500" y="1333500"/>
            <a:ext cx="5784215" cy="476250"/>
          </a:xfrm>
          <a:custGeom>
            <a:avLst/>
            <a:gdLst/>
            <a:ahLst/>
            <a:cxnLst/>
            <a:rect l="l" t="t" r="r" b="b"/>
            <a:pathLst>
              <a:path w="5572125" h="476250">
                <a:moveTo>
                  <a:pt x="95250" y="0"/>
                </a:moveTo>
                <a:lnTo>
                  <a:pt x="5476875" y="0"/>
                </a:lnTo>
                <a:cubicBezTo>
                  <a:pt x="5529480" y="0"/>
                  <a:pt x="5572125" y="42645"/>
                  <a:pt x="5572125" y="95250"/>
                </a:cubicBezTo>
                <a:lnTo>
                  <a:pt x="5572125" y="381000"/>
                </a:lnTo>
                <a:cubicBezTo>
                  <a:pt x="5572125" y="433605"/>
                  <a:pt x="5529480" y="476250"/>
                  <a:pt x="5476875" y="476250"/>
                </a:cubicBezTo>
                <a:lnTo>
                  <a:pt x="95250" y="476250"/>
                </a:lnTo>
                <a:cubicBezTo>
                  <a:pt x="42645" y="476250"/>
                  <a:pt x="0" y="433605"/>
                  <a:pt x="0" y="381000"/>
                </a:cubicBezTo>
                <a:lnTo>
                  <a:pt x="0" y="95250"/>
                </a:lnTo>
                <a:cubicBezTo>
                  <a:pt x="0" y="42645"/>
                  <a:pt x="42645" y="0"/>
                  <a:pt x="95250" y="0"/>
                </a:cubicBezTo>
                <a:close/>
              </a:path>
            </a:pathLst>
          </a:custGeom>
          <a:solidFill>
            <a:srgbClr val="F1F5F9"/>
          </a:solidFill>
          <a:ln>
            <a:noFill/>
          </a:ln>
        </p:spPr>
      </p:sp>
      <p:sp>
        <p:nvSpPr>
          <p:cNvPr id="13" name="Freeform 13"/>
          <p:cNvSpPr/>
          <p:nvPr/>
        </p:nvSpPr>
        <p:spPr>
          <a:xfrm>
            <a:off x="600075" y="1457325"/>
            <a:ext cx="171450" cy="228600"/>
          </a:xfrm>
          <a:custGeom>
            <a:avLst/>
            <a:gdLst/>
            <a:ahLst/>
            <a:cxnLst/>
            <a:rect l="l" t="t" r="r" b="b"/>
            <a:pathLst>
              <a:path w="171450" h="228600">
                <a:moveTo>
                  <a:pt x="28575" y="0"/>
                </a:moveTo>
                <a:cubicBezTo>
                  <a:pt x="12793" y="0"/>
                  <a:pt x="0" y="12793"/>
                  <a:pt x="0" y="28575"/>
                </a:cubicBezTo>
                <a:lnTo>
                  <a:pt x="0" y="200025"/>
                </a:lnTo>
                <a:cubicBezTo>
                  <a:pt x="0" y="215807"/>
                  <a:pt x="12793" y="228600"/>
                  <a:pt x="28575" y="228600"/>
                </a:cubicBezTo>
                <a:lnTo>
                  <a:pt x="142875" y="228600"/>
                </a:lnTo>
                <a:cubicBezTo>
                  <a:pt x="158657" y="228600"/>
                  <a:pt x="171450" y="215807"/>
                  <a:pt x="171450" y="200025"/>
                </a:cubicBezTo>
                <a:lnTo>
                  <a:pt x="171450" y="28575"/>
                </a:lnTo>
                <a:cubicBezTo>
                  <a:pt x="171450" y="12793"/>
                  <a:pt x="158657" y="0"/>
                  <a:pt x="142875" y="0"/>
                </a:cubicBezTo>
                <a:lnTo>
                  <a:pt x="28575" y="0"/>
                </a:lnTo>
                <a:close/>
                <a:moveTo>
                  <a:pt x="142875" y="42862"/>
                </a:moveTo>
                <a:lnTo>
                  <a:pt x="28575" y="42862"/>
                </a:lnTo>
                <a:lnTo>
                  <a:pt x="28575" y="185738"/>
                </a:lnTo>
                <a:lnTo>
                  <a:pt x="142875" y="185738"/>
                </a:lnTo>
                <a:lnTo>
                  <a:pt x="142875" y="42862"/>
                </a:lnTo>
                <a:close/>
              </a:path>
            </a:pathLst>
          </a:custGeom>
          <a:solidFill>
            <a:srgbClr val="003366"/>
          </a:solidFill>
          <a:ln>
            <a:noFill/>
          </a:ln>
        </p:spPr>
      </p:sp>
      <p:sp>
        <p:nvSpPr>
          <p:cNvPr id="14" name="TextBox 14"/>
          <p:cNvSpPr txBox="1"/>
          <p:nvPr/>
        </p:nvSpPr>
        <p:spPr>
          <a:xfrm>
            <a:off x="887730" y="1492568"/>
            <a:ext cx="3957430" cy="274320"/>
          </a:xfrm>
          <a:prstGeom prst="rect">
            <a:avLst/>
          </a:prstGeom>
          <a:noFill/>
          <a:ln>
            <a:noFill/>
          </a:ln>
        </p:spPr>
        <p:txBody>
          <a:bodyPr wrap="none" lIns="0" tIns="0" rIns="0" bIns="0" anchor="t" anchorCtr="0">
            <a:spAutoFit/>
          </a:bodyPr>
          <a:lstStyle/>
          <a:p>
            <a:pPr algn="l"/>
            <a:r>
              <a:rPr lang="zh-CN" sz="1350" b="1" dirty="0">
                <a:solidFill>
                  <a:srgbClr val="003366"/>
                </a:solidFill>
                <a:latin typeface="Arial" panose="020B0704020202020204"/>
                <a:ea typeface="Arial" panose="020B0704020202020204"/>
                <a:cs typeface="Arial" panose="020B0704020202020204"/>
              </a:rPr>
              <a:t>Android Client Stack (Kotlin &amp; Jetpack)</a:t>
            </a:r>
            <a:endParaRPr lang="zh-CN" sz="1350" b="1" dirty="0">
              <a:solidFill>
                <a:srgbClr val="003366"/>
              </a:solidFill>
              <a:latin typeface="Arial" panose="020B0704020202020204"/>
              <a:ea typeface="Arial" panose="020B0704020202020204"/>
              <a:cs typeface="Arial" panose="020B0704020202020204"/>
            </a:endParaRPr>
          </a:p>
        </p:txBody>
      </p:sp>
      <p:sp>
        <p:nvSpPr>
          <p:cNvPr id="15" name="Freeform 15"/>
          <p:cNvSpPr/>
          <p:nvPr/>
        </p:nvSpPr>
        <p:spPr>
          <a:xfrm>
            <a:off x="270510" y="1952625"/>
            <a:ext cx="5520690" cy="552450"/>
          </a:xfrm>
          <a:custGeom>
            <a:avLst/>
            <a:gdLst/>
            <a:ahLst/>
            <a:cxnLst/>
            <a:rect l="l" t="t" r="r" b="b"/>
            <a:pathLst>
              <a:path w="5191125" h="552450">
                <a:moveTo>
                  <a:pt x="57150" y="0"/>
                </a:moveTo>
                <a:lnTo>
                  <a:pt x="5133975" y="0"/>
                </a:lnTo>
                <a:cubicBezTo>
                  <a:pt x="5165538" y="0"/>
                  <a:pt x="5191125" y="25587"/>
                  <a:pt x="5191125" y="57150"/>
                </a:cubicBezTo>
                <a:lnTo>
                  <a:pt x="5191125" y="495300"/>
                </a:lnTo>
                <a:cubicBezTo>
                  <a:pt x="5191125" y="526863"/>
                  <a:pt x="5165538" y="552450"/>
                  <a:pt x="5133975" y="552450"/>
                </a:cubicBezTo>
                <a:lnTo>
                  <a:pt x="57150" y="552450"/>
                </a:lnTo>
                <a:cubicBezTo>
                  <a:pt x="25587" y="552450"/>
                  <a:pt x="0" y="526863"/>
                  <a:pt x="0" y="495300"/>
                </a:cubicBezTo>
                <a:lnTo>
                  <a:pt x="0" y="57150"/>
                </a:lnTo>
                <a:cubicBezTo>
                  <a:pt x="0" y="25587"/>
                  <a:pt x="25587" y="0"/>
                  <a:pt x="57150" y="0"/>
                </a:cubicBezTo>
                <a:close/>
              </a:path>
            </a:pathLst>
          </a:custGeom>
          <a:solidFill>
            <a:srgbClr val="F8FAFC"/>
          </a:solidFill>
          <a:ln w="9525">
            <a:solidFill>
              <a:srgbClr val="E2E8F0"/>
            </a:solidFill>
          </a:ln>
        </p:spPr>
      </p:sp>
      <p:sp>
        <p:nvSpPr>
          <p:cNvPr id="16" name="TextBox 16"/>
          <p:cNvSpPr txBox="1"/>
          <p:nvPr/>
        </p:nvSpPr>
        <p:spPr>
          <a:xfrm>
            <a:off x="368618" y="2033746"/>
            <a:ext cx="2797546" cy="228600"/>
          </a:xfrm>
          <a:prstGeom prst="rect">
            <a:avLst/>
          </a:prstGeom>
          <a:noFill/>
          <a:ln>
            <a:noFill/>
          </a:ln>
        </p:spPr>
        <p:txBody>
          <a:bodyPr wrap="none" lIns="0" tIns="0" rIns="0" bIns="0" anchor="t" anchorCtr="0">
            <a:spAutoFit/>
          </a:bodyPr>
          <a:lstStyle/>
          <a:p>
            <a:pPr algn="l"/>
            <a:r>
              <a:rPr lang="zh-CN" sz="1125" b="1" dirty="0">
                <a:solidFill>
                  <a:srgbClr val="0066CC"/>
                </a:solidFill>
                <a:latin typeface="Arial" panose="020B0704020202020204"/>
                <a:ea typeface="Arial" panose="020B0704020202020204"/>
                <a:cs typeface="Arial" panose="020B0704020202020204"/>
              </a:rPr>
              <a:t>Jetpack Compose &amp; Declarative UI</a:t>
            </a:r>
            <a:endParaRPr lang="zh-CN" sz="1125" b="1" dirty="0">
              <a:solidFill>
                <a:srgbClr val="0066CC"/>
              </a:solidFill>
              <a:latin typeface="Arial" panose="020B0704020202020204"/>
              <a:ea typeface="Arial" panose="020B0704020202020204"/>
              <a:cs typeface="Arial" panose="020B0704020202020204"/>
            </a:endParaRPr>
          </a:p>
        </p:txBody>
      </p:sp>
      <p:sp>
        <p:nvSpPr>
          <p:cNvPr id="17" name="TextBox 17"/>
          <p:cNvSpPr txBox="1"/>
          <p:nvPr/>
        </p:nvSpPr>
        <p:spPr>
          <a:xfrm>
            <a:off x="381000" y="2262505"/>
            <a:ext cx="5394325" cy="154940"/>
          </a:xfrm>
          <a:prstGeom prst="rect">
            <a:avLst/>
          </a:prstGeom>
          <a:noFill/>
          <a:ln>
            <a:noFill/>
          </a:ln>
        </p:spPr>
        <p:txBody>
          <a:bodyPr wrap="square" lIns="0" tIns="0" rIns="0" bIns="0" anchor="t" anchorCtr="0">
            <a:spAutoFit/>
          </a:bodyPr>
          <a:lstStyle/>
          <a:p>
            <a:pPr algn="l"/>
            <a:r>
              <a:rPr lang="zh-CN" sz="1010" dirty="0">
                <a:solidFill>
                  <a:srgbClr val="475569"/>
                </a:solidFill>
                <a:latin typeface="Arial" panose="020B0704020202020204"/>
                <a:ea typeface="Arial" panose="020B0704020202020204"/>
                <a:cs typeface="Arial" panose="020B0704020202020204"/>
              </a:rPr>
              <a:t>Xây dựng màn hình bằng Composable; tự động recompose khi StateFlow cập nhật trạng thái.</a:t>
            </a:r>
            <a:endParaRPr lang="zh-CN" sz="1010" dirty="0">
              <a:solidFill>
                <a:srgbClr val="475569"/>
              </a:solidFill>
              <a:latin typeface="Arial" panose="020B0704020202020204"/>
              <a:ea typeface="Arial" panose="020B0704020202020204"/>
              <a:cs typeface="Arial" panose="020B0704020202020204"/>
            </a:endParaRPr>
          </a:p>
        </p:txBody>
      </p:sp>
      <p:sp>
        <p:nvSpPr>
          <p:cNvPr id="18" name="Freeform 18"/>
          <p:cNvSpPr/>
          <p:nvPr/>
        </p:nvSpPr>
        <p:spPr>
          <a:xfrm>
            <a:off x="270510" y="2571750"/>
            <a:ext cx="5191125" cy="552450"/>
          </a:xfrm>
          <a:custGeom>
            <a:avLst/>
            <a:gdLst/>
            <a:ahLst/>
            <a:cxnLst/>
            <a:rect l="l" t="t" r="r" b="b"/>
            <a:pathLst>
              <a:path w="5191125" h="552450">
                <a:moveTo>
                  <a:pt x="57150" y="0"/>
                </a:moveTo>
                <a:lnTo>
                  <a:pt x="5133975" y="0"/>
                </a:lnTo>
                <a:cubicBezTo>
                  <a:pt x="5165538" y="0"/>
                  <a:pt x="5191125" y="25587"/>
                  <a:pt x="5191125" y="57150"/>
                </a:cubicBezTo>
                <a:lnTo>
                  <a:pt x="5191125" y="495300"/>
                </a:lnTo>
                <a:cubicBezTo>
                  <a:pt x="5191125" y="526863"/>
                  <a:pt x="5165538" y="552450"/>
                  <a:pt x="5133975" y="552450"/>
                </a:cubicBezTo>
                <a:lnTo>
                  <a:pt x="57150" y="552450"/>
                </a:lnTo>
                <a:cubicBezTo>
                  <a:pt x="25587" y="552450"/>
                  <a:pt x="0" y="526863"/>
                  <a:pt x="0" y="495300"/>
                </a:cubicBezTo>
                <a:lnTo>
                  <a:pt x="0" y="57150"/>
                </a:lnTo>
                <a:cubicBezTo>
                  <a:pt x="0" y="25587"/>
                  <a:pt x="25587" y="0"/>
                  <a:pt x="57150" y="0"/>
                </a:cubicBezTo>
                <a:close/>
              </a:path>
            </a:pathLst>
          </a:custGeom>
          <a:solidFill>
            <a:srgbClr val="F8FAFC"/>
          </a:solidFill>
          <a:ln w="9525">
            <a:solidFill>
              <a:srgbClr val="E2E8F0"/>
            </a:solidFill>
          </a:ln>
        </p:spPr>
      </p:sp>
      <p:sp>
        <p:nvSpPr>
          <p:cNvPr id="19" name="TextBox 19"/>
          <p:cNvSpPr txBox="1"/>
          <p:nvPr/>
        </p:nvSpPr>
        <p:spPr>
          <a:xfrm>
            <a:off x="355918" y="2652871"/>
            <a:ext cx="3340989" cy="228600"/>
          </a:xfrm>
          <a:prstGeom prst="rect">
            <a:avLst/>
          </a:prstGeom>
          <a:noFill/>
          <a:ln>
            <a:noFill/>
          </a:ln>
        </p:spPr>
        <p:txBody>
          <a:bodyPr wrap="none" lIns="0" tIns="0" rIns="0" bIns="0" anchor="t" anchorCtr="0">
            <a:spAutoFit/>
          </a:bodyPr>
          <a:lstStyle/>
          <a:p>
            <a:pPr algn="l"/>
            <a:r>
              <a:rPr lang="zh-CN" sz="1125" b="1" dirty="0">
                <a:solidFill>
                  <a:srgbClr val="0066CC"/>
                </a:solidFill>
                <a:latin typeface="Arial" panose="020B0704020202020204"/>
                <a:ea typeface="Arial" panose="020B0704020202020204"/>
                <a:cs typeface="Arial" panose="020B0704020202020204"/>
              </a:rPr>
              <a:t>MVVM Pattern &amp; StateFlow / Coroutines</a:t>
            </a:r>
            <a:endParaRPr lang="zh-CN" sz="1125" b="1" dirty="0">
              <a:solidFill>
                <a:srgbClr val="0066CC"/>
              </a:solidFill>
              <a:latin typeface="Arial" panose="020B0704020202020204"/>
              <a:ea typeface="Arial" panose="020B0704020202020204"/>
              <a:cs typeface="Arial" panose="020B0704020202020204"/>
            </a:endParaRPr>
          </a:p>
        </p:txBody>
      </p:sp>
      <p:sp>
        <p:nvSpPr>
          <p:cNvPr id="20" name="TextBox 20"/>
          <p:cNvSpPr txBox="1"/>
          <p:nvPr/>
        </p:nvSpPr>
        <p:spPr>
          <a:xfrm>
            <a:off x="368935" y="2898140"/>
            <a:ext cx="5053965" cy="154940"/>
          </a:xfrm>
          <a:prstGeom prst="rect">
            <a:avLst/>
          </a:prstGeom>
          <a:noFill/>
          <a:ln>
            <a:noFill/>
          </a:ln>
        </p:spPr>
        <p:txBody>
          <a:bodyPr wrap="square" lIns="0" tIns="0" rIns="0" bIns="0" anchor="t" anchorCtr="0">
            <a:spAutoFit/>
          </a:bodyPr>
          <a:lstStyle/>
          <a:p>
            <a:pPr algn="l"/>
            <a:r>
              <a:rPr lang="zh-CN" sz="1010" dirty="0">
                <a:solidFill>
                  <a:srgbClr val="475569"/>
                </a:solidFill>
                <a:latin typeface="Arial" panose="020B0704020202020204"/>
                <a:ea typeface="Arial" panose="020B0704020202020204"/>
                <a:cs typeface="Arial" panose="020B0704020202020204"/>
              </a:rPr>
              <a:t>Tách biệt tầng hiển thị; ViewModel nhận thao tác UI, gọi Repository ngoài Main Thread.</a:t>
            </a:r>
            <a:endParaRPr lang="zh-CN" sz="1010" dirty="0">
              <a:solidFill>
                <a:srgbClr val="475569"/>
              </a:solidFill>
              <a:latin typeface="Arial" panose="020B0704020202020204"/>
              <a:ea typeface="Arial" panose="020B0704020202020204"/>
              <a:cs typeface="Arial" panose="020B0704020202020204"/>
            </a:endParaRPr>
          </a:p>
        </p:txBody>
      </p:sp>
      <p:sp>
        <p:nvSpPr>
          <p:cNvPr id="21" name="Freeform 21"/>
          <p:cNvSpPr/>
          <p:nvPr/>
        </p:nvSpPr>
        <p:spPr>
          <a:xfrm>
            <a:off x="270510" y="3190875"/>
            <a:ext cx="5191125" cy="552450"/>
          </a:xfrm>
          <a:custGeom>
            <a:avLst/>
            <a:gdLst/>
            <a:ahLst/>
            <a:cxnLst/>
            <a:rect l="l" t="t" r="r" b="b"/>
            <a:pathLst>
              <a:path w="5191125" h="552450">
                <a:moveTo>
                  <a:pt x="57150" y="0"/>
                </a:moveTo>
                <a:lnTo>
                  <a:pt x="5133975" y="0"/>
                </a:lnTo>
                <a:cubicBezTo>
                  <a:pt x="5165538" y="0"/>
                  <a:pt x="5191125" y="25587"/>
                  <a:pt x="5191125" y="57150"/>
                </a:cubicBezTo>
                <a:lnTo>
                  <a:pt x="5191125" y="495300"/>
                </a:lnTo>
                <a:cubicBezTo>
                  <a:pt x="5191125" y="526863"/>
                  <a:pt x="5165538" y="552450"/>
                  <a:pt x="5133975" y="552450"/>
                </a:cubicBezTo>
                <a:lnTo>
                  <a:pt x="57150" y="552450"/>
                </a:lnTo>
                <a:cubicBezTo>
                  <a:pt x="25587" y="552450"/>
                  <a:pt x="0" y="526863"/>
                  <a:pt x="0" y="495300"/>
                </a:cubicBezTo>
                <a:lnTo>
                  <a:pt x="0" y="57150"/>
                </a:lnTo>
                <a:cubicBezTo>
                  <a:pt x="0" y="25587"/>
                  <a:pt x="25587" y="0"/>
                  <a:pt x="57150" y="0"/>
                </a:cubicBezTo>
                <a:close/>
              </a:path>
            </a:pathLst>
          </a:custGeom>
          <a:solidFill>
            <a:srgbClr val="F8FAFC"/>
          </a:solidFill>
          <a:ln w="9525">
            <a:solidFill>
              <a:srgbClr val="E2E8F0"/>
            </a:solidFill>
          </a:ln>
        </p:spPr>
      </p:sp>
      <p:sp>
        <p:nvSpPr>
          <p:cNvPr id="22" name="TextBox 22"/>
          <p:cNvSpPr txBox="1"/>
          <p:nvPr/>
        </p:nvSpPr>
        <p:spPr>
          <a:xfrm>
            <a:off x="364808" y="3271996"/>
            <a:ext cx="2228225" cy="228600"/>
          </a:xfrm>
          <a:prstGeom prst="rect">
            <a:avLst/>
          </a:prstGeom>
          <a:noFill/>
          <a:ln>
            <a:noFill/>
          </a:ln>
        </p:spPr>
        <p:txBody>
          <a:bodyPr wrap="none" lIns="0" tIns="0" rIns="0" bIns="0" anchor="t" anchorCtr="0">
            <a:spAutoFit/>
          </a:bodyPr>
          <a:lstStyle/>
          <a:p>
            <a:pPr algn="l"/>
            <a:r>
              <a:rPr lang="zh-CN" sz="1125" b="1" dirty="0">
                <a:solidFill>
                  <a:srgbClr val="0066CC"/>
                </a:solidFill>
                <a:latin typeface="Arial" panose="020B0704020202020204"/>
                <a:ea typeface="Arial" panose="020B0704020202020204"/>
                <a:cs typeface="Arial" panose="020B0704020202020204"/>
              </a:rPr>
              <a:t>Retrofit 2 &amp; OkHttp Client</a:t>
            </a:r>
            <a:endParaRPr lang="zh-CN" sz="1125" b="1" dirty="0">
              <a:solidFill>
                <a:srgbClr val="0066CC"/>
              </a:solidFill>
              <a:latin typeface="Arial" panose="020B0704020202020204"/>
              <a:ea typeface="Arial" panose="020B0704020202020204"/>
              <a:cs typeface="Arial" panose="020B0704020202020204"/>
            </a:endParaRPr>
          </a:p>
        </p:txBody>
      </p:sp>
      <p:sp>
        <p:nvSpPr>
          <p:cNvPr id="23" name="TextBox 23"/>
          <p:cNvSpPr txBox="1"/>
          <p:nvPr/>
        </p:nvSpPr>
        <p:spPr>
          <a:xfrm>
            <a:off x="381635" y="3471545"/>
            <a:ext cx="4838065" cy="206375"/>
          </a:xfrm>
          <a:prstGeom prst="rect">
            <a:avLst/>
          </a:prstGeom>
          <a:noFill/>
          <a:ln>
            <a:noFill/>
          </a:ln>
        </p:spPr>
        <p:txBody>
          <a:bodyPr wrap="none" lIns="0" tIns="0" rIns="0" bIns="0" anchor="t" anchorCtr="0">
            <a:noAutofit/>
          </a:bodyPr>
          <a:lstStyle/>
          <a:p>
            <a:pPr algn="l"/>
            <a:r>
              <a:rPr lang="zh-CN" sz="1010" dirty="0">
                <a:solidFill>
                  <a:srgbClr val="475569"/>
                </a:solidFill>
                <a:latin typeface="Arial" panose="020B0704020202020204"/>
                <a:ea typeface="Arial" panose="020B0704020202020204"/>
                <a:cs typeface="Arial" panose="020B0704020202020204"/>
              </a:rPr>
              <a:t>Ánh xạ API thành HTTP request; OkHttp Interceptor tự động gắn Bearer JWT Token.</a:t>
            </a:r>
            <a:endParaRPr lang="zh-CN" sz="1010" dirty="0">
              <a:solidFill>
                <a:srgbClr val="475569"/>
              </a:solidFill>
              <a:latin typeface="Arial" panose="020B0704020202020204"/>
              <a:ea typeface="Arial" panose="020B0704020202020204"/>
              <a:cs typeface="Arial" panose="020B0704020202020204"/>
            </a:endParaRPr>
          </a:p>
        </p:txBody>
      </p:sp>
      <p:sp>
        <p:nvSpPr>
          <p:cNvPr id="24" name="Freeform 24"/>
          <p:cNvSpPr/>
          <p:nvPr/>
        </p:nvSpPr>
        <p:spPr>
          <a:xfrm>
            <a:off x="270510" y="3810000"/>
            <a:ext cx="5191125" cy="552450"/>
          </a:xfrm>
          <a:custGeom>
            <a:avLst/>
            <a:gdLst/>
            <a:ahLst/>
            <a:cxnLst/>
            <a:rect l="l" t="t" r="r" b="b"/>
            <a:pathLst>
              <a:path w="5191125" h="552450">
                <a:moveTo>
                  <a:pt x="57150" y="0"/>
                </a:moveTo>
                <a:lnTo>
                  <a:pt x="5133975" y="0"/>
                </a:lnTo>
                <a:cubicBezTo>
                  <a:pt x="5165538" y="0"/>
                  <a:pt x="5191125" y="25587"/>
                  <a:pt x="5191125" y="57150"/>
                </a:cubicBezTo>
                <a:lnTo>
                  <a:pt x="5191125" y="495300"/>
                </a:lnTo>
                <a:cubicBezTo>
                  <a:pt x="5191125" y="526863"/>
                  <a:pt x="5165538" y="552450"/>
                  <a:pt x="5133975" y="552450"/>
                </a:cubicBezTo>
                <a:lnTo>
                  <a:pt x="57150" y="552450"/>
                </a:lnTo>
                <a:cubicBezTo>
                  <a:pt x="25587" y="552450"/>
                  <a:pt x="0" y="526863"/>
                  <a:pt x="0" y="495300"/>
                </a:cubicBezTo>
                <a:lnTo>
                  <a:pt x="0" y="57150"/>
                </a:lnTo>
                <a:cubicBezTo>
                  <a:pt x="0" y="25587"/>
                  <a:pt x="25587" y="0"/>
                  <a:pt x="57150" y="0"/>
                </a:cubicBezTo>
                <a:close/>
              </a:path>
            </a:pathLst>
          </a:custGeom>
          <a:solidFill>
            <a:srgbClr val="F8FAFC"/>
          </a:solidFill>
          <a:ln w="9525">
            <a:solidFill>
              <a:srgbClr val="E2E8F0"/>
            </a:solidFill>
          </a:ln>
        </p:spPr>
      </p:sp>
      <p:sp>
        <p:nvSpPr>
          <p:cNvPr id="25" name="TextBox 25"/>
          <p:cNvSpPr txBox="1"/>
          <p:nvPr/>
        </p:nvSpPr>
        <p:spPr>
          <a:xfrm>
            <a:off x="355918" y="3907631"/>
            <a:ext cx="3642902" cy="228600"/>
          </a:xfrm>
          <a:prstGeom prst="rect">
            <a:avLst/>
          </a:prstGeom>
          <a:noFill/>
          <a:ln>
            <a:noFill/>
          </a:ln>
        </p:spPr>
        <p:txBody>
          <a:bodyPr wrap="none" lIns="0" tIns="0" rIns="0" bIns="0" anchor="t" anchorCtr="0">
            <a:spAutoFit/>
          </a:bodyPr>
          <a:lstStyle/>
          <a:p>
            <a:pPr algn="l"/>
            <a:r>
              <a:rPr lang="zh-CN" sz="1125" b="1" dirty="0">
                <a:solidFill>
                  <a:srgbClr val="0066CC"/>
                </a:solidFill>
                <a:latin typeface="Arial" panose="020B0704020202020204"/>
                <a:ea typeface="Arial" panose="020B0704020202020204"/>
                <a:cs typeface="Arial" panose="020B0704020202020204"/>
              </a:rPr>
              <a:t>DataStore Preferences &amp; Room Database v6</a:t>
            </a:r>
            <a:endParaRPr lang="zh-CN" sz="1125" b="1" dirty="0">
              <a:solidFill>
                <a:srgbClr val="0066CC"/>
              </a:solidFill>
              <a:latin typeface="Arial" panose="020B0704020202020204"/>
              <a:ea typeface="Arial" panose="020B0704020202020204"/>
              <a:cs typeface="Arial" panose="020B0704020202020204"/>
            </a:endParaRPr>
          </a:p>
        </p:txBody>
      </p:sp>
      <p:sp>
        <p:nvSpPr>
          <p:cNvPr id="26" name="TextBox 26"/>
          <p:cNvSpPr txBox="1"/>
          <p:nvPr/>
        </p:nvSpPr>
        <p:spPr>
          <a:xfrm>
            <a:off x="380841" y="4136311"/>
            <a:ext cx="5489722" cy="205740"/>
          </a:xfrm>
          <a:prstGeom prst="rect">
            <a:avLst/>
          </a:prstGeom>
          <a:noFill/>
          <a:ln>
            <a:noFill/>
          </a:ln>
        </p:spPr>
        <p:txBody>
          <a:bodyPr wrap="none" lIns="0" tIns="0" rIns="0" bIns="0" anchor="t" anchorCtr="0">
            <a:spAutoFit/>
          </a:bodyPr>
          <a:lstStyle/>
          <a:p>
            <a:pPr algn="l"/>
            <a:r>
              <a:rPr lang="zh-CN" sz="1010" dirty="0">
                <a:solidFill>
                  <a:srgbClr val="475569"/>
                </a:solidFill>
                <a:latin typeface="Arial" panose="020B0704020202020204"/>
                <a:ea typeface="Arial" panose="020B0704020202020204"/>
                <a:cs typeface="Arial" panose="020B0704020202020204"/>
              </a:rPr>
              <a:t>DataStore lưu UserId &amp; Token; Room Database lưu trữ hồ sơ tài khoản cục bộ.</a:t>
            </a:r>
            <a:endParaRPr lang="zh-CN" sz="1010" dirty="0">
              <a:solidFill>
                <a:srgbClr val="475569"/>
              </a:solidFill>
              <a:latin typeface="Arial" panose="020B0704020202020204"/>
              <a:ea typeface="Arial" panose="020B0704020202020204"/>
              <a:cs typeface="Arial" panose="020B0704020202020204"/>
            </a:endParaRPr>
          </a:p>
        </p:txBody>
      </p:sp>
      <p:sp>
        <p:nvSpPr>
          <p:cNvPr id="27" name="Freeform 27"/>
          <p:cNvSpPr/>
          <p:nvPr/>
        </p:nvSpPr>
        <p:spPr>
          <a:xfrm>
            <a:off x="270510" y="4429125"/>
            <a:ext cx="5302885" cy="552450"/>
          </a:xfrm>
          <a:custGeom>
            <a:avLst/>
            <a:gdLst/>
            <a:ahLst/>
            <a:cxnLst/>
            <a:rect l="l" t="t" r="r" b="b"/>
            <a:pathLst>
              <a:path w="5191125" h="552450">
                <a:moveTo>
                  <a:pt x="57150" y="0"/>
                </a:moveTo>
                <a:lnTo>
                  <a:pt x="5133975" y="0"/>
                </a:lnTo>
                <a:cubicBezTo>
                  <a:pt x="5165538" y="0"/>
                  <a:pt x="5191125" y="25587"/>
                  <a:pt x="5191125" y="57150"/>
                </a:cubicBezTo>
                <a:lnTo>
                  <a:pt x="5191125" y="495300"/>
                </a:lnTo>
                <a:cubicBezTo>
                  <a:pt x="5191125" y="526863"/>
                  <a:pt x="5165538" y="552450"/>
                  <a:pt x="5133975" y="552450"/>
                </a:cubicBezTo>
                <a:lnTo>
                  <a:pt x="57150" y="552450"/>
                </a:lnTo>
                <a:cubicBezTo>
                  <a:pt x="25587" y="552450"/>
                  <a:pt x="0" y="526863"/>
                  <a:pt x="0" y="495300"/>
                </a:cubicBezTo>
                <a:lnTo>
                  <a:pt x="0" y="57150"/>
                </a:lnTo>
                <a:cubicBezTo>
                  <a:pt x="0" y="25587"/>
                  <a:pt x="25587" y="0"/>
                  <a:pt x="57150" y="0"/>
                </a:cubicBezTo>
                <a:close/>
              </a:path>
            </a:pathLst>
          </a:custGeom>
          <a:solidFill>
            <a:srgbClr val="F8FAFC"/>
          </a:solidFill>
          <a:ln w="9525">
            <a:solidFill>
              <a:srgbClr val="E2E8F0"/>
            </a:solidFill>
          </a:ln>
        </p:spPr>
      </p:sp>
      <p:sp>
        <p:nvSpPr>
          <p:cNvPr id="28" name="TextBox 28"/>
          <p:cNvSpPr txBox="1"/>
          <p:nvPr/>
        </p:nvSpPr>
        <p:spPr>
          <a:xfrm>
            <a:off x="381318" y="4526756"/>
            <a:ext cx="3315111" cy="228600"/>
          </a:xfrm>
          <a:prstGeom prst="rect">
            <a:avLst/>
          </a:prstGeom>
          <a:noFill/>
          <a:ln>
            <a:noFill/>
          </a:ln>
        </p:spPr>
        <p:txBody>
          <a:bodyPr wrap="none" lIns="0" tIns="0" rIns="0" bIns="0" anchor="t" anchorCtr="0">
            <a:spAutoFit/>
          </a:bodyPr>
          <a:lstStyle/>
          <a:p>
            <a:pPr algn="l"/>
            <a:r>
              <a:rPr lang="zh-CN" sz="1125" b="1" dirty="0">
                <a:solidFill>
                  <a:srgbClr val="0066CC"/>
                </a:solidFill>
                <a:latin typeface="Arial" panose="020B0704020202020204"/>
                <a:ea typeface="Arial" panose="020B0704020202020204"/>
                <a:cs typeface="Arial" panose="020B0704020202020204"/>
              </a:rPr>
              <a:t>SavedStateHandle &amp; Navigation Compose</a:t>
            </a:r>
            <a:endParaRPr lang="zh-CN" sz="1125" b="1" dirty="0">
              <a:solidFill>
                <a:srgbClr val="0066CC"/>
              </a:solidFill>
              <a:latin typeface="Arial" panose="020B0704020202020204"/>
              <a:ea typeface="Arial" panose="020B0704020202020204"/>
              <a:cs typeface="Arial" panose="020B0704020202020204"/>
            </a:endParaRPr>
          </a:p>
        </p:txBody>
      </p:sp>
      <p:sp>
        <p:nvSpPr>
          <p:cNvPr id="29" name="TextBox 29"/>
          <p:cNvSpPr txBox="1"/>
          <p:nvPr/>
        </p:nvSpPr>
        <p:spPr>
          <a:xfrm>
            <a:off x="381635" y="4739005"/>
            <a:ext cx="5191125" cy="220980"/>
          </a:xfrm>
          <a:prstGeom prst="rect">
            <a:avLst/>
          </a:prstGeom>
          <a:noFill/>
          <a:ln>
            <a:noFill/>
          </a:ln>
        </p:spPr>
        <p:txBody>
          <a:bodyPr wrap="none" lIns="0" tIns="0" rIns="0" bIns="0" anchor="t" anchorCtr="0">
            <a:noAutofit/>
          </a:bodyPr>
          <a:lstStyle/>
          <a:p>
            <a:pPr algn="l"/>
            <a:r>
              <a:rPr lang="zh-CN" sz="1010" dirty="0">
                <a:solidFill>
                  <a:srgbClr val="475569"/>
                </a:solidFill>
                <a:latin typeface="Arial" panose="020B0704020202020204"/>
                <a:ea typeface="Arial" panose="020B0704020202020204"/>
                <a:cs typeface="Arial" panose="020B0704020202020204"/>
              </a:rPr>
              <a:t>Bảo toàn bản nháp đơn hàng khi chuyển màn hình; điều hướng mượt mà giữa các vai trò.</a:t>
            </a:r>
            <a:endParaRPr lang="zh-CN" sz="1010" dirty="0">
              <a:solidFill>
                <a:srgbClr val="475569"/>
              </a:solidFill>
              <a:latin typeface="Arial" panose="020B0704020202020204"/>
              <a:ea typeface="Arial" panose="020B0704020202020204"/>
              <a:cs typeface="Arial" panose="020B0704020202020204"/>
            </a:endParaRPr>
          </a:p>
        </p:txBody>
      </p:sp>
      <p:sp>
        <p:nvSpPr>
          <p:cNvPr id="30" name="Freeform 30"/>
          <p:cNvSpPr/>
          <p:nvPr/>
        </p:nvSpPr>
        <p:spPr>
          <a:xfrm>
            <a:off x="6238875" y="1333500"/>
            <a:ext cx="6134100" cy="3810000"/>
          </a:xfrm>
          <a:custGeom>
            <a:avLst/>
            <a:gdLst/>
            <a:ahLst/>
            <a:cxnLst/>
            <a:rect l="l" t="t" r="r" b="b"/>
            <a:pathLst>
              <a:path w="5572125" h="3810000">
                <a:moveTo>
                  <a:pt x="95250" y="0"/>
                </a:moveTo>
                <a:lnTo>
                  <a:pt x="5476875" y="0"/>
                </a:lnTo>
                <a:cubicBezTo>
                  <a:pt x="5529480" y="0"/>
                  <a:pt x="5572125" y="42645"/>
                  <a:pt x="5572125" y="95250"/>
                </a:cubicBezTo>
                <a:lnTo>
                  <a:pt x="5572125" y="3714750"/>
                </a:lnTo>
                <a:cubicBezTo>
                  <a:pt x="5572125" y="3767355"/>
                  <a:pt x="5529480" y="3810000"/>
                  <a:pt x="5476875" y="3810000"/>
                </a:cubicBezTo>
                <a:lnTo>
                  <a:pt x="95250" y="3810000"/>
                </a:lnTo>
                <a:cubicBezTo>
                  <a:pt x="42645" y="3810000"/>
                  <a:pt x="0" y="3767355"/>
                  <a:pt x="0" y="3714750"/>
                </a:cubicBezTo>
                <a:lnTo>
                  <a:pt x="0" y="95250"/>
                </a:lnTo>
                <a:cubicBezTo>
                  <a:pt x="0" y="42645"/>
                  <a:pt x="42645" y="0"/>
                  <a:pt x="95250" y="0"/>
                </a:cubicBezTo>
                <a:close/>
              </a:path>
            </a:pathLst>
          </a:custGeom>
          <a:solidFill>
            <a:srgbClr val="FFFFFF"/>
          </a:solidFill>
          <a:ln w="14288">
            <a:solidFill>
              <a:srgbClr val="E2E8F0"/>
            </a:solidFill>
          </a:ln>
        </p:spPr>
      </p:sp>
      <p:sp>
        <p:nvSpPr>
          <p:cNvPr id="31" name="Freeform 31"/>
          <p:cNvSpPr/>
          <p:nvPr/>
        </p:nvSpPr>
        <p:spPr>
          <a:xfrm>
            <a:off x="6238875" y="1333500"/>
            <a:ext cx="6142355" cy="476250"/>
          </a:xfrm>
          <a:custGeom>
            <a:avLst/>
            <a:gdLst/>
            <a:ahLst/>
            <a:cxnLst/>
            <a:rect l="l" t="t" r="r" b="b"/>
            <a:pathLst>
              <a:path w="5572125" h="476250">
                <a:moveTo>
                  <a:pt x="95250" y="0"/>
                </a:moveTo>
                <a:lnTo>
                  <a:pt x="5476875" y="0"/>
                </a:lnTo>
                <a:cubicBezTo>
                  <a:pt x="5529480" y="0"/>
                  <a:pt x="5572125" y="42645"/>
                  <a:pt x="5572125" y="95250"/>
                </a:cubicBezTo>
                <a:lnTo>
                  <a:pt x="5572125" y="381000"/>
                </a:lnTo>
                <a:cubicBezTo>
                  <a:pt x="5572125" y="433605"/>
                  <a:pt x="5529480" y="476250"/>
                  <a:pt x="5476875" y="476250"/>
                </a:cubicBezTo>
                <a:lnTo>
                  <a:pt x="95250" y="476250"/>
                </a:lnTo>
                <a:cubicBezTo>
                  <a:pt x="42645" y="476250"/>
                  <a:pt x="0" y="433605"/>
                  <a:pt x="0" y="381000"/>
                </a:cubicBezTo>
                <a:lnTo>
                  <a:pt x="0" y="95250"/>
                </a:lnTo>
                <a:cubicBezTo>
                  <a:pt x="0" y="42645"/>
                  <a:pt x="42645" y="0"/>
                  <a:pt x="95250" y="0"/>
                </a:cubicBezTo>
                <a:close/>
              </a:path>
            </a:pathLst>
          </a:custGeom>
          <a:solidFill>
            <a:srgbClr val="F1F5F9"/>
          </a:solidFill>
          <a:ln>
            <a:noFill/>
          </a:ln>
        </p:spPr>
      </p:sp>
      <p:sp>
        <p:nvSpPr>
          <p:cNvPr id="32" name="Freeform 32"/>
          <p:cNvSpPr/>
          <p:nvPr/>
        </p:nvSpPr>
        <p:spPr>
          <a:xfrm>
            <a:off x="6429375" y="1485900"/>
            <a:ext cx="228600" cy="71438"/>
          </a:xfrm>
          <a:custGeom>
            <a:avLst/>
            <a:gdLst/>
            <a:ahLst/>
            <a:cxnLst/>
            <a:rect l="l" t="t" r="r" b="b"/>
            <a:pathLst>
              <a:path w="228600" h="71438">
                <a:moveTo>
                  <a:pt x="228600" y="0"/>
                </a:moveTo>
                <a:lnTo>
                  <a:pt x="0" y="0"/>
                </a:lnTo>
                <a:lnTo>
                  <a:pt x="0" y="71438"/>
                </a:lnTo>
                <a:lnTo>
                  <a:pt x="228600" y="71438"/>
                </a:lnTo>
                <a:lnTo>
                  <a:pt x="228600" y="0"/>
                </a:lnTo>
                <a:close/>
                <a:moveTo>
                  <a:pt x="57150" y="35719"/>
                </a:moveTo>
                <a:cubicBezTo>
                  <a:pt x="57150" y="43609"/>
                  <a:pt x="50753" y="50006"/>
                  <a:pt x="42862" y="50006"/>
                </a:cubicBezTo>
                <a:cubicBezTo>
                  <a:pt x="34972" y="50006"/>
                  <a:pt x="28575" y="43609"/>
                  <a:pt x="28575" y="35719"/>
                </a:cubicBezTo>
                <a:cubicBezTo>
                  <a:pt x="28575" y="27828"/>
                  <a:pt x="34972" y="21431"/>
                  <a:pt x="42862" y="21431"/>
                </a:cubicBezTo>
                <a:cubicBezTo>
                  <a:pt x="50753" y="21431"/>
                  <a:pt x="57150" y="27828"/>
                  <a:pt x="57150" y="35719"/>
                </a:cubicBezTo>
                <a:close/>
              </a:path>
            </a:pathLst>
          </a:custGeom>
          <a:solidFill>
            <a:srgbClr val="003366"/>
          </a:solidFill>
          <a:ln>
            <a:noFill/>
          </a:ln>
        </p:spPr>
      </p:sp>
      <p:sp>
        <p:nvSpPr>
          <p:cNvPr id="33" name="Freeform 33"/>
          <p:cNvSpPr/>
          <p:nvPr/>
        </p:nvSpPr>
        <p:spPr>
          <a:xfrm>
            <a:off x="6429375" y="1585912"/>
            <a:ext cx="228600" cy="71438"/>
          </a:xfrm>
          <a:custGeom>
            <a:avLst/>
            <a:gdLst/>
            <a:ahLst/>
            <a:cxnLst/>
            <a:rect l="l" t="t" r="r" b="b"/>
            <a:pathLst>
              <a:path w="228600" h="71438">
                <a:moveTo>
                  <a:pt x="228600" y="0"/>
                </a:moveTo>
                <a:lnTo>
                  <a:pt x="0" y="0"/>
                </a:lnTo>
                <a:lnTo>
                  <a:pt x="0" y="71438"/>
                </a:lnTo>
                <a:lnTo>
                  <a:pt x="228600" y="71438"/>
                </a:lnTo>
                <a:lnTo>
                  <a:pt x="228600" y="0"/>
                </a:lnTo>
                <a:close/>
                <a:moveTo>
                  <a:pt x="42862" y="50006"/>
                </a:moveTo>
                <a:cubicBezTo>
                  <a:pt x="50753" y="50006"/>
                  <a:pt x="57150" y="43610"/>
                  <a:pt x="57150" y="35719"/>
                </a:cubicBezTo>
                <a:cubicBezTo>
                  <a:pt x="57150" y="27828"/>
                  <a:pt x="50753" y="21431"/>
                  <a:pt x="42862" y="21431"/>
                </a:cubicBezTo>
                <a:cubicBezTo>
                  <a:pt x="34972" y="21431"/>
                  <a:pt x="28575" y="27828"/>
                  <a:pt x="28575" y="35719"/>
                </a:cubicBezTo>
                <a:cubicBezTo>
                  <a:pt x="28575" y="43610"/>
                  <a:pt x="34972" y="50006"/>
                  <a:pt x="42862" y="50006"/>
                </a:cubicBezTo>
                <a:close/>
              </a:path>
            </a:pathLst>
          </a:custGeom>
          <a:solidFill>
            <a:srgbClr val="003366"/>
          </a:solidFill>
          <a:ln>
            <a:noFill/>
          </a:ln>
        </p:spPr>
      </p:sp>
      <p:sp>
        <p:nvSpPr>
          <p:cNvPr id="34" name="TextBox 34"/>
          <p:cNvSpPr txBox="1"/>
          <p:nvPr/>
        </p:nvSpPr>
        <p:spPr>
          <a:xfrm>
            <a:off x="6745605" y="1492568"/>
            <a:ext cx="4723426" cy="274320"/>
          </a:xfrm>
          <a:prstGeom prst="rect">
            <a:avLst/>
          </a:prstGeom>
          <a:noFill/>
          <a:ln>
            <a:noFill/>
          </a:ln>
        </p:spPr>
        <p:txBody>
          <a:bodyPr wrap="none" lIns="0" tIns="0" rIns="0" bIns="0" anchor="t" anchorCtr="0">
            <a:spAutoFit/>
          </a:bodyPr>
          <a:lstStyle/>
          <a:p>
            <a:pPr algn="l"/>
            <a:r>
              <a:rPr lang="zh-CN" sz="1350" b="1" dirty="0">
                <a:solidFill>
                  <a:srgbClr val="003366"/>
                </a:solidFill>
                <a:latin typeface="Arial" panose="020B0704020202020204"/>
                <a:ea typeface="Arial" panose="020B0704020202020204"/>
                <a:cs typeface="Arial" panose="020B0704020202020204"/>
              </a:rPr>
              <a:t>Backend Server Stack (Spring Boot &amp; MongoDB)</a:t>
            </a:r>
            <a:endParaRPr lang="zh-CN" sz="1350" b="1" dirty="0">
              <a:solidFill>
                <a:srgbClr val="003366"/>
              </a:solidFill>
              <a:latin typeface="Arial" panose="020B0704020202020204"/>
              <a:ea typeface="Arial" panose="020B0704020202020204"/>
              <a:cs typeface="Arial" panose="020B0704020202020204"/>
            </a:endParaRPr>
          </a:p>
        </p:txBody>
      </p:sp>
      <p:sp>
        <p:nvSpPr>
          <p:cNvPr id="35" name="Freeform 35"/>
          <p:cNvSpPr/>
          <p:nvPr/>
        </p:nvSpPr>
        <p:spPr>
          <a:xfrm>
            <a:off x="6429375" y="1952625"/>
            <a:ext cx="5191125" cy="552450"/>
          </a:xfrm>
          <a:custGeom>
            <a:avLst/>
            <a:gdLst/>
            <a:ahLst/>
            <a:cxnLst/>
            <a:rect l="l" t="t" r="r" b="b"/>
            <a:pathLst>
              <a:path w="5191125" h="552450">
                <a:moveTo>
                  <a:pt x="57150" y="0"/>
                </a:moveTo>
                <a:lnTo>
                  <a:pt x="5133975" y="0"/>
                </a:lnTo>
                <a:cubicBezTo>
                  <a:pt x="5165538" y="0"/>
                  <a:pt x="5191125" y="25587"/>
                  <a:pt x="5191125" y="57150"/>
                </a:cubicBezTo>
                <a:lnTo>
                  <a:pt x="5191125" y="495300"/>
                </a:lnTo>
                <a:cubicBezTo>
                  <a:pt x="5191125" y="526863"/>
                  <a:pt x="5165538" y="552450"/>
                  <a:pt x="5133975" y="552450"/>
                </a:cubicBezTo>
                <a:lnTo>
                  <a:pt x="57150" y="552450"/>
                </a:lnTo>
                <a:cubicBezTo>
                  <a:pt x="25587" y="552450"/>
                  <a:pt x="0" y="526863"/>
                  <a:pt x="0" y="495300"/>
                </a:cubicBezTo>
                <a:lnTo>
                  <a:pt x="0" y="57150"/>
                </a:lnTo>
                <a:cubicBezTo>
                  <a:pt x="0" y="25587"/>
                  <a:pt x="25587" y="0"/>
                  <a:pt x="57150" y="0"/>
                </a:cubicBezTo>
                <a:close/>
              </a:path>
            </a:pathLst>
          </a:custGeom>
          <a:solidFill>
            <a:srgbClr val="F8FAFC"/>
          </a:solidFill>
          <a:ln w="9525">
            <a:solidFill>
              <a:srgbClr val="E2E8F0"/>
            </a:solidFill>
          </a:ln>
        </p:spPr>
      </p:sp>
      <p:sp>
        <p:nvSpPr>
          <p:cNvPr id="36" name="TextBox 36"/>
          <p:cNvSpPr txBox="1"/>
          <p:nvPr/>
        </p:nvSpPr>
        <p:spPr>
          <a:xfrm>
            <a:off x="6557962" y="2050256"/>
            <a:ext cx="2737164" cy="228600"/>
          </a:xfrm>
          <a:prstGeom prst="rect">
            <a:avLst/>
          </a:prstGeom>
          <a:noFill/>
          <a:ln>
            <a:noFill/>
          </a:ln>
        </p:spPr>
        <p:txBody>
          <a:bodyPr wrap="none" lIns="0" tIns="0" rIns="0" bIns="0" anchor="t" anchorCtr="0">
            <a:spAutoFit/>
          </a:bodyPr>
          <a:lstStyle/>
          <a:p>
            <a:pPr algn="l"/>
            <a:r>
              <a:rPr lang="zh-CN" sz="1125" b="1" dirty="0">
                <a:solidFill>
                  <a:srgbClr val="E65100"/>
                </a:solidFill>
                <a:latin typeface="Arial" panose="020B0704020202020204"/>
                <a:ea typeface="Arial" panose="020B0704020202020204"/>
                <a:cs typeface="Arial" panose="020B0704020202020204"/>
              </a:rPr>
              <a:t>Java 17 &amp; Spring Boot Framework</a:t>
            </a:r>
            <a:endParaRPr lang="zh-CN" sz="1125" b="1" dirty="0">
              <a:solidFill>
                <a:srgbClr val="E65100"/>
              </a:solidFill>
              <a:latin typeface="Arial" panose="020B0704020202020204"/>
              <a:ea typeface="Arial" panose="020B0704020202020204"/>
              <a:cs typeface="Arial" panose="020B0704020202020204"/>
            </a:endParaRPr>
          </a:p>
        </p:txBody>
      </p:sp>
      <p:sp>
        <p:nvSpPr>
          <p:cNvPr id="37" name="TextBox 37"/>
          <p:cNvSpPr txBox="1"/>
          <p:nvPr/>
        </p:nvSpPr>
        <p:spPr>
          <a:xfrm>
            <a:off x="6559391" y="2262426"/>
            <a:ext cx="6059043" cy="205740"/>
          </a:xfrm>
          <a:prstGeom prst="rect">
            <a:avLst/>
          </a:prstGeom>
          <a:noFill/>
          <a:ln>
            <a:noFill/>
          </a:ln>
        </p:spPr>
        <p:txBody>
          <a:bodyPr wrap="none" lIns="0" tIns="0" rIns="0" bIns="0" anchor="t" anchorCtr="0">
            <a:spAutoFit/>
          </a:bodyPr>
          <a:lstStyle/>
          <a:p>
            <a:pPr algn="l"/>
            <a:r>
              <a:rPr lang="zh-CN" sz="1010" dirty="0">
                <a:solidFill>
                  <a:srgbClr val="475569"/>
                </a:solidFill>
                <a:latin typeface="Arial" panose="020B0704020202020204"/>
                <a:ea typeface="Arial" panose="020B0704020202020204"/>
                <a:cs typeface="Arial" panose="020B0704020202020204"/>
              </a:rPr>
              <a:t>Nền tảng RESTful micro-service, quản trị Dependency Injection và tự động cấu hình.</a:t>
            </a:r>
            <a:endParaRPr lang="zh-CN" sz="1010" dirty="0">
              <a:solidFill>
                <a:srgbClr val="475569"/>
              </a:solidFill>
              <a:latin typeface="Arial" panose="020B0704020202020204"/>
              <a:ea typeface="Arial" panose="020B0704020202020204"/>
              <a:cs typeface="Arial" panose="020B0704020202020204"/>
            </a:endParaRPr>
          </a:p>
        </p:txBody>
      </p:sp>
      <p:sp>
        <p:nvSpPr>
          <p:cNvPr id="38" name="Freeform 38"/>
          <p:cNvSpPr/>
          <p:nvPr/>
        </p:nvSpPr>
        <p:spPr>
          <a:xfrm>
            <a:off x="6429375" y="2571750"/>
            <a:ext cx="5302885" cy="552450"/>
          </a:xfrm>
          <a:custGeom>
            <a:avLst/>
            <a:gdLst/>
            <a:ahLst/>
            <a:cxnLst/>
            <a:rect l="l" t="t" r="r" b="b"/>
            <a:pathLst>
              <a:path w="5191125" h="552450">
                <a:moveTo>
                  <a:pt x="57150" y="0"/>
                </a:moveTo>
                <a:lnTo>
                  <a:pt x="5133975" y="0"/>
                </a:lnTo>
                <a:cubicBezTo>
                  <a:pt x="5165538" y="0"/>
                  <a:pt x="5191125" y="25587"/>
                  <a:pt x="5191125" y="57150"/>
                </a:cubicBezTo>
                <a:lnTo>
                  <a:pt x="5191125" y="495300"/>
                </a:lnTo>
                <a:cubicBezTo>
                  <a:pt x="5191125" y="526863"/>
                  <a:pt x="5165538" y="552450"/>
                  <a:pt x="5133975" y="552450"/>
                </a:cubicBezTo>
                <a:lnTo>
                  <a:pt x="57150" y="552450"/>
                </a:lnTo>
                <a:cubicBezTo>
                  <a:pt x="25587" y="552450"/>
                  <a:pt x="0" y="526863"/>
                  <a:pt x="0" y="495300"/>
                </a:cubicBezTo>
                <a:lnTo>
                  <a:pt x="0" y="57150"/>
                </a:lnTo>
                <a:cubicBezTo>
                  <a:pt x="0" y="25587"/>
                  <a:pt x="25587" y="0"/>
                  <a:pt x="57150" y="0"/>
                </a:cubicBezTo>
                <a:close/>
              </a:path>
            </a:pathLst>
          </a:custGeom>
          <a:solidFill>
            <a:srgbClr val="F8FAFC"/>
          </a:solidFill>
          <a:ln w="9525">
            <a:solidFill>
              <a:srgbClr val="E2E8F0"/>
            </a:solidFill>
          </a:ln>
        </p:spPr>
      </p:sp>
      <p:sp>
        <p:nvSpPr>
          <p:cNvPr id="39" name="TextBox 39"/>
          <p:cNvSpPr txBox="1"/>
          <p:nvPr/>
        </p:nvSpPr>
        <p:spPr>
          <a:xfrm>
            <a:off x="6557962" y="2669381"/>
            <a:ext cx="2374868" cy="228600"/>
          </a:xfrm>
          <a:prstGeom prst="rect">
            <a:avLst/>
          </a:prstGeom>
          <a:noFill/>
          <a:ln>
            <a:noFill/>
          </a:ln>
        </p:spPr>
        <p:txBody>
          <a:bodyPr wrap="none" lIns="0" tIns="0" rIns="0" bIns="0" anchor="t" anchorCtr="0">
            <a:spAutoFit/>
          </a:bodyPr>
          <a:lstStyle/>
          <a:p>
            <a:pPr algn="l"/>
            <a:r>
              <a:rPr lang="zh-CN" sz="1125" b="1" dirty="0">
                <a:solidFill>
                  <a:srgbClr val="E65100"/>
                </a:solidFill>
                <a:latin typeface="Arial" panose="020B0704020202020204"/>
                <a:ea typeface="Arial" panose="020B0704020202020204"/>
                <a:cs typeface="Arial" panose="020B0704020202020204"/>
              </a:rPr>
              <a:t>Spring Security &amp; JWT Filter</a:t>
            </a:r>
            <a:endParaRPr lang="zh-CN" sz="1125" b="1" dirty="0">
              <a:solidFill>
                <a:srgbClr val="E65100"/>
              </a:solidFill>
              <a:latin typeface="Arial" panose="020B0704020202020204"/>
              <a:ea typeface="Arial" panose="020B0704020202020204"/>
              <a:cs typeface="Arial" panose="020B0704020202020204"/>
            </a:endParaRPr>
          </a:p>
        </p:txBody>
      </p:sp>
      <p:sp>
        <p:nvSpPr>
          <p:cNvPr id="40" name="TextBox 40"/>
          <p:cNvSpPr txBox="1"/>
          <p:nvPr/>
        </p:nvSpPr>
        <p:spPr>
          <a:xfrm>
            <a:off x="6559391" y="2881551"/>
            <a:ext cx="6384369" cy="205740"/>
          </a:xfrm>
          <a:prstGeom prst="rect">
            <a:avLst/>
          </a:prstGeom>
          <a:noFill/>
          <a:ln>
            <a:noFill/>
          </a:ln>
        </p:spPr>
        <p:txBody>
          <a:bodyPr wrap="none" lIns="0" tIns="0" rIns="0" bIns="0" anchor="t" anchorCtr="0">
            <a:spAutoFit/>
          </a:bodyPr>
          <a:lstStyle/>
          <a:p>
            <a:pPr algn="l"/>
            <a:r>
              <a:rPr lang="zh-CN" sz="1010" dirty="0">
                <a:solidFill>
                  <a:srgbClr val="475569"/>
                </a:solidFill>
                <a:latin typeface="Arial" panose="020B0704020202020204"/>
                <a:ea typeface="Arial" panose="020B0704020202020204"/>
                <a:cs typeface="Arial" panose="020B0704020202020204"/>
              </a:rPr>
              <a:t>Xác thực Stateless; trích xuất UserId và Role từ JWT, kiểm tra quyền sở hữu tài nguyên.</a:t>
            </a:r>
            <a:endParaRPr lang="zh-CN" sz="1010" dirty="0">
              <a:solidFill>
                <a:srgbClr val="475569"/>
              </a:solidFill>
              <a:latin typeface="Arial" panose="020B0704020202020204"/>
              <a:ea typeface="Arial" panose="020B0704020202020204"/>
              <a:cs typeface="Arial" panose="020B0704020202020204"/>
            </a:endParaRPr>
          </a:p>
        </p:txBody>
      </p:sp>
      <p:sp>
        <p:nvSpPr>
          <p:cNvPr id="41" name="Freeform 41"/>
          <p:cNvSpPr/>
          <p:nvPr/>
        </p:nvSpPr>
        <p:spPr>
          <a:xfrm>
            <a:off x="6429375" y="3190875"/>
            <a:ext cx="5917565" cy="552450"/>
          </a:xfrm>
          <a:custGeom>
            <a:avLst/>
            <a:gdLst/>
            <a:ahLst/>
            <a:cxnLst/>
            <a:rect l="l" t="t" r="r" b="b"/>
            <a:pathLst>
              <a:path w="5191125" h="552450">
                <a:moveTo>
                  <a:pt x="57150" y="0"/>
                </a:moveTo>
                <a:lnTo>
                  <a:pt x="5133975" y="0"/>
                </a:lnTo>
                <a:cubicBezTo>
                  <a:pt x="5165538" y="0"/>
                  <a:pt x="5191125" y="25587"/>
                  <a:pt x="5191125" y="57150"/>
                </a:cubicBezTo>
                <a:lnTo>
                  <a:pt x="5191125" y="495300"/>
                </a:lnTo>
                <a:cubicBezTo>
                  <a:pt x="5191125" y="526863"/>
                  <a:pt x="5165538" y="552450"/>
                  <a:pt x="5133975" y="552450"/>
                </a:cubicBezTo>
                <a:lnTo>
                  <a:pt x="57150" y="552450"/>
                </a:lnTo>
                <a:cubicBezTo>
                  <a:pt x="25587" y="552450"/>
                  <a:pt x="0" y="526863"/>
                  <a:pt x="0" y="495300"/>
                </a:cubicBezTo>
                <a:lnTo>
                  <a:pt x="0" y="57150"/>
                </a:lnTo>
                <a:cubicBezTo>
                  <a:pt x="0" y="25587"/>
                  <a:pt x="25587" y="0"/>
                  <a:pt x="57150" y="0"/>
                </a:cubicBezTo>
                <a:close/>
              </a:path>
            </a:pathLst>
          </a:custGeom>
          <a:solidFill>
            <a:srgbClr val="F8FAFC"/>
          </a:solidFill>
          <a:ln w="9525">
            <a:solidFill>
              <a:srgbClr val="E2E8F0"/>
            </a:solidFill>
          </a:ln>
        </p:spPr>
      </p:sp>
      <p:sp>
        <p:nvSpPr>
          <p:cNvPr id="42" name="TextBox 42"/>
          <p:cNvSpPr txBox="1"/>
          <p:nvPr/>
        </p:nvSpPr>
        <p:spPr>
          <a:xfrm>
            <a:off x="6557962" y="3288506"/>
            <a:ext cx="1736538" cy="228600"/>
          </a:xfrm>
          <a:prstGeom prst="rect">
            <a:avLst/>
          </a:prstGeom>
          <a:noFill/>
          <a:ln>
            <a:noFill/>
          </a:ln>
        </p:spPr>
        <p:txBody>
          <a:bodyPr wrap="none" lIns="0" tIns="0" rIns="0" bIns="0" anchor="t" anchorCtr="0">
            <a:spAutoFit/>
          </a:bodyPr>
          <a:lstStyle/>
          <a:p>
            <a:pPr algn="l"/>
            <a:r>
              <a:rPr lang="zh-CN" sz="1125" b="1" dirty="0">
                <a:solidFill>
                  <a:srgbClr val="E65100"/>
                </a:solidFill>
                <a:latin typeface="Arial" panose="020B0704020202020204"/>
                <a:ea typeface="Arial" panose="020B0704020202020204"/>
                <a:cs typeface="Arial" panose="020B0704020202020204"/>
              </a:rPr>
              <a:t>Spring Data MongoDB</a:t>
            </a:r>
            <a:endParaRPr lang="zh-CN" sz="1125" b="1" dirty="0">
              <a:solidFill>
                <a:srgbClr val="E65100"/>
              </a:solidFill>
              <a:latin typeface="Arial" panose="020B0704020202020204"/>
              <a:ea typeface="Arial" panose="020B0704020202020204"/>
              <a:cs typeface="Arial" panose="020B0704020202020204"/>
            </a:endParaRPr>
          </a:p>
        </p:txBody>
      </p:sp>
      <p:sp>
        <p:nvSpPr>
          <p:cNvPr id="43" name="TextBox 43"/>
          <p:cNvSpPr txBox="1"/>
          <p:nvPr/>
        </p:nvSpPr>
        <p:spPr>
          <a:xfrm>
            <a:off x="6559391" y="3500676"/>
            <a:ext cx="6850178" cy="205740"/>
          </a:xfrm>
          <a:prstGeom prst="rect">
            <a:avLst/>
          </a:prstGeom>
          <a:noFill/>
          <a:ln>
            <a:noFill/>
          </a:ln>
        </p:spPr>
        <p:txBody>
          <a:bodyPr wrap="none" lIns="0" tIns="0" rIns="0" bIns="0" anchor="t" anchorCtr="0">
            <a:spAutoFit/>
          </a:bodyPr>
          <a:lstStyle/>
          <a:p>
            <a:pPr algn="l"/>
            <a:r>
              <a:rPr lang="zh-CN" sz="1010" dirty="0">
                <a:solidFill>
                  <a:srgbClr val="475569"/>
                </a:solidFill>
                <a:latin typeface="Arial" panose="020B0704020202020204"/>
                <a:ea typeface="Arial" panose="020B0704020202020204"/>
                <a:cs typeface="Arial" panose="020B0704020202020204"/>
              </a:rPr>
              <a:t>Cơ sở dữ liệu NoSQL linh hoạt; Document JSON lồng nhau (DeliveryRequest nhúng PackageItems).</a:t>
            </a:r>
            <a:endParaRPr lang="zh-CN" sz="1010" dirty="0">
              <a:solidFill>
                <a:srgbClr val="475569"/>
              </a:solidFill>
              <a:latin typeface="Arial" panose="020B0704020202020204"/>
              <a:ea typeface="Arial" panose="020B0704020202020204"/>
              <a:cs typeface="Arial" panose="020B0704020202020204"/>
            </a:endParaRPr>
          </a:p>
        </p:txBody>
      </p:sp>
      <p:sp>
        <p:nvSpPr>
          <p:cNvPr id="44" name="Freeform 44"/>
          <p:cNvSpPr/>
          <p:nvPr/>
        </p:nvSpPr>
        <p:spPr>
          <a:xfrm>
            <a:off x="6429375" y="3810000"/>
            <a:ext cx="5571490" cy="552450"/>
          </a:xfrm>
          <a:custGeom>
            <a:avLst/>
            <a:gdLst/>
            <a:ahLst/>
            <a:cxnLst/>
            <a:rect l="l" t="t" r="r" b="b"/>
            <a:pathLst>
              <a:path w="5191125" h="552450">
                <a:moveTo>
                  <a:pt x="57150" y="0"/>
                </a:moveTo>
                <a:lnTo>
                  <a:pt x="5133975" y="0"/>
                </a:lnTo>
                <a:cubicBezTo>
                  <a:pt x="5165538" y="0"/>
                  <a:pt x="5191125" y="25587"/>
                  <a:pt x="5191125" y="57150"/>
                </a:cubicBezTo>
                <a:lnTo>
                  <a:pt x="5191125" y="495300"/>
                </a:lnTo>
                <a:cubicBezTo>
                  <a:pt x="5191125" y="526863"/>
                  <a:pt x="5165538" y="552450"/>
                  <a:pt x="5133975" y="552450"/>
                </a:cubicBezTo>
                <a:lnTo>
                  <a:pt x="57150" y="552450"/>
                </a:lnTo>
                <a:cubicBezTo>
                  <a:pt x="25587" y="552450"/>
                  <a:pt x="0" y="526863"/>
                  <a:pt x="0" y="495300"/>
                </a:cubicBezTo>
                <a:lnTo>
                  <a:pt x="0" y="57150"/>
                </a:lnTo>
                <a:cubicBezTo>
                  <a:pt x="0" y="25587"/>
                  <a:pt x="25587" y="0"/>
                  <a:pt x="57150" y="0"/>
                </a:cubicBezTo>
                <a:close/>
              </a:path>
            </a:pathLst>
          </a:custGeom>
          <a:solidFill>
            <a:srgbClr val="F8FAFC"/>
          </a:solidFill>
          <a:ln w="9525">
            <a:solidFill>
              <a:srgbClr val="E2E8F0"/>
            </a:solidFill>
          </a:ln>
        </p:spPr>
      </p:sp>
      <p:sp>
        <p:nvSpPr>
          <p:cNvPr id="45" name="TextBox 45"/>
          <p:cNvSpPr txBox="1"/>
          <p:nvPr/>
        </p:nvSpPr>
        <p:spPr>
          <a:xfrm>
            <a:off x="6557962" y="3907631"/>
            <a:ext cx="2788920" cy="228600"/>
          </a:xfrm>
          <a:prstGeom prst="rect">
            <a:avLst/>
          </a:prstGeom>
          <a:noFill/>
          <a:ln>
            <a:noFill/>
          </a:ln>
        </p:spPr>
        <p:txBody>
          <a:bodyPr wrap="none" lIns="0" tIns="0" rIns="0" bIns="0" anchor="t" anchorCtr="0">
            <a:spAutoFit/>
          </a:bodyPr>
          <a:lstStyle/>
          <a:p>
            <a:pPr algn="l"/>
            <a:r>
              <a:rPr lang="zh-CN" sz="1125" b="1" dirty="0">
                <a:solidFill>
                  <a:srgbClr val="E65100"/>
                </a:solidFill>
                <a:latin typeface="Arial" panose="020B0704020202020204"/>
                <a:ea typeface="Arial" panose="020B0704020202020204"/>
                <a:cs typeface="Arial" panose="020B0704020202020204"/>
              </a:rPr>
              <a:t>Optimistic Locking &amp; Transaction</a:t>
            </a:r>
            <a:endParaRPr lang="zh-CN" sz="1125" b="1" dirty="0">
              <a:solidFill>
                <a:srgbClr val="E65100"/>
              </a:solidFill>
              <a:latin typeface="Arial" panose="020B0704020202020204"/>
              <a:ea typeface="Arial" panose="020B0704020202020204"/>
              <a:cs typeface="Arial" panose="020B0704020202020204"/>
            </a:endParaRPr>
          </a:p>
        </p:txBody>
      </p:sp>
      <p:sp>
        <p:nvSpPr>
          <p:cNvPr id="46" name="TextBox 46"/>
          <p:cNvSpPr txBox="1"/>
          <p:nvPr/>
        </p:nvSpPr>
        <p:spPr>
          <a:xfrm>
            <a:off x="6559391" y="4119801"/>
            <a:ext cx="6598789" cy="205740"/>
          </a:xfrm>
          <a:prstGeom prst="rect">
            <a:avLst/>
          </a:prstGeom>
          <a:noFill/>
          <a:ln>
            <a:noFill/>
          </a:ln>
        </p:spPr>
        <p:txBody>
          <a:bodyPr wrap="none" lIns="0" tIns="0" rIns="0" bIns="0" anchor="t" anchorCtr="0">
            <a:spAutoFit/>
          </a:bodyPr>
          <a:lstStyle/>
          <a:p>
            <a:pPr algn="l"/>
            <a:r>
              <a:rPr lang="zh-CN" sz="1010" dirty="0">
                <a:solidFill>
                  <a:srgbClr val="475569"/>
                </a:solidFill>
                <a:latin typeface="Arial" panose="020B0704020202020204"/>
                <a:ea typeface="Arial" panose="020B0704020202020204"/>
                <a:cs typeface="Arial" panose="020B0704020202020204"/>
              </a:rPr>
              <a:t>Sử dụng trường @Version trong document để bắt xung đột nhận đơn đồng thời giữa các tài xế.</a:t>
            </a:r>
            <a:endParaRPr lang="zh-CN" sz="1010" dirty="0">
              <a:solidFill>
                <a:srgbClr val="475569"/>
              </a:solidFill>
              <a:latin typeface="Arial" panose="020B0704020202020204"/>
              <a:ea typeface="Arial" panose="020B0704020202020204"/>
              <a:cs typeface="Arial" panose="020B0704020202020204"/>
            </a:endParaRPr>
          </a:p>
        </p:txBody>
      </p:sp>
      <p:sp>
        <p:nvSpPr>
          <p:cNvPr id="47" name="Freeform 47"/>
          <p:cNvSpPr/>
          <p:nvPr/>
        </p:nvSpPr>
        <p:spPr>
          <a:xfrm>
            <a:off x="6429375" y="4429125"/>
            <a:ext cx="5382260" cy="552450"/>
          </a:xfrm>
          <a:custGeom>
            <a:avLst/>
            <a:gdLst/>
            <a:ahLst/>
            <a:cxnLst/>
            <a:rect l="l" t="t" r="r" b="b"/>
            <a:pathLst>
              <a:path w="5191125" h="552450">
                <a:moveTo>
                  <a:pt x="57150" y="0"/>
                </a:moveTo>
                <a:lnTo>
                  <a:pt x="5133975" y="0"/>
                </a:lnTo>
                <a:cubicBezTo>
                  <a:pt x="5165538" y="0"/>
                  <a:pt x="5191125" y="25587"/>
                  <a:pt x="5191125" y="57150"/>
                </a:cubicBezTo>
                <a:lnTo>
                  <a:pt x="5191125" y="495300"/>
                </a:lnTo>
                <a:cubicBezTo>
                  <a:pt x="5191125" y="526863"/>
                  <a:pt x="5165538" y="552450"/>
                  <a:pt x="5133975" y="552450"/>
                </a:cubicBezTo>
                <a:lnTo>
                  <a:pt x="57150" y="552450"/>
                </a:lnTo>
                <a:cubicBezTo>
                  <a:pt x="25587" y="552450"/>
                  <a:pt x="0" y="526863"/>
                  <a:pt x="0" y="495300"/>
                </a:cubicBezTo>
                <a:lnTo>
                  <a:pt x="0" y="57150"/>
                </a:lnTo>
                <a:cubicBezTo>
                  <a:pt x="0" y="25587"/>
                  <a:pt x="25587" y="0"/>
                  <a:pt x="57150" y="0"/>
                </a:cubicBezTo>
                <a:close/>
              </a:path>
            </a:pathLst>
          </a:custGeom>
          <a:solidFill>
            <a:srgbClr val="F8FAFC"/>
          </a:solidFill>
          <a:ln w="9525">
            <a:solidFill>
              <a:srgbClr val="E2E8F0"/>
            </a:solidFill>
          </a:ln>
        </p:spPr>
      </p:sp>
      <p:sp>
        <p:nvSpPr>
          <p:cNvPr id="48" name="TextBox 48"/>
          <p:cNvSpPr txBox="1"/>
          <p:nvPr/>
        </p:nvSpPr>
        <p:spPr>
          <a:xfrm>
            <a:off x="6557962" y="4526756"/>
            <a:ext cx="2625025" cy="228600"/>
          </a:xfrm>
          <a:prstGeom prst="rect">
            <a:avLst/>
          </a:prstGeom>
          <a:noFill/>
          <a:ln>
            <a:noFill/>
          </a:ln>
        </p:spPr>
        <p:txBody>
          <a:bodyPr wrap="none" lIns="0" tIns="0" rIns="0" bIns="0" anchor="t" anchorCtr="0">
            <a:spAutoFit/>
          </a:bodyPr>
          <a:lstStyle/>
          <a:p>
            <a:pPr algn="l"/>
            <a:r>
              <a:rPr lang="zh-CN" sz="1125" b="1" dirty="0">
                <a:solidFill>
                  <a:srgbClr val="E65100"/>
                </a:solidFill>
                <a:latin typeface="Arial" panose="020B0704020202020204"/>
                <a:ea typeface="Arial" panose="020B0704020202020204"/>
                <a:cs typeface="Arial" panose="020B0704020202020204"/>
              </a:rPr>
              <a:t>PricingService &amp; Business Logic</a:t>
            </a:r>
            <a:endParaRPr lang="zh-CN" sz="1125" b="1" dirty="0">
              <a:solidFill>
                <a:srgbClr val="E65100"/>
              </a:solidFill>
              <a:latin typeface="Arial" panose="020B0704020202020204"/>
              <a:ea typeface="Arial" panose="020B0704020202020204"/>
              <a:cs typeface="Arial" panose="020B0704020202020204"/>
            </a:endParaRPr>
          </a:p>
        </p:txBody>
      </p:sp>
      <p:sp>
        <p:nvSpPr>
          <p:cNvPr id="49" name="TextBox 49"/>
          <p:cNvSpPr txBox="1"/>
          <p:nvPr/>
        </p:nvSpPr>
        <p:spPr>
          <a:xfrm>
            <a:off x="6559391" y="4738926"/>
            <a:ext cx="6510064" cy="205740"/>
          </a:xfrm>
          <a:prstGeom prst="rect">
            <a:avLst/>
          </a:prstGeom>
          <a:noFill/>
          <a:ln>
            <a:noFill/>
          </a:ln>
        </p:spPr>
        <p:txBody>
          <a:bodyPr wrap="none" lIns="0" tIns="0" rIns="0" bIns="0" anchor="t" anchorCtr="0">
            <a:spAutoFit/>
          </a:bodyPr>
          <a:lstStyle/>
          <a:p>
            <a:pPr algn="l"/>
            <a:r>
              <a:rPr lang="zh-CN" sz="1010" dirty="0">
                <a:solidFill>
                  <a:srgbClr val="475569"/>
                </a:solidFill>
                <a:latin typeface="Arial" panose="020B0704020202020204"/>
                <a:ea typeface="Arial" panose="020B0704020202020204"/>
                <a:cs typeface="Arial" panose="020B0704020202020204"/>
              </a:rPr>
              <a:t>Định giá độc lập phía máy chủ: Phí cơ bản 15.000đ + 5.000đ/km tính từ tọa độ GPS thực tế.</a:t>
            </a:r>
            <a:endParaRPr lang="zh-CN" sz="1010" dirty="0">
              <a:solidFill>
                <a:srgbClr val="475569"/>
              </a:solidFill>
              <a:latin typeface="Arial" panose="020B0704020202020204"/>
              <a:ea typeface="Arial" panose="020B0704020202020204"/>
              <a:cs typeface="Arial" panose="020B0704020202020204"/>
            </a:endParaRPr>
          </a:p>
        </p:txBody>
      </p:sp>
      <p:sp>
        <p:nvSpPr>
          <p:cNvPr id="50" name="Freeform 50"/>
          <p:cNvSpPr/>
          <p:nvPr/>
        </p:nvSpPr>
        <p:spPr>
          <a:xfrm>
            <a:off x="381000" y="5286375"/>
            <a:ext cx="11430000" cy="857250"/>
          </a:xfrm>
          <a:custGeom>
            <a:avLst/>
            <a:gdLst/>
            <a:ahLst/>
            <a:cxnLst/>
            <a:rect l="l" t="t" r="r" b="b"/>
            <a:pathLst>
              <a:path w="11430000" h="857250">
                <a:moveTo>
                  <a:pt x="76200" y="0"/>
                </a:moveTo>
                <a:lnTo>
                  <a:pt x="11353800" y="0"/>
                </a:lnTo>
                <a:cubicBezTo>
                  <a:pt x="11395884" y="0"/>
                  <a:pt x="11430000" y="34116"/>
                  <a:pt x="11430000" y="76200"/>
                </a:cubicBezTo>
                <a:lnTo>
                  <a:pt x="11430000" y="781050"/>
                </a:lnTo>
                <a:cubicBezTo>
                  <a:pt x="11430000" y="823134"/>
                  <a:pt x="11395884" y="857250"/>
                  <a:pt x="11353800" y="857250"/>
                </a:cubicBezTo>
                <a:lnTo>
                  <a:pt x="76200" y="857250"/>
                </a:lnTo>
                <a:cubicBezTo>
                  <a:pt x="34116" y="857250"/>
                  <a:pt x="0" y="823134"/>
                  <a:pt x="0" y="781050"/>
                </a:cubicBezTo>
                <a:lnTo>
                  <a:pt x="0" y="76200"/>
                </a:lnTo>
                <a:cubicBezTo>
                  <a:pt x="0" y="34116"/>
                  <a:pt x="34116" y="0"/>
                  <a:pt x="76200" y="0"/>
                </a:cubicBezTo>
                <a:close/>
              </a:path>
            </a:pathLst>
          </a:custGeom>
          <a:solidFill>
            <a:srgbClr val="002244"/>
          </a:solidFill>
          <a:ln>
            <a:noFill/>
          </a:ln>
        </p:spPr>
      </p:sp>
      <p:sp>
        <p:nvSpPr>
          <p:cNvPr id="51" name="Freeform 51"/>
          <p:cNvSpPr/>
          <p:nvPr/>
        </p:nvSpPr>
        <p:spPr>
          <a:xfrm>
            <a:off x="704994" y="5612967"/>
            <a:ext cx="56863" cy="204066"/>
          </a:xfrm>
          <a:custGeom>
            <a:avLst/>
            <a:gdLst/>
            <a:ahLst/>
            <a:cxnLst/>
            <a:rect l="l" t="t" r="r" b="b"/>
            <a:pathLst>
              <a:path w="56863" h="204066">
                <a:moveTo>
                  <a:pt x="28575" y="0"/>
                </a:moveTo>
                <a:lnTo>
                  <a:pt x="0" y="200025"/>
                </a:lnTo>
                <a:lnTo>
                  <a:pt x="28288" y="204066"/>
                </a:lnTo>
                <a:lnTo>
                  <a:pt x="56863" y="4041"/>
                </a:lnTo>
                <a:lnTo>
                  <a:pt x="28575" y="0"/>
                </a:lnTo>
                <a:close/>
              </a:path>
            </a:pathLst>
          </a:custGeom>
          <a:solidFill>
            <a:srgbClr val="60A5FA"/>
          </a:solidFill>
          <a:ln>
            <a:noFill/>
          </a:ln>
        </p:spPr>
      </p:sp>
      <p:sp>
        <p:nvSpPr>
          <p:cNvPr id="52" name="Freeform 52"/>
          <p:cNvSpPr/>
          <p:nvPr/>
        </p:nvSpPr>
        <p:spPr>
          <a:xfrm>
            <a:off x="777513" y="5664994"/>
            <a:ext cx="70212" cy="100012"/>
          </a:xfrm>
          <a:custGeom>
            <a:avLst/>
            <a:gdLst/>
            <a:ahLst/>
            <a:cxnLst/>
            <a:rect l="l" t="t" r="r" b="b"/>
            <a:pathLst>
              <a:path w="70212" h="100012">
                <a:moveTo>
                  <a:pt x="20205" y="100012"/>
                </a:moveTo>
                <a:lnTo>
                  <a:pt x="0" y="79807"/>
                </a:lnTo>
                <a:lnTo>
                  <a:pt x="29801" y="50006"/>
                </a:lnTo>
                <a:lnTo>
                  <a:pt x="0" y="20206"/>
                </a:lnTo>
                <a:lnTo>
                  <a:pt x="20205" y="0"/>
                </a:lnTo>
                <a:lnTo>
                  <a:pt x="70212" y="50006"/>
                </a:lnTo>
                <a:lnTo>
                  <a:pt x="20205" y="100012"/>
                </a:lnTo>
                <a:close/>
              </a:path>
            </a:pathLst>
          </a:custGeom>
          <a:solidFill>
            <a:srgbClr val="60A5FA"/>
          </a:solidFill>
          <a:ln>
            <a:noFill/>
          </a:ln>
        </p:spPr>
      </p:sp>
      <p:sp>
        <p:nvSpPr>
          <p:cNvPr id="53" name="Freeform 53"/>
          <p:cNvSpPr/>
          <p:nvPr/>
        </p:nvSpPr>
        <p:spPr>
          <a:xfrm>
            <a:off x="619125" y="5664994"/>
            <a:ext cx="70212" cy="100012"/>
          </a:xfrm>
          <a:custGeom>
            <a:avLst/>
            <a:gdLst/>
            <a:ahLst/>
            <a:cxnLst/>
            <a:rect l="l" t="t" r="r" b="b"/>
            <a:pathLst>
              <a:path w="70212" h="100012">
                <a:moveTo>
                  <a:pt x="40411" y="50006"/>
                </a:moveTo>
                <a:lnTo>
                  <a:pt x="70212" y="79807"/>
                </a:lnTo>
                <a:lnTo>
                  <a:pt x="50006" y="100012"/>
                </a:lnTo>
                <a:lnTo>
                  <a:pt x="0" y="50006"/>
                </a:lnTo>
                <a:lnTo>
                  <a:pt x="50006" y="0"/>
                </a:lnTo>
                <a:lnTo>
                  <a:pt x="70212" y="20206"/>
                </a:lnTo>
                <a:lnTo>
                  <a:pt x="40411" y="50006"/>
                </a:lnTo>
                <a:close/>
              </a:path>
            </a:pathLst>
          </a:custGeom>
          <a:solidFill>
            <a:srgbClr val="60A5FA"/>
          </a:solidFill>
          <a:ln>
            <a:noFill/>
          </a:ln>
        </p:spPr>
      </p:sp>
      <p:sp>
        <p:nvSpPr>
          <p:cNvPr id="54" name="TextBox 54"/>
          <p:cNvSpPr txBox="1"/>
          <p:nvPr/>
        </p:nvSpPr>
        <p:spPr>
          <a:xfrm>
            <a:off x="984885" y="5442585"/>
            <a:ext cx="6903739"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panose="020B0704020202020204"/>
                <a:ea typeface="Arial" panose="020B0704020202020204"/>
                <a:cs typeface="Arial" panose="020B0704020202020204"/>
              </a:rPr>
              <a:t>Nguyên tắc cốt lõi: Server là Single Source of Truth (Nguồn chân lý duy nhất)</a:t>
            </a:r>
            <a:endParaRPr lang="zh-CN" sz="1200" b="1" dirty="0">
              <a:solidFill>
                <a:srgbClr val="FFFFFF"/>
              </a:solidFill>
              <a:latin typeface="Arial" panose="020B0704020202020204"/>
              <a:ea typeface="Arial" panose="020B0704020202020204"/>
              <a:cs typeface="Arial" panose="020B0704020202020204"/>
            </a:endParaRPr>
          </a:p>
        </p:txBody>
      </p:sp>
      <p:sp>
        <p:nvSpPr>
          <p:cNvPr id="55" name="TextBox 55"/>
          <p:cNvSpPr txBox="1"/>
          <p:nvPr/>
        </p:nvSpPr>
        <p:spPr>
          <a:xfrm>
            <a:off x="986790" y="5715952"/>
            <a:ext cx="10209276" cy="213360"/>
          </a:xfrm>
          <a:prstGeom prst="rect">
            <a:avLst/>
          </a:prstGeom>
          <a:noFill/>
          <a:ln>
            <a:noFill/>
          </a:ln>
        </p:spPr>
        <p:txBody>
          <a:bodyPr wrap="none" lIns="0" tIns="0" rIns="0" bIns="0" anchor="t" anchorCtr="0">
            <a:spAutoFit/>
          </a:bodyPr>
          <a:lstStyle/>
          <a:p>
            <a:pPr algn="l"/>
            <a:r>
              <a:rPr lang="zh-CN" sz="1050" dirty="0">
                <a:solidFill>
                  <a:srgbClr val="94A3B8"/>
                </a:solidFill>
                <a:latin typeface="Arial" panose="020B0704020202020204"/>
                <a:ea typeface="Arial" panose="020B0704020202020204"/>
                <a:cs typeface="Arial" panose="020B0704020202020204"/>
              </a:rPr>
              <a:t>Android không tự tạo dữ liệu giả hay tự tính cước; mọi quyết định trạng thái, thanh toán và gán tài xế đều do Backend kiểm định qua JWT.</a:t>
            </a:r>
            <a:endParaRPr lang="zh-CN" sz="1050" dirty="0">
              <a:solidFill>
                <a:srgbClr val="94A3B8"/>
              </a:solidFill>
              <a:latin typeface="Arial" panose="020B0704020202020204"/>
              <a:ea typeface="Arial" panose="020B0704020202020204"/>
              <a:cs typeface="Arial" panose="020B0704020202020204"/>
            </a:endParaRPr>
          </a:p>
        </p:txBody>
      </p:sp>
      <p:sp>
        <p:nvSpPr>
          <p:cNvPr id="56" name="Line 56"/>
          <p:cNvSpPr/>
          <p:nvPr/>
        </p:nvSpPr>
        <p:spPr>
          <a:xfrm>
            <a:off x="381000" y="6334125"/>
            <a:ext cx="11430000" cy="9525"/>
          </a:xfrm>
          <a:custGeom>
            <a:avLst/>
            <a:gdLst/>
            <a:ahLst/>
            <a:cxnLst/>
            <a:rect l="l" t="t" r="r" b="b"/>
            <a:pathLst>
              <a:path w="11430000" h="9525">
                <a:moveTo>
                  <a:pt x="0" y="0"/>
                </a:moveTo>
                <a:lnTo>
                  <a:pt x="11430000" y="0"/>
                </a:lnTo>
              </a:path>
            </a:pathLst>
          </a:custGeom>
          <a:noFill/>
          <a:ln w="9525">
            <a:solidFill>
              <a:srgbClr val="CBD5E1"/>
            </a:solidFill>
          </a:ln>
        </p:spPr>
      </p:sp>
      <p:sp>
        <p:nvSpPr>
          <p:cNvPr id="57" name="TextBox 57"/>
          <p:cNvSpPr txBox="1"/>
          <p:nvPr/>
        </p:nvSpPr>
        <p:spPr>
          <a:xfrm>
            <a:off x="368618" y="6514624"/>
            <a:ext cx="3563374"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panose="020B0704020202020204"/>
                <a:ea typeface="Arial" panose="020B0704020202020204"/>
                <a:cs typeface="Arial" panose="020B0704020202020204"/>
              </a:rPr>
              <a:t>Báo cáo Đồ án Lập trình Di động (MOB402) • Nhóm 10</a:t>
            </a:r>
            <a:endParaRPr lang="zh-CN" sz="975" dirty="0">
              <a:solidFill>
                <a:srgbClr val="64748B"/>
              </a:solidFill>
              <a:latin typeface="Arial" panose="020B0704020202020204"/>
              <a:ea typeface="Arial" panose="020B0704020202020204"/>
              <a:cs typeface="Arial" panose="020B0704020202020204"/>
            </a:endParaRPr>
          </a:p>
        </p:txBody>
      </p:sp>
      <p:sp>
        <p:nvSpPr>
          <p:cNvPr id="58" name="TextBox 58"/>
          <p:cNvSpPr txBox="1"/>
          <p:nvPr/>
        </p:nvSpPr>
        <p:spPr>
          <a:xfrm>
            <a:off x="4933748" y="6514624"/>
            <a:ext cx="2324505" cy="198120"/>
          </a:xfrm>
          <a:prstGeom prst="rect">
            <a:avLst/>
          </a:prstGeom>
          <a:noFill/>
          <a:ln>
            <a:noFill/>
          </a:ln>
        </p:spPr>
        <p:txBody>
          <a:bodyPr wrap="none" lIns="0" tIns="0" rIns="0" bIns="0" anchor="t" anchorCtr="0">
            <a:spAutoFit/>
          </a:bodyPr>
          <a:lstStyle/>
          <a:p>
            <a:pPr algn="ctr"/>
            <a:r>
              <a:rPr lang="zh-CN" sz="975" dirty="0">
                <a:solidFill>
                  <a:srgbClr val="94A3B8"/>
                </a:solidFill>
                <a:latin typeface="Arial" panose="020B0704020202020204"/>
                <a:ea typeface="Arial" panose="020B0704020202020204"/>
                <a:cs typeface="Arial" panose="020B0704020202020204"/>
              </a:rPr>
              <a:t>Cơ sở lý thuyết &amp; Stack công nghệ</a:t>
            </a:r>
            <a:endParaRPr lang="zh-CN" sz="975" dirty="0">
              <a:solidFill>
                <a:srgbClr val="94A3B8"/>
              </a:solidFill>
              <a:latin typeface="Arial" panose="020B0704020202020204"/>
              <a:ea typeface="Arial" panose="020B0704020202020204"/>
              <a:cs typeface="Arial" panose="020B0704020202020204"/>
            </a:endParaRPr>
          </a:p>
        </p:txBody>
      </p:sp>
      <p:sp>
        <p:nvSpPr>
          <p:cNvPr id="59" name="TextBox 59"/>
          <p:cNvSpPr txBox="1"/>
          <p:nvPr/>
        </p:nvSpPr>
        <p:spPr>
          <a:xfrm>
            <a:off x="11298503" y="6506528"/>
            <a:ext cx="525832" cy="213360"/>
          </a:xfrm>
          <a:prstGeom prst="rect">
            <a:avLst/>
          </a:prstGeom>
          <a:noFill/>
          <a:ln>
            <a:noFill/>
          </a:ln>
        </p:spPr>
        <p:txBody>
          <a:bodyPr wrap="none" lIns="0" tIns="0" rIns="0" bIns="0" anchor="t" anchorCtr="0">
            <a:spAutoFit/>
          </a:bodyPr>
          <a:lstStyle/>
          <a:p>
            <a:pPr algn="r"/>
            <a:r>
              <a:rPr lang="zh-CN" sz="1050" b="1" dirty="0">
                <a:solidFill>
                  <a:srgbClr val="003366"/>
                </a:solidFill>
                <a:latin typeface="Arial" panose="020B0704020202020204"/>
                <a:ea typeface="Arial" panose="020B0704020202020204"/>
                <a:cs typeface="Arial" panose="020B0704020202020204"/>
              </a:rPr>
              <a:t>05 / 14</a:t>
            </a:r>
            <a:endParaRPr lang="zh-CN" sz="1050" b="1" dirty="0">
              <a:solidFill>
                <a:srgbClr val="003366"/>
              </a:solidFill>
              <a:latin typeface="Arial" panose="020B0704020202020204"/>
              <a:ea typeface="Arial" panose="020B0704020202020204"/>
              <a:cs typeface="Arial" panose="020B07040202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137795" y="0"/>
            <a:ext cx="12329795" cy="6858000"/>
          </a:xfrm>
          <a:prstGeom prst="rect">
            <a:avLst/>
          </a:prstGeom>
          <a:solidFill>
            <a:srgbClr val="F8FAFC"/>
          </a:solidFill>
          <a:ln>
            <a:noFill/>
          </a:ln>
        </p:spPr>
      </p:sp>
      <p:sp>
        <p:nvSpPr>
          <p:cNvPr id="4" name="Rectangle 4"/>
          <p:cNvSpPr/>
          <p:nvPr/>
        </p:nvSpPr>
        <p:spPr>
          <a:xfrm>
            <a:off x="0" y="0"/>
            <a:ext cx="12192000" cy="666750"/>
          </a:xfrm>
          <a:prstGeom prst="rect">
            <a:avLst/>
          </a:prstGeom>
          <a:solidFill>
            <a:srgbClr val="003366"/>
          </a:solidFill>
          <a:ln>
            <a:noFill/>
          </a:ln>
        </p:spPr>
      </p:sp>
      <p:sp>
        <p:nvSpPr>
          <p:cNvPr id="5" name="Rectangle 5"/>
          <p:cNvSpPr/>
          <p:nvPr/>
        </p:nvSpPr>
        <p:spPr>
          <a:xfrm>
            <a:off x="0" y="0"/>
            <a:ext cx="57150" cy="666750"/>
          </a:xfrm>
          <a:prstGeom prst="rect">
            <a:avLst/>
          </a:prstGeom>
          <a:solidFill>
            <a:srgbClr val="E65100"/>
          </a:solidFill>
          <a:ln>
            <a:noFill/>
          </a:ln>
        </p:spPr>
      </p:sp>
      <p:sp>
        <p:nvSpPr>
          <p:cNvPr id="6" name="TextBox 6"/>
          <p:cNvSpPr txBox="1"/>
          <p:nvPr/>
        </p:nvSpPr>
        <p:spPr>
          <a:xfrm>
            <a:off x="356235" y="227648"/>
            <a:ext cx="7106812" cy="396240"/>
          </a:xfrm>
          <a:prstGeom prst="rect">
            <a:avLst/>
          </a:prstGeom>
          <a:noFill/>
          <a:ln>
            <a:noFill/>
          </a:ln>
        </p:spPr>
        <p:txBody>
          <a:bodyPr wrap="none" lIns="0" tIns="0" rIns="0" bIns="0" anchor="t" anchorCtr="0">
            <a:spAutoFit/>
          </a:bodyPr>
          <a:lstStyle/>
          <a:p>
            <a:pPr algn="l"/>
            <a:r>
              <a:rPr lang="zh-CN" sz="1950" b="1" dirty="0">
                <a:solidFill>
                  <a:srgbClr val="FFFFFF"/>
                </a:solidFill>
                <a:latin typeface="Arial" panose="020B0704020202020204"/>
                <a:ea typeface="Arial" panose="020B0704020202020204"/>
                <a:cs typeface="Arial" panose="020B0704020202020204"/>
              </a:rPr>
              <a:t>03. KIẾN TRÚC HỆ THỐNG &amp; LUỒNG DỮ LIỆU TỔNG QUÁT</a:t>
            </a:r>
            <a:endParaRPr lang="zh-CN" sz="1950" b="1" dirty="0">
              <a:solidFill>
                <a:srgbClr val="FFFFFF"/>
              </a:solidFill>
              <a:latin typeface="Arial" panose="020B0704020202020204"/>
              <a:ea typeface="Arial" panose="020B0704020202020204"/>
              <a:cs typeface="Arial" panose="020B0704020202020204"/>
            </a:endParaRPr>
          </a:p>
        </p:txBody>
      </p:sp>
      <p:sp>
        <p:nvSpPr>
          <p:cNvPr id="7" name="TextBox 7"/>
          <p:cNvSpPr txBox="1"/>
          <p:nvPr/>
        </p:nvSpPr>
        <p:spPr>
          <a:xfrm>
            <a:off x="10295973" y="299085"/>
            <a:ext cx="1530267" cy="243840"/>
          </a:xfrm>
          <a:prstGeom prst="rect">
            <a:avLst/>
          </a:prstGeom>
          <a:noFill/>
          <a:ln>
            <a:noFill/>
          </a:ln>
        </p:spPr>
        <p:txBody>
          <a:bodyPr wrap="none" lIns="0" tIns="0" rIns="0" bIns="0" anchor="t" anchorCtr="0">
            <a:spAutoFit/>
          </a:bodyPr>
          <a:lstStyle/>
          <a:p>
            <a:pPr algn="r"/>
            <a:r>
              <a:rPr lang="zh-CN" sz="1200" b="1" dirty="0">
                <a:solidFill>
                  <a:srgbClr val="93C5FD"/>
                </a:solidFill>
                <a:latin typeface="Arial" panose="020B0704020202020204"/>
                <a:ea typeface="Arial" panose="020B0704020202020204"/>
                <a:cs typeface="Arial" panose="020B0704020202020204"/>
              </a:rPr>
              <a:t>GODROP DELIVERY</a:t>
            </a:r>
            <a:endParaRPr lang="zh-CN" sz="1200" b="1" dirty="0">
              <a:solidFill>
                <a:srgbClr val="93C5FD"/>
              </a:solidFill>
              <a:latin typeface="Arial" panose="020B0704020202020204"/>
              <a:ea typeface="Arial" panose="020B0704020202020204"/>
              <a:cs typeface="Arial" panose="020B0704020202020204"/>
            </a:endParaRPr>
          </a:p>
        </p:txBody>
      </p:sp>
      <p:sp>
        <p:nvSpPr>
          <p:cNvPr id="8" name="Rectangle 8"/>
          <p:cNvSpPr/>
          <p:nvPr/>
        </p:nvSpPr>
        <p:spPr>
          <a:xfrm>
            <a:off x="0" y="666750"/>
            <a:ext cx="12192000" cy="476250"/>
          </a:xfrm>
          <a:prstGeom prst="rect">
            <a:avLst/>
          </a:prstGeom>
          <a:solidFill>
            <a:srgbClr val="E8F4FC"/>
          </a:solidFill>
          <a:ln>
            <a:noFill/>
          </a:ln>
        </p:spPr>
      </p:sp>
      <p:sp>
        <p:nvSpPr>
          <p:cNvPr id="9" name="Rectangle 9"/>
          <p:cNvSpPr/>
          <p:nvPr/>
        </p:nvSpPr>
        <p:spPr>
          <a:xfrm>
            <a:off x="0" y="666750"/>
            <a:ext cx="57150" cy="476250"/>
          </a:xfrm>
          <a:prstGeom prst="rect">
            <a:avLst/>
          </a:prstGeom>
          <a:solidFill>
            <a:srgbClr val="0066CC"/>
          </a:solidFill>
          <a:ln>
            <a:noFill/>
          </a:ln>
        </p:spPr>
      </p:sp>
      <p:sp>
        <p:nvSpPr>
          <p:cNvPr id="10" name="TextBox 10"/>
          <p:cNvSpPr txBox="1"/>
          <p:nvPr/>
        </p:nvSpPr>
        <p:spPr>
          <a:xfrm>
            <a:off x="364808" y="824389"/>
            <a:ext cx="10292763" cy="259080"/>
          </a:xfrm>
          <a:prstGeom prst="rect">
            <a:avLst/>
          </a:prstGeom>
          <a:noFill/>
          <a:ln>
            <a:noFill/>
          </a:ln>
        </p:spPr>
        <p:txBody>
          <a:bodyPr wrap="none" lIns="0" tIns="0" rIns="0" bIns="0" anchor="t" anchorCtr="0">
            <a:spAutoFit/>
          </a:bodyPr>
          <a:lstStyle/>
          <a:p>
            <a:pPr algn="l"/>
            <a:r>
              <a:rPr lang="zh-CN" sz="1275" dirty="0">
                <a:solidFill>
                  <a:srgbClr val="0F172A"/>
                </a:solidFill>
                <a:latin typeface="Arial" panose="020B0704020202020204"/>
                <a:ea typeface="Arial" panose="020B0704020202020204"/>
                <a:cs typeface="Arial" panose="020B0704020202020204"/>
              </a:rPr>
              <a:t>Luồng xử lý 5 tầng khép kín từ Composable UI đến MongoDB, triệt tiêu nguy cơ sai lệch dữ liệu giữa Mobile và Server</a:t>
            </a:r>
            <a:endParaRPr lang="zh-CN" sz="1275" dirty="0">
              <a:solidFill>
                <a:srgbClr val="0F172A"/>
              </a:solidFill>
              <a:latin typeface="Arial" panose="020B0704020202020204"/>
              <a:ea typeface="Arial" panose="020B0704020202020204"/>
              <a:cs typeface="Arial" panose="020B0704020202020204"/>
            </a:endParaRPr>
          </a:p>
        </p:txBody>
      </p:sp>
      <p:sp>
        <p:nvSpPr>
          <p:cNvPr id="11" name="Freeform 11"/>
          <p:cNvSpPr/>
          <p:nvPr/>
        </p:nvSpPr>
        <p:spPr>
          <a:xfrm>
            <a:off x="381000" y="1285875"/>
            <a:ext cx="11430000" cy="1666875"/>
          </a:xfrm>
          <a:custGeom>
            <a:avLst/>
            <a:gdLst/>
            <a:ahLst/>
            <a:cxnLst/>
            <a:rect l="l" t="t" r="r" b="b"/>
            <a:pathLst>
              <a:path w="11430000" h="1666875">
                <a:moveTo>
                  <a:pt x="95250" y="0"/>
                </a:moveTo>
                <a:lnTo>
                  <a:pt x="11334750" y="0"/>
                </a:lnTo>
                <a:cubicBezTo>
                  <a:pt x="11387355" y="0"/>
                  <a:pt x="11430000" y="42645"/>
                  <a:pt x="11430000" y="95250"/>
                </a:cubicBezTo>
                <a:lnTo>
                  <a:pt x="11430000" y="1571625"/>
                </a:lnTo>
                <a:cubicBezTo>
                  <a:pt x="11430000" y="1624230"/>
                  <a:pt x="11387355" y="1666875"/>
                  <a:pt x="11334750" y="1666875"/>
                </a:cubicBezTo>
                <a:lnTo>
                  <a:pt x="95250" y="1666875"/>
                </a:lnTo>
                <a:cubicBezTo>
                  <a:pt x="42645" y="1666875"/>
                  <a:pt x="0" y="1624230"/>
                  <a:pt x="0" y="1571625"/>
                </a:cubicBezTo>
                <a:lnTo>
                  <a:pt x="0" y="95250"/>
                </a:lnTo>
                <a:cubicBezTo>
                  <a:pt x="0" y="42645"/>
                  <a:pt x="42645" y="0"/>
                  <a:pt x="95250" y="0"/>
                </a:cubicBezTo>
                <a:close/>
              </a:path>
            </a:pathLst>
          </a:custGeom>
          <a:solidFill>
            <a:srgbClr val="FFFFFF"/>
          </a:solidFill>
          <a:ln w="14288">
            <a:solidFill>
              <a:srgbClr val="E2E8F0"/>
            </a:solidFill>
          </a:ln>
        </p:spPr>
      </p:sp>
      <p:sp>
        <p:nvSpPr>
          <p:cNvPr id="12" name="TextBox 12"/>
          <p:cNvSpPr txBox="1"/>
          <p:nvPr/>
        </p:nvSpPr>
        <p:spPr>
          <a:xfrm>
            <a:off x="556260" y="1413510"/>
            <a:ext cx="5238331" cy="243840"/>
          </a:xfrm>
          <a:prstGeom prst="rect">
            <a:avLst/>
          </a:prstGeom>
          <a:noFill/>
          <a:ln>
            <a:noFill/>
          </a:ln>
        </p:spPr>
        <p:txBody>
          <a:bodyPr wrap="none" lIns="0" tIns="0" rIns="0" bIns="0" anchor="t" anchorCtr="0">
            <a:spAutoFit/>
          </a:bodyPr>
          <a:lstStyle/>
          <a:p>
            <a:pPr algn="l"/>
            <a:r>
              <a:rPr lang="zh-CN" sz="1200" b="1" dirty="0">
                <a:solidFill>
                  <a:srgbClr val="003366"/>
                </a:solidFill>
                <a:latin typeface="Arial" panose="020B0704020202020204"/>
                <a:ea typeface="Arial" panose="020B0704020202020204"/>
                <a:cs typeface="Arial" panose="020B0704020202020204"/>
              </a:rPr>
              <a:t>SƠ ĐỒ KIẾN TRÚC END-TO-END TỪ GIAO DIỆN ĐẾN CƠ SỞ DỮ LIỆU:</a:t>
            </a:r>
            <a:endParaRPr lang="zh-CN" sz="1200" b="1" dirty="0">
              <a:solidFill>
                <a:srgbClr val="003366"/>
              </a:solidFill>
              <a:latin typeface="Arial" panose="020B0704020202020204"/>
              <a:ea typeface="Arial" panose="020B0704020202020204"/>
              <a:cs typeface="Arial" panose="020B0704020202020204"/>
            </a:endParaRPr>
          </a:p>
        </p:txBody>
      </p:sp>
      <p:sp>
        <p:nvSpPr>
          <p:cNvPr id="13" name="Freeform 13"/>
          <p:cNvSpPr/>
          <p:nvPr/>
        </p:nvSpPr>
        <p:spPr>
          <a:xfrm>
            <a:off x="571500" y="1714500"/>
            <a:ext cx="1905000" cy="1047750"/>
          </a:xfrm>
          <a:custGeom>
            <a:avLst/>
            <a:gdLst/>
            <a:ahLst/>
            <a:cxnLst/>
            <a:rect l="l" t="t" r="r" b="b"/>
            <a:pathLst>
              <a:path w="1905000" h="1047750">
                <a:moveTo>
                  <a:pt x="76200" y="0"/>
                </a:moveTo>
                <a:lnTo>
                  <a:pt x="1828800" y="0"/>
                </a:lnTo>
                <a:cubicBezTo>
                  <a:pt x="1870884" y="0"/>
                  <a:pt x="1905000" y="34116"/>
                  <a:pt x="1905000" y="76200"/>
                </a:cubicBezTo>
                <a:lnTo>
                  <a:pt x="1905000" y="971550"/>
                </a:lnTo>
                <a:cubicBezTo>
                  <a:pt x="1905000" y="1013634"/>
                  <a:pt x="1870884" y="1047750"/>
                  <a:pt x="1828800" y="1047750"/>
                </a:cubicBezTo>
                <a:lnTo>
                  <a:pt x="76200" y="1047750"/>
                </a:lnTo>
                <a:cubicBezTo>
                  <a:pt x="34116" y="1047750"/>
                  <a:pt x="0" y="1013634"/>
                  <a:pt x="0" y="971550"/>
                </a:cubicBezTo>
                <a:lnTo>
                  <a:pt x="0" y="76200"/>
                </a:lnTo>
                <a:cubicBezTo>
                  <a:pt x="0" y="34116"/>
                  <a:pt x="34116" y="0"/>
                  <a:pt x="76200" y="0"/>
                </a:cubicBezTo>
                <a:close/>
              </a:path>
            </a:pathLst>
          </a:custGeom>
          <a:solidFill>
            <a:srgbClr val="EFF6FF"/>
          </a:solidFill>
          <a:ln w="14288">
            <a:solidFill>
              <a:srgbClr val="3B82F6"/>
            </a:solidFill>
          </a:ln>
        </p:spPr>
      </p:sp>
      <p:sp>
        <p:nvSpPr>
          <p:cNvPr id="14" name="TextBox 14"/>
          <p:cNvSpPr txBox="1"/>
          <p:nvPr/>
        </p:nvSpPr>
        <p:spPr>
          <a:xfrm>
            <a:off x="1074096" y="1859756"/>
            <a:ext cx="899809" cy="228600"/>
          </a:xfrm>
          <a:prstGeom prst="rect">
            <a:avLst/>
          </a:prstGeom>
          <a:noFill/>
          <a:ln>
            <a:noFill/>
          </a:ln>
        </p:spPr>
        <p:txBody>
          <a:bodyPr wrap="none" lIns="0" tIns="0" rIns="0" bIns="0" anchor="t" anchorCtr="0">
            <a:spAutoFit/>
          </a:bodyPr>
          <a:lstStyle/>
          <a:p>
            <a:pPr algn="ctr"/>
            <a:r>
              <a:rPr lang="zh-CN" sz="1125" b="1" dirty="0">
                <a:solidFill>
                  <a:srgbClr val="1D4ED8"/>
                </a:solidFill>
                <a:latin typeface="Arial" panose="020B0704020202020204"/>
                <a:ea typeface="Arial" panose="020B0704020202020204"/>
                <a:cs typeface="Arial" panose="020B0704020202020204"/>
              </a:rPr>
              <a:t>1. UI Layer</a:t>
            </a:r>
            <a:endParaRPr lang="zh-CN" sz="1125" b="1" dirty="0">
              <a:solidFill>
                <a:srgbClr val="1D4ED8"/>
              </a:solidFill>
              <a:latin typeface="Arial" panose="020B0704020202020204"/>
              <a:ea typeface="Arial" panose="020B0704020202020204"/>
              <a:cs typeface="Arial" panose="020B0704020202020204"/>
            </a:endParaRPr>
          </a:p>
        </p:txBody>
      </p:sp>
      <p:sp>
        <p:nvSpPr>
          <p:cNvPr id="15" name="TextBox 15"/>
          <p:cNvSpPr txBox="1"/>
          <p:nvPr/>
        </p:nvSpPr>
        <p:spPr>
          <a:xfrm>
            <a:off x="927783" y="2104549"/>
            <a:ext cx="1192435" cy="198120"/>
          </a:xfrm>
          <a:prstGeom prst="rect">
            <a:avLst/>
          </a:prstGeom>
          <a:noFill/>
          <a:ln>
            <a:noFill/>
          </a:ln>
        </p:spPr>
        <p:txBody>
          <a:bodyPr wrap="none" lIns="0" tIns="0" rIns="0" bIns="0" anchor="t" anchorCtr="0">
            <a:spAutoFit/>
          </a:bodyPr>
          <a:lstStyle/>
          <a:p>
            <a:pPr algn="ctr"/>
            <a:r>
              <a:rPr lang="zh-CN" sz="975" dirty="0">
                <a:solidFill>
                  <a:srgbClr val="1E40AF"/>
                </a:solidFill>
                <a:latin typeface="Arial" panose="020B0704020202020204"/>
                <a:ea typeface="Arial" panose="020B0704020202020204"/>
                <a:cs typeface="Arial" panose="020B0704020202020204"/>
              </a:rPr>
              <a:t>Jetpack Compose</a:t>
            </a:r>
            <a:endParaRPr lang="zh-CN" sz="975" dirty="0">
              <a:solidFill>
                <a:srgbClr val="1E40AF"/>
              </a:solidFill>
              <a:latin typeface="Arial" panose="020B0704020202020204"/>
              <a:ea typeface="Arial" panose="020B0704020202020204"/>
              <a:cs typeface="Arial" panose="020B0704020202020204"/>
            </a:endParaRPr>
          </a:p>
        </p:txBody>
      </p:sp>
      <p:sp>
        <p:nvSpPr>
          <p:cNvPr id="16" name="TextBox 16"/>
          <p:cNvSpPr txBox="1"/>
          <p:nvPr/>
        </p:nvSpPr>
        <p:spPr>
          <a:xfrm>
            <a:off x="825770" y="2303145"/>
            <a:ext cx="1396460" cy="182880"/>
          </a:xfrm>
          <a:prstGeom prst="rect">
            <a:avLst/>
          </a:prstGeom>
          <a:noFill/>
          <a:ln>
            <a:noFill/>
          </a:ln>
        </p:spPr>
        <p:txBody>
          <a:bodyPr wrap="none" lIns="0" tIns="0" rIns="0" bIns="0" anchor="t" anchorCtr="0">
            <a:spAutoFit/>
          </a:bodyPr>
          <a:lstStyle/>
          <a:p>
            <a:pPr algn="ctr"/>
            <a:r>
              <a:rPr lang="zh-CN" sz="900" dirty="0">
                <a:solidFill>
                  <a:srgbClr val="475569"/>
                </a:solidFill>
                <a:latin typeface="Arial" panose="020B0704020202020204"/>
                <a:ea typeface="Arial" panose="020B0704020202020204"/>
                <a:cs typeface="Arial" panose="020B0704020202020204"/>
              </a:rPr>
              <a:t>Composable Functions</a:t>
            </a:r>
            <a:endParaRPr lang="zh-CN" sz="900" dirty="0">
              <a:solidFill>
                <a:srgbClr val="475569"/>
              </a:solidFill>
              <a:latin typeface="Arial" panose="020B0704020202020204"/>
              <a:ea typeface="Arial" panose="020B0704020202020204"/>
              <a:cs typeface="Arial" panose="020B0704020202020204"/>
            </a:endParaRPr>
          </a:p>
        </p:txBody>
      </p:sp>
      <p:sp>
        <p:nvSpPr>
          <p:cNvPr id="17" name="TextBox 17"/>
          <p:cNvSpPr txBox="1"/>
          <p:nvPr/>
        </p:nvSpPr>
        <p:spPr>
          <a:xfrm>
            <a:off x="950643" y="2493645"/>
            <a:ext cx="1146715" cy="182880"/>
          </a:xfrm>
          <a:prstGeom prst="rect">
            <a:avLst/>
          </a:prstGeom>
          <a:noFill/>
          <a:ln>
            <a:noFill/>
          </a:ln>
        </p:spPr>
        <p:txBody>
          <a:bodyPr wrap="none" lIns="0" tIns="0" rIns="0" bIns="0" anchor="t" anchorCtr="0">
            <a:spAutoFit/>
          </a:bodyPr>
          <a:lstStyle/>
          <a:p>
            <a:pPr algn="ctr"/>
            <a:r>
              <a:rPr lang="zh-CN" sz="900" dirty="0">
                <a:solidFill>
                  <a:srgbClr val="475569"/>
                </a:solidFill>
                <a:latin typeface="Arial" panose="020B0704020202020204"/>
                <a:ea typeface="Arial" panose="020B0704020202020204"/>
                <a:cs typeface="Arial" panose="020B0704020202020204"/>
              </a:rPr>
              <a:t>Quan sát UI State</a:t>
            </a:r>
            <a:endParaRPr lang="zh-CN" sz="900" dirty="0">
              <a:solidFill>
                <a:srgbClr val="475569"/>
              </a:solidFill>
              <a:latin typeface="Arial" panose="020B0704020202020204"/>
              <a:ea typeface="Arial" panose="020B0704020202020204"/>
              <a:cs typeface="Arial" panose="020B0704020202020204"/>
            </a:endParaRPr>
          </a:p>
        </p:txBody>
      </p:sp>
      <p:sp>
        <p:nvSpPr>
          <p:cNvPr id="18" name="Polygon 18"/>
          <p:cNvSpPr/>
          <p:nvPr/>
        </p:nvSpPr>
        <p:spPr>
          <a:xfrm>
            <a:off x="2590800" y="2190750"/>
            <a:ext cx="95250" cy="47625"/>
          </a:xfrm>
          <a:custGeom>
            <a:avLst/>
            <a:gdLst/>
            <a:ahLst/>
            <a:cxnLst/>
            <a:rect l="l" t="t" r="r" b="b"/>
            <a:pathLst>
              <a:path w="95250" h="47625">
                <a:moveTo>
                  <a:pt x="0" y="47625"/>
                </a:moveTo>
                <a:lnTo>
                  <a:pt x="95250" y="47625"/>
                </a:lnTo>
                <a:lnTo>
                  <a:pt x="47625" y="0"/>
                </a:lnTo>
                <a:close/>
              </a:path>
            </a:pathLst>
          </a:custGeom>
          <a:solidFill>
            <a:srgbClr val="3B82F6"/>
          </a:solidFill>
          <a:ln>
            <a:noFill/>
          </a:ln>
        </p:spPr>
      </p:sp>
      <p:sp>
        <p:nvSpPr>
          <p:cNvPr id="19" name="Polygon 19"/>
          <p:cNvSpPr/>
          <p:nvPr/>
        </p:nvSpPr>
        <p:spPr>
          <a:xfrm>
            <a:off x="2638425" y="2190750"/>
            <a:ext cx="85725" cy="95250"/>
          </a:xfrm>
          <a:custGeom>
            <a:avLst/>
            <a:gdLst/>
            <a:ahLst/>
            <a:cxnLst/>
            <a:rect l="l" t="t" r="r" b="b"/>
            <a:pathLst>
              <a:path w="85725" h="95250">
                <a:moveTo>
                  <a:pt x="0" y="0"/>
                </a:moveTo>
                <a:lnTo>
                  <a:pt x="85725" y="47625"/>
                </a:lnTo>
                <a:lnTo>
                  <a:pt x="0" y="95250"/>
                </a:lnTo>
                <a:close/>
              </a:path>
            </a:pathLst>
          </a:custGeom>
          <a:solidFill>
            <a:srgbClr val="3B82F6"/>
          </a:solidFill>
          <a:ln>
            <a:noFill/>
          </a:ln>
        </p:spPr>
      </p:sp>
      <p:sp>
        <p:nvSpPr>
          <p:cNvPr id="20" name="Freeform 20"/>
          <p:cNvSpPr/>
          <p:nvPr/>
        </p:nvSpPr>
        <p:spPr>
          <a:xfrm>
            <a:off x="2857500" y="1714500"/>
            <a:ext cx="1905000" cy="1047750"/>
          </a:xfrm>
          <a:custGeom>
            <a:avLst/>
            <a:gdLst/>
            <a:ahLst/>
            <a:cxnLst/>
            <a:rect l="l" t="t" r="r" b="b"/>
            <a:pathLst>
              <a:path w="1905000" h="1047750">
                <a:moveTo>
                  <a:pt x="76200" y="0"/>
                </a:moveTo>
                <a:lnTo>
                  <a:pt x="1828800" y="0"/>
                </a:lnTo>
                <a:cubicBezTo>
                  <a:pt x="1870884" y="0"/>
                  <a:pt x="1905000" y="34116"/>
                  <a:pt x="1905000" y="76200"/>
                </a:cubicBezTo>
                <a:lnTo>
                  <a:pt x="1905000" y="971550"/>
                </a:lnTo>
                <a:cubicBezTo>
                  <a:pt x="1905000" y="1013634"/>
                  <a:pt x="1870884" y="1047750"/>
                  <a:pt x="1828800" y="1047750"/>
                </a:cubicBezTo>
                <a:lnTo>
                  <a:pt x="76200" y="1047750"/>
                </a:lnTo>
                <a:cubicBezTo>
                  <a:pt x="34116" y="1047750"/>
                  <a:pt x="0" y="1013634"/>
                  <a:pt x="0" y="971550"/>
                </a:cubicBezTo>
                <a:lnTo>
                  <a:pt x="0" y="76200"/>
                </a:lnTo>
                <a:cubicBezTo>
                  <a:pt x="0" y="34116"/>
                  <a:pt x="34116" y="0"/>
                  <a:pt x="76200" y="0"/>
                </a:cubicBezTo>
                <a:close/>
              </a:path>
            </a:pathLst>
          </a:custGeom>
          <a:solidFill>
            <a:srgbClr val="EFF6FF"/>
          </a:solidFill>
          <a:ln w="14288">
            <a:solidFill>
              <a:srgbClr val="3B82F6"/>
            </a:solidFill>
          </a:ln>
        </p:spPr>
      </p:sp>
      <p:sp>
        <p:nvSpPr>
          <p:cNvPr id="21" name="TextBox 21"/>
          <p:cNvSpPr txBox="1"/>
          <p:nvPr/>
        </p:nvSpPr>
        <p:spPr>
          <a:xfrm>
            <a:off x="3256583" y="1859756"/>
            <a:ext cx="1106835" cy="228600"/>
          </a:xfrm>
          <a:prstGeom prst="rect">
            <a:avLst/>
          </a:prstGeom>
          <a:noFill/>
          <a:ln>
            <a:noFill/>
          </a:ln>
        </p:spPr>
        <p:txBody>
          <a:bodyPr wrap="none" lIns="0" tIns="0" rIns="0" bIns="0" anchor="t" anchorCtr="0">
            <a:spAutoFit/>
          </a:bodyPr>
          <a:lstStyle/>
          <a:p>
            <a:pPr algn="ctr"/>
            <a:r>
              <a:rPr lang="zh-CN" sz="1125" b="1" dirty="0">
                <a:solidFill>
                  <a:srgbClr val="1D4ED8"/>
                </a:solidFill>
                <a:latin typeface="Arial" panose="020B0704020202020204"/>
                <a:ea typeface="Arial" panose="020B0704020202020204"/>
                <a:cs typeface="Arial" panose="020B0704020202020204"/>
              </a:rPr>
              <a:t>2. ViewModel</a:t>
            </a:r>
            <a:endParaRPr lang="zh-CN" sz="1125" b="1" dirty="0">
              <a:solidFill>
                <a:srgbClr val="1D4ED8"/>
              </a:solidFill>
              <a:latin typeface="Arial" panose="020B0704020202020204"/>
              <a:ea typeface="Arial" panose="020B0704020202020204"/>
              <a:cs typeface="Arial" panose="020B0704020202020204"/>
            </a:endParaRPr>
          </a:p>
        </p:txBody>
      </p:sp>
      <p:sp>
        <p:nvSpPr>
          <p:cNvPr id="22" name="TextBox 22"/>
          <p:cNvSpPr txBox="1"/>
          <p:nvPr/>
        </p:nvSpPr>
        <p:spPr>
          <a:xfrm>
            <a:off x="3032224" y="2104549"/>
            <a:ext cx="1555552" cy="198120"/>
          </a:xfrm>
          <a:prstGeom prst="rect">
            <a:avLst/>
          </a:prstGeom>
          <a:noFill/>
          <a:ln>
            <a:noFill/>
          </a:ln>
        </p:spPr>
        <p:txBody>
          <a:bodyPr wrap="none" lIns="0" tIns="0" rIns="0" bIns="0" anchor="t" anchorCtr="0">
            <a:spAutoFit/>
          </a:bodyPr>
          <a:lstStyle/>
          <a:p>
            <a:pPr algn="ctr"/>
            <a:r>
              <a:rPr lang="zh-CN" sz="975" dirty="0">
                <a:solidFill>
                  <a:srgbClr val="1E40AF"/>
                </a:solidFill>
                <a:latin typeface="Arial" panose="020B0704020202020204"/>
                <a:ea typeface="Arial" panose="020B0704020202020204"/>
                <a:cs typeface="Arial" panose="020B0704020202020204"/>
              </a:rPr>
              <a:t>StateFlow &amp; Coroutine</a:t>
            </a:r>
            <a:endParaRPr lang="zh-CN" sz="975" dirty="0">
              <a:solidFill>
                <a:srgbClr val="1E40AF"/>
              </a:solidFill>
              <a:latin typeface="Arial" panose="020B0704020202020204"/>
              <a:ea typeface="Arial" panose="020B0704020202020204"/>
              <a:cs typeface="Arial" panose="020B0704020202020204"/>
            </a:endParaRPr>
          </a:p>
        </p:txBody>
      </p:sp>
      <p:sp>
        <p:nvSpPr>
          <p:cNvPr id="23" name="TextBox 23"/>
          <p:cNvSpPr txBox="1"/>
          <p:nvPr/>
        </p:nvSpPr>
        <p:spPr>
          <a:xfrm>
            <a:off x="3236643" y="2303145"/>
            <a:ext cx="1146715" cy="182880"/>
          </a:xfrm>
          <a:prstGeom prst="rect">
            <a:avLst/>
          </a:prstGeom>
          <a:noFill/>
          <a:ln>
            <a:noFill/>
          </a:ln>
        </p:spPr>
        <p:txBody>
          <a:bodyPr wrap="none" lIns="0" tIns="0" rIns="0" bIns="0" anchor="t" anchorCtr="0">
            <a:spAutoFit/>
          </a:bodyPr>
          <a:lstStyle/>
          <a:p>
            <a:pPr algn="ctr"/>
            <a:r>
              <a:rPr lang="zh-CN" sz="900" dirty="0">
                <a:solidFill>
                  <a:srgbClr val="475569"/>
                </a:solidFill>
                <a:latin typeface="Arial" panose="020B0704020202020204"/>
                <a:ea typeface="Arial" panose="020B0704020202020204"/>
                <a:cs typeface="Arial" panose="020B0704020202020204"/>
              </a:rPr>
              <a:t>SavedStateHandle</a:t>
            </a:r>
            <a:endParaRPr lang="zh-CN" sz="900" dirty="0">
              <a:solidFill>
                <a:srgbClr val="475569"/>
              </a:solidFill>
              <a:latin typeface="Arial" panose="020B0704020202020204"/>
              <a:ea typeface="Arial" panose="020B0704020202020204"/>
              <a:cs typeface="Arial" panose="020B0704020202020204"/>
            </a:endParaRPr>
          </a:p>
        </p:txBody>
      </p:sp>
      <p:sp>
        <p:nvSpPr>
          <p:cNvPr id="24" name="TextBox 24"/>
          <p:cNvSpPr txBox="1"/>
          <p:nvPr/>
        </p:nvSpPr>
        <p:spPr>
          <a:xfrm>
            <a:off x="3285934" y="2493645"/>
            <a:ext cx="1048131" cy="182880"/>
          </a:xfrm>
          <a:prstGeom prst="rect">
            <a:avLst/>
          </a:prstGeom>
          <a:noFill/>
          <a:ln>
            <a:noFill/>
          </a:ln>
        </p:spPr>
        <p:txBody>
          <a:bodyPr wrap="none" lIns="0" tIns="0" rIns="0" bIns="0" anchor="t" anchorCtr="0">
            <a:spAutoFit/>
          </a:bodyPr>
          <a:lstStyle/>
          <a:p>
            <a:pPr algn="ctr"/>
            <a:r>
              <a:rPr lang="zh-CN" sz="900" dirty="0">
                <a:solidFill>
                  <a:srgbClr val="475569"/>
                </a:solidFill>
                <a:latin typeface="Arial" panose="020B0704020202020204"/>
                <a:ea typeface="Arial" panose="020B0704020202020204"/>
                <a:cs typeface="Arial" panose="020B0704020202020204"/>
              </a:rPr>
              <a:t>Nhận event từ UI</a:t>
            </a:r>
            <a:endParaRPr lang="zh-CN" sz="900" dirty="0">
              <a:solidFill>
                <a:srgbClr val="475569"/>
              </a:solidFill>
              <a:latin typeface="Arial" panose="020B0704020202020204"/>
              <a:ea typeface="Arial" panose="020B0704020202020204"/>
              <a:cs typeface="Arial" panose="020B0704020202020204"/>
            </a:endParaRPr>
          </a:p>
        </p:txBody>
      </p:sp>
      <p:sp>
        <p:nvSpPr>
          <p:cNvPr id="25" name="Polygon 25"/>
          <p:cNvSpPr/>
          <p:nvPr/>
        </p:nvSpPr>
        <p:spPr>
          <a:xfrm>
            <a:off x="4876800" y="2190750"/>
            <a:ext cx="95250" cy="47625"/>
          </a:xfrm>
          <a:custGeom>
            <a:avLst/>
            <a:gdLst/>
            <a:ahLst/>
            <a:cxnLst/>
            <a:rect l="l" t="t" r="r" b="b"/>
            <a:pathLst>
              <a:path w="95250" h="47625">
                <a:moveTo>
                  <a:pt x="0" y="47625"/>
                </a:moveTo>
                <a:lnTo>
                  <a:pt x="95250" y="47625"/>
                </a:lnTo>
                <a:lnTo>
                  <a:pt x="47625" y="0"/>
                </a:lnTo>
                <a:close/>
              </a:path>
            </a:pathLst>
          </a:custGeom>
          <a:solidFill>
            <a:srgbClr val="3B82F6"/>
          </a:solidFill>
          <a:ln>
            <a:noFill/>
          </a:ln>
        </p:spPr>
      </p:sp>
      <p:sp>
        <p:nvSpPr>
          <p:cNvPr id="26" name="Polygon 26"/>
          <p:cNvSpPr/>
          <p:nvPr/>
        </p:nvSpPr>
        <p:spPr>
          <a:xfrm>
            <a:off x="4924425" y="2190750"/>
            <a:ext cx="85725" cy="95250"/>
          </a:xfrm>
          <a:custGeom>
            <a:avLst/>
            <a:gdLst/>
            <a:ahLst/>
            <a:cxnLst/>
            <a:rect l="l" t="t" r="r" b="b"/>
            <a:pathLst>
              <a:path w="85725" h="95250">
                <a:moveTo>
                  <a:pt x="0" y="0"/>
                </a:moveTo>
                <a:lnTo>
                  <a:pt x="85725" y="47625"/>
                </a:lnTo>
                <a:lnTo>
                  <a:pt x="0" y="95250"/>
                </a:lnTo>
                <a:close/>
              </a:path>
            </a:pathLst>
          </a:custGeom>
          <a:solidFill>
            <a:srgbClr val="3B82F6"/>
          </a:solidFill>
          <a:ln>
            <a:noFill/>
          </a:ln>
        </p:spPr>
      </p:sp>
      <p:sp>
        <p:nvSpPr>
          <p:cNvPr id="27" name="Freeform 27"/>
          <p:cNvSpPr/>
          <p:nvPr/>
        </p:nvSpPr>
        <p:spPr>
          <a:xfrm>
            <a:off x="5143500" y="1714500"/>
            <a:ext cx="1905000" cy="1047750"/>
          </a:xfrm>
          <a:custGeom>
            <a:avLst/>
            <a:gdLst/>
            <a:ahLst/>
            <a:cxnLst/>
            <a:rect l="l" t="t" r="r" b="b"/>
            <a:pathLst>
              <a:path w="1905000" h="1047750">
                <a:moveTo>
                  <a:pt x="76200" y="0"/>
                </a:moveTo>
                <a:lnTo>
                  <a:pt x="1828800" y="0"/>
                </a:lnTo>
                <a:cubicBezTo>
                  <a:pt x="1870884" y="0"/>
                  <a:pt x="1905000" y="34116"/>
                  <a:pt x="1905000" y="76200"/>
                </a:cubicBezTo>
                <a:lnTo>
                  <a:pt x="1905000" y="971550"/>
                </a:lnTo>
                <a:cubicBezTo>
                  <a:pt x="1905000" y="1013634"/>
                  <a:pt x="1870884" y="1047750"/>
                  <a:pt x="1828800" y="1047750"/>
                </a:cubicBezTo>
                <a:lnTo>
                  <a:pt x="76200" y="1047750"/>
                </a:lnTo>
                <a:cubicBezTo>
                  <a:pt x="34116" y="1047750"/>
                  <a:pt x="0" y="1013634"/>
                  <a:pt x="0" y="971550"/>
                </a:cubicBezTo>
                <a:lnTo>
                  <a:pt x="0" y="76200"/>
                </a:lnTo>
                <a:cubicBezTo>
                  <a:pt x="0" y="34116"/>
                  <a:pt x="34116" y="0"/>
                  <a:pt x="76200" y="0"/>
                </a:cubicBezTo>
                <a:close/>
              </a:path>
            </a:pathLst>
          </a:custGeom>
          <a:solidFill>
            <a:srgbClr val="EFF6FF"/>
          </a:solidFill>
          <a:ln w="14288">
            <a:solidFill>
              <a:srgbClr val="3B82F6"/>
            </a:solidFill>
          </a:ln>
        </p:spPr>
      </p:sp>
      <p:sp>
        <p:nvSpPr>
          <p:cNvPr id="28" name="TextBox 28"/>
          <p:cNvSpPr txBox="1"/>
          <p:nvPr/>
        </p:nvSpPr>
        <p:spPr>
          <a:xfrm>
            <a:off x="5508078" y="1859756"/>
            <a:ext cx="1175843" cy="228600"/>
          </a:xfrm>
          <a:prstGeom prst="rect">
            <a:avLst/>
          </a:prstGeom>
          <a:noFill/>
          <a:ln>
            <a:noFill/>
          </a:ln>
        </p:spPr>
        <p:txBody>
          <a:bodyPr wrap="none" lIns="0" tIns="0" rIns="0" bIns="0" anchor="t" anchorCtr="0">
            <a:spAutoFit/>
          </a:bodyPr>
          <a:lstStyle/>
          <a:p>
            <a:pPr algn="ctr"/>
            <a:r>
              <a:rPr lang="zh-CN" sz="1125" b="1" dirty="0">
                <a:solidFill>
                  <a:srgbClr val="1D4ED8"/>
                </a:solidFill>
                <a:latin typeface="Arial" panose="020B0704020202020204"/>
                <a:ea typeface="Arial" panose="020B0704020202020204"/>
                <a:cs typeface="Arial" panose="020B0704020202020204"/>
              </a:rPr>
              <a:t>3. Repository</a:t>
            </a:r>
            <a:endParaRPr lang="zh-CN" sz="1125" b="1" dirty="0">
              <a:solidFill>
                <a:srgbClr val="1D4ED8"/>
              </a:solidFill>
              <a:latin typeface="Arial" panose="020B0704020202020204"/>
              <a:ea typeface="Arial" panose="020B0704020202020204"/>
              <a:cs typeface="Arial" panose="020B0704020202020204"/>
            </a:endParaRPr>
          </a:p>
        </p:txBody>
      </p:sp>
      <p:sp>
        <p:nvSpPr>
          <p:cNvPr id="29" name="TextBox 29"/>
          <p:cNvSpPr txBox="1"/>
          <p:nvPr/>
        </p:nvSpPr>
        <p:spPr>
          <a:xfrm>
            <a:off x="5492663" y="2104549"/>
            <a:ext cx="1206675" cy="198120"/>
          </a:xfrm>
          <a:prstGeom prst="rect">
            <a:avLst/>
          </a:prstGeom>
          <a:noFill/>
          <a:ln>
            <a:noFill/>
          </a:ln>
        </p:spPr>
        <p:txBody>
          <a:bodyPr wrap="none" lIns="0" tIns="0" rIns="0" bIns="0" anchor="t" anchorCtr="0">
            <a:spAutoFit/>
          </a:bodyPr>
          <a:lstStyle/>
          <a:p>
            <a:pPr algn="ctr"/>
            <a:r>
              <a:rPr lang="zh-CN" sz="975" dirty="0">
                <a:solidFill>
                  <a:srgbClr val="1E40AF"/>
                </a:solidFill>
                <a:latin typeface="Arial" panose="020B0704020202020204"/>
                <a:ea typeface="Arial" panose="020B0704020202020204"/>
                <a:cs typeface="Arial" panose="020B0704020202020204"/>
              </a:rPr>
              <a:t>REST Data Broker</a:t>
            </a:r>
            <a:endParaRPr lang="zh-CN" sz="975" dirty="0">
              <a:solidFill>
                <a:srgbClr val="1E40AF"/>
              </a:solidFill>
              <a:latin typeface="Arial" panose="020B0704020202020204"/>
              <a:ea typeface="Arial" panose="020B0704020202020204"/>
              <a:cs typeface="Arial" panose="020B0704020202020204"/>
            </a:endParaRPr>
          </a:p>
        </p:txBody>
      </p:sp>
      <p:sp>
        <p:nvSpPr>
          <p:cNvPr id="30" name="TextBox 30"/>
          <p:cNvSpPr txBox="1"/>
          <p:nvPr/>
        </p:nvSpPr>
        <p:spPr>
          <a:xfrm>
            <a:off x="5361622" y="2303145"/>
            <a:ext cx="1468755" cy="182880"/>
          </a:xfrm>
          <a:prstGeom prst="rect">
            <a:avLst/>
          </a:prstGeom>
          <a:noFill/>
          <a:ln>
            <a:noFill/>
          </a:ln>
        </p:spPr>
        <p:txBody>
          <a:bodyPr wrap="none" lIns="0" tIns="0" rIns="0" bIns="0" anchor="t" anchorCtr="0">
            <a:spAutoFit/>
          </a:bodyPr>
          <a:lstStyle/>
          <a:p>
            <a:pPr algn="ctr"/>
            <a:r>
              <a:rPr lang="zh-CN" sz="900" dirty="0">
                <a:solidFill>
                  <a:srgbClr val="475569"/>
                </a:solidFill>
                <a:latin typeface="Arial" panose="020B0704020202020204"/>
                <a:ea typeface="Arial" panose="020B0704020202020204"/>
                <a:cs typeface="Arial" panose="020B0704020202020204"/>
              </a:rPr>
              <a:t>Chuyển đổi DTO ➔ Model</a:t>
            </a:r>
            <a:endParaRPr lang="zh-CN" sz="900" dirty="0">
              <a:solidFill>
                <a:srgbClr val="475569"/>
              </a:solidFill>
              <a:latin typeface="Arial" panose="020B0704020202020204"/>
              <a:ea typeface="Arial" panose="020B0704020202020204"/>
              <a:cs typeface="Arial" panose="020B0704020202020204"/>
            </a:endParaRPr>
          </a:p>
        </p:txBody>
      </p:sp>
      <p:sp>
        <p:nvSpPr>
          <p:cNvPr id="31" name="TextBox 31"/>
          <p:cNvSpPr txBox="1"/>
          <p:nvPr/>
        </p:nvSpPr>
        <p:spPr>
          <a:xfrm>
            <a:off x="5404342" y="2493645"/>
            <a:ext cx="1383316" cy="182880"/>
          </a:xfrm>
          <a:prstGeom prst="rect">
            <a:avLst/>
          </a:prstGeom>
          <a:noFill/>
          <a:ln>
            <a:noFill/>
          </a:ln>
        </p:spPr>
        <p:txBody>
          <a:bodyPr wrap="none" lIns="0" tIns="0" rIns="0" bIns="0" anchor="t" anchorCtr="0">
            <a:spAutoFit/>
          </a:bodyPr>
          <a:lstStyle/>
          <a:p>
            <a:pPr algn="ctr"/>
            <a:r>
              <a:rPr lang="zh-CN" sz="900" dirty="0">
                <a:solidFill>
                  <a:srgbClr val="475569"/>
                </a:solidFill>
                <a:latin typeface="Arial" panose="020B0704020202020204"/>
                <a:ea typeface="Arial" panose="020B0704020202020204"/>
                <a:cs typeface="Arial" panose="020B0704020202020204"/>
              </a:rPr>
              <a:t>Che giấu nguồn dữ liệu</a:t>
            </a:r>
            <a:endParaRPr lang="zh-CN" sz="900" dirty="0">
              <a:solidFill>
                <a:srgbClr val="475569"/>
              </a:solidFill>
              <a:latin typeface="Arial" panose="020B0704020202020204"/>
              <a:ea typeface="Arial" panose="020B0704020202020204"/>
              <a:cs typeface="Arial" panose="020B0704020202020204"/>
            </a:endParaRPr>
          </a:p>
        </p:txBody>
      </p:sp>
      <p:sp>
        <p:nvSpPr>
          <p:cNvPr id="32" name="Polygon 32"/>
          <p:cNvSpPr/>
          <p:nvPr/>
        </p:nvSpPr>
        <p:spPr>
          <a:xfrm>
            <a:off x="7162800" y="2190750"/>
            <a:ext cx="95250" cy="47625"/>
          </a:xfrm>
          <a:custGeom>
            <a:avLst/>
            <a:gdLst/>
            <a:ahLst/>
            <a:cxnLst/>
            <a:rect l="l" t="t" r="r" b="b"/>
            <a:pathLst>
              <a:path w="95250" h="47625">
                <a:moveTo>
                  <a:pt x="0" y="47625"/>
                </a:moveTo>
                <a:lnTo>
                  <a:pt x="95250" y="47625"/>
                </a:lnTo>
                <a:lnTo>
                  <a:pt x="47625" y="0"/>
                </a:lnTo>
                <a:close/>
              </a:path>
            </a:pathLst>
          </a:custGeom>
          <a:solidFill>
            <a:srgbClr val="E65100"/>
          </a:solidFill>
          <a:ln>
            <a:noFill/>
          </a:ln>
        </p:spPr>
      </p:sp>
      <p:sp>
        <p:nvSpPr>
          <p:cNvPr id="33" name="Polygon 33"/>
          <p:cNvSpPr/>
          <p:nvPr/>
        </p:nvSpPr>
        <p:spPr>
          <a:xfrm>
            <a:off x="7210425" y="2190750"/>
            <a:ext cx="85725" cy="95250"/>
          </a:xfrm>
          <a:custGeom>
            <a:avLst/>
            <a:gdLst/>
            <a:ahLst/>
            <a:cxnLst/>
            <a:rect l="l" t="t" r="r" b="b"/>
            <a:pathLst>
              <a:path w="85725" h="95250">
                <a:moveTo>
                  <a:pt x="0" y="0"/>
                </a:moveTo>
                <a:lnTo>
                  <a:pt x="85725" y="47625"/>
                </a:lnTo>
                <a:lnTo>
                  <a:pt x="0" y="95250"/>
                </a:lnTo>
                <a:close/>
              </a:path>
            </a:pathLst>
          </a:custGeom>
          <a:solidFill>
            <a:srgbClr val="E65100"/>
          </a:solidFill>
          <a:ln>
            <a:noFill/>
          </a:ln>
        </p:spPr>
      </p:sp>
      <p:sp>
        <p:nvSpPr>
          <p:cNvPr id="34" name="Freeform 34"/>
          <p:cNvSpPr/>
          <p:nvPr/>
        </p:nvSpPr>
        <p:spPr>
          <a:xfrm>
            <a:off x="7429500" y="1714500"/>
            <a:ext cx="1905000" cy="1047750"/>
          </a:xfrm>
          <a:custGeom>
            <a:avLst/>
            <a:gdLst/>
            <a:ahLst/>
            <a:cxnLst/>
            <a:rect l="l" t="t" r="r" b="b"/>
            <a:pathLst>
              <a:path w="1905000" h="1047750">
                <a:moveTo>
                  <a:pt x="76200" y="0"/>
                </a:moveTo>
                <a:lnTo>
                  <a:pt x="1828800" y="0"/>
                </a:lnTo>
                <a:cubicBezTo>
                  <a:pt x="1870884" y="0"/>
                  <a:pt x="1905000" y="34116"/>
                  <a:pt x="1905000" y="76200"/>
                </a:cubicBezTo>
                <a:lnTo>
                  <a:pt x="1905000" y="971550"/>
                </a:lnTo>
                <a:cubicBezTo>
                  <a:pt x="1905000" y="1013634"/>
                  <a:pt x="1870884" y="1047750"/>
                  <a:pt x="1828800" y="1047750"/>
                </a:cubicBezTo>
                <a:lnTo>
                  <a:pt x="76200" y="1047750"/>
                </a:lnTo>
                <a:cubicBezTo>
                  <a:pt x="34116" y="1047750"/>
                  <a:pt x="0" y="1013634"/>
                  <a:pt x="0" y="971550"/>
                </a:cubicBezTo>
                <a:lnTo>
                  <a:pt x="0" y="76200"/>
                </a:lnTo>
                <a:cubicBezTo>
                  <a:pt x="0" y="34116"/>
                  <a:pt x="34116" y="0"/>
                  <a:pt x="76200" y="0"/>
                </a:cubicBezTo>
                <a:close/>
              </a:path>
            </a:pathLst>
          </a:custGeom>
          <a:solidFill>
            <a:srgbClr val="FFF7ED"/>
          </a:solidFill>
          <a:ln w="14288">
            <a:solidFill>
              <a:srgbClr val="EA580C"/>
            </a:solidFill>
          </a:ln>
        </p:spPr>
      </p:sp>
      <p:sp>
        <p:nvSpPr>
          <p:cNvPr id="35" name="TextBox 35"/>
          <p:cNvSpPr txBox="1"/>
          <p:nvPr/>
        </p:nvSpPr>
        <p:spPr>
          <a:xfrm>
            <a:off x="7750948" y="1859756"/>
            <a:ext cx="1262104" cy="228600"/>
          </a:xfrm>
          <a:prstGeom prst="rect">
            <a:avLst/>
          </a:prstGeom>
          <a:noFill/>
          <a:ln>
            <a:noFill/>
          </a:ln>
        </p:spPr>
        <p:txBody>
          <a:bodyPr wrap="none" lIns="0" tIns="0" rIns="0" bIns="0" anchor="t" anchorCtr="0">
            <a:spAutoFit/>
          </a:bodyPr>
          <a:lstStyle/>
          <a:p>
            <a:pPr algn="ctr"/>
            <a:r>
              <a:rPr lang="zh-CN" sz="1125" b="1" dirty="0">
                <a:solidFill>
                  <a:srgbClr val="C2410C"/>
                </a:solidFill>
                <a:latin typeface="Arial" panose="020B0704020202020204"/>
                <a:ea typeface="Arial" panose="020B0704020202020204"/>
                <a:cs typeface="Arial" panose="020B0704020202020204"/>
              </a:rPr>
              <a:t>4. Network API</a:t>
            </a:r>
            <a:endParaRPr lang="zh-CN" sz="1125" b="1" dirty="0">
              <a:solidFill>
                <a:srgbClr val="C2410C"/>
              </a:solidFill>
              <a:latin typeface="Arial" panose="020B0704020202020204"/>
              <a:ea typeface="Arial" panose="020B0704020202020204"/>
              <a:cs typeface="Arial" panose="020B0704020202020204"/>
            </a:endParaRPr>
          </a:p>
        </p:txBody>
      </p:sp>
      <p:sp>
        <p:nvSpPr>
          <p:cNvPr id="36" name="TextBox 36"/>
          <p:cNvSpPr txBox="1"/>
          <p:nvPr/>
        </p:nvSpPr>
        <p:spPr>
          <a:xfrm>
            <a:off x="7682544" y="2104549"/>
            <a:ext cx="1398913" cy="198120"/>
          </a:xfrm>
          <a:prstGeom prst="rect">
            <a:avLst/>
          </a:prstGeom>
          <a:noFill/>
          <a:ln>
            <a:noFill/>
          </a:ln>
        </p:spPr>
        <p:txBody>
          <a:bodyPr wrap="none" lIns="0" tIns="0" rIns="0" bIns="0" anchor="t" anchorCtr="0">
            <a:spAutoFit/>
          </a:bodyPr>
          <a:lstStyle/>
          <a:p>
            <a:pPr algn="ctr"/>
            <a:r>
              <a:rPr lang="zh-CN" sz="975" dirty="0">
                <a:solidFill>
                  <a:srgbClr val="9A3412"/>
                </a:solidFill>
                <a:latin typeface="Arial" panose="020B0704020202020204"/>
                <a:ea typeface="Arial" panose="020B0704020202020204"/>
                <a:cs typeface="Arial" panose="020B0704020202020204"/>
              </a:rPr>
              <a:t>Retrofit 2 + OkHttp</a:t>
            </a:r>
            <a:endParaRPr lang="zh-CN" sz="975" dirty="0">
              <a:solidFill>
                <a:srgbClr val="9A3412"/>
              </a:solidFill>
              <a:latin typeface="Arial" panose="020B0704020202020204"/>
              <a:ea typeface="Arial" panose="020B0704020202020204"/>
              <a:cs typeface="Arial" panose="020B0704020202020204"/>
            </a:endParaRPr>
          </a:p>
        </p:txBody>
      </p:sp>
      <p:sp>
        <p:nvSpPr>
          <p:cNvPr id="37" name="TextBox 37"/>
          <p:cNvSpPr txBox="1"/>
          <p:nvPr/>
        </p:nvSpPr>
        <p:spPr>
          <a:xfrm>
            <a:off x="7611475" y="2303145"/>
            <a:ext cx="1541050" cy="182880"/>
          </a:xfrm>
          <a:prstGeom prst="rect">
            <a:avLst/>
          </a:prstGeom>
          <a:noFill/>
          <a:ln>
            <a:noFill/>
          </a:ln>
        </p:spPr>
        <p:txBody>
          <a:bodyPr wrap="none" lIns="0" tIns="0" rIns="0" bIns="0" anchor="t" anchorCtr="0">
            <a:spAutoFit/>
          </a:bodyPr>
          <a:lstStyle/>
          <a:p>
            <a:pPr algn="ctr"/>
            <a:r>
              <a:rPr lang="zh-CN" sz="900" dirty="0">
                <a:solidFill>
                  <a:srgbClr val="7C2D12"/>
                </a:solidFill>
                <a:latin typeface="Arial" panose="020B0704020202020204"/>
                <a:ea typeface="Arial" panose="020B0704020202020204"/>
                <a:cs typeface="Arial" panose="020B0704020202020204"/>
              </a:rPr>
              <a:t>Bearer JWT Interceptor</a:t>
            </a:r>
            <a:endParaRPr lang="zh-CN" sz="900" dirty="0">
              <a:solidFill>
                <a:srgbClr val="7C2D12"/>
              </a:solidFill>
              <a:latin typeface="Arial" panose="020B0704020202020204"/>
              <a:ea typeface="Arial" panose="020B0704020202020204"/>
              <a:cs typeface="Arial" panose="020B0704020202020204"/>
            </a:endParaRPr>
          </a:p>
        </p:txBody>
      </p:sp>
      <p:sp>
        <p:nvSpPr>
          <p:cNvPr id="38" name="TextBox 38"/>
          <p:cNvSpPr txBox="1"/>
          <p:nvPr/>
        </p:nvSpPr>
        <p:spPr>
          <a:xfrm>
            <a:off x="7733062" y="2493645"/>
            <a:ext cx="1297876" cy="182880"/>
          </a:xfrm>
          <a:prstGeom prst="rect">
            <a:avLst/>
          </a:prstGeom>
          <a:noFill/>
          <a:ln>
            <a:noFill/>
          </a:ln>
        </p:spPr>
        <p:txBody>
          <a:bodyPr wrap="none" lIns="0" tIns="0" rIns="0" bIns="0" anchor="t" anchorCtr="0">
            <a:spAutoFit/>
          </a:bodyPr>
          <a:lstStyle/>
          <a:p>
            <a:pPr algn="ctr"/>
            <a:r>
              <a:rPr lang="zh-CN" sz="900" dirty="0">
                <a:solidFill>
                  <a:srgbClr val="7C2D12"/>
                </a:solidFill>
                <a:latin typeface="Arial" panose="020B0704020202020204"/>
                <a:ea typeface="Arial" panose="020B0704020202020204"/>
                <a:cs typeface="Arial" panose="020B0704020202020204"/>
              </a:rPr>
              <a:t>Giao thức HTTP/REST</a:t>
            </a:r>
            <a:endParaRPr lang="zh-CN" sz="900" dirty="0">
              <a:solidFill>
                <a:srgbClr val="7C2D12"/>
              </a:solidFill>
              <a:latin typeface="Arial" panose="020B0704020202020204"/>
              <a:ea typeface="Arial" panose="020B0704020202020204"/>
              <a:cs typeface="Arial" panose="020B0704020202020204"/>
            </a:endParaRPr>
          </a:p>
        </p:txBody>
      </p:sp>
      <p:sp>
        <p:nvSpPr>
          <p:cNvPr id="39" name="Polygon 39"/>
          <p:cNvSpPr/>
          <p:nvPr/>
        </p:nvSpPr>
        <p:spPr>
          <a:xfrm>
            <a:off x="9448800" y="2190750"/>
            <a:ext cx="95250" cy="47625"/>
          </a:xfrm>
          <a:custGeom>
            <a:avLst/>
            <a:gdLst/>
            <a:ahLst/>
            <a:cxnLst/>
            <a:rect l="l" t="t" r="r" b="b"/>
            <a:pathLst>
              <a:path w="95250" h="47625">
                <a:moveTo>
                  <a:pt x="0" y="47625"/>
                </a:moveTo>
                <a:lnTo>
                  <a:pt x="95250" y="47625"/>
                </a:lnTo>
                <a:lnTo>
                  <a:pt x="47625" y="0"/>
                </a:lnTo>
                <a:close/>
              </a:path>
            </a:pathLst>
          </a:custGeom>
          <a:solidFill>
            <a:srgbClr val="003366"/>
          </a:solidFill>
          <a:ln>
            <a:noFill/>
          </a:ln>
        </p:spPr>
      </p:sp>
      <p:sp>
        <p:nvSpPr>
          <p:cNvPr id="40" name="Polygon 40"/>
          <p:cNvSpPr/>
          <p:nvPr/>
        </p:nvSpPr>
        <p:spPr>
          <a:xfrm>
            <a:off x="9496425" y="2190750"/>
            <a:ext cx="85725" cy="95250"/>
          </a:xfrm>
          <a:custGeom>
            <a:avLst/>
            <a:gdLst/>
            <a:ahLst/>
            <a:cxnLst/>
            <a:rect l="l" t="t" r="r" b="b"/>
            <a:pathLst>
              <a:path w="85725" h="95250">
                <a:moveTo>
                  <a:pt x="0" y="0"/>
                </a:moveTo>
                <a:lnTo>
                  <a:pt x="85725" y="47625"/>
                </a:lnTo>
                <a:lnTo>
                  <a:pt x="0" y="95250"/>
                </a:lnTo>
                <a:close/>
              </a:path>
            </a:pathLst>
          </a:custGeom>
          <a:solidFill>
            <a:srgbClr val="003366"/>
          </a:solidFill>
          <a:ln>
            <a:noFill/>
          </a:ln>
        </p:spPr>
      </p:sp>
      <p:sp>
        <p:nvSpPr>
          <p:cNvPr id="41" name="Freeform 41"/>
          <p:cNvSpPr/>
          <p:nvPr/>
        </p:nvSpPr>
        <p:spPr>
          <a:xfrm>
            <a:off x="9715500" y="1714500"/>
            <a:ext cx="1905000" cy="1047750"/>
          </a:xfrm>
          <a:custGeom>
            <a:avLst/>
            <a:gdLst/>
            <a:ahLst/>
            <a:cxnLst/>
            <a:rect l="l" t="t" r="r" b="b"/>
            <a:pathLst>
              <a:path w="1905000" h="1047750">
                <a:moveTo>
                  <a:pt x="76200" y="0"/>
                </a:moveTo>
                <a:lnTo>
                  <a:pt x="1828800" y="0"/>
                </a:lnTo>
                <a:cubicBezTo>
                  <a:pt x="1870884" y="0"/>
                  <a:pt x="1905000" y="34116"/>
                  <a:pt x="1905000" y="76200"/>
                </a:cubicBezTo>
                <a:lnTo>
                  <a:pt x="1905000" y="971550"/>
                </a:lnTo>
                <a:cubicBezTo>
                  <a:pt x="1905000" y="1013634"/>
                  <a:pt x="1870884" y="1047750"/>
                  <a:pt x="1828800" y="1047750"/>
                </a:cubicBezTo>
                <a:lnTo>
                  <a:pt x="76200" y="1047750"/>
                </a:lnTo>
                <a:cubicBezTo>
                  <a:pt x="34116" y="1047750"/>
                  <a:pt x="0" y="1013634"/>
                  <a:pt x="0" y="971550"/>
                </a:cubicBezTo>
                <a:lnTo>
                  <a:pt x="0" y="76200"/>
                </a:lnTo>
                <a:cubicBezTo>
                  <a:pt x="0" y="34116"/>
                  <a:pt x="34116" y="0"/>
                  <a:pt x="76200" y="0"/>
                </a:cubicBezTo>
                <a:close/>
              </a:path>
            </a:pathLst>
          </a:custGeom>
          <a:solidFill>
            <a:srgbClr val="F0FDF4"/>
          </a:solidFill>
          <a:ln w="14288">
            <a:solidFill>
              <a:srgbClr val="16A34A"/>
            </a:solidFill>
          </a:ln>
        </p:spPr>
      </p:sp>
      <p:sp>
        <p:nvSpPr>
          <p:cNvPr id="42" name="TextBox 42"/>
          <p:cNvSpPr txBox="1"/>
          <p:nvPr/>
        </p:nvSpPr>
        <p:spPr>
          <a:xfrm>
            <a:off x="10006757" y="1859756"/>
            <a:ext cx="1322487" cy="228600"/>
          </a:xfrm>
          <a:prstGeom prst="rect">
            <a:avLst/>
          </a:prstGeom>
          <a:noFill/>
          <a:ln>
            <a:noFill/>
          </a:ln>
        </p:spPr>
        <p:txBody>
          <a:bodyPr wrap="none" lIns="0" tIns="0" rIns="0" bIns="0" anchor="t" anchorCtr="0">
            <a:spAutoFit/>
          </a:bodyPr>
          <a:lstStyle/>
          <a:p>
            <a:pPr algn="ctr"/>
            <a:r>
              <a:rPr lang="zh-CN" sz="1125" b="1" dirty="0">
                <a:solidFill>
                  <a:srgbClr val="15803D"/>
                </a:solidFill>
                <a:latin typeface="Arial" panose="020B0704020202020204"/>
                <a:ea typeface="Arial" panose="020B0704020202020204"/>
                <a:cs typeface="Arial" panose="020B0704020202020204"/>
              </a:rPr>
              <a:t>5. Backend &amp; DB</a:t>
            </a:r>
            <a:endParaRPr lang="zh-CN" sz="1125" b="1" dirty="0">
              <a:solidFill>
                <a:srgbClr val="15803D"/>
              </a:solidFill>
              <a:latin typeface="Arial" panose="020B0704020202020204"/>
              <a:ea typeface="Arial" panose="020B0704020202020204"/>
              <a:cs typeface="Arial" panose="020B0704020202020204"/>
            </a:endParaRPr>
          </a:p>
        </p:txBody>
      </p:sp>
      <p:sp>
        <p:nvSpPr>
          <p:cNvPr id="43" name="TextBox 43"/>
          <p:cNvSpPr txBox="1"/>
          <p:nvPr/>
        </p:nvSpPr>
        <p:spPr>
          <a:xfrm>
            <a:off x="9982783" y="2104549"/>
            <a:ext cx="1370433" cy="198120"/>
          </a:xfrm>
          <a:prstGeom prst="rect">
            <a:avLst/>
          </a:prstGeom>
          <a:noFill/>
          <a:ln>
            <a:noFill/>
          </a:ln>
        </p:spPr>
        <p:txBody>
          <a:bodyPr wrap="none" lIns="0" tIns="0" rIns="0" bIns="0" anchor="t" anchorCtr="0">
            <a:spAutoFit/>
          </a:bodyPr>
          <a:lstStyle/>
          <a:p>
            <a:pPr algn="ctr"/>
            <a:r>
              <a:rPr lang="zh-CN" sz="975" dirty="0">
                <a:solidFill>
                  <a:srgbClr val="166534"/>
                </a:solidFill>
                <a:latin typeface="Arial" panose="020B0704020202020204"/>
                <a:ea typeface="Arial" panose="020B0704020202020204"/>
                <a:cs typeface="Arial" panose="020B0704020202020204"/>
              </a:rPr>
              <a:t>Spring Boot Service</a:t>
            </a:r>
            <a:endParaRPr lang="zh-CN" sz="975" dirty="0">
              <a:solidFill>
                <a:srgbClr val="166534"/>
              </a:solidFill>
              <a:latin typeface="Arial" panose="020B0704020202020204"/>
              <a:ea typeface="Arial" panose="020B0704020202020204"/>
              <a:cs typeface="Arial" panose="020B0704020202020204"/>
            </a:endParaRPr>
          </a:p>
        </p:txBody>
      </p:sp>
      <p:sp>
        <p:nvSpPr>
          <p:cNvPr id="44" name="TextBox 44"/>
          <p:cNvSpPr txBox="1"/>
          <p:nvPr/>
        </p:nvSpPr>
        <p:spPr>
          <a:xfrm>
            <a:off x="9963198" y="2303145"/>
            <a:ext cx="1409605" cy="182880"/>
          </a:xfrm>
          <a:prstGeom prst="rect">
            <a:avLst/>
          </a:prstGeom>
          <a:noFill/>
          <a:ln>
            <a:noFill/>
          </a:ln>
        </p:spPr>
        <p:txBody>
          <a:bodyPr wrap="none" lIns="0" tIns="0" rIns="0" bIns="0" anchor="t" anchorCtr="0">
            <a:spAutoFit/>
          </a:bodyPr>
          <a:lstStyle/>
          <a:p>
            <a:pPr algn="ctr"/>
            <a:r>
              <a:rPr lang="zh-CN" sz="900" dirty="0">
                <a:solidFill>
                  <a:srgbClr val="14532D"/>
                </a:solidFill>
                <a:latin typeface="Arial" panose="020B0704020202020204"/>
                <a:ea typeface="Arial" panose="020B0704020202020204"/>
                <a:cs typeface="Arial" panose="020B0704020202020204"/>
              </a:rPr>
              <a:t>Spring Security Check</a:t>
            </a:r>
            <a:endParaRPr lang="zh-CN" sz="900" dirty="0">
              <a:solidFill>
                <a:srgbClr val="14532D"/>
              </a:solidFill>
              <a:latin typeface="Arial" panose="020B0704020202020204"/>
              <a:ea typeface="Arial" panose="020B0704020202020204"/>
              <a:cs typeface="Arial" panose="020B0704020202020204"/>
            </a:endParaRPr>
          </a:p>
        </p:txBody>
      </p:sp>
      <p:sp>
        <p:nvSpPr>
          <p:cNvPr id="45" name="TextBox 45"/>
          <p:cNvSpPr txBox="1"/>
          <p:nvPr/>
        </p:nvSpPr>
        <p:spPr>
          <a:xfrm>
            <a:off x="10022348" y="2493645"/>
            <a:ext cx="1291304" cy="182880"/>
          </a:xfrm>
          <a:prstGeom prst="rect">
            <a:avLst/>
          </a:prstGeom>
          <a:noFill/>
          <a:ln>
            <a:noFill/>
          </a:ln>
        </p:spPr>
        <p:txBody>
          <a:bodyPr wrap="none" lIns="0" tIns="0" rIns="0" bIns="0" anchor="t" anchorCtr="0">
            <a:spAutoFit/>
          </a:bodyPr>
          <a:lstStyle/>
          <a:p>
            <a:pPr algn="ctr"/>
            <a:r>
              <a:rPr lang="zh-CN" sz="900" dirty="0">
                <a:solidFill>
                  <a:srgbClr val="14532D"/>
                </a:solidFill>
                <a:latin typeface="Arial" panose="020B0704020202020204"/>
                <a:ea typeface="Arial" panose="020B0704020202020204"/>
                <a:cs typeface="Arial" panose="020B0704020202020204"/>
              </a:rPr>
              <a:t>MongoDB Collections</a:t>
            </a:r>
            <a:endParaRPr lang="zh-CN" sz="900" dirty="0">
              <a:solidFill>
                <a:srgbClr val="14532D"/>
              </a:solidFill>
              <a:latin typeface="Arial" panose="020B0704020202020204"/>
              <a:ea typeface="Arial" panose="020B0704020202020204"/>
              <a:cs typeface="Arial" panose="020B0704020202020204"/>
            </a:endParaRPr>
          </a:p>
        </p:txBody>
      </p:sp>
      <p:sp>
        <p:nvSpPr>
          <p:cNvPr id="46" name="Freeform 46"/>
          <p:cNvSpPr/>
          <p:nvPr/>
        </p:nvSpPr>
        <p:spPr>
          <a:xfrm>
            <a:off x="381000" y="3095625"/>
            <a:ext cx="11430000" cy="3048000"/>
          </a:xfrm>
          <a:custGeom>
            <a:avLst/>
            <a:gdLst/>
            <a:ahLst/>
            <a:cxnLst/>
            <a:rect l="l" t="t" r="r" b="b"/>
            <a:pathLst>
              <a:path w="11430000" h="3048000">
                <a:moveTo>
                  <a:pt x="95250" y="0"/>
                </a:moveTo>
                <a:lnTo>
                  <a:pt x="11334750" y="0"/>
                </a:lnTo>
                <a:cubicBezTo>
                  <a:pt x="11387355" y="0"/>
                  <a:pt x="11430000" y="42645"/>
                  <a:pt x="11430000" y="95250"/>
                </a:cubicBezTo>
                <a:lnTo>
                  <a:pt x="11430000" y="2952750"/>
                </a:lnTo>
                <a:cubicBezTo>
                  <a:pt x="11430000" y="3005355"/>
                  <a:pt x="11387355" y="3048000"/>
                  <a:pt x="11334750" y="3048000"/>
                </a:cubicBezTo>
                <a:lnTo>
                  <a:pt x="95250" y="3048000"/>
                </a:lnTo>
                <a:cubicBezTo>
                  <a:pt x="42645" y="3048000"/>
                  <a:pt x="0" y="3005355"/>
                  <a:pt x="0" y="2952750"/>
                </a:cubicBezTo>
                <a:lnTo>
                  <a:pt x="0" y="95250"/>
                </a:lnTo>
                <a:cubicBezTo>
                  <a:pt x="0" y="42645"/>
                  <a:pt x="42645" y="0"/>
                  <a:pt x="95250" y="0"/>
                </a:cubicBezTo>
                <a:close/>
              </a:path>
            </a:pathLst>
          </a:custGeom>
          <a:solidFill>
            <a:srgbClr val="FFFFFF"/>
          </a:solidFill>
          <a:ln w="14288">
            <a:solidFill>
              <a:srgbClr val="E2E8F0"/>
            </a:solidFill>
          </a:ln>
        </p:spPr>
      </p:sp>
      <p:sp>
        <p:nvSpPr>
          <p:cNvPr id="47" name="Freeform 47"/>
          <p:cNvSpPr/>
          <p:nvPr/>
        </p:nvSpPr>
        <p:spPr>
          <a:xfrm>
            <a:off x="381000" y="3095625"/>
            <a:ext cx="11430000" cy="400050"/>
          </a:xfrm>
          <a:custGeom>
            <a:avLst/>
            <a:gdLst/>
            <a:ahLst/>
            <a:cxnLst/>
            <a:rect l="l" t="t" r="r" b="b"/>
            <a:pathLst>
              <a:path w="11430000" h="400050">
                <a:moveTo>
                  <a:pt x="95250" y="0"/>
                </a:moveTo>
                <a:lnTo>
                  <a:pt x="11334750" y="0"/>
                </a:lnTo>
                <a:cubicBezTo>
                  <a:pt x="11387355" y="0"/>
                  <a:pt x="11430000" y="42645"/>
                  <a:pt x="11430000" y="95250"/>
                </a:cubicBezTo>
                <a:lnTo>
                  <a:pt x="11430000" y="304800"/>
                </a:lnTo>
                <a:cubicBezTo>
                  <a:pt x="11430000" y="357405"/>
                  <a:pt x="11387355" y="400050"/>
                  <a:pt x="11334750" y="400050"/>
                </a:cubicBezTo>
                <a:lnTo>
                  <a:pt x="95250" y="400050"/>
                </a:lnTo>
                <a:cubicBezTo>
                  <a:pt x="42645" y="400050"/>
                  <a:pt x="0" y="357405"/>
                  <a:pt x="0" y="304800"/>
                </a:cubicBezTo>
                <a:lnTo>
                  <a:pt x="0" y="95250"/>
                </a:lnTo>
                <a:cubicBezTo>
                  <a:pt x="0" y="42645"/>
                  <a:pt x="42645" y="0"/>
                  <a:pt x="95250" y="0"/>
                </a:cubicBezTo>
                <a:close/>
              </a:path>
            </a:pathLst>
          </a:custGeom>
          <a:solidFill>
            <a:srgbClr val="F1F5F9"/>
          </a:solidFill>
          <a:ln>
            <a:noFill/>
          </a:ln>
        </p:spPr>
      </p:sp>
      <p:sp>
        <p:nvSpPr>
          <p:cNvPr id="48" name="TextBox 48"/>
          <p:cNvSpPr txBox="1"/>
          <p:nvPr/>
        </p:nvSpPr>
        <p:spPr>
          <a:xfrm>
            <a:off x="556260" y="3223260"/>
            <a:ext cx="6268860" cy="243840"/>
          </a:xfrm>
          <a:prstGeom prst="rect">
            <a:avLst/>
          </a:prstGeom>
          <a:noFill/>
          <a:ln>
            <a:noFill/>
          </a:ln>
        </p:spPr>
        <p:txBody>
          <a:bodyPr wrap="none" lIns="0" tIns="0" rIns="0" bIns="0" anchor="t" anchorCtr="0">
            <a:spAutoFit/>
          </a:bodyPr>
          <a:lstStyle/>
          <a:p>
            <a:pPr algn="l"/>
            <a:r>
              <a:rPr lang="zh-CN" sz="1200" b="1" dirty="0">
                <a:solidFill>
                  <a:srgbClr val="003366"/>
                </a:solidFill>
                <a:latin typeface="Arial" panose="020B0704020202020204"/>
                <a:ea typeface="Arial" panose="020B0704020202020204"/>
                <a:cs typeface="Arial" panose="020B0704020202020204"/>
              </a:rPr>
              <a:t>CASE STUDY CỤ THỂ: TIẾN TRÌNH TẠO ĐƠN HÀNG VÀ BẢO ĐẢM TÍNH TOÀN VẸN</a:t>
            </a:r>
            <a:endParaRPr lang="zh-CN" sz="1200" b="1" dirty="0">
              <a:solidFill>
                <a:srgbClr val="003366"/>
              </a:solidFill>
              <a:latin typeface="Arial" panose="020B0704020202020204"/>
              <a:ea typeface="Arial" panose="020B0704020202020204"/>
              <a:cs typeface="Arial" panose="020B0704020202020204"/>
            </a:endParaRPr>
          </a:p>
        </p:txBody>
      </p:sp>
      <p:sp>
        <p:nvSpPr>
          <p:cNvPr id="49" name="Freeform 49"/>
          <p:cNvSpPr/>
          <p:nvPr/>
        </p:nvSpPr>
        <p:spPr>
          <a:xfrm>
            <a:off x="571500" y="3667125"/>
            <a:ext cx="2524125" cy="1981200"/>
          </a:xfrm>
          <a:custGeom>
            <a:avLst/>
            <a:gdLst/>
            <a:ahLst/>
            <a:cxnLst/>
            <a:rect l="l" t="t" r="r" b="b"/>
            <a:pathLst>
              <a:path w="2524125" h="2286000">
                <a:moveTo>
                  <a:pt x="76200" y="0"/>
                </a:moveTo>
                <a:lnTo>
                  <a:pt x="2447925" y="0"/>
                </a:lnTo>
                <a:cubicBezTo>
                  <a:pt x="2490009" y="0"/>
                  <a:pt x="2524125" y="34116"/>
                  <a:pt x="2524125" y="76200"/>
                </a:cubicBezTo>
                <a:lnTo>
                  <a:pt x="2524125" y="2209800"/>
                </a:lnTo>
                <a:cubicBezTo>
                  <a:pt x="2524125" y="2251884"/>
                  <a:pt x="2490009" y="2286000"/>
                  <a:pt x="2447925" y="2286000"/>
                </a:cubicBezTo>
                <a:lnTo>
                  <a:pt x="76200" y="2286000"/>
                </a:lnTo>
                <a:cubicBezTo>
                  <a:pt x="34116" y="2286000"/>
                  <a:pt x="0" y="2251884"/>
                  <a:pt x="0" y="2209800"/>
                </a:cubicBezTo>
                <a:lnTo>
                  <a:pt x="0" y="76200"/>
                </a:lnTo>
                <a:cubicBezTo>
                  <a:pt x="0" y="34116"/>
                  <a:pt x="34116" y="0"/>
                  <a:pt x="76200" y="0"/>
                </a:cubicBezTo>
                <a:close/>
              </a:path>
            </a:pathLst>
          </a:custGeom>
          <a:solidFill>
            <a:srgbClr val="F8FAFC"/>
          </a:solidFill>
          <a:ln w="9525">
            <a:solidFill>
              <a:srgbClr val="E2E8F0"/>
            </a:solidFill>
          </a:ln>
        </p:spPr>
      </p:sp>
      <p:sp>
        <p:nvSpPr>
          <p:cNvPr id="50" name="Freeform 50"/>
          <p:cNvSpPr/>
          <p:nvPr/>
        </p:nvSpPr>
        <p:spPr>
          <a:xfrm>
            <a:off x="571500" y="3667125"/>
            <a:ext cx="2524125" cy="333375"/>
          </a:xfrm>
          <a:custGeom>
            <a:avLst/>
            <a:gdLst/>
            <a:ahLst/>
            <a:cxnLst/>
            <a:rect l="l" t="t" r="r" b="b"/>
            <a:pathLst>
              <a:path w="2524125" h="333375">
                <a:moveTo>
                  <a:pt x="76200" y="0"/>
                </a:moveTo>
                <a:lnTo>
                  <a:pt x="2447925" y="0"/>
                </a:lnTo>
                <a:cubicBezTo>
                  <a:pt x="2490009" y="0"/>
                  <a:pt x="2524125" y="34116"/>
                  <a:pt x="2524125" y="76200"/>
                </a:cubicBezTo>
                <a:lnTo>
                  <a:pt x="2524125" y="257175"/>
                </a:lnTo>
                <a:cubicBezTo>
                  <a:pt x="2524125" y="299259"/>
                  <a:pt x="2490009" y="333375"/>
                  <a:pt x="2447925" y="333375"/>
                </a:cubicBezTo>
                <a:lnTo>
                  <a:pt x="76200" y="333375"/>
                </a:lnTo>
                <a:cubicBezTo>
                  <a:pt x="34116" y="333375"/>
                  <a:pt x="0" y="299259"/>
                  <a:pt x="0" y="257175"/>
                </a:cubicBezTo>
                <a:lnTo>
                  <a:pt x="0" y="76200"/>
                </a:lnTo>
                <a:cubicBezTo>
                  <a:pt x="0" y="34116"/>
                  <a:pt x="34116" y="0"/>
                  <a:pt x="76200" y="0"/>
                </a:cubicBezTo>
                <a:close/>
              </a:path>
            </a:pathLst>
          </a:custGeom>
          <a:solidFill>
            <a:srgbClr val="E2E8F0"/>
          </a:solidFill>
          <a:ln>
            <a:noFill/>
          </a:ln>
        </p:spPr>
      </p:sp>
      <p:sp>
        <p:nvSpPr>
          <p:cNvPr id="51" name="TextBox 51"/>
          <p:cNvSpPr txBox="1"/>
          <p:nvPr/>
        </p:nvSpPr>
        <p:spPr>
          <a:xfrm>
            <a:off x="701040" y="3772852"/>
            <a:ext cx="1910605" cy="213360"/>
          </a:xfrm>
          <a:prstGeom prst="rect">
            <a:avLst/>
          </a:prstGeom>
          <a:noFill/>
          <a:ln>
            <a:noFill/>
          </a:ln>
        </p:spPr>
        <p:txBody>
          <a:bodyPr wrap="none" lIns="0" tIns="0" rIns="0" bIns="0" anchor="t" anchorCtr="0">
            <a:spAutoFit/>
          </a:bodyPr>
          <a:lstStyle/>
          <a:p>
            <a:pPr algn="l"/>
            <a:r>
              <a:rPr lang="zh-CN" sz="1050" b="1" dirty="0">
                <a:solidFill>
                  <a:srgbClr val="003366"/>
                </a:solidFill>
                <a:latin typeface="Arial" panose="020B0704020202020204"/>
                <a:ea typeface="Arial" panose="020B0704020202020204"/>
                <a:cs typeface="Arial" panose="020B0704020202020204"/>
              </a:rPr>
              <a:t>BƯỚC 1: NHẬP VÀ LƯU NHÁP</a:t>
            </a:r>
            <a:endParaRPr lang="zh-CN" sz="1050" b="1" dirty="0">
              <a:solidFill>
                <a:srgbClr val="003366"/>
              </a:solidFill>
              <a:latin typeface="Arial" panose="020B0704020202020204"/>
              <a:ea typeface="Arial" panose="020B0704020202020204"/>
              <a:cs typeface="Arial" panose="020B0704020202020204"/>
            </a:endParaRPr>
          </a:p>
        </p:txBody>
      </p:sp>
      <p:sp>
        <p:nvSpPr>
          <p:cNvPr id="52" name="TextBox 52"/>
          <p:cNvSpPr txBox="1"/>
          <p:nvPr/>
        </p:nvSpPr>
        <p:spPr>
          <a:xfrm>
            <a:off x="701675" y="4182110"/>
            <a:ext cx="2270125" cy="333375"/>
          </a:xfrm>
          <a:prstGeom prst="rect">
            <a:avLst/>
          </a:prstGeom>
          <a:noFill/>
          <a:ln>
            <a:noFill/>
          </a:ln>
        </p:spPr>
        <p:txBody>
          <a:bodyPr wrap="none" lIns="0" tIns="0" rIns="0" bIns="0" anchor="t" anchorCtr="0">
            <a:noAutofit/>
          </a:bodyPr>
          <a:lstStyle/>
          <a:p>
            <a:pPr algn="l"/>
            <a:r>
              <a:rPr lang="zh-CN" sz="1010" dirty="0">
                <a:solidFill>
                  <a:srgbClr val="334155"/>
                </a:solidFill>
                <a:latin typeface="Arial" panose="020B0704020202020204"/>
                <a:ea typeface="Arial" panose="020B0704020202020204"/>
                <a:cs typeface="Arial" panose="020B0704020202020204"/>
              </a:rPr>
              <a:t>• Khách nhập người gửi, người nhận</a:t>
            </a:r>
            <a:endParaRPr lang="zh-CN" sz="1010" dirty="0">
              <a:solidFill>
                <a:srgbClr val="334155"/>
              </a:solidFill>
              <a:latin typeface="Arial" panose="020B0704020202020204"/>
              <a:ea typeface="Arial" panose="020B0704020202020204"/>
              <a:cs typeface="Arial" panose="020B0704020202020204"/>
            </a:endParaRPr>
          </a:p>
          <a:p>
            <a:pPr algn="l"/>
            <a:r>
              <a:rPr lang="zh-CN" sz="1010" dirty="0">
                <a:solidFill>
                  <a:srgbClr val="334155"/>
                </a:solidFill>
                <a:latin typeface="Arial" panose="020B0704020202020204"/>
                <a:ea typeface="Arial" panose="020B0704020202020204"/>
                <a:cs typeface="Arial" panose="020B0704020202020204"/>
              </a:rPr>
              <a:t>, địa chỉ lấy/giao và loại hàng.</a:t>
            </a:r>
            <a:endParaRPr lang="zh-CN" sz="1010" dirty="0">
              <a:solidFill>
                <a:srgbClr val="334155"/>
              </a:solidFill>
              <a:latin typeface="Arial" panose="020B0704020202020204"/>
              <a:ea typeface="Arial" panose="020B0704020202020204"/>
              <a:cs typeface="Arial" panose="020B0704020202020204"/>
            </a:endParaRPr>
          </a:p>
        </p:txBody>
      </p:sp>
      <p:sp>
        <p:nvSpPr>
          <p:cNvPr id="53" name="TextBox 53"/>
          <p:cNvSpPr txBox="1"/>
          <p:nvPr/>
        </p:nvSpPr>
        <p:spPr>
          <a:xfrm>
            <a:off x="688340" y="4668520"/>
            <a:ext cx="2029460" cy="365125"/>
          </a:xfrm>
          <a:prstGeom prst="rect">
            <a:avLst/>
          </a:prstGeom>
          <a:noFill/>
          <a:ln>
            <a:noFill/>
          </a:ln>
        </p:spPr>
        <p:txBody>
          <a:bodyPr wrap="none" lIns="0" tIns="0" rIns="0" bIns="0" anchor="t" anchorCtr="0">
            <a:noAutofit/>
          </a:bodyPr>
          <a:lstStyle/>
          <a:p>
            <a:pPr algn="l"/>
            <a:r>
              <a:rPr lang="zh-CN" sz="1010" dirty="0">
                <a:solidFill>
                  <a:srgbClr val="334155"/>
                </a:solidFill>
                <a:latin typeface="Arial" panose="020B0704020202020204"/>
                <a:ea typeface="Arial" panose="020B0704020202020204"/>
                <a:cs typeface="Arial" panose="020B0704020202020204"/>
              </a:rPr>
              <a:t>• CreateRequestViewModel </a:t>
            </a:r>
            <a:r>
              <a:rPr lang="vi-VN" altLang="zh-CN" sz="1010" dirty="0">
                <a:solidFill>
                  <a:srgbClr val="334155"/>
                </a:solidFill>
                <a:latin typeface="Arial" panose="020B0704020202020204"/>
                <a:ea typeface="Arial" panose="020B0704020202020204"/>
                <a:cs typeface="Arial" panose="020B0704020202020204"/>
              </a:rPr>
              <a:t>, </a:t>
            </a:r>
            <a:endParaRPr lang="vi-VN" altLang="zh-CN" sz="1010" dirty="0">
              <a:solidFill>
                <a:srgbClr val="334155"/>
              </a:solidFill>
              <a:latin typeface="Arial" panose="020B0704020202020204"/>
              <a:ea typeface="Arial" panose="020B0704020202020204"/>
              <a:cs typeface="Arial" panose="020B0704020202020204"/>
            </a:endParaRPr>
          </a:p>
          <a:p>
            <a:pPr algn="l"/>
            <a:r>
              <a:rPr lang="zh-CN" sz="1010" dirty="0">
                <a:solidFill>
                  <a:srgbClr val="334155"/>
                </a:solidFill>
                <a:latin typeface="Arial" panose="020B0704020202020204"/>
                <a:ea typeface="Arial" panose="020B0704020202020204"/>
                <a:cs typeface="Arial" panose="020B0704020202020204"/>
              </a:rPr>
              <a:t>giữ dữ liệu form và gợi ý địa chỉ.</a:t>
            </a:r>
            <a:endParaRPr lang="zh-CN" sz="1010" dirty="0">
              <a:solidFill>
                <a:srgbClr val="334155"/>
              </a:solidFill>
              <a:latin typeface="Arial" panose="020B0704020202020204"/>
              <a:ea typeface="Arial" panose="020B0704020202020204"/>
              <a:cs typeface="Arial" panose="020B0704020202020204"/>
            </a:endParaRPr>
          </a:p>
        </p:txBody>
      </p:sp>
      <p:sp>
        <p:nvSpPr>
          <p:cNvPr id="54" name="TextBox 54"/>
          <p:cNvSpPr txBox="1"/>
          <p:nvPr/>
        </p:nvSpPr>
        <p:spPr>
          <a:xfrm>
            <a:off x="687705" y="5144770"/>
            <a:ext cx="2598420" cy="400050"/>
          </a:xfrm>
          <a:prstGeom prst="rect">
            <a:avLst/>
          </a:prstGeom>
          <a:noFill/>
          <a:ln>
            <a:noFill/>
          </a:ln>
        </p:spPr>
        <p:txBody>
          <a:bodyPr wrap="none" lIns="0" tIns="0" rIns="0" bIns="0" anchor="t" anchorCtr="0">
            <a:noAutofit/>
          </a:bodyPr>
          <a:lstStyle/>
          <a:p>
            <a:pPr algn="l"/>
            <a:r>
              <a:rPr lang="zh-CN" sz="1010" dirty="0">
                <a:solidFill>
                  <a:srgbClr val="334155"/>
                </a:solidFill>
                <a:latin typeface="Arial" panose="020B0704020202020204"/>
                <a:ea typeface="Arial" panose="020B0704020202020204"/>
                <a:cs typeface="Arial" panose="020B0704020202020204"/>
              </a:rPr>
              <a:t>• Sang màn xác nhận, bản nháp được giữ </a:t>
            </a:r>
            <a:endParaRPr lang="zh-CN" sz="1010" dirty="0">
              <a:solidFill>
                <a:srgbClr val="334155"/>
              </a:solidFill>
              <a:latin typeface="Arial" panose="020B0704020202020204"/>
              <a:ea typeface="Arial" panose="020B0704020202020204"/>
              <a:cs typeface="Arial" panose="020B0704020202020204"/>
            </a:endParaRPr>
          </a:p>
          <a:p>
            <a:pPr algn="l"/>
            <a:r>
              <a:rPr lang="zh-CN" sz="1010" dirty="0">
                <a:solidFill>
                  <a:srgbClr val="334155"/>
                </a:solidFill>
                <a:latin typeface="Arial" panose="020B0704020202020204"/>
                <a:ea typeface="Arial" panose="020B0704020202020204"/>
                <a:cs typeface="Arial" panose="020B0704020202020204"/>
              </a:rPr>
              <a:t>a</a:t>
            </a:r>
            <a:r>
              <a:rPr lang="vi-VN" altLang="zh-CN" sz="1010" dirty="0">
                <a:solidFill>
                  <a:srgbClr val="334155"/>
                </a:solidFill>
                <a:latin typeface="Arial" panose="020B0704020202020204"/>
                <a:ea typeface="Arial" panose="020B0704020202020204"/>
                <a:cs typeface="Arial" panose="020B0704020202020204"/>
              </a:rPr>
              <a:t>n </a:t>
            </a:r>
            <a:r>
              <a:rPr lang="zh-CN" sz="1010" dirty="0">
                <a:solidFill>
                  <a:srgbClr val="334155"/>
                </a:solidFill>
                <a:latin typeface="Arial" panose="020B0704020202020204"/>
                <a:ea typeface="Arial" panose="020B0704020202020204"/>
                <a:cs typeface="Arial" panose="020B0704020202020204"/>
              </a:rPr>
              <a:t>toàn</a:t>
            </a:r>
            <a:r>
              <a:rPr lang="vi-VN" altLang="zh-CN" sz="1010" dirty="0">
                <a:solidFill>
                  <a:srgbClr val="334155"/>
                </a:solidFill>
                <a:latin typeface="Arial" panose="020B0704020202020204"/>
                <a:ea typeface="Arial" panose="020B0704020202020204"/>
                <a:cs typeface="Arial" panose="020B0704020202020204"/>
              </a:rPr>
              <a:t> </a:t>
            </a:r>
            <a:r>
              <a:rPr lang="zh-CN" sz="1010" dirty="0">
                <a:solidFill>
                  <a:srgbClr val="334155"/>
                </a:solidFill>
                <a:latin typeface="Arial" panose="020B0704020202020204"/>
                <a:ea typeface="Arial" panose="020B0704020202020204"/>
                <a:cs typeface="Arial" panose="020B0704020202020204"/>
              </a:rPr>
              <a:t>trong SavedStateHandle.</a:t>
            </a:r>
            <a:endParaRPr lang="zh-CN" sz="1010" dirty="0">
              <a:solidFill>
                <a:srgbClr val="334155"/>
              </a:solidFill>
              <a:latin typeface="Arial" panose="020B0704020202020204"/>
              <a:ea typeface="Arial" panose="020B0704020202020204"/>
              <a:cs typeface="Arial" panose="020B0704020202020204"/>
            </a:endParaRPr>
          </a:p>
        </p:txBody>
      </p:sp>
      <p:sp>
        <p:nvSpPr>
          <p:cNvPr id="55" name="Freeform 55"/>
          <p:cNvSpPr/>
          <p:nvPr/>
        </p:nvSpPr>
        <p:spPr>
          <a:xfrm>
            <a:off x="3286125" y="3667125"/>
            <a:ext cx="2524125" cy="1981200"/>
          </a:xfrm>
          <a:custGeom>
            <a:avLst/>
            <a:gdLst/>
            <a:ahLst/>
            <a:cxnLst/>
            <a:rect l="l" t="t" r="r" b="b"/>
            <a:pathLst>
              <a:path w="2524125" h="2286000">
                <a:moveTo>
                  <a:pt x="76200" y="0"/>
                </a:moveTo>
                <a:lnTo>
                  <a:pt x="2447925" y="0"/>
                </a:lnTo>
                <a:cubicBezTo>
                  <a:pt x="2490009" y="0"/>
                  <a:pt x="2524125" y="34116"/>
                  <a:pt x="2524125" y="76200"/>
                </a:cubicBezTo>
                <a:lnTo>
                  <a:pt x="2524125" y="2209800"/>
                </a:lnTo>
                <a:cubicBezTo>
                  <a:pt x="2524125" y="2251884"/>
                  <a:pt x="2490009" y="2286000"/>
                  <a:pt x="2447925" y="2286000"/>
                </a:cubicBezTo>
                <a:lnTo>
                  <a:pt x="76200" y="2286000"/>
                </a:lnTo>
                <a:cubicBezTo>
                  <a:pt x="34116" y="2286000"/>
                  <a:pt x="0" y="2251884"/>
                  <a:pt x="0" y="2209800"/>
                </a:cubicBezTo>
                <a:lnTo>
                  <a:pt x="0" y="76200"/>
                </a:lnTo>
                <a:cubicBezTo>
                  <a:pt x="0" y="34116"/>
                  <a:pt x="34116" y="0"/>
                  <a:pt x="76200" y="0"/>
                </a:cubicBezTo>
                <a:close/>
              </a:path>
            </a:pathLst>
          </a:custGeom>
          <a:solidFill>
            <a:srgbClr val="F8FAFC"/>
          </a:solidFill>
          <a:ln w="9525">
            <a:solidFill>
              <a:srgbClr val="E2E8F0"/>
            </a:solidFill>
          </a:ln>
        </p:spPr>
      </p:sp>
      <p:sp>
        <p:nvSpPr>
          <p:cNvPr id="56" name="Freeform 56"/>
          <p:cNvSpPr/>
          <p:nvPr/>
        </p:nvSpPr>
        <p:spPr>
          <a:xfrm>
            <a:off x="3286125" y="3667125"/>
            <a:ext cx="2524125" cy="333375"/>
          </a:xfrm>
          <a:custGeom>
            <a:avLst/>
            <a:gdLst/>
            <a:ahLst/>
            <a:cxnLst/>
            <a:rect l="l" t="t" r="r" b="b"/>
            <a:pathLst>
              <a:path w="2524125" h="333375">
                <a:moveTo>
                  <a:pt x="76200" y="0"/>
                </a:moveTo>
                <a:lnTo>
                  <a:pt x="2447925" y="0"/>
                </a:lnTo>
                <a:cubicBezTo>
                  <a:pt x="2490009" y="0"/>
                  <a:pt x="2524125" y="34116"/>
                  <a:pt x="2524125" y="76200"/>
                </a:cubicBezTo>
                <a:lnTo>
                  <a:pt x="2524125" y="257175"/>
                </a:lnTo>
                <a:cubicBezTo>
                  <a:pt x="2524125" y="299259"/>
                  <a:pt x="2490009" y="333375"/>
                  <a:pt x="2447925" y="333375"/>
                </a:cubicBezTo>
                <a:lnTo>
                  <a:pt x="76200" y="333375"/>
                </a:lnTo>
                <a:cubicBezTo>
                  <a:pt x="34116" y="333375"/>
                  <a:pt x="0" y="299259"/>
                  <a:pt x="0" y="257175"/>
                </a:cubicBezTo>
                <a:lnTo>
                  <a:pt x="0" y="76200"/>
                </a:lnTo>
                <a:cubicBezTo>
                  <a:pt x="0" y="34116"/>
                  <a:pt x="34116" y="0"/>
                  <a:pt x="76200" y="0"/>
                </a:cubicBezTo>
                <a:close/>
              </a:path>
            </a:pathLst>
          </a:custGeom>
          <a:solidFill>
            <a:srgbClr val="E2E8F0"/>
          </a:solidFill>
          <a:ln>
            <a:noFill/>
          </a:ln>
        </p:spPr>
      </p:sp>
      <p:sp>
        <p:nvSpPr>
          <p:cNvPr id="57" name="TextBox 57"/>
          <p:cNvSpPr txBox="1"/>
          <p:nvPr/>
        </p:nvSpPr>
        <p:spPr>
          <a:xfrm>
            <a:off x="3415665" y="3772852"/>
            <a:ext cx="1926707" cy="213360"/>
          </a:xfrm>
          <a:prstGeom prst="rect">
            <a:avLst/>
          </a:prstGeom>
          <a:noFill/>
          <a:ln>
            <a:noFill/>
          </a:ln>
        </p:spPr>
        <p:txBody>
          <a:bodyPr wrap="none" lIns="0" tIns="0" rIns="0" bIns="0" anchor="t" anchorCtr="0">
            <a:spAutoFit/>
          </a:bodyPr>
          <a:lstStyle/>
          <a:p>
            <a:pPr algn="l"/>
            <a:r>
              <a:rPr lang="zh-CN" sz="1050" b="1" dirty="0">
                <a:solidFill>
                  <a:srgbClr val="003366"/>
                </a:solidFill>
                <a:latin typeface="Arial" panose="020B0704020202020204"/>
                <a:ea typeface="Arial" panose="020B0704020202020204"/>
                <a:cs typeface="Arial" panose="020B0704020202020204"/>
              </a:rPr>
              <a:t>BƯỚC 2: GỬI REQUEST DTO</a:t>
            </a:r>
            <a:endParaRPr lang="zh-CN" sz="1050" b="1" dirty="0">
              <a:solidFill>
                <a:srgbClr val="003366"/>
              </a:solidFill>
              <a:latin typeface="Arial" panose="020B0704020202020204"/>
              <a:ea typeface="Arial" panose="020B0704020202020204"/>
              <a:cs typeface="Arial" panose="020B0704020202020204"/>
            </a:endParaRPr>
          </a:p>
        </p:txBody>
      </p:sp>
      <p:sp>
        <p:nvSpPr>
          <p:cNvPr id="58" name="TextBox 58"/>
          <p:cNvSpPr txBox="1"/>
          <p:nvPr/>
        </p:nvSpPr>
        <p:spPr>
          <a:xfrm>
            <a:off x="3367246" y="4129326"/>
            <a:ext cx="2643116" cy="205740"/>
          </a:xfrm>
          <a:prstGeom prst="rect">
            <a:avLst/>
          </a:prstGeom>
          <a:noFill/>
          <a:ln>
            <a:noFill/>
          </a:ln>
        </p:spPr>
        <p:txBody>
          <a:bodyPr wrap="none" lIns="0" tIns="0" rIns="0" bIns="0" anchor="t" anchorCtr="0">
            <a:spAutoFit/>
          </a:bodyPr>
          <a:lstStyle/>
          <a:p>
            <a:pPr algn="l"/>
            <a:r>
              <a:rPr lang="zh-CN" sz="1010" dirty="0">
                <a:solidFill>
                  <a:srgbClr val="334155"/>
                </a:solidFill>
                <a:latin typeface="Arial" panose="020B0704020202020204"/>
                <a:ea typeface="Arial" panose="020B0704020202020204"/>
                <a:cs typeface="Arial" panose="020B0704020202020204"/>
              </a:rPr>
              <a:t>• Khách bấm nút [Xác nhận tạo đơn].</a:t>
            </a:r>
            <a:endParaRPr lang="zh-CN" sz="1010" dirty="0">
              <a:solidFill>
                <a:srgbClr val="334155"/>
              </a:solidFill>
              <a:latin typeface="Arial" panose="020B0704020202020204"/>
              <a:ea typeface="Arial" panose="020B0704020202020204"/>
              <a:cs typeface="Arial" panose="020B0704020202020204"/>
            </a:endParaRPr>
          </a:p>
        </p:txBody>
      </p:sp>
      <p:sp>
        <p:nvSpPr>
          <p:cNvPr id="59" name="TextBox 59"/>
          <p:cNvSpPr txBox="1"/>
          <p:nvPr/>
        </p:nvSpPr>
        <p:spPr>
          <a:xfrm>
            <a:off x="3367405" y="4515485"/>
            <a:ext cx="1919605" cy="363220"/>
          </a:xfrm>
          <a:prstGeom prst="rect">
            <a:avLst/>
          </a:prstGeom>
          <a:noFill/>
          <a:ln>
            <a:noFill/>
          </a:ln>
        </p:spPr>
        <p:txBody>
          <a:bodyPr wrap="none" lIns="0" tIns="0" rIns="0" bIns="0" anchor="t" anchorCtr="0">
            <a:noAutofit/>
          </a:bodyPr>
          <a:lstStyle/>
          <a:p>
            <a:pPr algn="l"/>
            <a:r>
              <a:rPr lang="zh-CN" sz="1010" dirty="0">
                <a:solidFill>
                  <a:srgbClr val="334155"/>
                </a:solidFill>
                <a:latin typeface="Arial" panose="020B0704020202020204"/>
                <a:ea typeface="Arial" panose="020B0704020202020204"/>
                <a:cs typeface="Arial" panose="020B0704020202020204"/>
              </a:rPr>
              <a:t>• OrderViewModel đóng gói </a:t>
            </a:r>
            <a:endParaRPr lang="zh-CN" sz="1010" dirty="0">
              <a:solidFill>
                <a:srgbClr val="334155"/>
              </a:solidFill>
              <a:latin typeface="Arial" panose="020B0704020202020204"/>
              <a:ea typeface="Arial" panose="020B0704020202020204"/>
              <a:cs typeface="Arial" panose="020B0704020202020204"/>
            </a:endParaRPr>
          </a:p>
          <a:p>
            <a:pPr algn="l"/>
            <a:r>
              <a:rPr lang="zh-CN" sz="1010" dirty="0">
                <a:solidFill>
                  <a:srgbClr val="334155"/>
                </a:solidFill>
                <a:latin typeface="Arial" panose="020B0704020202020204"/>
                <a:ea typeface="Arial" panose="020B0704020202020204"/>
                <a:cs typeface="Arial" panose="020B0704020202020204"/>
              </a:rPr>
              <a:t>CreateOrderRequestDto chuẩn.</a:t>
            </a:r>
            <a:endParaRPr lang="zh-CN" sz="1010" dirty="0">
              <a:solidFill>
                <a:srgbClr val="334155"/>
              </a:solidFill>
              <a:latin typeface="Arial" panose="020B0704020202020204"/>
              <a:ea typeface="Arial" panose="020B0704020202020204"/>
              <a:cs typeface="Arial" panose="020B0704020202020204"/>
            </a:endParaRPr>
          </a:p>
        </p:txBody>
      </p:sp>
      <p:sp>
        <p:nvSpPr>
          <p:cNvPr id="60" name="TextBox 60"/>
          <p:cNvSpPr txBox="1"/>
          <p:nvPr/>
        </p:nvSpPr>
        <p:spPr>
          <a:xfrm>
            <a:off x="3367405" y="5033645"/>
            <a:ext cx="2442845" cy="332740"/>
          </a:xfrm>
          <a:prstGeom prst="rect">
            <a:avLst/>
          </a:prstGeom>
          <a:noFill/>
          <a:ln>
            <a:noFill/>
          </a:ln>
        </p:spPr>
        <p:txBody>
          <a:bodyPr wrap="square" lIns="0" tIns="0" rIns="0" bIns="0" anchor="t" anchorCtr="0">
            <a:noAutofit/>
          </a:bodyPr>
          <a:lstStyle/>
          <a:p>
            <a:pPr algn="l"/>
            <a:r>
              <a:rPr lang="zh-CN" sz="1010" dirty="0">
                <a:solidFill>
                  <a:srgbClr val="334155"/>
                </a:solidFill>
                <a:latin typeface="Arial" panose="020B0704020202020204"/>
                <a:ea typeface="Arial" panose="020B0704020202020204"/>
                <a:cs typeface="Arial" panose="020B0704020202020204"/>
              </a:rPr>
              <a:t>• Retrofit gửi HTTP POST kèm </a:t>
            </a:r>
            <a:endParaRPr lang="zh-CN" sz="1010" dirty="0">
              <a:solidFill>
                <a:srgbClr val="334155"/>
              </a:solidFill>
              <a:latin typeface="Arial" panose="020B0704020202020204"/>
              <a:ea typeface="Arial" panose="020B0704020202020204"/>
              <a:cs typeface="Arial" panose="020B0704020202020204"/>
            </a:endParaRPr>
          </a:p>
          <a:p>
            <a:pPr algn="l"/>
            <a:r>
              <a:rPr lang="zh-CN" sz="1010" dirty="0">
                <a:solidFill>
                  <a:srgbClr val="334155"/>
                </a:solidFill>
                <a:latin typeface="Arial" panose="020B0704020202020204"/>
                <a:ea typeface="Arial" panose="020B0704020202020204"/>
                <a:cs typeface="Arial" panose="020B0704020202020204"/>
              </a:rPr>
              <a:t>JWT Token của khách hàng lên Backend.</a:t>
            </a:r>
            <a:endParaRPr lang="zh-CN" sz="1010" dirty="0">
              <a:solidFill>
                <a:srgbClr val="334155"/>
              </a:solidFill>
              <a:latin typeface="Arial" panose="020B0704020202020204"/>
              <a:ea typeface="Arial" panose="020B0704020202020204"/>
              <a:cs typeface="Arial" panose="020B0704020202020204"/>
            </a:endParaRPr>
          </a:p>
        </p:txBody>
      </p:sp>
      <p:sp>
        <p:nvSpPr>
          <p:cNvPr id="61" name="Freeform 61"/>
          <p:cNvSpPr/>
          <p:nvPr/>
        </p:nvSpPr>
        <p:spPr>
          <a:xfrm>
            <a:off x="6000750" y="3667125"/>
            <a:ext cx="2667000" cy="1981200"/>
          </a:xfrm>
          <a:custGeom>
            <a:avLst/>
            <a:gdLst/>
            <a:ahLst/>
            <a:cxnLst/>
            <a:rect l="l" t="t" r="r" b="b"/>
            <a:pathLst>
              <a:path w="2667000" h="2286000">
                <a:moveTo>
                  <a:pt x="76200" y="0"/>
                </a:moveTo>
                <a:lnTo>
                  <a:pt x="2590800" y="0"/>
                </a:lnTo>
                <a:cubicBezTo>
                  <a:pt x="2632884" y="0"/>
                  <a:pt x="2667000" y="34116"/>
                  <a:pt x="2667000" y="76200"/>
                </a:cubicBezTo>
                <a:lnTo>
                  <a:pt x="2667000" y="2209800"/>
                </a:lnTo>
                <a:cubicBezTo>
                  <a:pt x="2667000" y="2251884"/>
                  <a:pt x="2632884" y="2286000"/>
                  <a:pt x="2590800" y="2286000"/>
                </a:cubicBezTo>
                <a:lnTo>
                  <a:pt x="76200" y="2286000"/>
                </a:lnTo>
                <a:cubicBezTo>
                  <a:pt x="34116" y="2286000"/>
                  <a:pt x="0" y="2251884"/>
                  <a:pt x="0" y="2209800"/>
                </a:cubicBezTo>
                <a:lnTo>
                  <a:pt x="0" y="76200"/>
                </a:lnTo>
                <a:cubicBezTo>
                  <a:pt x="0" y="34116"/>
                  <a:pt x="34116" y="0"/>
                  <a:pt x="76200" y="0"/>
                </a:cubicBezTo>
                <a:close/>
              </a:path>
            </a:pathLst>
          </a:custGeom>
          <a:solidFill>
            <a:srgbClr val="FFF7ED"/>
          </a:solidFill>
          <a:ln w="9525">
            <a:solidFill>
              <a:srgbClr val="FED7AA"/>
            </a:solidFill>
          </a:ln>
        </p:spPr>
      </p:sp>
      <p:sp>
        <p:nvSpPr>
          <p:cNvPr id="62" name="Freeform 62"/>
          <p:cNvSpPr/>
          <p:nvPr/>
        </p:nvSpPr>
        <p:spPr>
          <a:xfrm>
            <a:off x="6000750" y="3667125"/>
            <a:ext cx="2667000" cy="333375"/>
          </a:xfrm>
          <a:custGeom>
            <a:avLst/>
            <a:gdLst/>
            <a:ahLst/>
            <a:cxnLst/>
            <a:rect l="l" t="t" r="r" b="b"/>
            <a:pathLst>
              <a:path w="2667000" h="333375">
                <a:moveTo>
                  <a:pt x="76200" y="0"/>
                </a:moveTo>
                <a:lnTo>
                  <a:pt x="2590800" y="0"/>
                </a:lnTo>
                <a:cubicBezTo>
                  <a:pt x="2632884" y="0"/>
                  <a:pt x="2667000" y="34116"/>
                  <a:pt x="2667000" y="76200"/>
                </a:cubicBezTo>
                <a:lnTo>
                  <a:pt x="2667000" y="257175"/>
                </a:lnTo>
                <a:cubicBezTo>
                  <a:pt x="2667000" y="299259"/>
                  <a:pt x="2632884" y="333375"/>
                  <a:pt x="2590800" y="333375"/>
                </a:cubicBezTo>
                <a:lnTo>
                  <a:pt x="76200" y="333375"/>
                </a:lnTo>
                <a:cubicBezTo>
                  <a:pt x="34116" y="333375"/>
                  <a:pt x="0" y="299259"/>
                  <a:pt x="0" y="257175"/>
                </a:cubicBezTo>
                <a:lnTo>
                  <a:pt x="0" y="76200"/>
                </a:lnTo>
                <a:cubicBezTo>
                  <a:pt x="0" y="34116"/>
                  <a:pt x="34116" y="0"/>
                  <a:pt x="76200" y="0"/>
                </a:cubicBezTo>
                <a:close/>
              </a:path>
            </a:pathLst>
          </a:custGeom>
          <a:solidFill>
            <a:srgbClr val="FFEDD5"/>
          </a:solidFill>
          <a:ln>
            <a:noFill/>
          </a:ln>
        </p:spPr>
      </p:sp>
      <p:sp>
        <p:nvSpPr>
          <p:cNvPr id="63" name="TextBox 63"/>
          <p:cNvSpPr txBox="1"/>
          <p:nvPr/>
        </p:nvSpPr>
        <p:spPr>
          <a:xfrm>
            <a:off x="6130290" y="3772852"/>
            <a:ext cx="2441972" cy="213360"/>
          </a:xfrm>
          <a:prstGeom prst="rect">
            <a:avLst/>
          </a:prstGeom>
          <a:noFill/>
          <a:ln>
            <a:noFill/>
          </a:ln>
        </p:spPr>
        <p:txBody>
          <a:bodyPr wrap="none" lIns="0" tIns="0" rIns="0" bIns="0" anchor="t" anchorCtr="0">
            <a:spAutoFit/>
          </a:bodyPr>
          <a:lstStyle/>
          <a:p>
            <a:pPr algn="l"/>
            <a:r>
              <a:rPr lang="zh-CN" sz="1050" b="1" dirty="0">
                <a:solidFill>
                  <a:srgbClr val="C2410C"/>
                </a:solidFill>
                <a:latin typeface="Arial" panose="020B0704020202020204"/>
                <a:ea typeface="Arial" panose="020B0704020202020204"/>
                <a:cs typeface="Arial" panose="020B0704020202020204"/>
              </a:rPr>
              <a:t>BƯỚC 3: SERVER TÍNH CƯỚC &amp; LƯU</a:t>
            </a:r>
            <a:endParaRPr lang="zh-CN" sz="1050" b="1" dirty="0">
              <a:solidFill>
                <a:srgbClr val="C2410C"/>
              </a:solidFill>
              <a:latin typeface="Arial" panose="020B0704020202020204"/>
              <a:ea typeface="Arial" panose="020B0704020202020204"/>
              <a:cs typeface="Arial" panose="020B0704020202020204"/>
            </a:endParaRPr>
          </a:p>
        </p:txBody>
      </p:sp>
      <p:sp>
        <p:nvSpPr>
          <p:cNvPr id="64" name="TextBox 64"/>
          <p:cNvSpPr txBox="1"/>
          <p:nvPr/>
        </p:nvSpPr>
        <p:spPr>
          <a:xfrm>
            <a:off x="6146641" y="4077256"/>
            <a:ext cx="2101850" cy="309880"/>
          </a:xfrm>
          <a:prstGeom prst="rect">
            <a:avLst/>
          </a:prstGeom>
          <a:noFill/>
          <a:ln>
            <a:noFill/>
          </a:ln>
        </p:spPr>
        <p:txBody>
          <a:bodyPr wrap="none" lIns="0" tIns="0" rIns="0" bIns="0" anchor="t" anchorCtr="0">
            <a:spAutoFit/>
          </a:bodyPr>
          <a:lstStyle/>
          <a:p>
            <a:pPr algn="l"/>
            <a:r>
              <a:rPr lang="zh-CN" sz="1010" dirty="0">
                <a:solidFill>
                  <a:srgbClr val="7C2D12"/>
                </a:solidFill>
                <a:latin typeface="Arial" panose="020B0704020202020204"/>
                <a:ea typeface="Arial" panose="020B0704020202020204"/>
                <a:cs typeface="Arial" panose="020B0704020202020204"/>
              </a:rPr>
              <a:t>• Server trích xuất UserId từ JWT để </a:t>
            </a:r>
            <a:endParaRPr lang="zh-CN" sz="1010" dirty="0">
              <a:solidFill>
                <a:srgbClr val="7C2D12"/>
              </a:solidFill>
              <a:latin typeface="Arial" panose="020B0704020202020204"/>
              <a:ea typeface="Arial" panose="020B0704020202020204"/>
              <a:cs typeface="Arial" panose="020B0704020202020204"/>
            </a:endParaRPr>
          </a:p>
          <a:p>
            <a:pPr algn="l"/>
            <a:r>
              <a:rPr lang="zh-CN" sz="1010" dirty="0">
                <a:solidFill>
                  <a:srgbClr val="7C2D12"/>
                </a:solidFill>
                <a:latin typeface="Arial" panose="020B0704020202020204"/>
                <a:ea typeface="Arial" panose="020B0704020202020204"/>
                <a:cs typeface="Arial" panose="020B0704020202020204"/>
              </a:rPr>
              <a:t>đảm bảo đúng chủ đơn.</a:t>
            </a:r>
            <a:endParaRPr lang="zh-CN" sz="1010" dirty="0">
              <a:solidFill>
                <a:srgbClr val="7C2D12"/>
              </a:solidFill>
              <a:latin typeface="Arial" panose="020B0704020202020204"/>
              <a:ea typeface="Arial" panose="020B0704020202020204"/>
              <a:cs typeface="Arial" panose="020B0704020202020204"/>
            </a:endParaRPr>
          </a:p>
        </p:txBody>
      </p:sp>
      <p:sp>
        <p:nvSpPr>
          <p:cNvPr id="65" name="TextBox 65"/>
          <p:cNvSpPr txBox="1"/>
          <p:nvPr/>
        </p:nvSpPr>
        <p:spPr>
          <a:xfrm>
            <a:off x="6130131" y="4515406"/>
            <a:ext cx="2094230" cy="309880"/>
          </a:xfrm>
          <a:prstGeom prst="rect">
            <a:avLst/>
          </a:prstGeom>
          <a:noFill/>
          <a:ln>
            <a:noFill/>
          </a:ln>
        </p:spPr>
        <p:txBody>
          <a:bodyPr wrap="none" lIns="0" tIns="0" rIns="0" bIns="0" anchor="t" anchorCtr="0">
            <a:spAutoFit/>
          </a:bodyPr>
          <a:lstStyle/>
          <a:p>
            <a:pPr algn="l"/>
            <a:r>
              <a:rPr lang="zh-CN" sz="1010" dirty="0">
                <a:solidFill>
                  <a:srgbClr val="7C2D12"/>
                </a:solidFill>
                <a:latin typeface="Arial" panose="020B0704020202020204"/>
                <a:ea typeface="Arial" panose="020B0704020202020204"/>
                <a:cs typeface="Arial" panose="020B0704020202020204"/>
              </a:rPr>
              <a:t>• PricingService tính lại cước độc lập</a:t>
            </a:r>
            <a:endParaRPr lang="zh-CN" sz="1010" dirty="0">
              <a:solidFill>
                <a:srgbClr val="7C2D12"/>
              </a:solidFill>
              <a:latin typeface="Arial" panose="020B0704020202020204"/>
              <a:ea typeface="Arial" panose="020B0704020202020204"/>
              <a:cs typeface="Arial" panose="020B0704020202020204"/>
            </a:endParaRPr>
          </a:p>
          <a:p>
            <a:pPr algn="l"/>
            <a:r>
              <a:rPr lang="zh-CN" sz="1010" dirty="0">
                <a:solidFill>
                  <a:srgbClr val="7C2D12"/>
                </a:solidFill>
                <a:latin typeface="Arial" panose="020B0704020202020204"/>
                <a:ea typeface="Arial" panose="020B0704020202020204"/>
                <a:cs typeface="Arial" panose="020B0704020202020204"/>
              </a:rPr>
              <a:t> từ tọa độ GPS (chống gian lận).</a:t>
            </a:r>
            <a:endParaRPr lang="zh-CN" sz="1010" dirty="0">
              <a:solidFill>
                <a:srgbClr val="7C2D12"/>
              </a:solidFill>
              <a:latin typeface="Arial" panose="020B0704020202020204"/>
              <a:ea typeface="Arial" panose="020B0704020202020204"/>
              <a:cs typeface="Arial" panose="020B0704020202020204"/>
            </a:endParaRPr>
          </a:p>
        </p:txBody>
      </p:sp>
      <p:sp>
        <p:nvSpPr>
          <p:cNvPr id="66" name="TextBox 66"/>
          <p:cNvSpPr txBox="1"/>
          <p:nvPr/>
        </p:nvSpPr>
        <p:spPr>
          <a:xfrm>
            <a:off x="6130131" y="4977686"/>
            <a:ext cx="2308860" cy="309880"/>
          </a:xfrm>
          <a:prstGeom prst="rect">
            <a:avLst/>
          </a:prstGeom>
          <a:noFill/>
          <a:ln>
            <a:noFill/>
          </a:ln>
        </p:spPr>
        <p:txBody>
          <a:bodyPr wrap="none" lIns="0" tIns="0" rIns="0" bIns="0" anchor="t" anchorCtr="0">
            <a:spAutoFit/>
          </a:bodyPr>
          <a:lstStyle/>
          <a:p>
            <a:pPr algn="l"/>
            <a:r>
              <a:rPr lang="zh-CN" sz="1010" dirty="0">
                <a:solidFill>
                  <a:srgbClr val="7C2D12"/>
                </a:solidFill>
                <a:latin typeface="Arial" panose="020B0704020202020204"/>
                <a:ea typeface="Arial" panose="020B0704020202020204"/>
                <a:cs typeface="Arial" panose="020B0704020202020204"/>
              </a:rPr>
              <a:t>• Lưu DeliveryRequest, PackageItem và </a:t>
            </a:r>
            <a:endParaRPr lang="zh-CN" sz="1010" dirty="0">
              <a:solidFill>
                <a:srgbClr val="7C2D12"/>
              </a:solidFill>
              <a:latin typeface="Arial" panose="020B0704020202020204"/>
              <a:ea typeface="Arial" panose="020B0704020202020204"/>
              <a:cs typeface="Arial" panose="020B0704020202020204"/>
            </a:endParaRPr>
          </a:p>
          <a:p>
            <a:pPr algn="l"/>
            <a:r>
              <a:rPr lang="zh-CN" sz="1010" dirty="0">
                <a:solidFill>
                  <a:srgbClr val="7C2D12"/>
                </a:solidFill>
                <a:latin typeface="Arial" panose="020B0704020202020204"/>
                <a:ea typeface="Arial" panose="020B0704020202020204"/>
                <a:cs typeface="Arial" panose="020B0704020202020204"/>
              </a:rPr>
              <a:t>StatusHistory đầu tiên vào MongoDB.</a:t>
            </a:r>
            <a:endParaRPr lang="zh-CN" sz="1010" dirty="0">
              <a:solidFill>
                <a:srgbClr val="7C2D12"/>
              </a:solidFill>
              <a:latin typeface="Arial" panose="020B0704020202020204"/>
              <a:ea typeface="Arial" panose="020B0704020202020204"/>
              <a:cs typeface="Arial" panose="020B0704020202020204"/>
            </a:endParaRPr>
          </a:p>
        </p:txBody>
      </p:sp>
      <p:sp>
        <p:nvSpPr>
          <p:cNvPr id="67" name="Freeform 67"/>
          <p:cNvSpPr/>
          <p:nvPr/>
        </p:nvSpPr>
        <p:spPr>
          <a:xfrm>
            <a:off x="8758555" y="3667125"/>
            <a:ext cx="2862580" cy="1980565"/>
          </a:xfrm>
          <a:custGeom>
            <a:avLst/>
            <a:gdLst/>
            <a:ahLst/>
            <a:cxnLst/>
            <a:rect l="l" t="t" r="r" b="b"/>
            <a:pathLst>
              <a:path w="2762250" h="2286000">
                <a:moveTo>
                  <a:pt x="76200" y="0"/>
                </a:moveTo>
                <a:lnTo>
                  <a:pt x="2686050" y="0"/>
                </a:lnTo>
                <a:cubicBezTo>
                  <a:pt x="2728134" y="0"/>
                  <a:pt x="2762250" y="34116"/>
                  <a:pt x="2762250" y="76200"/>
                </a:cubicBezTo>
                <a:lnTo>
                  <a:pt x="2762250" y="2209800"/>
                </a:lnTo>
                <a:cubicBezTo>
                  <a:pt x="2762250" y="2251884"/>
                  <a:pt x="2728134" y="2286000"/>
                  <a:pt x="2686050" y="2286000"/>
                </a:cubicBezTo>
                <a:lnTo>
                  <a:pt x="76200" y="2286000"/>
                </a:lnTo>
                <a:cubicBezTo>
                  <a:pt x="34116" y="2286000"/>
                  <a:pt x="0" y="2251884"/>
                  <a:pt x="0" y="2209800"/>
                </a:cubicBezTo>
                <a:lnTo>
                  <a:pt x="0" y="76200"/>
                </a:lnTo>
                <a:cubicBezTo>
                  <a:pt x="0" y="34116"/>
                  <a:pt x="34116" y="0"/>
                  <a:pt x="76200" y="0"/>
                </a:cubicBezTo>
                <a:close/>
              </a:path>
            </a:pathLst>
          </a:custGeom>
          <a:solidFill>
            <a:srgbClr val="F0FDF4"/>
          </a:solidFill>
          <a:ln w="9525">
            <a:solidFill>
              <a:srgbClr val="BBF7D0"/>
            </a:solidFill>
          </a:ln>
        </p:spPr>
      </p:sp>
      <p:sp>
        <p:nvSpPr>
          <p:cNvPr id="68" name="Freeform 68"/>
          <p:cNvSpPr/>
          <p:nvPr/>
        </p:nvSpPr>
        <p:spPr>
          <a:xfrm>
            <a:off x="8758555" y="3667125"/>
            <a:ext cx="2762250" cy="333375"/>
          </a:xfrm>
          <a:custGeom>
            <a:avLst/>
            <a:gdLst/>
            <a:ahLst/>
            <a:cxnLst/>
            <a:rect l="l" t="t" r="r" b="b"/>
            <a:pathLst>
              <a:path w="2762250" h="333375">
                <a:moveTo>
                  <a:pt x="76200" y="0"/>
                </a:moveTo>
                <a:lnTo>
                  <a:pt x="2686050" y="0"/>
                </a:lnTo>
                <a:cubicBezTo>
                  <a:pt x="2728134" y="0"/>
                  <a:pt x="2762250" y="34116"/>
                  <a:pt x="2762250" y="76200"/>
                </a:cubicBezTo>
                <a:lnTo>
                  <a:pt x="2762250" y="257175"/>
                </a:lnTo>
                <a:cubicBezTo>
                  <a:pt x="2762250" y="299259"/>
                  <a:pt x="2728134" y="333375"/>
                  <a:pt x="2686050" y="333375"/>
                </a:cubicBezTo>
                <a:lnTo>
                  <a:pt x="76200" y="333375"/>
                </a:lnTo>
                <a:cubicBezTo>
                  <a:pt x="34116" y="333375"/>
                  <a:pt x="0" y="299259"/>
                  <a:pt x="0" y="257175"/>
                </a:cubicBezTo>
                <a:lnTo>
                  <a:pt x="0" y="76200"/>
                </a:lnTo>
                <a:cubicBezTo>
                  <a:pt x="0" y="34116"/>
                  <a:pt x="34116" y="0"/>
                  <a:pt x="76200" y="0"/>
                </a:cubicBezTo>
                <a:close/>
              </a:path>
            </a:pathLst>
          </a:custGeom>
          <a:solidFill>
            <a:srgbClr val="DCFCE7"/>
          </a:solidFill>
          <a:ln>
            <a:noFill/>
          </a:ln>
        </p:spPr>
      </p:sp>
      <p:sp>
        <p:nvSpPr>
          <p:cNvPr id="69" name="TextBox 69"/>
          <p:cNvSpPr txBox="1"/>
          <p:nvPr/>
        </p:nvSpPr>
        <p:spPr>
          <a:xfrm>
            <a:off x="8987790" y="3772852"/>
            <a:ext cx="2240697" cy="213360"/>
          </a:xfrm>
          <a:prstGeom prst="rect">
            <a:avLst/>
          </a:prstGeom>
          <a:noFill/>
          <a:ln>
            <a:noFill/>
          </a:ln>
        </p:spPr>
        <p:txBody>
          <a:bodyPr wrap="none" lIns="0" tIns="0" rIns="0" bIns="0" anchor="t" anchorCtr="0">
            <a:spAutoFit/>
          </a:bodyPr>
          <a:lstStyle/>
          <a:p>
            <a:pPr algn="l"/>
            <a:r>
              <a:rPr lang="zh-CN" sz="1050" b="1" dirty="0">
                <a:solidFill>
                  <a:srgbClr val="15803D"/>
                </a:solidFill>
                <a:latin typeface="Arial" panose="020B0704020202020204"/>
                <a:ea typeface="Arial" panose="020B0704020202020204"/>
                <a:cs typeface="Arial" panose="020B0704020202020204"/>
              </a:rPr>
              <a:t>BƯỚC 4: PHẢN HỒI &amp; COMMIT UI</a:t>
            </a:r>
            <a:endParaRPr lang="zh-CN" sz="1050" b="1" dirty="0">
              <a:solidFill>
                <a:srgbClr val="15803D"/>
              </a:solidFill>
              <a:latin typeface="Arial" panose="020B0704020202020204"/>
              <a:ea typeface="Arial" panose="020B0704020202020204"/>
              <a:cs typeface="Arial" panose="020B0704020202020204"/>
            </a:endParaRPr>
          </a:p>
        </p:txBody>
      </p:sp>
      <p:sp>
        <p:nvSpPr>
          <p:cNvPr id="70" name="TextBox 70"/>
          <p:cNvSpPr txBox="1"/>
          <p:nvPr/>
        </p:nvSpPr>
        <p:spPr>
          <a:xfrm>
            <a:off x="8826976" y="4077256"/>
            <a:ext cx="2137410" cy="309880"/>
          </a:xfrm>
          <a:prstGeom prst="rect">
            <a:avLst/>
          </a:prstGeom>
          <a:noFill/>
          <a:ln>
            <a:noFill/>
          </a:ln>
        </p:spPr>
        <p:txBody>
          <a:bodyPr wrap="none" lIns="0" tIns="0" rIns="0" bIns="0" anchor="t" anchorCtr="0">
            <a:spAutoFit/>
          </a:bodyPr>
          <a:lstStyle/>
          <a:p>
            <a:pPr algn="l"/>
            <a:r>
              <a:rPr lang="zh-CN" sz="1010" dirty="0">
                <a:solidFill>
                  <a:srgbClr val="14532D"/>
                </a:solidFill>
                <a:latin typeface="Arial" panose="020B0704020202020204"/>
                <a:ea typeface="Arial" panose="020B0704020202020204"/>
                <a:cs typeface="Arial" panose="020B0704020202020204"/>
              </a:rPr>
              <a:t>• Chỉ sau khi Server trả về HTTP 200 </a:t>
            </a:r>
            <a:endParaRPr lang="zh-CN" sz="1010" dirty="0">
              <a:solidFill>
                <a:srgbClr val="14532D"/>
              </a:solidFill>
              <a:latin typeface="Arial" panose="020B0704020202020204"/>
              <a:ea typeface="Arial" panose="020B0704020202020204"/>
              <a:cs typeface="Arial" panose="020B0704020202020204"/>
            </a:endParaRPr>
          </a:p>
          <a:p>
            <a:pPr algn="l"/>
            <a:r>
              <a:rPr lang="zh-CN" sz="1010" dirty="0">
                <a:solidFill>
                  <a:srgbClr val="14532D"/>
                </a:solidFill>
                <a:latin typeface="Arial" panose="020B0704020202020204"/>
                <a:ea typeface="Arial" panose="020B0704020202020204"/>
                <a:cs typeface="Arial" panose="020B0704020202020204"/>
              </a:rPr>
              <a:t>OK, Android mới xóa bản nháp.</a:t>
            </a:r>
            <a:endParaRPr lang="zh-CN" sz="1010" dirty="0">
              <a:solidFill>
                <a:srgbClr val="14532D"/>
              </a:solidFill>
              <a:latin typeface="Arial" panose="020B0704020202020204"/>
              <a:ea typeface="Arial" panose="020B0704020202020204"/>
              <a:cs typeface="Arial" panose="020B0704020202020204"/>
            </a:endParaRPr>
          </a:p>
        </p:txBody>
      </p:sp>
      <p:sp>
        <p:nvSpPr>
          <p:cNvPr id="71" name="TextBox 71"/>
          <p:cNvSpPr txBox="1"/>
          <p:nvPr/>
        </p:nvSpPr>
        <p:spPr>
          <a:xfrm>
            <a:off x="8826976" y="4554776"/>
            <a:ext cx="3441644" cy="205740"/>
          </a:xfrm>
          <a:prstGeom prst="rect">
            <a:avLst/>
          </a:prstGeom>
          <a:noFill/>
          <a:ln>
            <a:noFill/>
          </a:ln>
        </p:spPr>
        <p:txBody>
          <a:bodyPr wrap="none" lIns="0" tIns="0" rIns="0" bIns="0" anchor="t" anchorCtr="0">
            <a:spAutoFit/>
          </a:bodyPr>
          <a:lstStyle/>
          <a:p>
            <a:pPr algn="l"/>
            <a:r>
              <a:rPr lang="zh-CN" sz="1010" dirty="0">
                <a:solidFill>
                  <a:srgbClr val="14532D"/>
                </a:solidFill>
                <a:latin typeface="Arial" panose="020B0704020202020204"/>
                <a:ea typeface="Arial" panose="020B0704020202020204"/>
                <a:cs typeface="Arial" panose="020B0704020202020204"/>
              </a:rPr>
              <a:t>• Tải lại danh sách đơn hàng thực tế từ máy chủ.</a:t>
            </a:r>
            <a:endParaRPr lang="zh-CN" sz="1010" dirty="0">
              <a:solidFill>
                <a:srgbClr val="14532D"/>
              </a:solidFill>
              <a:latin typeface="Arial" panose="020B0704020202020204"/>
              <a:ea typeface="Arial" panose="020B0704020202020204"/>
              <a:cs typeface="Arial" panose="020B0704020202020204"/>
            </a:endParaRPr>
          </a:p>
        </p:txBody>
      </p:sp>
      <p:sp>
        <p:nvSpPr>
          <p:cNvPr id="72" name="TextBox 72"/>
          <p:cNvSpPr txBox="1"/>
          <p:nvPr/>
        </p:nvSpPr>
        <p:spPr>
          <a:xfrm>
            <a:off x="8826976" y="4977686"/>
            <a:ext cx="2621915" cy="309880"/>
          </a:xfrm>
          <a:prstGeom prst="rect">
            <a:avLst/>
          </a:prstGeom>
          <a:noFill/>
          <a:ln>
            <a:noFill/>
          </a:ln>
        </p:spPr>
        <p:txBody>
          <a:bodyPr wrap="none" lIns="0" tIns="0" rIns="0" bIns="0" anchor="t" anchorCtr="0">
            <a:spAutoFit/>
          </a:bodyPr>
          <a:lstStyle/>
          <a:p>
            <a:pPr algn="l"/>
            <a:r>
              <a:rPr lang="zh-CN" sz="1010" dirty="0">
                <a:solidFill>
                  <a:srgbClr val="14532D"/>
                </a:solidFill>
                <a:latin typeface="Arial" panose="020B0704020202020204"/>
                <a:ea typeface="Arial" panose="020B0704020202020204"/>
                <a:cs typeface="Arial" panose="020B0704020202020204"/>
              </a:rPr>
              <a:t>• Đảm bảo KHÔNG có tình trạng UI tự hiển thị</a:t>
            </a:r>
            <a:endParaRPr lang="zh-CN" sz="1010" dirty="0">
              <a:solidFill>
                <a:srgbClr val="14532D"/>
              </a:solidFill>
              <a:latin typeface="Arial" panose="020B0704020202020204"/>
              <a:ea typeface="Arial" panose="020B0704020202020204"/>
              <a:cs typeface="Arial" panose="020B0704020202020204"/>
            </a:endParaRPr>
          </a:p>
          <a:p>
            <a:pPr algn="l"/>
            <a:r>
              <a:rPr lang="zh-CN" sz="1010" dirty="0">
                <a:solidFill>
                  <a:srgbClr val="14532D"/>
                </a:solidFill>
                <a:latin typeface="Arial" panose="020B0704020202020204"/>
                <a:ea typeface="Arial" panose="020B0704020202020204"/>
                <a:cs typeface="Arial" panose="020B0704020202020204"/>
              </a:rPr>
              <a:t> đơn hàng giả khi API thất bại!</a:t>
            </a:r>
            <a:endParaRPr lang="zh-CN" sz="1010" dirty="0">
              <a:solidFill>
                <a:srgbClr val="14532D"/>
              </a:solidFill>
              <a:latin typeface="Arial" panose="020B0704020202020204"/>
              <a:ea typeface="Arial" panose="020B0704020202020204"/>
              <a:cs typeface="Arial" panose="020B0704020202020204"/>
            </a:endParaRPr>
          </a:p>
        </p:txBody>
      </p:sp>
      <p:sp>
        <p:nvSpPr>
          <p:cNvPr id="73" name="Line 73"/>
          <p:cNvSpPr/>
          <p:nvPr/>
        </p:nvSpPr>
        <p:spPr>
          <a:xfrm>
            <a:off x="381000" y="6334125"/>
            <a:ext cx="11430000" cy="9525"/>
          </a:xfrm>
          <a:custGeom>
            <a:avLst/>
            <a:gdLst/>
            <a:ahLst/>
            <a:cxnLst/>
            <a:rect l="l" t="t" r="r" b="b"/>
            <a:pathLst>
              <a:path w="11430000" h="9525">
                <a:moveTo>
                  <a:pt x="0" y="0"/>
                </a:moveTo>
                <a:lnTo>
                  <a:pt x="11430000" y="0"/>
                </a:lnTo>
              </a:path>
            </a:pathLst>
          </a:custGeom>
          <a:noFill/>
          <a:ln w="9525">
            <a:solidFill>
              <a:srgbClr val="CBD5E1"/>
            </a:solidFill>
          </a:ln>
        </p:spPr>
      </p:sp>
      <p:sp>
        <p:nvSpPr>
          <p:cNvPr id="74" name="TextBox 74"/>
          <p:cNvSpPr txBox="1"/>
          <p:nvPr/>
        </p:nvSpPr>
        <p:spPr>
          <a:xfrm>
            <a:off x="368618" y="6514624"/>
            <a:ext cx="3563374"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panose="020B0704020202020204"/>
                <a:ea typeface="Arial" panose="020B0704020202020204"/>
                <a:cs typeface="Arial" panose="020B0704020202020204"/>
              </a:rPr>
              <a:t>Báo cáo Đồ án Lập trình Di động (MOB402) • Nhóm 10</a:t>
            </a:r>
            <a:endParaRPr lang="zh-CN" sz="975" dirty="0">
              <a:solidFill>
                <a:srgbClr val="64748B"/>
              </a:solidFill>
              <a:latin typeface="Arial" panose="020B0704020202020204"/>
              <a:ea typeface="Arial" panose="020B0704020202020204"/>
              <a:cs typeface="Arial" panose="020B0704020202020204"/>
            </a:endParaRPr>
          </a:p>
        </p:txBody>
      </p:sp>
      <p:sp>
        <p:nvSpPr>
          <p:cNvPr id="75" name="TextBox 75"/>
          <p:cNvSpPr txBox="1"/>
          <p:nvPr/>
        </p:nvSpPr>
        <p:spPr>
          <a:xfrm>
            <a:off x="4574191" y="6514624"/>
            <a:ext cx="3043619" cy="198120"/>
          </a:xfrm>
          <a:prstGeom prst="rect">
            <a:avLst/>
          </a:prstGeom>
          <a:noFill/>
          <a:ln>
            <a:noFill/>
          </a:ln>
        </p:spPr>
        <p:txBody>
          <a:bodyPr wrap="none" lIns="0" tIns="0" rIns="0" bIns="0" anchor="t" anchorCtr="0">
            <a:spAutoFit/>
          </a:bodyPr>
          <a:lstStyle/>
          <a:p>
            <a:pPr algn="ctr"/>
            <a:r>
              <a:rPr lang="zh-CN" sz="975" dirty="0">
                <a:solidFill>
                  <a:srgbClr val="94A3B8"/>
                </a:solidFill>
                <a:latin typeface="Arial" panose="020B0704020202020204"/>
                <a:ea typeface="Arial" panose="020B0704020202020204"/>
                <a:cs typeface="Arial" panose="020B0704020202020204"/>
              </a:rPr>
              <a:t>Kiến trúc hệ thống &amp; Luồng dữ liệu tổng quát</a:t>
            </a:r>
            <a:endParaRPr lang="zh-CN" sz="975" dirty="0">
              <a:solidFill>
                <a:srgbClr val="94A3B8"/>
              </a:solidFill>
              <a:latin typeface="Arial" panose="020B0704020202020204"/>
              <a:ea typeface="Arial" panose="020B0704020202020204"/>
              <a:cs typeface="Arial" panose="020B0704020202020204"/>
            </a:endParaRPr>
          </a:p>
        </p:txBody>
      </p:sp>
      <p:sp>
        <p:nvSpPr>
          <p:cNvPr id="76" name="TextBox 76"/>
          <p:cNvSpPr txBox="1"/>
          <p:nvPr/>
        </p:nvSpPr>
        <p:spPr>
          <a:xfrm>
            <a:off x="11298503" y="6506528"/>
            <a:ext cx="525832" cy="213360"/>
          </a:xfrm>
          <a:prstGeom prst="rect">
            <a:avLst/>
          </a:prstGeom>
          <a:noFill/>
          <a:ln>
            <a:noFill/>
          </a:ln>
        </p:spPr>
        <p:txBody>
          <a:bodyPr wrap="none" lIns="0" tIns="0" rIns="0" bIns="0" anchor="t" anchorCtr="0">
            <a:spAutoFit/>
          </a:bodyPr>
          <a:lstStyle/>
          <a:p>
            <a:pPr algn="r"/>
            <a:r>
              <a:rPr lang="zh-CN" sz="1050" b="1" dirty="0">
                <a:solidFill>
                  <a:srgbClr val="003366"/>
                </a:solidFill>
                <a:latin typeface="Arial" panose="020B0704020202020204"/>
                <a:ea typeface="Arial" panose="020B0704020202020204"/>
                <a:cs typeface="Arial" panose="020B0704020202020204"/>
              </a:rPr>
              <a:t>06 / 14</a:t>
            </a:r>
            <a:endParaRPr lang="zh-CN" sz="1050" b="1" dirty="0">
              <a:solidFill>
                <a:srgbClr val="003366"/>
              </a:solidFill>
              <a:latin typeface="Arial" panose="020B0704020202020204"/>
              <a:ea typeface="Arial" panose="020B0704020202020204"/>
              <a:cs typeface="Arial" panose="020B0704020202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858000"/>
          </a:xfrm>
          <a:prstGeom prst="rect">
            <a:avLst/>
          </a:prstGeom>
          <a:solidFill>
            <a:srgbClr val="F8FAFC"/>
          </a:solidFill>
          <a:ln>
            <a:noFill/>
          </a:ln>
        </p:spPr>
      </p:sp>
      <p:sp>
        <p:nvSpPr>
          <p:cNvPr id="4" name="Rectangle 4"/>
          <p:cNvSpPr/>
          <p:nvPr/>
        </p:nvSpPr>
        <p:spPr>
          <a:xfrm>
            <a:off x="0" y="0"/>
            <a:ext cx="12192000" cy="666750"/>
          </a:xfrm>
          <a:prstGeom prst="rect">
            <a:avLst/>
          </a:prstGeom>
          <a:solidFill>
            <a:srgbClr val="003366"/>
          </a:solidFill>
          <a:ln>
            <a:noFill/>
          </a:ln>
        </p:spPr>
      </p:sp>
      <p:sp>
        <p:nvSpPr>
          <p:cNvPr id="5" name="Rectangle 5"/>
          <p:cNvSpPr/>
          <p:nvPr/>
        </p:nvSpPr>
        <p:spPr>
          <a:xfrm>
            <a:off x="0" y="0"/>
            <a:ext cx="57150" cy="666750"/>
          </a:xfrm>
          <a:prstGeom prst="rect">
            <a:avLst/>
          </a:prstGeom>
          <a:solidFill>
            <a:srgbClr val="E65100"/>
          </a:solidFill>
          <a:ln>
            <a:noFill/>
          </a:ln>
        </p:spPr>
      </p:sp>
      <p:sp>
        <p:nvSpPr>
          <p:cNvPr id="6" name="TextBox 6"/>
          <p:cNvSpPr txBox="1"/>
          <p:nvPr/>
        </p:nvSpPr>
        <p:spPr>
          <a:xfrm>
            <a:off x="356235" y="227648"/>
            <a:ext cx="7360994" cy="396240"/>
          </a:xfrm>
          <a:prstGeom prst="rect">
            <a:avLst/>
          </a:prstGeom>
          <a:noFill/>
          <a:ln>
            <a:noFill/>
          </a:ln>
        </p:spPr>
        <p:txBody>
          <a:bodyPr wrap="none" lIns="0" tIns="0" rIns="0" bIns="0" anchor="t" anchorCtr="0">
            <a:spAutoFit/>
          </a:bodyPr>
          <a:lstStyle/>
          <a:p>
            <a:pPr algn="l"/>
            <a:r>
              <a:rPr lang="zh-CN" sz="1950" b="1" dirty="0">
                <a:solidFill>
                  <a:srgbClr val="FFFFFF"/>
                </a:solidFill>
                <a:latin typeface="Arial" panose="020B0704020202020204"/>
                <a:ea typeface="Arial" panose="020B0704020202020204"/>
                <a:cs typeface="Arial" panose="020B0704020202020204"/>
              </a:rPr>
              <a:t>03. XÁC THỰC, QUẢN LÝ PHIÊN &amp; PHÂN QUYỀN BẢO MẬT</a:t>
            </a:r>
            <a:endParaRPr lang="zh-CN" sz="1950" b="1" dirty="0">
              <a:solidFill>
                <a:srgbClr val="FFFFFF"/>
              </a:solidFill>
              <a:latin typeface="Arial" panose="020B0704020202020204"/>
              <a:ea typeface="Arial" panose="020B0704020202020204"/>
              <a:cs typeface="Arial" panose="020B0704020202020204"/>
            </a:endParaRPr>
          </a:p>
        </p:txBody>
      </p:sp>
      <p:sp>
        <p:nvSpPr>
          <p:cNvPr id="7" name="TextBox 7"/>
          <p:cNvSpPr txBox="1"/>
          <p:nvPr/>
        </p:nvSpPr>
        <p:spPr>
          <a:xfrm>
            <a:off x="10295973" y="299085"/>
            <a:ext cx="1530267" cy="243840"/>
          </a:xfrm>
          <a:prstGeom prst="rect">
            <a:avLst/>
          </a:prstGeom>
          <a:noFill/>
          <a:ln>
            <a:noFill/>
          </a:ln>
        </p:spPr>
        <p:txBody>
          <a:bodyPr wrap="none" lIns="0" tIns="0" rIns="0" bIns="0" anchor="t" anchorCtr="0">
            <a:spAutoFit/>
          </a:bodyPr>
          <a:lstStyle/>
          <a:p>
            <a:pPr algn="r"/>
            <a:r>
              <a:rPr lang="zh-CN" sz="1200" b="1" dirty="0">
                <a:solidFill>
                  <a:srgbClr val="93C5FD"/>
                </a:solidFill>
                <a:latin typeface="Arial" panose="020B0704020202020204"/>
                <a:ea typeface="Arial" panose="020B0704020202020204"/>
                <a:cs typeface="Arial" panose="020B0704020202020204"/>
              </a:rPr>
              <a:t>GODROP DELIVERY</a:t>
            </a:r>
            <a:endParaRPr lang="zh-CN" sz="1200" b="1" dirty="0">
              <a:solidFill>
                <a:srgbClr val="93C5FD"/>
              </a:solidFill>
              <a:latin typeface="Arial" panose="020B0704020202020204"/>
              <a:ea typeface="Arial" panose="020B0704020202020204"/>
              <a:cs typeface="Arial" panose="020B0704020202020204"/>
            </a:endParaRPr>
          </a:p>
        </p:txBody>
      </p:sp>
      <p:sp>
        <p:nvSpPr>
          <p:cNvPr id="8" name="Rectangle 8"/>
          <p:cNvSpPr/>
          <p:nvPr/>
        </p:nvSpPr>
        <p:spPr>
          <a:xfrm>
            <a:off x="0" y="666750"/>
            <a:ext cx="12192000" cy="476250"/>
          </a:xfrm>
          <a:prstGeom prst="rect">
            <a:avLst/>
          </a:prstGeom>
          <a:solidFill>
            <a:srgbClr val="E8F4FC"/>
          </a:solidFill>
          <a:ln>
            <a:noFill/>
          </a:ln>
        </p:spPr>
      </p:sp>
      <p:sp>
        <p:nvSpPr>
          <p:cNvPr id="9" name="Rectangle 9"/>
          <p:cNvSpPr/>
          <p:nvPr/>
        </p:nvSpPr>
        <p:spPr>
          <a:xfrm>
            <a:off x="0" y="666750"/>
            <a:ext cx="57150" cy="476250"/>
          </a:xfrm>
          <a:prstGeom prst="rect">
            <a:avLst/>
          </a:prstGeom>
          <a:solidFill>
            <a:srgbClr val="0066CC"/>
          </a:solidFill>
          <a:ln>
            <a:noFill/>
          </a:ln>
        </p:spPr>
      </p:sp>
      <p:sp>
        <p:nvSpPr>
          <p:cNvPr id="10" name="TextBox 10"/>
          <p:cNvSpPr txBox="1"/>
          <p:nvPr/>
        </p:nvSpPr>
        <p:spPr>
          <a:xfrm>
            <a:off x="364808" y="824389"/>
            <a:ext cx="9091684" cy="259080"/>
          </a:xfrm>
          <a:prstGeom prst="rect">
            <a:avLst/>
          </a:prstGeom>
          <a:noFill/>
          <a:ln>
            <a:noFill/>
          </a:ln>
        </p:spPr>
        <p:txBody>
          <a:bodyPr wrap="none" lIns="0" tIns="0" rIns="0" bIns="0" anchor="t" anchorCtr="0">
            <a:spAutoFit/>
          </a:bodyPr>
          <a:lstStyle/>
          <a:p>
            <a:pPr algn="l"/>
            <a:r>
              <a:rPr lang="zh-CN" sz="1275" dirty="0">
                <a:solidFill>
                  <a:srgbClr val="0F172A"/>
                </a:solidFill>
                <a:latin typeface="Arial" panose="020B0704020202020204"/>
                <a:ea typeface="Arial" panose="020B0704020202020204"/>
                <a:cs typeface="Arial" panose="020B0704020202020204"/>
              </a:rPr>
              <a:t>Bảo vệ dữ liệu đa tầng: Quản lý phiên an toàn trên Android và kiểm tra phân quyền độc lập tại máy chủ</a:t>
            </a:r>
            <a:endParaRPr lang="zh-CN" sz="1275" dirty="0">
              <a:solidFill>
                <a:srgbClr val="0F172A"/>
              </a:solidFill>
              <a:latin typeface="Arial" panose="020B0704020202020204"/>
              <a:ea typeface="Arial" panose="020B0704020202020204"/>
              <a:cs typeface="Arial" panose="020B0704020202020204"/>
            </a:endParaRPr>
          </a:p>
        </p:txBody>
      </p:sp>
      <p:sp>
        <p:nvSpPr>
          <p:cNvPr id="11" name="Freeform 11"/>
          <p:cNvSpPr/>
          <p:nvPr/>
        </p:nvSpPr>
        <p:spPr>
          <a:xfrm>
            <a:off x="381000" y="1333500"/>
            <a:ext cx="3619500" cy="4810125"/>
          </a:xfrm>
          <a:custGeom>
            <a:avLst/>
            <a:gdLst/>
            <a:ahLst/>
            <a:cxnLst/>
            <a:rect l="l" t="t" r="r" b="b"/>
            <a:pathLst>
              <a:path w="3619500" h="4810125">
                <a:moveTo>
                  <a:pt x="95250" y="0"/>
                </a:moveTo>
                <a:lnTo>
                  <a:pt x="3524250" y="0"/>
                </a:lnTo>
                <a:cubicBezTo>
                  <a:pt x="3576855" y="0"/>
                  <a:pt x="3619500" y="42645"/>
                  <a:pt x="3619500" y="95250"/>
                </a:cubicBezTo>
                <a:lnTo>
                  <a:pt x="3619500" y="4714875"/>
                </a:lnTo>
                <a:cubicBezTo>
                  <a:pt x="3619500" y="4767480"/>
                  <a:pt x="3576855" y="4810125"/>
                  <a:pt x="3524250" y="4810125"/>
                </a:cubicBezTo>
                <a:lnTo>
                  <a:pt x="95250" y="4810125"/>
                </a:lnTo>
                <a:cubicBezTo>
                  <a:pt x="42645" y="4810125"/>
                  <a:pt x="0" y="4767480"/>
                  <a:pt x="0" y="4714875"/>
                </a:cubicBezTo>
                <a:lnTo>
                  <a:pt x="0" y="95250"/>
                </a:lnTo>
                <a:cubicBezTo>
                  <a:pt x="0" y="42645"/>
                  <a:pt x="42645" y="0"/>
                  <a:pt x="95250" y="0"/>
                </a:cubicBezTo>
                <a:close/>
              </a:path>
            </a:pathLst>
          </a:custGeom>
          <a:solidFill>
            <a:srgbClr val="FFFFFF"/>
          </a:solidFill>
          <a:ln w="14288">
            <a:solidFill>
              <a:srgbClr val="E2E8F0"/>
            </a:solidFill>
          </a:ln>
        </p:spPr>
      </p:sp>
      <p:sp>
        <p:nvSpPr>
          <p:cNvPr id="12" name="Freeform 12"/>
          <p:cNvSpPr/>
          <p:nvPr/>
        </p:nvSpPr>
        <p:spPr>
          <a:xfrm>
            <a:off x="381000" y="1333500"/>
            <a:ext cx="3619500" cy="476250"/>
          </a:xfrm>
          <a:custGeom>
            <a:avLst/>
            <a:gdLst/>
            <a:ahLst/>
            <a:cxnLst/>
            <a:rect l="l" t="t" r="r" b="b"/>
            <a:pathLst>
              <a:path w="3619500" h="476250">
                <a:moveTo>
                  <a:pt x="95250" y="0"/>
                </a:moveTo>
                <a:lnTo>
                  <a:pt x="3524250" y="0"/>
                </a:lnTo>
                <a:cubicBezTo>
                  <a:pt x="3576855" y="0"/>
                  <a:pt x="3619500" y="42645"/>
                  <a:pt x="3619500" y="95250"/>
                </a:cubicBezTo>
                <a:lnTo>
                  <a:pt x="3619500" y="381000"/>
                </a:lnTo>
                <a:cubicBezTo>
                  <a:pt x="3619500" y="433605"/>
                  <a:pt x="3576855" y="476250"/>
                  <a:pt x="3524250" y="476250"/>
                </a:cubicBezTo>
                <a:lnTo>
                  <a:pt x="95250" y="476250"/>
                </a:lnTo>
                <a:cubicBezTo>
                  <a:pt x="42645" y="476250"/>
                  <a:pt x="0" y="433605"/>
                  <a:pt x="0" y="381000"/>
                </a:cubicBezTo>
                <a:lnTo>
                  <a:pt x="0" y="95250"/>
                </a:lnTo>
                <a:cubicBezTo>
                  <a:pt x="0" y="42645"/>
                  <a:pt x="42645" y="0"/>
                  <a:pt x="95250" y="0"/>
                </a:cubicBezTo>
                <a:close/>
              </a:path>
            </a:pathLst>
          </a:custGeom>
          <a:solidFill>
            <a:srgbClr val="F1F5F9"/>
          </a:solidFill>
          <a:ln>
            <a:noFill/>
          </a:ln>
        </p:spPr>
      </p:sp>
      <p:sp>
        <p:nvSpPr>
          <p:cNvPr id="13" name="Freeform 13"/>
          <p:cNvSpPr/>
          <p:nvPr/>
        </p:nvSpPr>
        <p:spPr>
          <a:xfrm>
            <a:off x="585788" y="1457325"/>
            <a:ext cx="200025" cy="228600"/>
          </a:xfrm>
          <a:custGeom>
            <a:avLst/>
            <a:gdLst/>
            <a:ahLst/>
            <a:cxnLst/>
            <a:rect l="l" t="t" r="r" b="b"/>
            <a:pathLst>
              <a:path w="200025" h="228600">
                <a:moveTo>
                  <a:pt x="100012" y="228600"/>
                </a:moveTo>
                <a:lnTo>
                  <a:pt x="47864" y="191351"/>
                </a:lnTo>
                <a:cubicBezTo>
                  <a:pt x="17827" y="169896"/>
                  <a:pt x="0" y="135255"/>
                  <a:pt x="0" y="98342"/>
                </a:cubicBezTo>
                <a:lnTo>
                  <a:pt x="0" y="42862"/>
                </a:lnTo>
                <a:lnTo>
                  <a:pt x="100012" y="0"/>
                </a:lnTo>
                <a:lnTo>
                  <a:pt x="200025" y="42862"/>
                </a:lnTo>
                <a:lnTo>
                  <a:pt x="200025" y="98342"/>
                </a:lnTo>
                <a:cubicBezTo>
                  <a:pt x="200025" y="135255"/>
                  <a:pt x="182198" y="169896"/>
                  <a:pt x="152160" y="191351"/>
                </a:cubicBezTo>
                <a:lnTo>
                  <a:pt x="100012" y="228600"/>
                </a:lnTo>
                <a:close/>
                <a:moveTo>
                  <a:pt x="160121" y="81540"/>
                </a:moveTo>
                <a:lnTo>
                  <a:pt x="139916" y="61335"/>
                </a:lnTo>
                <a:lnTo>
                  <a:pt x="85725" y="115526"/>
                </a:lnTo>
                <a:lnTo>
                  <a:pt x="60109" y="89910"/>
                </a:lnTo>
                <a:lnTo>
                  <a:pt x="39903" y="110115"/>
                </a:lnTo>
                <a:lnTo>
                  <a:pt x="85725" y="155937"/>
                </a:lnTo>
                <a:lnTo>
                  <a:pt x="160121" y="81540"/>
                </a:lnTo>
                <a:close/>
              </a:path>
            </a:pathLst>
          </a:custGeom>
          <a:solidFill>
            <a:srgbClr val="003366"/>
          </a:solidFill>
          <a:ln>
            <a:noFill/>
          </a:ln>
        </p:spPr>
      </p:sp>
      <p:sp>
        <p:nvSpPr>
          <p:cNvPr id="14" name="TextBox 14"/>
          <p:cNvSpPr txBox="1"/>
          <p:nvPr/>
        </p:nvSpPr>
        <p:spPr>
          <a:xfrm>
            <a:off x="888682" y="1500664"/>
            <a:ext cx="2750175" cy="259080"/>
          </a:xfrm>
          <a:prstGeom prst="rect">
            <a:avLst/>
          </a:prstGeom>
          <a:noFill/>
          <a:ln>
            <a:noFill/>
          </a:ln>
        </p:spPr>
        <p:txBody>
          <a:bodyPr wrap="none" lIns="0" tIns="0" rIns="0" bIns="0" anchor="t" anchorCtr="0">
            <a:spAutoFit/>
          </a:bodyPr>
          <a:lstStyle/>
          <a:p>
            <a:pPr algn="l"/>
            <a:r>
              <a:rPr lang="zh-CN" sz="1275" b="1" dirty="0">
                <a:solidFill>
                  <a:srgbClr val="003366"/>
                </a:solidFill>
                <a:latin typeface="Arial" panose="020B0704020202020204"/>
                <a:ea typeface="Arial" panose="020B0704020202020204"/>
                <a:cs typeface="Arial" panose="020B0704020202020204"/>
              </a:rPr>
              <a:t>1. Quản lý phiên trên Android</a:t>
            </a:r>
            <a:endParaRPr lang="zh-CN" sz="1275" b="1" dirty="0">
              <a:solidFill>
                <a:srgbClr val="003366"/>
              </a:solidFill>
              <a:latin typeface="Arial" panose="020B0704020202020204"/>
              <a:ea typeface="Arial" panose="020B0704020202020204"/>
              <a:cs typeface="Arial" panose="020B0704020202020204"/>
            </a:endParaRPr>
          </a:p>
        </p:txBody>
      </p:sp>
      <p:sp>
        <p:nvSpPr>
          <p:cNvPr id="15" name="Freeform 15"/>
          <p:cNvSpPr/>
          <p:nvPr/>
        </p:nvSpPr>
        <p:spPr>
          <a:xfrm>
            <a:off x="571500" y="2000250"/>
            <a:ext cx="3238500" cy="904875"/>
          </a:xfrm>
          <a:custGeom>
            <a:avLst/>
            <a:gdLst/>
            <a:ahLst/>
            <a:cxnLst/>
            <a:rect l="l" t="t" r="r" b="b"/>
            <a:pathLst>
              <a:path w="3238500" h="904875">
                <a:moveTo>
                  <a:pt x="76200" y="0"/>
                </a:moveTo>
                <a:lnTo>
                  <a:pt x="3162300" y="0"/>
                </a:lnTo>
                <a:cubicBezTo>
                  <a:pt x="3204384" y="0"/>
                  <a:pt x="3238500" y="34116"/>
                  <a:pt x="3238500" y="76200"/>
                </a:cubicBezTo>
                <a:lnTo>
                  <a:pt x="3238500" y="828675"/>
                </a:lnTo>
                <a:cubicBezTo>
                  <a:pt x="3238500" y="870759"/>
                  <a:pt x="3204384" y="904875"/>
                  <a:pt x="3162300" y="904875"/>
                </a:cubicBezTo>
                <a:lnTo>
                  <a:pt x="76200" y="904875"/>
                </a:lnTo>
                <a:cubicBezTo>
                  <a:pt x="34116" y="904875"/>
                  <a:pt x="0" y="870759"/>
                  <a:pt x="0" y="828675"/>
                </a:cubicBezTo>
                <a:lnTo>
                  <a:pt x="0" y="76200"/>
                </a:lnTo>
                <a:cubicBezTo>
                  <a:pt x="0" y="34116"/>
                  <a:pt x="34116" y="0"/>
                  <a:pt x="76200" y="0"/>
                </a:cubicBezTo>
                <a:close/>
              </a:path>
            </a:pathLst>
          </a:custGeom>
          <a:solidFill>
            <a:srgbClr val="F8FAFC"/>
          </a:solidFill>
          <a:ln w="9525">
            <a:solidFill>
              <a:srgbClr val="E2E8F0"/>
            </a:solidFill>
          </a:ln>
        </p:spPr>
      </p:sp>
      <p:sp>
        <p:nvSpPr>
          <p:cNvPr id="16" name="TextBox 16"/>
          <p:cNvSpPr txBox="1"/>
          <p:nvPr/>
        </p:nvSpPr>
        <p:spPr>
          <a:xfrm>
            <a:off x="700088" y="2116931"/>
            <a:ext cx="2090208" cy="228600"/>
          </a:xfrm>
          <a:prstGeom prst="rect">
            <a:avLst/>
          </a:prstGeom>
          <a:noFill/>
          <a:ln>
            <a:noFill/>
          </a:ln>
        </p:spPr>
        <p:txBody>
          <a:bodyPr wrap="none" lIns="0" tIns="0" rIns="0" bIns="0" anchor="t" anchorCtr="0">
            <a:spAutoFit/>
          </a:bodyPr>
          <a:lstStyle/>
          <a:p>
            <a:pPr algn="l"/>
            <a:r>
              <a:rPr lang="zh-CN" sz="1125" b="1" dirty="0">
                <a:solidFill>
                  <a:srgbClr val="0066CC"/>
                </a:solidFill>
                <a:latin typeface="Arial" panose="020B0704020202020204"/>
                <a:ea typeface="Arial" panose="020B0704020202020204"/>
                <a:cs typeface="Arial" panose="020B0704020202020204"/>
              </a:rPr>
              <a:t>Lưu trữ phân cấp an toàn</a:t>
            </a:r>
            <a:endParaRPr lang="zh-CN" sz="1125" b="1" dirty="0">
              <a:solidFill>
                <a:srgbClr val="0066CC"/>
              </a:solidFill>
              <a:latin typeface="Arial" panose="020B0704020202020204"/>
              <a:ea typeface="Arial" panose="020B0704020202020204"/>
              <a:cs typeface="Arial" panose="020B0704020202020204"/>
            </a:endParaRPr>
          </a:p>
        </p:txBody>
      </p:sp>
      <p:sp>
        <p:nvSpPr>
          <p:cNvPr id="17" name="TextBox 17"/>
          <p:cNvSpPr txBox="1"/>
          <p:nvPr/>
        </p:nvSpPr>
        <p:spPr>
          <a:xfrm>
            <a:off x="701516" y="2367201"/>
            <a:ext cx="2961049" cy="205740"/>
          </a:xfrm>
          <a:prstGeom prst="rect">
            <a:avLst/>
          </a:prstGeom>
          <a:noFill/>
          <a:ln>
            <a:noFill/>
          </a:ln>
        </p:spPr>
        <p:txBody>
          <a:bodyPr wrap="none" lIns="0" tIns="0" rIns="0" bIns="0" anchor="t" anchorCtr="0">
            <a:spAutoFit/>
          </a:bodyPr>
          <a:lstStyle/>
          <a:p>
            <a:pPr algn="l"/>
            <a:r>
              <a:rPr lang="zh-CN" sz="1010" dirty="0">
                <a:solidFill>
                  <a:srgbClr val="334155"/>
                </a:solidFill>
                <a:latin typeface="Arial" panose="020B0704020202020204"/>
                <a:ea typeface="Arial" panose="020B0704020202020204"/>
                <a:cs typeface="Arial" panose="020B0704020202020204"/>
              </a:rPr>
              <a:t>• JWT Token: Private SharedPreferences</a:t>
            </a:r>
            <a:endParaRPr lang="zh-CN" sz="1010" dirty="0">
              <a:solidFill>
                <a:srgbClr val="334155"/>
              </a:solidFill>
              <a:latin typeface="Arial" panose="020B0704020202020204"/>
              <a:ea typeface="Arial" panose="020B0704020202020204"/>
              <a:cs typeface="Arial" panose="020B0704020202020204"/>
            </a:endParaRPr>
          </a:p>
        </p:txBody>
      </p:sp>
      <p:sp>
        <p:nvSpPr>
          <p:cNvPr id="18" name="TextBox 18"/>
          <p:cNvSpPr txBox="1"/>
          <p:nvPr/>
        </p:nvSpPr>
        <p:spPr>
          <a:xfrm>
            <a:off x="701516" y="2605326"/>
            <a:ext cx="3057168" cy="205740"/>
          </a:xfrm>
          <a:prstGeom prst="rect">
            <a:avLst/>
          </a:prstGeom>
          <a:noFill/>
          <a:ln>
            <a:noFill/>
          </a:ln>
        </p:spPr>
        <p:txBody>
          <a:bodyPr wrap="none" lIns="0" tIns="0" rIns="0" bIns="0" anchor="t" anchorCtr="0">
            <a:spAutoFit/>
          </a:bodyPr>
          <a:lstStyle/>
          <a:p>
            <a:pPr algn="l"/>
            <a:r>
              <a:rPr lang="zh-CN" sz="1010" dirty="0">
                <a:solidFill>
                  <a:srgbClr val="334155"/>
                </a:solidFill>
                <a:latin typeface="Arial" panose="020B0704020202020204"/>
                <a:ea typeface="Arial" panose="020B0704020202020204"/>
                <a:cs typeface="Arial" panose="020B0704020202020204"/>
              </a:rPr>
              <a:t>• User ID: Jetpack DataStore Preferences</a:t>
            </a:r>
            <a:endParaRPr lang="zh-CN" sz="1010" dirty="0">
              <a:solidFill>
                <a:srgbClr val="334155"/>
              </a:solidFill>
              <a:latin typeface="Arial" panose="020B0704020202020204"/>
              <a:ea typeface="Arial" panose="020B0704020202020204"/>
              <a:cs typeface="Arial" panose="020B0704020202020204"/>
            </a:endParaRPr>
          </a:p>
        </p:txBody>
      </p:sp>
      <p:sp>
        <p:nvSpPr>
          <p:cNvPr id="19" name="Freeform 19"/>
          <p:cNvSpPr/>
          <p:nvPr/>
        </p:nvSpPr>
        <p:spPr>
          <a:xfrm>
            <a:off x="571500" y="3048000"/>
            <a:ext cx="3238500" cy="904875"/>
          </a:xfrm>
          <a:custGeom>
            <a:avLst/>
            <a:gdLst/>
            <a:ahLst/>
            <a:cxnLst/>
            <a:rect l="l" t="t" r="r" b="b"/>
            <a:pathLst>
              <a:path w="3238500" h="904875">
                <a:moveTo>
                  <a:pt x="76200" y="0"/>
                </a:moveTo>
                <a:lnTo>
                  <a:pt x="3162300" y="0"/>
                </a:lnTo>
                <a:cubicBezTo>
                  <a:pt x="3204384" y="0"/>
                  <a:pt x="3238500" y="34116"/>
                  <a:pt x="3238500" y="76200"/>
                </a:cubicBezTo>
                <a:lnTo>
                  <a:pt x="3238500" y="828675"/>
                </a:lnTo>
                <a:cubicBezTo>
                  <a:pt x="3238500" y="870759"/>
                  <a:pt x="3204384" y="904875"/>
                  <a:pt x="3162300" y="904875"/>
                </a:cubicBezTo>
                <a:lnTo>
                  <a:pt x="76200" y="904875"/>
                </a:lnTo>
                <a:cubicBezTo>
                  <a:pt x="34116" y="904875"/>
                  <a:pt x="0" y="870759"/>
                  <a:pt x="0" y="828675"/>
                </a:cubicBezTo>
                <a:lnTo>
                  <a:pt x="0" y="76200"/>
                </a:lnTo>
                <a:cubicBezTo>
                  <a:pt x="0" y="34116"/>
                  <a:pt x="34116" y="0"/>
                  <a:pt x="76200" y="0"/>
                </a:cubicBezTo>
                <a:close/>
              </a:path>
            </a:pathLst>
          </a:custGeom>
          <a:solidFill>
            <a:srgbClr val="F8FAFC"/>
          </a:solidFill>
          <a:ln w="9525">
            <a:solidFill>
              <a:srgbClr val="E2E8F0"/>
            </a:solidFill>
          </a:ln>
        </p:spPr>
      </p:sp>
      <p:sp>
        <p:nvSpPr>
          <p:cNvPr id="20" name="TextBox 20"/>
          <p:cNvSpPr txBox="1"/>
          <p:nvPr/>
        </p:nvSpPr>
        <p:spPr>
          <a:xfrm>
            <a:off x="700088" y="3164681"/>
            <a:ext cx="2857929" cy="228600"/>
          </a:xfrm>
          <a:prstGeom prst="rect">
            <a:avLst/>
          </a:prstGeom>
          <a:noFill/>
          <a:ln>
            <a:noFill/>
          </a:ln>
        </p:spPr>
        <p:txBody>
          <a:bodyPr wrap="none" lIns="0" tIns="0" rIns="0" bIns="0" anchor="t" anchorCtr="0">
            <a:spAutoFit/>
          </a:bodyPr>
          <a:lstStyle/>
          <a:p>
            <a:pPr algn="l"/>
            <a:r>
              <a:rPr lang="zh-CN" sz="1125" b="1" dirty="0">
                <a:solidFill>
                  <a:srgbClr val="0066CC"/>
                </a:solidFill>
                <a:latin typeface="Arial" panose="020B0704020202020204"/>
                <a:ea typeface="Arial" panose="020B0704020202020204"/>
                <a:cs typeface="Arial" panose="020B0704020202020204"/>
              </a:rPr>
              <a:t>Khôi phục phiên (Session Restore)</a:t>
            </a:r>
            <a:endParaRPr lang="zh-CN" sz="1125" b="1" dirty="0">
              <a:solidFill>
                <a:srgbClr val="0066CC"/>
              </a:solidFill>
              <a:latin typeface="Arial" panose="020B0704020202020204"/>
              <a:ea typeface="Arial" panose="020B0704020202020204"/>
              <a:cs typeface="Arial" panose="020B0704020202020204"/>
            </a:endParaRPr>
          </a:p>
        </p:txBody>
      </p:sp>
      <p:sp>
        <p:nvSpPr>
          <p:cNvPr id="21" name="TextBox 21"/>
          <p:cNvSpPr txBox="1"/>
          <p:nvPr/>
        </p:nvSpPr>
        <p:spPr>
          <a:xfrm>
            <a:off x="701516" y="3343196"/>
            <a:ext cx="2727325" cy="309880"/>
          </a:xfrm>
          <a:prstGeom prst="rect">
            <a:avLst/>
          </a:prstGeom>
          <a:noFill/>
          <a:ln>
            <a:noFill/>
          </a:ln>
        </p:spPr>
        <p:txBody>
          <a:bodyPr wrap="none" lIns="0" tIns="0" rIns="0" bIns="0" anchor="t" anchorCtr="0">
            <a:spAutoFit/>
          </a:bodyPr>
          <a:lstStyle/>
          <a:p>
            <a:pPr algn="l"/>
            <a:r>
              <a:rPr lang="zh-CN" sz="1010" dirty="0">
                <a:solidFill>
                  <a:srgbClr val="334155"/>
                </a:solidFill>
                <a:latin typeface="Arial" panose="020B0704020202020204"/>
                <a:ea typeface="Arial" panose="020B0704020202020204"/>
                <a:cs typeface="Arial" panose="020B0704020202020204"/>
              </a:rPr>
              <a:t>• Khi mở lại ứng dụng, AuthViewModel kiểm tra </a:t>
            </a:r>
            <a:endParaRPr lang="zh-CN" sz="1010" dirty="0">
              <a:solidFill>
                <a:srgbClr val="334155"/>
              </a:solidFill>
              <a:latin typeface="Arial" panose="020B0704020202020204"/>
              <a:ea typeface="Arial" panose="020B0704020202020204"/>
              <a:cs typeface="Arial" panose="020B0704020202020204"/>
            </a:endParaRPr>
          </a:p>
          <a:p>
            <a:pPr algn="l"/>
            <a:r>
              <a:rPr lang="zh-CN" sz="1010" dirty="0">
                <a:solidFill>
                  <a:srgbClr val="334155"/>
                </a:solidFill>
                <a:latin typeface="Arial" panose="020B0704020202020204"/>
                <a:ea typeface="Arial" panose="020B0704020202020204"/>
                <a:cs typeface="Arial" panose="020B0704020202020204"/>
              </a:rPr>
              <a:t>tính hợp lệ của token đã lưu.</a:t>
            </a:r>
            <a:endParaRPr lang="zh-CN" sz="1010" dirty="0">
              <a:solidFill>
                <a:srgbClr val="334155"/>
              </a:solidFill>
              <a:latin typeface="Arial" panose="020B0704020202020204"/>
              <a:ea typeface="Arial" panose="020B0704020202020204"/>
              <a:cs typeface="Arial" panose="020B0704020202020204"/>
            </a:endParaRPr>
          </a:p>
        </p:txBody>
      </p:sp>
      <p:sp>
        <p:nvSpPr>
          <p:cNvPr id="22" name="TextBox 22"/>
          <p:cNvSpPr txBox="1"/>
          <p:nvPr/>
        </p:nvSpPr>
        <p:spPr>
          <a:xfrm>
            <a:off x="701516" y="3733086"/>
            <a:ext cx="2613541" cy="205740"/>
          </a:xfrm>
          <a:prstGeom prst="rect">
            <a:avLst/>
          </a:prstGeom>
          <a:noFill/>
          <a:ln>
            <a:noFill/>
          </a:ln>
        </p:spPr>
        <p:txBody>
          <a:bodyPr wrap="none" lIns="0" tIns="0" rIns="0" bIns="0" anchor="t" anchorCtr="0">
            <a:spAutoFit/>
          </a:bodyPr>
          <a:lstStyle/>
          <a:p>
            <a:pPr algn="l"/>
            <a:r>
              <a:rPr lang="zh-CN" sz="1010" dirty="0">
                <a:solidFill>
                  <a:srgbClr val="334155"/>
                </a:solidFill>
                <a:latin typeface="Arial" panose="020B0704020202020204"/>
                <a:ea typeface="Arial" panose="020B0704020202020204"/>
                <a:cs typeface="Arial" panose="020B0704020202020204"/>
              </a:rPr>
              <a:t>• Khôi phục hồ sơ cục bộ từ Room DB.</a:t>
            </a:r>
            <a:endParaRPr lang="zh-CN" sz="1010" dirty="0">
              <a:solidFill>
                <a:srgbClr val="334155"/>
              </a:solidFill>
              <a:latin typeface="Arial" panose="020B0704020202020204"/>
              <a:ea typeface="Arial" panose="020B0704020202020204"/>
              <a:cs typeface="Arial" panose="020B0704020202020204"/>
            </a:endParaRPr>
          </a:p>
        </p:txBody>
      </p:sp>
      <p:sp>
        <p:nvSpPr>
          <p:cNvPr id="23" name="Freeform 23"/>
          <p:cNvSpPr/>
          <p:nvPr/>
        </p:nvSpPr>
        <p:spPr>
          <a:xfrm>
            <a:off x="571500" y="4095750"/>
            <a:ext cx="3238500" cy="1857375"/>
          </a:xfrm>
          <a:custGeom>
            <a:avLst/>
            <a:gdLst/>
            <a:ahLst/>
            <a:cxnLst/>
            <a:rect l="l" t="t" r="r" b="b"/>
            <a:pathLst>
              <a:path w="3238500" h="1857375">
                <a:moveTo>
                  <a:pt x="76200" y="0"/>
                </a:moveTo>
                <a:lnTo>
                  <a:pt x="3162300" y="0"/>
                </a:lnTo>
                <a:cubicBezTo>
                  <a:pt x="3204384" y="0"/>
                  <a:pt x="3238500" y="34116"/>
                  <a:pt x="3238500" y="76200"/>
                </a:cubicBezTo>
                <a:lnTo>
                  <a:pt x="3238500" y="1781175"/>
                </a:lnTo>
                <a:cubicBezTo>
                  <a:pt x="3238500" y="1823259"/>
                  <a:pt x="3204384" y="1857375"/>
                  <a:pt x="3162300" y="1857375"/>
                </a:cubicBezTo>
                <a:lnTo>
                  <a:pt x="76200" y="1857375"/>
                </a:lnTo>
                <a:cubicBezTo>
                  <a:pt x="34116" y="1857375"/>
                  <a:pt x="0" y="1823259"/>
                  <a:pt x="0" y="1781175"/>
                </a:cubicBezTo>
                <a:lnTo>
                  <a:pt x="0" y="76200"/>
                </a:lnTo>
                <a:cubicBezTo>
                  <a:pt x="0" y="34116"/>
                  <a:pt x="34116" y="0"/>
                  <a:pt x="76200" y="0"/>
                </a:cubicBezTo>
                <a:close/>
              </a:path>
            </a:pathLst>
          </a:custGeom>
          <a:solidFill>
            <a:srgbClr val="EFF6FF"/>
          </a:solidFill>
          <a:ln w="9525">
            <a:solidFill>
              <a:srgbClr val="BFDBFE"/>
            </a:solidFill>
          </a:ln>
        </p:spPr>
      </p:sp>
      <p:sp>
        <p:nvSpPr>
          <p:cNvPr id="24" name="TextBox 24"/>
          <p:cNvSpPr txBox="1"/>
          <p:nvPr/>
        </p:nvSpPr>
        <p:spPr>
          <a:xfrm>
            <a:off x="700088" y="4212431"/>
            <a:ext cx="2530138" cy="228600"/>
          </a:xfrm>
          <a:prstGeom prst="rect">
            <a:avLst/>
          </a:prstGeom>
          <a:noFill/>
          <a:ln>
            <a:noFill/>
          </a:ln>
        </p:spPr>
        <p:txBody>
          <a:bodyPr wrap="none" lIns="0" tIns="0" rIns="0" bIns="0" anchor="t" anchorCtr="0">
            <a:spAutoFit/>
          </a:bodyPr>
          <a:lstStyle/>
          <a:p>
            <a:pPr algn="l"/>
            <a:r>
              <a:rPr lang="zh-CN" sz="1125" b="1" dirty="0">
                <a:solidFill>
                  <a:srgbClr val="1D4ED8"/>
                </a:solidFill>
                <a:latin typeface="Arial" panose="020B0704020202020204"/>
                <a:ea typeface="Arial" panose="020B0704020202020204"/>
                <a:cs typeface="Arial" panose="020B0704020202020204"/>
              </a:rPr>
              <a:t>Điều hướng theo Vai trò (Role)</a:t>
            </a:r>
            <a:endParaRPr lang="zh-CN" sz="1125" b="1" dirty="0">
              <a:solidFill>
                <a:srgbClr val="1D4ED8"/>
              </a:solidFill>
              <a:latin typeface="Arial" panose="020B0704020202020204"/>
              <a:ea typeface="Arial" panose="020B0704020202020204"/>
              <a:cs typeface="Arial" panose="020B0704020202020204"/>
            </a:endParaRPr>
          </a:p>
        </p:txBody>
      </p:sp>
      <p:sp>
        <p:nvSpPr>
          <p:cNvPr id="25" name="TextBox 25"/>
          <p:cNvSpPr txBox="1"/>
          <p:nvPr/>
        </p:nvSpPr>
        <p:spPr>
          <a:xfrm>
            <a:off x="701040" y="4506278"/>
            <a:ext cx="2556986" cy="213360"/>
          </a:xfrm>
          <a:prstGeom prst="rect">
            <a:avLst/>
          </a:prstGeom>
          <a:noFill/>
          <a:ln>
            <a:noFill/>
          </a:ln>
        </p:spPr>
        <p:txBody>
          <a:bodyPr wrap="none" lIns="0" tIns="0" rIns="0" bIns="0" anchor="t" anchorCtr="0">
            <a:spAutoFit/>
          </a:bodyPr>
          <a:lstStyle/>
          <a:p>
            <a:pPr algn="l"/>
            <a:r>
              <a:rPr lang="zh-CN" sz="1050" dirty="0">
                <a:solidFill>
                  <a:srgbClr val="1E40AF"/>
                </a:solidFill>
                <a:latin typeface="Arial" panose="020B0704020202020204"/>
                <a:ea typeface="Arial" panose="020B0704020202020204"/>
                <a:cs typeface="Arial" panose="020B0704020202020204"/>
              </a:rPr>
              <a:t>DeliveryApp đọc Role sau khi login:</a:t>
            </a:r>
            <a:endParaRPr lang="zh-CN" sz="1050" dirty="0">
              <a:solidFill>
                <a:srgbClr val="1E40AF"/>
              </a:solidFill>
              <a:latin typeface="Arial" panose="020B0704020202020204"/>
              <a:ea typeface="Arial" panose="020B0704020202020204"/>
              <a:cs typeface="Arial" panose="020B0704020202020204"/>
            </a:endParaRPr>
          </a:p>
        </p:txBody>
      </p:sp>
      <p:sp>
        <p:nvSpPr>
          <p:cNvPr id="26" name="TextBox 26"/>
          <p:cNvSpPr txBox="1"/>
          <p:nvPr/>
        </p:nvSpPr>
        <p:spPr>
          <a:xfrm>
            <a:off x="701516" y="4796076"/>
            <a:ext cx="2635722" cy="205740"/>
          </a:xfrm>
          <a:prstGeom prst="rect">
            <a:avLst/>
          </a:prstGeom>
          <a:noFill/>
          <a:ln>
            <a:noFill/>
          </a:ln>
        </p:spPr>
        <p:txBody>
          <a:bodyPr wrap="none" lIns="0" tIns="0" rIns="0" bIns="0" anchor="t" anchorCtr="0">
            <a:spAutoFit/>
          </a:bodyPr>
          <a:lstStyle/>
          <a:p>
            <a:pPr algn="l"/>
            <a:r>
              <a:rPr lang="zh-CN" sz="1010" dirty="0">
                <a:solidFill>
                  <a:srgbClr val="1E3A8A"/>
                </a:solidFill>
                <a:latin typeface="Arial" panose="020B0704020202020204"/>
                <a:ea typeface="Arial" panose="020B0704020202020204"/>
                <a:cs typeface="Arial" panose="020B0704020202020204"/>
              </a:rPr>
              <a:t>➔ CLIENT: Điều hướng màn Home Khách</a:t>
            </a:r>
            <a:endParaRPr lang="zh-CN" sz="1010" dirty="0">
              <a:solidFill>
                <a:srgbClr val="1E3A8A"/>
              </a:solidFill>
              <a:latin typeface="Arial" panose="020B0704020202020204"/>
              <a:ea typeface="Arial" panose="020B0704020202020204"/>
              <a:cs typeface="Arial" panose="020B0704020202020204"/>
            </a:endParaRPr>
          </a:p>
        </p:txBody>
      </p:sp>
      <p:sp>
        <p:nvSpPr>
          <p:cNvPr id="27" name="TextBox 27"/>
          <p:cNvSpPr txBox="1"/>
          <p:nvPr/>
        </p:nvSpPr>
        <p:spPr>
          <a:xfrm>
            <a:off x="701516" y="5081826"/>
            <a:ext cx="2805779" cy="205740"/>
          </a:xfrm>
          <a:prstGeom prst="rect">
            <a:avLst/>
          </a:prstGeom>
          <a:noFill/>
          <a:ln>
            <a:noFill/>
          </a:ln>
        </p:spPr>
        <p:txBody>
          <a:bodyPr wrap="none" lIns="0" tIns="0" rIns="0" bIns="0" anchor="t" anchorCtr="0">
            <a:spAutoFit/>
          </a:bodyPr>
          <a:lstStyle/>
          <a:p>
            <a:pPr algn="l"/>
            <a:r>
              <a:rPr lang="zh-CN" sz="1010" dirty="0">
                <a:solidFill>
                  <a:srgbClr val="1E3A8A"/>
                </a:solidFill>
                <a:latin typeface="Arial" panose="020B0704020202020204"/>
                <a:ea typeface="Arial" panose="020B0704020202020204"/>
                <a:cs typeface="Arial" panose="020B0704020202020204"/>
              </a:rPr>
              <a:t>➔ DELIVERY: Điều hướng màn Home Tài xế</a:t>
            </a:r>
            <a:endParaRPr lang="zh-CN" sz="1010" dirty="0">
              <a:solidFill>
                <a:srgbClr val="1E3A8A"/>
              </a:solidFill>
              <a:latin typeface="Arial" panose="020B0704020202020204"/>
              <a:ea typeface="Arial" panose="020B0704020202020204"/>
              <a:cs typeface="Arial" panose="020B0704020202020204"/>
            </a:endParaRPr>
          </a:p>
        </p:txBody>
      </p:sp>
      <p:sp>
        <p:nvSpPr>
          <p:cNvPr id="28" name="TextBox 28"/>
          <p:cNvSpPr txBox="1"/>
          <p:nvPr/>
        </p:nvSpPr>
        <p:spPr>
          <a:xfrm>
            <a:off x="701516" y="5367576"/>
            <a:ext cx="2635722" cy="205740"/>
          </a:xfrm>
          <a:prstGeom prst="rect">
            <a:avLst/>
          </a:prstGeom>
          <a:noFill/>
          <a:ln>
            <a:noFill/>
          </a:ln>
        </p:spPr>
        <p:txBody>
          <a:bodyPr wrap="none" lIns="0" tIns="0" rIns="0" bIns="0" anchor="t" anchorCtr="0">
            <a:spAutoFit/>
          </a:bodyPr>
          <a:lstStyle/>
          <a:p>
            <a:pPr algn="l"/>
            <a:r>
              <a:rPr lang="zh-CN" sz="1010" dirty="0">
                <a:solidFill>
                  <a:srgbClr val="1E3A8A"/>
                </a:solidFill>
                <a:latin typeface="Arial" panose="020B0704020202020204"/>
                <a:ea typeface="Arial" panose="020B0704020202020204"/>
                <a:cs typeface="Arial" panose="020B0704020202020204"/>
              </a:rPr>
              <a:t>➔ ADMIN: Điều hướng Admin Dashboard</a:t>
            </a:r>
            <a:endParaRPr lang="zh-CN" sz="1010" dirty="0">
              <a:solidFill>
                <a:srgbClr val="1E3A8A"/>
              </a:solidFill>
              <a:latin typeface="Arial" panose="020B0704020202020204"/>
              <a:ea typeface="Arial" panose="020B0704020202020204"/>
              <a:cs typeface="Arial" panose="020B0704020202020204"/>
            </a:endParaRPr>
          </a:p>
        </p:txBody>
      </p:sp>
      <p:sp>
        <p:nvSpPr>
          <p:cNvPr id="29" name="TextBox 29"/>
          <p:cNvSpPr txBox="1"/>
          <p:nvPr/>
        </p:nvSpPr>
        <p:spPr>
          <a:xfrm>
            <a:off x="701992" y="5657374"/>
            <a:ext cx="2872740"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panose="020B0704020202020204"/>
                <a:ea typeface="Arial" panose="020B0704020202020204"/>
                <a:cs typeface="Arial" panose="020B0704020202020204"/>
              </a:rPr>
              <a:t>Phiên không hợp lệ ➔ Đưa về Màn Đăng nhập</a:t>
            </a:r>
            <a:endParaRPr lang="zh-CN" sz="975" dirty="0">
              <a:solidFill>
                <a:srgbClr val="64748B"/>
              </a:solidFill>
              <a:latin typeface="Arial" panose="020B0704020202020204"/>
              <a:ea typeface="Arial" panose="020B0704020202020204"/>
              <a:cs typeface="Arial" panose="020B0704020202020204"/>
            </a:endParaRPr>
          </a:p>
        </p:txBody>
      </p:sp>
      <p:sp>
        <p:nvSpPr>
          <p:cNvPr id="30" name="Freeform 30"/>
          <p:cNvSpPr/>
          <p:nvPr/>
        </p:nvSpPr>
        <p:spPr>
          <a:xfrm>
            <a:off x="4286250" y="1333500"/>
            <a:ext cx="3619500" cy="4810125"/>
          </a:xfrm>
          <a:custGeom>
            <a:avLst/>
            <a:gdLst/>
            <a:ahLst/>
            <a:cxnLst/>
            <a:rect l="l" t="t" r="r" b="b"/>
            <a:pathLst>
              <a:path w="3619500" h="4810125">
                <a:moveTo>
                  <a:pt x="95250" y="0"/>
                </a:moveTo>
                <a:lnTo>
                  <a:pt x="3524250" y="0"/>
                </a:lnTo>
                <a:cubicBezTo>
                  <a:pt x="3576855" y="0"/>
                  <a:pt x="3619500" y="42645"/>
                  <a:pt x="3619500" y="95250"/>
                </a:cubicBezTo>
                <a:lnTo>
                  <a:pt x="3619500" y="4714875"/>
                </a:lnTo>
                <a:cubicBezTo>
                  <a:pt x="3619500" y="4767480"/>
                  <a:pt x="3576855" y="4810125"/>
                  <a:pt x="3524250" y="4810125"/>
                </a:cubicBezTo>
                <a:lnTo>
                  <a:pt x="95250" y="4810125"/>
                </a:lnTo>
                <a:cubicBezTo>
                  <a:pt x="42645" y="4810125"/>
                  <a:pt x="0" y="4767480"/>
                  <a:pt x="0" y="4714875"/>
                </a:cubicBezTo>
                <a:lnTo>
                  <a:pt x="0" y="95250"/>
                </a:lnTo>
                <a:cubicBezTo>
                  <a:pt x="0" y="42645"/>
                  <a:pt x="42645" y="0"/>
                  <a:pt x="95250" y="0"/>
                </a:cubicBezTo>
                <a:close/>
              </a:path>
            </a:pathLst>
          </a:custGeom>
          <a:solidFill>
            <a:srgbClr val="FFFFFF"/>
          </a:solidFill>
          <a:ln w="14288">
            <a:solidFill>
              <a:srgbClr val="E2E8F0"/>
            </a:solidFill>
          </a:ln>
        </p:spPr>
      </p:sp>
      <p:sp>
        <p:nvSpPr>
          <p:cNvPr id="31" name="Freeform 31"/>
          <p:cNvSpPr/>
          <p:nvPr/>
        </p:nvSpPr>
        <p:spPr>
          <a:xfrm>
            <a:off x="4286250" y="1333500"/>
            <a:ext cx="3619500" cy="476250"/>
          </a:xfrm>
          <a:custGeom>
            <a:avLst/>
            <a:gdLst/>
            <a:ahLst/>
            <a:cxnLst/>
            <a:rect l="l" t="t" r="r" b="b"/>
            <a:pathLst>
              <a:path w="3619500" h="476250">
                <a:moveTo>
                  <a:pt x="95250" y="0"/>
                </a:moveTo>
                <a:lnTo>
                  <a:pt x="3524250" y="0"/>
                </a:lnTo>
                <a:cubicBezTo>
                  <a:pt x="3576855" y="0"/>
                  <a:pt x="3619500" y="42645"/>
                  <a:pt x="3619500" y="95250"/>
                </a:cubicBezTo>
                <a:lnTo>
                  <a:pt x="3619500" y="381000"/>
                </a:lnTo>
                <a:cubicBezTo>
                  <a:pt x="3619500" y="433605"/>
                  <a:pt x="3576855" y="476250"/>
                  <a:pt x="3524250" y="476250"/>
                </a:cubicBezTo>
                <a:lnTo>
                  <a:pt x="95250" y="476250"/>
                </a:lnTo>
                <a:cubicBezTo>
                  <a:pt x="42645" y="476250"/>
                  <a:pt x="0" y="433605"/>
                  <a:pt x="0" y="381000"/>
                </a:cubicBezTo>
                <a:lnTo>
                  <a:pt x="0" y="95250"/>
                </a:lnTo>
                <a:cubicBezTo>
                  <a:pt x="0" y="42645"/>
                  <a:pt x="42645" y="0"/>
                  <a:pt x="95250" y="0"/>
                </a:cubicBezTo>
                <a:close/>
              </a:path>
            </a:pathLst>
          </a:custGeom>
          <a:solidFill>
            <a:srgbClr val="F1F5F9"/>
          </a:solidFill>
          <a:ln>
            <a:noFill/>
          </a:ln>
        </p:spPr>
      </p:sp>
      <p:sp>
        <p:nvSpPr>
          <p:cNvPr id="32" name="Freeform 32"/>
          <p:cNvSpPr/>
          <p:nvPr/>
        </p:nvSpPr>
        <p:spPr>
          <a:xfrm>
            <a:off x="4476750" y="1485900"/>
            <a:ext cx="228600" cy="71438"/>
          </a:xfrm>
          <a:custGeom>
            <a:avLst/>
            <a:gdLst/>
            <a:ahLst/>
            <a:cxnLst/>
            <a:rect l="l" t="t" r="r" b="b"/>
            <a:pathLst>
              <a:path w="228600" h="71438">
                <a:moveTo>
                  <a:pt x="228600" y="0"/>
                </a:moveTo>
                <a:lnTo>
                  <a:pt x="0" y="0"/>
                </a:lnTo>
                <a:lnTo>
                  <a:pt x="0" y="71438"/>
                </a:lnTo>
                <a:lnTo>
                  <a:pt x="228600" y="71438"/>
                </a:lnTo>
                <a:lnTo>
                  <a:pt x="228600" y="0"/>
                </a:lnTo>
                <a:close/>
                <a:moveTo>
                  <a:pt x="57150" y="35719"/>
                </a:moveTo>
                <a:cubicBezTo>
                  <a:pt x="57150" y="43609"/>
                  <a:pt x="50753" y="50006"/>
                  <a:pt x="42862" y="50006"/>
                </a:cubicBezTo>
                <a:cubicBezTo>
                  <a:pt x="34972" y="50006"/>
                  <a:pt x="28575" y="43609"/>
                  <a:pt x="28575" y="35719"/>
                </a:cubicBezTo>
                <a:cubicBezTo>
                  <a:pt x="28575" y="27828"/>
                  <a:pt x="34972" y="21431"/>
                  <a:pt x="42862" y="21431"/>
                </a:cubicBezTo>
                <a:cubicBezTo>
                  <a:pt x="50753" y="21431"/>
                  <a:pt x="57150" y="27828"/>
                  <a:pt x="57150" y="35719"/>
                </a:cubicBezTo>
                <a:close/>
              </a:path>
            </a:pathLst>
          </a:custGeom>
          <a:solidFill>
            <a:srgbClr val="003366"/>
          </a:solidFill>
          <a:ln>
            <a:noFill/>
          </a:ln>
        </p:spPr>
      </p:sp>
      <p:sp>
        <p:nvSpPr>
          <p:cNvPr id="33" name="Freeform 33"/>
          <p:cNvSpPr/>
          <p:nvPr/>
        </p:nvSpPr>
        <p:spPr>
          <a:xfrm>
            <a:off x="4476750" y="1585912"/>
            <a:ext cx="228600" cy="71438"/>
          </a:xfrm>
          <a:custGeom>
            <a:avLst/>
            <a:gdLst/>
            <a:ahLst/>
            <a:cxnLst/>
            <a:rect l="l" t="t" r="r" b="b"/>
            <a:pathLst>
              <a:path w="228600" h="71438">
                <a:moveTo>
                  <a:pt x="228600" y="0"/>
                </a:moveTo>
                <a:lnTo>
                  <a:pt x="0" y="0"/>
                </a:lnTo>
                <a:lnTo>
                  <a:pt x="0" y="71438"/>
                </a:lnTo>
                <a:lnTo>
                  <a:pt x="228600" y="71438"/>
                </a:lnTo>
                <a:lnTo>
                  <a:pt x="228600" y="0"/>
                </a:lnTo>
                <a:close/>
                <a:moveTo>
                  <a:pt x="42862" y="50006"/>
                </a:moveTo>
                <a:cubicBezTo>
                  <a:pt x="50753" y="50006"/>
                  <a:pt x="57150" y="43610"/>
                  <a:pt x="57150" y="35719"/>
                </a:cubicBezTo>
                <a:cubicBezTo>
                  <a:pt x="57150" y="27828"/>
                  <a:pt x="50753" y="21431"/>
                  <a:pt x="42862" y="21431"/>
                </a:cubicBezTo>
                <a:cubicBezTo>
                  <a:pt x="34972" y="21431"/>
                  <a:pt x="28575" y="27828"/>
                  <a:pt x="28575" y="35719"/>
                </a:cubicBezTo>
                <a:cubicBezTo>
                  <a:pt x="28575" y="43610"/>
                  <a:pt x="34972" y="50006"/>
                  <a:pt x="42862" y="50006"/>
                </a:cubicBezTo>
                <a:close/>
              </a:path>
            </a:pathLst>
          </a:custGeom>
          <a:solidFill>
            <a:srgbClr val="003366"/>
          </a:solidFill>
          <a:ln>
            <a:noFill/>
          </a:ln>
        </p:spPr>
      </p:sp>
      <p:sp>
        <p:nvSpPr>
          <p:cNvPr id="34" name="TextBox 34"/>
          <p:cNvSpPr txBox="1"/>
          <p:nvPr/>
        </p:nvSpPr>
        <p:spPr>
          <a:xfrm>
            <a:off x="4793932" y="1500664"/>
            <a:ext cx="2583979" cy="259080"/>
          </a:xfrm>
          <a:prstGeom prst="rect">
            <a:avLst/>
          </a:prstGeom>
          <a:noFill/>
          <a:ln>
            <a:noFill/>
          </a:ln>
        </p:spPr>
        <p:txBody>
          <a:bodyPr wrap="none" lIns="0" tIns="0" rIns="0" bIns="0" anchor="t" anchorCtr="0">
            <a:spAutoFit/>
          </a:bodyPr>
          <a:lstStyle/>
          <a:p>
            <a:pPr algn="l"/>
            <a:r>
              <a:rPr lang="zh-CN" sz="1275" b="1" dirty="0">
                <a:solidFill>
                  <a:srgbClr val="003366"/>
                </a:solidFill>
                <a:latin typeface="Arial" panose="020B0704020202020204"/>
                <a:ea typeface="Arial" panose="020B0704020202020204"/>
                <a:cs typeface="Arial" panose="020B0704020202020204"/>
              </a:rPr>
              <a:t>2. Cơ chế Auth Interceptor</a:t>
            </a:r>
            <a:endParaRPr lang="zh-CN" sz="1275" b="1" dirty="0">
              <a:solidFill>
                <a:srgbClr val="003366"/>
              </a:solidFill>
              <a:latin typeface="Arial" panose="020B0704020202020204"/>
              <a:ea typeface="Arial" panose="020B0704020202020204"/>
              <a:cs typeface="Arial" panose="020B0704020202020204"/>
            </a:endParaRPr>
          </a:p>
        </p:txBody>
      </p:sp>
      <p:sp>
        <p:nvSpPr>
          <p:cNvPr id="35" name="Freeform 35"/>
          <p:cNvSpPr/>
          <p:nvPr/>
        </p:nvSpPr>
        <p:spPr>
          <a:xfrm>
            <a:off x="4476750" y="2000250"/>
            <a:ext cx="3238500" cy="1143000"/>
          </a:xfrm>
          <a:custGeom>
            <a:avLst/>
            <a:gdLst/>
            <a:ahLst/>
            <a:cxnLst/>
            <a:rect l="l" t="t" r="r" b="b"/>
            <a:pathLst>
              <a:path w="3238500" h="1143000">
                <a:moveTo>
                  <a:pt x="76200" y="0"/>
                </a:moveTo>
                <a:lnTo>
                  <a:pt x="3162300" y="0"/>
                </a:lnTo>
                <a:cubicBezTo>
                  <a:pt x="3204384" y="0"/>
                  <a:pt x="3238500" y="34116"/>
                  <a:pt x="3238500" y="76200"/>
                </a:cubicBezTo>
                <a:lnTo>
                  <a:pt x="3238500" y="1066800"/>
                </a:lnTo>
                <a:cubicBezTo>
                  <a:pt x="3238500" y="1108884"/>
                  <a:pt x="3204384" y="1143000"/>
                  <a:pt x="3162300" y="1143000"/>
                </a:cubicBezTo>
                <a:lnTo>
                  <a:pt x="76200" y="1143000"/>
                </a:lnTo>
                <a:cubicBezTo>
                  <a:pt x="34116" y="1143000"/>
                  <a:pt x="0" y="1108884"/>
                  <a:pt x="0" y="1066800"/>
                </a:cubicBezTo>
                <a:lnTo>
                  <a:pt x="0" y="76200"/>
                </a:lnTo>
                <a:cubicBezTo>
                  <a:pt x="0" y="34116"/>
                  <a:pt x="34116" y="0"/>
                  <a:pt x="76200" y="0"/>
                </a:cubicBezTo>
                <a:close/>
              </a:path>
            </a:pathLst>
          </a:custGeom>
          <a:solidFill>
            <a:srgbClr val="F8FAFC"/>
          </a:solidFill>
          <a:ln w="9525">
            <a:solidFill>
              <a:srgbClr val="E2E8F0"/>
            </a:solidFill>
          </a:ln>
        </p:spPr>
      </p:sp>
      <p:sp>
        <p:nvSpPr>
          <p:cNvPr id="36" name="TextBox 36"/>
          <p:cNvSpPr txBox="1"/>
          <p:nvPr/>
        </p:nvSpPr>
        <p:spPr>
          <a:xfrm>
            <a:off x="4605338" y="2116931"/>
            <a:ext cx="2806172" cy="228600"/>
          </a:xfrm>
          <a:prstGeom prst="rect">
            <a:avLst/>
          </a:prstGeom>
          <a:noFill/>
          <a:ln>
            <a:noFill/>
          </a:ln>
        </p:spPr>
        <p:txBody>
          <a:bodyPr wrap="none" lIns="0" tIns="0" rIns="0" bIns="0" anchor="t" anchorCtr="0">
            <a:spAutoFit/>
          </a:bodyPr>
          <a:lstStyle/>
          <a:p>
            <a:pPr algn="l"/>
            <a:r>
              <a:rPr lang="zh-CN" sz="1125" b="1" dirty="0">
                <a:solidFill>
                  <a:srgbClr val="E65100"/>
                </a:solidFill>
                <a:latin typeface="Arial" panose="020B0704020202020204"/>
                <a:ea typeface="Arial" panose="020B0704020202020204"/>
                <a:cs typeface="Arial" panose="020B0704020202020204"/>
              </a:rPr>
              <a:t>Tự động gắn Header Authorization</a:t>
            </a:r>
            <a:endParaRPr lang="zh-CN" sz="1125" b="1" dirty="0">
              <a:solidFill>
                <a:srgbClr val="E65100"/>
              </a:solidFill>
              <a:latin typeface="Arial" panose="020B0704020202020204"/>
              <a:ea typeface="Arial" panose="020B0704020202020204"/>
              <a:cs typeface="Arial" panose="020B0704020202020204"/>
            </a:endParaRPr>
          </a:p>
        </p:txBody>
      </p:sp>
      <p:sp>
        <p:nvSpPr>
          <p:cNvPr id="37" name="TextBox 37"/>
          <p:cNvSpPr txBox="1"/>
          <p:nvPr/>
        </p:nvSpPr>
        <p:spPr>
          <a:xfrm>
            <a:off x="4606766" y="2367201"/>
            <a:ext cx="3574733" cy="205740"/>
          </a:xfrm>
          <a:prstGeom prst="rect">
            <a:avLst/>
          </a:prstGeom>
          <a:noFill/>
          <a:ln>
            <a:noFill/>
          </a:ln>
        </p:spPr>
        <p:txBody>
          <a:bodyPr wrap="none" lIns="0" tIns="0" rIns="0" bIns="0" anchor="t" anchorCtr="0">
            <a:spAutoFit/>
          </a:bodyPr>
          <a:lstStyle/>
          <a:p>
            <a:pPr algn="l"/>
            <a:r>
              <a:rPr lang="zh-CN" sz="1010" dirty="0">
                <a:solidFill>
                  <a:srgbClr val="334155"/>
                </a:solidFill>
                <a:latin typeface="Arial" panose="020B0704020202020204"/>
                <a:ea typeface="Arial" panose="020B0704020202020204"/>
                <a:cs typeface="Arial" panose="020B0704020202020204"/>
              </a:rPr>
              <a:t>• OkHttp Interceptor bắt mọi request cần quyền.</a:t>
            </a:r>
            <a:endParaRPr lang="zh-CN" sz="1010" dirty="0">
              <a:solidFill>
                <a:srgbClr val="334155"/>
              </a:solidFill>
              <a:latin typeface="Arial" panose="020B0704020202020204"/>
              <a:ea typeface="Arial" panose="020B0704020202020204"/>
              <a:cs typeface="Arial" panose="020B0704020202020204"/>
            </a:endParaRPr>
          </a:p>
        </p:txBody>
      </p:sp>
      <p:sp>
        <p:nvSpPr>
          <p:cNvPr id="38" name="TextBox 38"/>
          <p:cNvSpPr txBox="1"/>
          <p:nvPr/>
        </p:nvSpPr>
        <p:spPr>
          <a:xfrm>
            <a:off x="4606766" y="2605326"/>
            <a:ext cx="1164360" cy="205740"/>
          </a:xfrm>
          <a:prstGeom prst="rect">
            <a:avLst/>
          </a:prstGeom>
          <a:noFill/>
          <a:ln>
            <a:noFill/>
          </a:ln>
        </p:spPr>
        <p:txBody>
          <a:bodyPr wrap="none" lIns="0" tIns="0" rIns="0" bIns="0" anchor="t" anchorCtr="0">
            <a:spAutoFit/>
          </a:bodyPr>
          <a:lstStyle/>
          <a:p>
            <a:pPr algn="l"/>
            <a:r>
              <a:rPr lang="zh-CN" sz="1010" dirty="0">
                <a:solidFill>
                  <a:srgbClr val="334155"/>
                </a:solidFill>
                <a:latin typeface="Arial" panose="020B0704020202020204"/>
                <a:ea typeface="Arial" panose="020B0704020202020204"/>
                <a:cs typeface="Arial" panose="020B0704020202020204"/>
              </a:rPr>
              <a:t>• Tự động thêm:</a:t>
            </a:r>
            <a:endParaRPr lang="zh-CN" sz="1010" dirty="0">
              <a:solidFill>
                <a:srgbClr val="334155"/>
              </a:solidFill>
              <a:latin typeface="Arial" panose="020B0704020202020204"/>
              <a:ea typeface="Arial" panose="020B0704020202020204"/>
              <a:cs typeface="Arial" panose="020B0704020202020204"/>
            </a:endParaRPr>
          </a:p>
        </p:txBody>
      </p:sp>
      <p:sp>
        <p:nvSpPr>
          <p:cNvPr id="39" name="TextBox 39"/>
          <p:cNvSpPr txBox="1"/>
          <p:nvPr/>
        </p:nvSpPr>
        <p:spPr>
          <a:xfrm>
            <a:off x="4607242" y="2847499"/>
            <a:ext cx="2581535" cy="198120"/>
          </a:xfrm>
          <a:prstGeom prst="rect">
            <a:avLst/>
          </a:prstGeom>
          <a:noFill/>
          <a:ln>
            <a:noFill/>
          </a:ln>
        </p:spPr>
        <p:txBody>
          <a:bodyPr wrap="none" lIns="0" tIns="0" rIns="0" bIns="0" anchor="t" anchorCtr="0">
            <a:spAutoFit/>
          </a:bodyPr>
          <a:lstStyle/>
          <a:p>
            <a:pPr algn="l"/>
            <a:r>
              <a:rPr lang="zh-CN" sz="975" b="1" dirty="0">
                <a:solidFill>
                  <a:srgbClr val="9A3412"/>
                </a:solidFill>
                <a:latin typeface="Arial" panose="020B0704020202020204"/>
                <a:ea typeface="Arial" panose="020B0704020202020204"/>
                <a:cs typeface="Arial" panose="020B0704020202020204"/>
              </a:rPr>
              <a:t>Authorization: Bearer &lt;jwt_token&gt;</a:t>
            </a:r>
            <a:endParaRPr lang="zh-CN" sz="975" b="1" dirty="0">
              <a:solidFill>
                <a:srgbClr val="9A3412"/>
              </a:solidFill>
              <a:latin typeface="Arial" panose="020B0704020202020204"/>
              <a:ea typeface="Arial" panose="020B0704020202020204"/>
              <a:cs typeface="Arial" panose="020B0704020202020204"/>
            </a:endParaRPr>
          </a:p>
        </p:txBody>
      </p:sp>
      <p:sp>
        <p:nvSpPr>
          <p:cNvPr id="40" name="Freeform 40"/>
          <p:cNvSpPr/>
          <p:nvPr/>
        </p:nvSpPr>
        <p:spPr>
          <a:xfrm>
            <a:off x="4476750" y="3286125"/>
            <a:ext cx="3238500" cy="1285875"/>
          </a:xfrm>
          <a:custGeom>
            <a:avLst/>
            <a:gdLst/>
            <a:ahLst/>
            <a:cxnLst/>
            <a:rect l="l" t="t" r="r" b="b"/>
            <a:pathLst>
              <a:path w="3238500" h="1285875">
                <a:moveTo>
                  <a:pt x="76200" y="0"/>
                </a:moveTo>
                <a:lnTo>
                  <a:pt x="3162300" y="0"/>
                </a:lnTo>
                <a:cubicBezTo>
                  <a:pt x="3204384" y="0"/>
                  <a:pt x="3238500" y="34116"/>
                  <a:pt x="3238500" y="76200"/>
                </a:cubicBezTo>
                <a:lnTo>
                  <a:pt x="3238500" y="1209675"/>
                </a:lnTo>
                <a:cubicBezTo>
                  <a:pt x="3238500" y="1251759"/>
                  <a:pt x="3204384" y="1285875"/>
                  <a:pt x="3162300" y="1285875"/>
                </a:cubicBezTo>
                <a:lnTo>
                  <a:pt x="76200" y="1285875"/>
                </a:lnTo>
                <a:cubicBezTo>
                  <a:pt x="34116" y="1285875"/>
                  <a:pt x="0" y="1251759"/>
                  <a:pt x="0" y="1209675"/>
                </a:cubicBezTo>
                <a:lnTo>
                  <a:pt x="0" y="76200"/>
                </a:lnTo>
                <a:cubicBezTo>
                  <a:pt x="0" y="34116"/>
                  <a:pt x="34116" y="0"/>
                  <a:pt x="76200" y="0"/>
                </a:cubicBezTo>
                <a:close/>
              </a:path>
            </a:pathLst>
          </a:custGeom>
          <a:solidFill>
            <a:srgbClr val="FFF7ED"/>
          </a:solidFill>
          <a:ln w="9525">
            <a:solidFill>
              <a:srgbClr val="FED7AA"/>
            </a:solidFill>
          </a:ln>
        </p:spPr>
      </p:sp>
      <p:sp>
        <p:nvSpPr>
          <p:cNvPr id="41" name="TextBox 41"/>
          <p:cNvSpPr txBox="1"/>
          <p:nvPr/>
        </p:nvSpPr>
        <p:spPr>
          <a:xfrm>
            <a:off x="4605338" y="3402806"/>
            <a:ext cx="2435251" cy="228600"/>
          </a:xfrm>
          <a:prstGeom prst="rect">
            <a:avLst/>
          </a:prstGeom>
          <a:noFill/>
          <a:ln>
            <a:noFill/>
          </a:ln>
        </p:spPr>
        <p:txBody>
          <a:bodyPr wrap="none" lIns="0" tIns="0" rIns="0" bIns="0" anchor="t" anchorCtr="0">
            <a:spAutoFit/>
          </a:bodyPr>
          <a:lstStyle/>
          <a:p>
            <a:pPr algn="l"/>
            <a:r>
              <a:rPr lang="zh-CN" sz="1125" b="1" dirty="0">
                <a:solidFill>
                  <a:srgbClr val="C2410C"/>
                </a:solidFill>
                <a:latin typeface="Arial" panose="020B0704020202020204"/>
                <a:ea typeface="Arial" panose="020B0704020202020204"/>
                <a:cs typeface="Arial" panose="020B0704020202020204"/>
              </a:rPr>
              <a:t>Bắt lỗi HTTP 401 Unauthorized</a:t>
            </a:r>
            <a:endParaRPr lang="zh-CN" sz="1125" b="1" dirty="0">
              <a:solidFill>
                <a:srgbClr val="C2410C"/>
              </a:solidFill>
              <a:latin typeface="Arial" panose="020B0704020202020204"/>
              <a:ea typeface="Arial" panose="020B0704020202020204"/>
              <a:cs typeface="Arial" panose="020B0704020202020204"/>
            </a:endParaRPr>
          </a:p>
        </p:txBody>
      </p:sp>
      <p:sp>
        <p:nvSpPr>
          <p:cNvPr id="42" name="TextBox 42"/>
          <p:cNvSpPr txBox="1"/>
          <p:nvPr/>
        </p:nvSpPr>
        <p:spPr>
          <a:xfrm>
            <a:off x="4605496" y="3605451"/>
            <a:ext cx="2820035" cy="309880"/>
          </a:xfrm>
          <a:prstGeom prst="rect">
            <a:avLst/>
          </a:prstGeom>
          <a:noFill/>
          <a:ln>
            <a:noFill/>
          </a:ln>
        </p:spPr>
        <p:txBody>
          <a:bodyPr wrap="none" lIns="0" tIns="0" rIns="0" bIns="0" anchor="t" anchorCtr="0">
            <a:spAutoFit/>
          </a:bodyPr>
          <a:lstStyle/>
          <a:p>
            <a:pPr algn="l"/>
            <a:r>
              <a:rPr lang="zh-CN" sz="1010" dirty="0">
                <a:solidFill>
                  <a:srgbClr val="7C2D12"/>
                </a:solidFill>
                <a:latin typeface="Arial" panose="020B0704020202020204"/>
                <a:ea typeface="Arial" panose="020B0704020202020204"/>
                <a:cs typeface="Arial" panose="020B0704020202020204"/>
              </a:rPr>
              <a:t>• Khi JWT hết hạn hoặc bị vô hiệu hóa, server trả </a:t>
            </a:r>
            <a:endParaRPr lang="zh-CN" sz="1010" dirty="0">
              <a:solidFill>
                <a:srgbClr val="7C2D12"/>
              </a:solidFill>
              <a:latin typeface="Arial" panose="020B0704020202020204"/>
              <a:ea typeface="Arial" panose="020B0704020202020204"/>
              <a:cs typeface="Arial" panose="020B0704020202020204"/>
            </a:endParaRPr>
          </a:p>
          <a:p>
            <a:pPr algn="l"/>
            <a:r>
              <a:rPr lang="vi-VN" altLang="zh-CN" sz="1010" dirty="0">
                <a:solidFill>
                  <a:srgbClr val="7C2D12"/>
                </a:solidFill>
                <a:latin typeface="Arial" panose="020B0704020202020204"/>
                <a:ea typeface="Arial" panose="020B0704020202020204"/>
                <a:cs typeface="Arial" panose="020B0704020202020204"/>
              </a:rPr>
              <a:t> </a:t>
            </a:r>
            <a:r>
              <a:rPr lang="zh-CN" sz="1010" dirty="0">
                <a:solidFill>
                  <a:srgbClr val="7C2D12"/>
                </a:solidFill>
                <a:latin typeface="Arial" panose="020B0704020202020204"/>
                <a:ea typeface="Arial" panose="020B0704020202020204"/>
                <a:cs typeface="Arial" panose="020B0704020202020204"/>
              </a:rPr>
              <a:t>về mã lỗi 401.</a:t>
            </a:r>
            <a:endParaRPr lang="zh-CN" sz="1010" dirty="0">
              <a:solidFill>
                <a:srgbClr val="7C2D12"/>
              </a:solidFill>
              <a:latin typeface="Arial" panose="020B0704020202020204"/>
              <a:ea typeface="Arial" panose="020B0704020202020204"/>
              <a:cs typeface="Arial" panose="020B0704020202020204"/>
            </a:endParaRPr>
          </a:p>
        </p:txBody>
      </p:sp>
      <p:sp>
        <p:nvSpPr>
          <p:cNvPr id="43" name="TextBox 43"/>
          <p:cNvSpPr txBox="1"/>
          <p:nvPr/>
        </p:nvSpPr>
        <p:spPr>
          <a:xfrm>
            <a:off x="4598511" y="4006771"/>
            <a:ext cx="2953655" cy="205740"/>
          </a:xfrm>
          <a:prstGeom prst="rect">
            <a:avLst/>
          </a:prstGeom>
          <a:noFill/>
          <a:ln>
            <a:noFill/>
          </a:ln>
        </p:spPr>
        <p:txBody>
          <a:bodyPr wrap="none" lIns="0" tIns="0" rIns="0" bIns="0" anchor="t" anchorCtr="0">
            <a:spAutoFit/>
          </a:bodyPr>
          <a:lstStyle/>
          <a:p>
            <a:pPr algn="l"/>
            <a:r>
              <a:rPr lang="zh-CN" sz="1010" dirty="0">
                <a:solidFill>
                  <a:srgbClr val="7C2D12"/>
                </a:solidFill>
                <a:latin typeface="Arial" panose="020B0704020202020204"/>
                <a:ea typeface="Arial" panose="020B0704020202020204"/>
                <a:cs typeface="Arial" panose="020B0704020202020204"/>
              </a:rPr>
              <a:t>• App tự động xóa token và userId đã lưu.</a:t>
            </a:r>
            <a:endParaRPr lang="zh-CN" sz="1010" dirty="0">
              <a:solidFill>
                <a:srgbClr val="7C2D12"/>
              </a:solidFill>
              <a:latin typeface="Arial" panose="020B0704020202020204"/>
              <a:ea typeface="Arial" panose="020B0704020202020204"/>
              <a:cs typeface="Arial" panose="020B0704020202020204"/>
            </a:endParaRPr>
          </a:p>
        </p:txBody>
      </p:sp>
      <p:sp>
        <p:nvSpPr>
          <p:cNvPr id="44" name="TextBox 44"/>
          <p:cNvSpPr txBox="1"/>
          <p:nvPr/>
        </p:nvSpPr>
        <p:spPr>
          <a:xfrm>
            <a:off x="4598511" y="4300776"/>
            <a:ext cx="2813173" cy="205740"/>
          </a:xfrm>
          <a:prstGeom prst="rect">
            <a:avLst/>
          </a:prstGeom>
          <a:noFill/>
          <a:ln>
            <a:noFill/>
          </a:ln>
        </p:spPr>
        <p:txBody>
          <a:bodyPr wrap="none" lIns="0" tIns="0" rIns="0" bIns="0" anchor="t" anchorCtr="0">
            <a:spAutoFit/>
          </a:bodyPr>
          <a:lstStyle/>
          <a:p>
            <a:pPr algn="l"/>
            <a:r>
              <a:rPr lang="zh-CN" sz="1010" dirty="0">
                <a:solidFill>
                  <a:srgbClr val="7C2D12"/>
                </a:solidFill>
                <a:latin typeface="Arial" panose="020B0704020202020204"/>
                <a:ea typeface="Arial" panose="020B0704020202020204"/>
                <a:cs typeface="Arial" panose="020B0704020202020204"/>
              </a:rPr>
              <a:t>• Chuyển người dùng về màn hình Login.</a:t>
            </a:r>
            <a:endParaRPr lang="zh-CN" sz="1010" dirty="0">
              <a:solidFill>
                <a:srgbClr val="7C2D12"/>
              </a:solidFill>
              <a:latin typeface="Arial" panose="020B0704020202020204"/>
              <a:ea typeface="Arial" panose="020B0704020202020204"/>
              <a:cs typeface="Arial" panose="020B0704020202020204"/>
            </a:endParaRPr>
          </a:p>
        </p:txBody>
      </p:sp>
      <p:sp>
        <p:nvSpPr>
          <p:cNvPr id="45" name="Freeform 45"/>
          <p:cNvSpPr/>
          <p:nvPr/>
        </p:nvSpPr>
        <p:spPr>
          <a:xfrm>
            <a:off x="4476750" y="4714875"/>
            <a:ext cx="3238500" cy="1047750"/>
          </a:xfrm>
          <a:custGeom>
            <a:avLst/>
            <a:gdLst/>
            <a:ahLst/>
            <a:cxnLst/>
            <a:rect l="l" t="t" r="r" b="b"/>
            <a:pathLst>
              <a:path w="3238500" h="1238250">
                <a:moveTo>
                  <a:pt x="76200" y="0"/>
                </a:moveTo>
                <a:lnTo>
                  <a:pt x="3162300" y="0"/>
                </a:lnTo>
                <a:cubicBezTo>
                  <a:pt x="3204384" y="0"/>
                  <a:pt x="3238500" y="34116"/>
                  <a:pt x="3238500" y="76200"/>
                </a:cubicBezTo>
                <a:lnTo>
                  <a:pt x="3238500" y="1162050"/>
                </a:lnTo>
                <a:cubicBezTo>
                  <a:pt x="3238500" y="1204134"/>
                  <a:pt x="3204384" y="1238250"/>
                  <a:pt x="3162300" y="1238250"/>
                </a:cubicBezTo>
                <a:lnTo>
                  <a:pt x="76200" y="1238250"/>
                </a:lnTo>
                <a:cubicBezTo>
                  <a:pt x="34116" y="1238250"/>
                  <a:pt x="0" y="1204134"/>
                  <a:pt x="0" y="1162050"/>
                </a:cubicBezTo>
                <a:lnTo>
                  <a:pt x="0" y="76200"/>
                </a:lnTo>
                <a:cubicBezTo>
                  <a:pt x="0" y="34116"/>
                  <a:pt x="34116" y="0"/>
                  <a:pt x="76200" y="0"/>
                </a:cubicBezTo>
                <a:close/>
              </a:path>
            </a:pathLst>
          </a:custGeom>
          <a:solidFill>
            <a:srgbClr val="F8FAFC"/>
          </a:solidFill>
          <a:ln w="9525">
            <a:solidFill>
              <a:srgbClr val="E2E8F0"/>
            </a:solidFill>
          </a:ln>
        </p:spPr>
      </p:sp>
      <p:sp>
        <p:nvSpPr>
          <p:cNvPr id="46" name="TextBox 46"/>
          <p:cNvSpPr txBox="1"/>
          <p:nvPr/>
        </p:nvSpPr>
        <p:spPr>
          <a:xfrm>
            <a:off x="4605338" y="4831556"/>
            <a:ext cx="2047077" cy="228600"/>
          </a:xfrm>
          <a:prstGeom prst="rect">
            <a:avLst/>
          </a:prstGeom>
          <a:noFill/>
          <a:ln>
            <a:noFill/>
          </a:ln>
        </p:spPr>
        <p:txBody>
          <a:bodyPr wrap="none" lIns="0" tIns="0" rIns="0" bIns="0" anchor="t" anchorCtr="0">
            <a:spAutoFit/>
          </a:bodyPr>
          <a:lstStyle/>
          <a:p>
            <a:pPr algn="l"/>
            <a:r>
              <a:rPr lang="zh-CN" sz="1125" b="1" dirty="0">
                <a:solidFill>
                  <a:srgbClr val="003366"/>
                </a:solidFill>
                <a:latin typeface="Arial" panose="020B0704020202020204"/>
                <a:ea typeface="Arial" panose="020B0704020202020204"/>
                <a:cs typeface="Arial" panose="020B0704020202020204"/>
              </a:rPr>
              <a:t>Bảo vệ tài nguyên cục bộ</a:t>
            </a:r>
            <a:endParaRPr lang="zh-CN" sz="1125" b="1" dirty="0">
              <a:solidFill>
                <a:srgbClr val="003366"/>
              </a:solidFill>
              <a:latin typeface="Arial" panose="020B0704020202020204"/>
              <a:ea typeface="Arial" panose="020B0704020202020204"/>
              <a:cs typeface="Arial" panose="020B0704020202020204"/>
            </a:endParaRPr>
          </a:p>
        </p:txBody>
      </p:sp>
      <p:sp>
        <p:nvSpPr>
          <p:cNvPr id="47" name="TextBox 47"/>
          <p:cNvSpPr txBox="1"/>
          <p:nvPr/>
        </p:nvSpPr>
        <p:spPr>
          <a:xfrm>
            <a:off x="4606766" y="5100876"/>
            <a:ext cx="3131106" cy="205740"/>
          </a:xfrm>
          <a:prstGeom prst="rect">
            <a:avLst/>
          </a:prstGeom>
          <a:noFill/>
          <a:ln>
            <a:noFill/>
          </a:ln>
        </p:spPr>
        <p:txBody>
          <a:bodyPr wrap="none" lIns="0" tIns="0" rIns="0" bIns="0" anchor="t" anchorCtr="0">
            <a:spAutoFit/>
          </a:bodyPr>
          <a:lstStyle/>
          <a:p>
            <a:pPr algn="l"/>
            <a:r>
              <a:rPr lang="zh-CN" sz="1010" dirty="0">
                <a:solidFill>
                  <a:srgbClr val="334155"/>
                </a:solidFill>
                <a:latin typeface="Arial" panose="020B0704020202020204"/>
                <a:ea typeface="Arial" panose="020B0704020202020204"/>
                <a:cs typeface="Arial" panose="020B0704020202020204"/>
              </a:rPr>
              <a:t>• Không lưu mật khẩu người dùng trong máy.</a:t>
            </a:r>
            <a:endParaRPr lang="zh-CN" sz="1010" dirty="0">
              <a:solidFill>
                <a:srgbClr val="334155"/>
              </a:solidFill>
              <a:latin typeface="Arial" panose="020B0704020202020204"/>
              <a:ea typeface="Arial" panose="020B0704020202020204"/>
              <a:cs typeface="Arial" panose="020B0704020202020204"/>
            </a:endParaRPr>
          </a:p>
        </p:txBody>
      </p:sp>
      <p:sp>
        <p:nvSpPr>
          <p:cNvPr id="48" name="TextBox 48"/>
          <p:cNvSpPr txBox="1"/>
          <p:nvPr/>
        </p:nvSpPr>
        <p:spPr>
          <a:xfrm>
            <a:off x="4606766" y="5306616"/>
            <a:ext cx="2983865" cy="309880"/>
          </a:xfrm>
          <a:prstGeom prst="rect">
            <a:avLst/>
          </a:prstGeom>
          <a:noFill/>
          <a:ln>
            <a:noFill/>
          </a:ln>
        </p:spPr>
        <p:txBody>
          <a:bodyPr wrap="none" lIns="0" tIns="0" rIns="0" bIns="0" anchor="t" anchorCtr="0">
            <a:spAutoFit/>
          </a:bodyPr>
          <a:lstStyle/>
          <a:p>
            <a:pPr algn="l"/>
            <a:r>
              <a:rPr lang="zh-CN" sz="1010" dirty="0">
                <a:solidFill>
                  <a:srgbClr val="334155"/>
                </a:solidFill>
                <a:latin typeface="Arial" panose="020B0704020202020204"/>
                <a:ea typeface="Arial" panose="020B0704020202020204"/>
                <a:cs typeface="Arial" panose="020B0704020202020204"/>
              </a:rPr>
              <a:t>• Dữ liệu Room mã hóa cấp app, ngăn chặn truy cập</a:t>
            </a:r>
            <a:endParaRPr lang="zh-CN" sz="1010" dirty="0">
              <a:solidFill>
                <a:srgbClr val="334155"/>
              </a:solidFill>
              <a:latin typeface="Arial" panose="020B0704020202020204"/>
              <a:ea typeface="Arial" panose="020B0704020202020204"/>
              <a:cs typeface="Arial" panose="020B0704020202020204"/>
            </a:endParaRPr>
          </a:p>
          <a:p>
            <a:pPr algn="l"/>
            <a:r>
              <a:rPr lang="zh-CN" sz="1010" dirty="0">
                <a:solidFill>
                  <a:srgbClr val="334155"/>
                </a:solidFill>
                <a:latin typeface="Arial" panose="020B0704020202020204"/>
                <a:ea typeface="Arial" panose="020B0704020202020204"/>
                <a:cs typeface="Arial" panose="020B0704020202020204"/>
              </a:rPr>
              <a:t> trái phép từ bên ngoài.</a:t>
            </a:r>
            <a:endParaRPr lang="zh-CN" sz="1010" dirty="0">
              <a:solidFill>
                <a:srgbClr val="334155"/>
              </a:solidFill>
              <a:latin typeface="Arial" panose="020B0704020202020204"/>
              <a:ea typeface="Arial" panose="020B0704020202020204"/>
              <a:cs typeface="Arial" panose="020B0704020202020204"/>
            </a:endParaRPr>
          </a:p>
        </p:txBody>
      </p:sp>
      <p:sp>
        <p:nvSpPr>
          <p:cNvPr id="49" name="Freeform 49"/>
          <p:cNvSpPr/>
          <p:nvPr/>
        </p:nvSpPr>
        <p:spPr>
          <a:xfrm>
            <a:off x="8191500" y="1333500"/>
            <a:ext cx="3619500" cy="4810125"/>
          </a:xfrm>
          <a:custGeom>
            <a:avLst/>
            <a:gdLst/>
            <a:ahLst/>
            <a:cxnLst/>
            <a:rect l="l" t="t" r="r" b="b"/>
            <a:pathLst>
              <a:path w="3619500" h="4810125">
                <a:moveTo>
                  <a:pt x="95250" y="0"/>
                </a:moveTo>
                <a:lnTo>
                  <a:pt x="3524250" y="0"/>
                </a:lnTo>
                <a:cubicBezTo>
                  <a:pt x="3576855" y="0"/>
                  <a:pt x="3619500" y="42645"/>
                  <a:pt x="3619500" y="95250"/>
                </a:cubicBezTo>
                <a:lnTo>
                  <a:pt x="3619500" y="4714875"/>
                </a:lnTo>
                <a:cubicBezTo>
                  <a:pt x="3619500" y="4767480"/>
                  <a:pt x="3576855" y="4810125"/>
                  <a:pt x="3524250" y="4810125"/>
                </a:cubicBezTo>
                <a:lnTo>
                  <a:pt x="95250" y="4810125"/>
                </a:lnTo>
                <a:cubicBezTo>
                  <a:pt x="42645" y="4810125"/>
                  <a:pt x="0" y="4767480"/>
                  <a:pt x="0" y="4714875"/>
                </a:cubicBezTo>
                <a:lnTo>
                  <a:pt x="0" y="95250"/>
                </a:lnTo>
                <a:cubicBezTo>
                  <a:pt x="0" y="42645"/>
                  <a:pt x="42645" y="0"/>
                  <a:pt x="95250" y="0"/>
                </a:cubicBezTo>
                <a:close/>
              </a:path>
            </a:pathLst>
          </a:custGeom>
          <a:solidFill>
            <a:srgbClr val="FFFFFF"/>
          </a:solidFill>
          <a:ln w="14288">
            <a:solidFill>
              <a:srgbClr val="E2E8F0"/>
            </a:solidFill>
          </a:ln>
        </p:spPr>
      </p:sp>
      <p:sp>
        <p:nvSpPr>
          <p:cNvPr id="50" name="Freeform 50"/>
          <p:cNvSpPr/>
          <p:nvPr/>
        </p:nvSpPr>
        <p:spPr>
          <a:xfrm>
            <a:off x="8191500" y="1333500"/>
            <a:ext cx="3619500" cy="476250"/>
          </a:xfrm>
          <a:custGeom>
            <a:avLst/>
            <a:gdLst/>
            <a:ahLst/>
            <a:cxnLst/>
            <a:rect l="l" t="t" r="r" b="b"/>
            <a:pathLst>
              <a:path w="3619500" h="476250">
                <a:moveTo>
                  <a:pt x="95250" y="0"/>
                </a:moveTo>
                <a:lnTo>
                  <a:pt x="3524250" y="0"/>
                </a:lnTo>
                <a:cubicBezTo>
                  <a:pt x="3576855" y="0"/>
                  <a:pt x="3619500" y="42645"/>
                  <a:pt x="3619500" y="95250"/>
                </a:cubicBezTo>
                <a:lnTo>
                  <a:pt x="3619500" y="381000"/>
                </a:lnTo>
                <a:cubicBezTo>
                  <a:pt x="3619500" y="433605"/>
                  <a:pt x="3576855" y="476250"/>
                  <a:pt x="3524250" y="476250"/>
                </a:cubicBezTo>
                <a:lnTo>
                  <a:pt x="95250" y="476250"/>
                </a:lnTo>
                <a:cubicBezTo>
                  <a:pt x="42645" y="476250"/>
                  <a:pt x="0" y="433605"/>
                  <a:pt x="0" y="381000"/>
                </a:cubicBezTo>
                <a:lnTo>
                  <a:pt x="0" y="95250"/>
                </a:lnTo>
                <a:cubicBezTo>
                  <a:pt x="0" y="42645"/>
                  <a:pt x="42645" y="0"/>
                  <a:pt x="95250" y="0"/>
                </a:cubicBezTo>
                <a:close/>
              </a:path>
            </a:pathLst>
          </a:custGeom>
          <a:solidFill>
            <a:srgbClr val="F1F5F9"/>
          </a:solidFill>
          <a:ln>
            <a:noFill/>
          </a:ln>
        </p:spPr>
      </p:sp>
      <p:sp>
        <p:nvSpPr>
          <p:cNvPr id="51" name="Freeform 51"/>
          <p:cNvSpPr/>
          <p:nvPr/>
        </p:nvSpPr>
        <p:spPr>
          <a:xfrm>
            <a:off x="8410575" y="1457325"/>
            <a:ext cx="171450" cy="228600"/>
          </a:xfrm>
          <a:custGeom>
            <a:avLst/>
            <a:gdLst/>
            <a:ahLst/>
            <a:cxnLst/>
            <a:rect l="l" t="t" r="r" b="b"/>
            <a:pathLst>
              <a:path w="171450" h="228600">
                <a:moveTo>
                  <a:pt x="28575" y="85725"/>
                </a:moveTo>
                <a:lnTo>
                  <a:pt x="28575" y="57150"/>
                </a:lnTo>
                <a:cubicBezTo>
                  <a:pt x="28575" y="25587"/>
                  <a:pt x="54162" y="0"/>
                  <a:pt x="85725" y="0"/>
                </a:cubicBezTo>
                <a:cubicBezTo>
                  <a:pt x="117288" y="0"/>
                  <a:pt x="142875" y="25587"/>
                  <a:pt x="142875" y="57150"/>
                </a:cubicBezTo>
                <a:lnTo>
                  <a:pt x="142875" y="85725"/>
                </a:lnTo>
                <a:lnTo>
                  <a:pt x="171450" y="85725"/>
                </a:lnTo>
                <a:lnTo>
                  <a:pt x="171450" y="228600"/>
                </a:lnTo>
                <a:lnTo>
                  <a:pt x="0" y="228600"/>
                </a:lnTo>
                <a:lnTo>
                  <a:pt x="0" y="85725"/>
                </a:lnTo>
                <a:lnTo>
                  <a:pt x="28575" y="85725"/>
                </a:lnTo>
                <a:close/>
                <a:moveTo>
                  <a:pt x="57150" y="57150"/>
                </a:moveTo>
                <a:cubicBezTo>
                  <a:pt x="57150" y="41368"/>
                  <a:pt x="69943" y="28575"/>
                  <a:pt x="85725" y="28575"/>
                </a:cubicBezTo>
                <a:cubicBezTo>
                  <a:pt x="101507" y="28575"/>
                  <a:pt x="114300" y="41368"/>
                  <a:pt x="114300" y="57150"/>
                </a:cubicBezTo>
                <a:lnTo>
                  <a:pt x="114300" y="85725"/>
                </a:lnTo>
                <a:lnTo>
                  <a:pt x="57150" y="85725"/>
                </a:lnTo>
                <a:lnTo>
                  <a:pt x="57150" y="57150"/>
                </a:lnTo>
                <a:close/>
                <a:moveTo>
                  <a:pt x="71438" y="185738"/>
                </a:moveTo>
                <a:lnTo>
                  <a:pt x="71438" y="128588"/>
                </a:lnTo>
                <a:lnTo>
                  <a:pt x="100012" y="128588"/>
                </a:lnTo>
                <a:lnTo>
                  <a:pt x="100012" y="185738"/>
                </a:lnTo>
                <a:lnTo>
                  <a:pt x="71438" y="185738"/>
                </a:lnTo>
                <a:close/>
              </a:path>
            </a:pathLst>
          </a:custGeom>
          <a:solidFill>
            <a:srgbClr val="003366"/>
          </a:solidFill>
          <a:ln>
            <a:noFill/>
          </a:ln>
        </p:spPr>
      </p:sp>
      <p:sp>
        <p:nvSpPr>
          <p:cNvPr id="52" name="TextBox 52"/>
          <p:cNvSpPr txBox="1"/>
          <p:nvPr/>
        </p:nvSpPr>
        <p:spPr>
          <a:xfrm>
            <a:off x="8699182" y="1500664"/>
            <a:ext cx="3082566" cy="259080"/>
          </a:xfrm>
          <a:prstGeom prst="rect">
            <a:avLst/>
          </a:prstGeom>
          <a:noFill/>
          <a:ln>
            <a:noFill/>
          </a:ln>
        </p:spPr>
        <p:txBody>
          <a:bodyPr wrap="none" lIns="0" tIns="0" rIns="0" bIns="0" anchor="t" anchorCtr="0">
            <a:spAutoFit/>
          </a:bodyPr>
          <a:lstStyle/>
          <a:p>
            <a:pPr algn="l"/>
            <a:r>
              <a:rPr lang="zh-CN" sz="1275" b="1" dirty="0">
                <a:solidFill>
                  <a:srgbClr val="003366"/>
                </a:solidFill>
                <a:latin typeface="Arial" panose="020B0704020202020204"/>
                <a:ea typeface="Arial" panose="020B0704020202020204"/>
                <a:cs typeface="Arial" panose="020B0704020202020204"/>
              </a:rPr>
              <a:t>3. Phân quyền độc lập tại Server</a:t>
            </a:r>
            <a:endParaRPr lang="zh-CN" sz="1275" b="1" dirty="0">
              <a:solidFill>
                <a:srgbClr val="003366"/>
              </a:solidFill>
              <a:latin typeface="Arial" panose="020B0704020202020204"/>
              <a:ea typeface="Arial" panose="020B0704020202020204"/>
              <a:cs typeface="Arial" panose="020B0704020202020204"/>
            </a:endParaRPr>
          </a:p>
        </p:txBody>
      </p:sp>
      <p:sp>
        <p:nvSpPr>
          <p:cNvPr id="53" name="Freeform 53"/>
          <p:cNvSpPr/>
          <p:nvPr/>
        </p:nvSpPr>
        <p:spPr>
          <a:xfrm>
            <a:off x="8382000" y="2000250"/>
            <a:ext cx="3237230" cy="1047750"/>
          </a:xfrm>
          <a:custGeom>
            <a:avLst/>
            <a:gdLst/>
            <a:ahLst/>
            <a:cxnLst/>
            <a:rect l="l" t="t" r="r" b="b"/>
            <a:pathLst>
              <a:path w="3238500" h="1047750">
                <a:moveTo>
                  <a:pt x="76200" y="0"/>
                </a:moveTo>
                <a:lnTo>
                  <a:pt x="3162300" y="0"/>
                </a:lnTo>
                <a:cubicBezTo>
                  <a:pt x="3204384" y="0"/>
                  <a:pt x="3238500" y="34116"/>
                  <a:pt x="3238500" y="76200"/>
                </a:cubicBezTo>
                <a:lnTo>
                  <a:pt x="3238500" y="971550"/>
                </a:lnTo>
                <a:cubicBezTo>
                  <a:pt x="3238500" y="1013634"/>
                  <a:pt x="3204384" y="1047750"/>
                  <a:pt x="3162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EF2F2"/>
          </a:solidFill>
          <a:ln w="9525">
            <a:solidFill>
              <a:srgbClr val="FECACA"/>
            </a:solidFill>
          </a:ln>
        </p:spPr>
      </p:sp>
      <p:sp>
        <p:nvSpPr>
          <p:cNvPr id="54" name="TextBox 54"/>
          <p:cNvSpPr txBox="1"/>
          <p:nvPr/>
        </p:nvSpPr>
        <p:spPr>
          <a:xfrm>
            <a:off x="8510588" y="2116931"/>
            <a:ext cx="2469755" cy="228600"/>
          </a:xfrm>
          <a:prstGeom prst="rect">
            <a:avLst/>
          </a:prstGeom>
          <a:noFill/>
          <a:ln>
            <a:noFill/>
          </a:ln>
        </p:spPr>
        <p:txBody>
          <a:bodyPr wrap="none" lIns="0" tIns="0" rIns="0" bIns="0" anchor="t" anchorCtr="0">
            <a:spAutoFit/>
          </a:bodyPr>
          <a:lstStyle/>
          <a:p>
            <a:pPr algn="l"/>
            <a:r>
              <a:rPr lang="zh-CN" sz="1125" b="1" dirty="0">
                <a:solidFill>
                  <a:srgbClr val="B91C1C"/>
                </a:solidFill>
                <a:latin typeface="Arial" panose="020B0704020202020204"/>
                <a:ea typeface="Arial" panose="020B0704020202020204"/>
                <a:cs typeface="Arial" panose="020B0704020202020204"/>
              </a:rPr>
              <a:t>Nguyên tắc Zero-Trust Client</a:t>
            </a:r>
            <a:endParaRPr lang="zh-CN" sz="1125" b="1" dirty="0">
              <a:solidFill>
                <a:srgbClr val="B91C1C"/>
              </a:solidFill>
              <a:latin typeface="Arial" panose="020B0704020202020204"/>
              <a:ea typeface="Arial" panose="020B0704020202020204"/>
              <a:cs typeface="Arial" panose="020B0704020202020204"/>
            </a:endParaRPr>
          </a:p>
        </p:txBody>
      </p:sp>
      <p:sp>
        <p:nvSpPr>
          <p:cNvPr id="55" name="TextBox 55"/>
          <p:cNvSpPr txBox="1"/>
          <p:nvPr/>
        </p:nvSpPr>
        <p:spPr>
          <a:xfrm>
            <a:off x="8512016" y="2367201"/>
            <a:ext cx="2387600" cy="309880"/>
          </a:xfrm>
          <a:prstGeom prst="rect">
            <a:avLst/>
          </a:prstGeom>
          <a:noFill/>
          <a:ln>
            <a:noFill/>
          </a:ln>
        </p:spPr>
        <p:txBody>
          <a:bodyPr wrap="none" lIns="0" tIns="0" rIns="0" bIns="0" anchor="t" anchorCtr="0">
            <a:spAutoFit/>
          </a:bodyPr>
          <a:lstStyle/>
          <a:p>
            <a:pPr algn="l"/>
            <a:r>
              <a:rPr lang="zh-CN" sz="1010" dirty="0">
                <a:solidFill>
                  <a:srgbClr val="7F1D1D"/>
                </a:solidFill>
                <a:latin typeface="Arial" panose="020B0704020202020204"/>
                <a:ea typeface="Arial" panose="020B0704020202020204"/>
                <a:cs typeface="Arial" panose="020B0704020202020204"/>
              </a:rPr>
              <a:t>• Server KHÔNG dựa vào việc Android ẩn</a:t>
            </a:r>
            <a:endParaRPr lang="zh-CN" sz="1010" dirty="0">
              <a:solidFill>
                <a:srgbClr val="7F1D1D"/>
              </a:solidFill>
              <a:latin typeface="Arial" panose="020B0704020202020204"/>
              <a:ea typeface="Arial" panose="020B0704020202020204"/>
              <a:cs typeface="Arial" panose="020B0704020202020204"/>
            </a:endParaRPr>
          </a:p>
          <a:p>
            <a:pPr algn="l"/>
            <a:r>
              <a:rPr lang="zh-CN" sz="1010" dirty="0">
                <a:solidFill>
                  <a:srgbClr val="7F1D1D"/>
                </a:solidFill>
                <a:latin typeface="Arial" panose="020B0704020202020204"/>
                <a:ea typeface="Arial" panose="020B0704020202020204"/>
                <a:cs typeface="Arial" panose="020B0704020202020204"/>
              </a:rPr>
              <a:t>  hay hiện nút bấm.</a:t>
            </a:r>
            <a:endParaRPr lang="zh-CN" sz="1010" dirty="0">
              <a:solidFill>
                <a:srgbClr val="7F1D1D"/>
              </a:solidFill>
              <a:latin typeface="Arial" panose="020B0704020202020204"/>
              <a:ea typeface="Arial" panose="020B0704020202020204"/>
              <a:cs typeface="Arial" panose="020B0704020202020204"/>
            </a:endParaRPr>
          </a:p>
        </p:txBody>
      </p:sp>
      <p:sp>
        <p:nvSpPr>
          <p:cNvPr id="56" name="TextBox 56"/>
          <p:cNvSpPr txBox="1"/>
          <p:nvPr/>
        </p:nvSpPr>
        <p:spPr>
          <a:xfrm>
            <a:off x="8510746" y="2699306"/>
            <a:ext cx="2614295" cy="309880"/>
          </a:xfrm>
          <a:prstGeom prst="rect">
            <a:avLst/>
          </a:prstGeom>
          <a:noFill/>
          <a:ln>
            <a:noFill/>
          </a:ln>
        </p:spPr>
        <p:txBody>
          <a:bodyPr wrap="none" lIns="0" tIns="0" rIns="0" bIns="0" anchor="t" anchorCtr="0">
            <a:spAutoFit/>
          </a:bodyPr>
          <a:lstStyle/>
          <a:p>
            <a:pPr algn="l"/>
            <a:r>
              <a:rPr lang="zh-CN" sz="1010" dirty="0">
                <a:solidFill>
                  <a:srgbClr val="7F1D1D"/>
                </a:solidFill>
                <a:latin typeface="Arial" panose="020B0704020202020204"/>
                <a:ea typeface="Arial" panose="020B0704020202020204"/>
                <a:cs typeface="Arial" panose="020B0704020202020204"/>
              </a:rPr>
              <a:t>• Mọi HTTP request đều có thể bị gửi trực tiếp</a:t>
            </a:r>
            <a:endParaRPr lang="zh-CN" sz="1010" dirty="0">
              <a:solidFill>
                <a:srgbClr val="7F1D1D"/>
              </a:solidFill>
              <a:latin typeface="Arial" panose="020B0704020202020204"/>
              <a:ea typeface="Arial" panose="020B0704020202020204"/>
              <a:cs typeface="Arial" panose="020B0704020202020204"/>
            </a:endParaRPr>
          </a:p>
          <a:p>
            <a:pPr algn="l"/>
            <a:r>
              <a:rPr lang="zh-CN" sz="1010" dirty="0">
                <a:solidFill>
                  <a:srgbClr val="7F1D1D"/>
                </a:solidFill>
                <a:latin typeface="Arial" panose="020B0704020202020204"/>
                <a:ea typeface="Arial" panose="020B0704020202020204"/>
                <a:cs typeface="Arial" panose="020B0704020202020204"/>
              </a:rPr>
              <a:t>  từ công cụ Postman/Curl.</a:t>
            </a:r>
            <a:endParaRPr lang="zh-CN" sz="1010" dirty="0">
              <a:solidFill>
                <a:srgbClr val="7F1D1D"/>
              </a:solidFill>
              <a:latin typeface="Arial" panose="020B0704020202020204"/>
              <a:ea typeface="Arial" panose="020B0704020202020204"/>
              <a:cs typeface="Arial" panose="020B0704020202020204"/>
            </a:endParaRPr>
          </a:p>
        </p:txBody>
      </p:sp>
      <p:sp>
        <p:nvSpPr>
          <p:cNvPr id="57" name="Freeform 57"/>
          <p:cNvSpPr/>
          <p:nvPr/>
        </p:nvSpPr>
        <p:spPr>
          <a:xfrm>
            <a:off x="8382000" y="3190875"/>
            <a:ext cx="3238500" cy="1666875"/>
          </a:xfrm>
          <a:custGeom>
            <a:avLst/>
            <a:gdLst/>
            <a:ahLst/>
            <a:cxnLst/>
            <a:rect l="l" t="t" r="r" b="b"/>
            <a:pathLst>
              <a:path w="3238500" h="1666875">
                <a:moveTo>
                  <a:pt x="76200" y="0"/>
                </a:moveTo>
                <a:lnTo>
                  <a:pt x="3162300" y="0"/>
                </a:lnTo>
                <a:cubicBezTo>
                  <a:pt x="3204384" y="0"/>
                  <a:pt x="3238500" y="34116"/>
                  <a:pt x="3238500" y="76200"/>
                </a:cubicBezTo>
                <a:lnTo>
                  <a:pt x="3238500" y="1590675"/>
                </a:lnTo>
                <a:cubicBezTo>
                  <a:pt x="3238500" y="1632759"/>
                  <a:pt x="3204384" y="1666875"/>
                  <a:pt x="3162300" y="1666875"/>
                </a:cubicBezTo>
                <a:lnTo>
                  <a:pt x="76200" y="1666875"/>
                </a:lnTo>
                <a:cubicBezTo>
                  <a:pt x="34116" y="1666875"/>
                  <a:pt x="0" y="1632759"/>
                  <a:pt x="0" y="1590675"/>
                </a:cubicBezTo>
                <a:lnTo>
                  <a:pt x="0" y="76200"/>
                </a:lnTo>
                <a:cubicBezTo>
                  <a:pt x="0" y="34116"/>
                  <a:pt x="34116" y="0"/>
                  <a:pt x="76200" y="0"/>
                </a:cubicBezTo>
                <a:close/>
              </a:path>
            </a:pathLst>
          </a:custGeom>
          <a:solidFill>
            <a:srgbClr val="F0FDF4"/>
          </a:solidFill>
          <a:ln w="9525">
            <a:solidFill>
              <a:srgbClr val="BBF7D0"/>
            </a:solidFill>
          </a:ln>
        </p:spPr>
      </p:sp>
      <p:sp>
        <p:nvSpPr>
          <p:cNvPr id="58" name="TextBox 58"/>
          <p:cNvSpPr txBox="1"/>
          <p:nvPr/>
        </p:nvSpPr>
        <p:spPr>
          <a:xfrm>
            <a:off x="8510588" y="3307556"/>
            <a:ext cx="2452503" cy="228600"/>
          </a:xfrm>
          <a:prstGeom prst="rect">
            <a:avLst/>
          </a:prstGeom>
          <a:noFill/>
          <a:ln>
            <a:noFill/>
          </a:ln>
        </p:spPr>
        <p:txBody>
          <a:bodyPr wrap="none" lIns="0" tIns="0" rIns="0" bIns="0" anchor="t" anchorCtr="0">
            <a:spAutoFit/>
          </a:bodyPr>
          <a:lstStyle/>
          <a:p>
            <a:pPr algn="l"/>
            <a:r>
              <a:rPr lang="zh-CN" sz="1125" b="1" dirty="0">
                <a:solidFill>
                  <a:srgbClr val="15803D"/>
                </a:solidFill>
                <a:latin typeface="Arial" panose="020B0704020202020204"/>
                <a:ea typeface="Arial" panose="020B0704020202020204"/>
                <a:cs typeface="Arial" panose="020B0704020202020204"/>
              </a:rPr>
              <a:t>Quy tắc kiểm soát nghiệp vụ:</a:t>
            </a:r>
            <a:endParaRPr lang="zh-CN" sz="1125" b="1" dirty="0">
              <a:solidFill>
                <a:srgbClr val="15803D"/>
              </a:solidFill>
              <a:latin typeface="Arial" panose="020B0704020202020204"/>
              <a:ea typeface="Arial" panose="020B0704020202020204"/>
              <a:cs typeface="Arial" panose="020B0704020202020204"/>
            </a:endParaRPr>
          </a:p>
        </p:txBody>
      </p:sp>
      <p:sp>
        <p:nvSpPr>
          <p:cNvPr id="59" name="TextBox 59"/>
          <p:cNvSpPr txBox="1"/>
          <p:nvPr/>
        </p:nvSpPr>
        <p:spPr>
          <a:xfrm>
            <a:off x="8512016" y="3605451"/>
            <a:ext cx="2661920" cy="309880"/>
          </a:xfrm>
          <a:prstGeom prst="rect">
            <a:avLst/>
          </a:prstGeom>
          <a:noFill/>
          <a:ln>
            <a:noFill/>
          </a:ln>
        </p:spPr>
        <p:txBody>
          <a:bodyPr wrap="none" lIns="0" tIns="0" rIns="0" bIns="0" anchor="t" anchorCtr="0">
            <a:spAutoFit/>
          </a:bodyPr>
          <a:lstStyle/>
          <a:p>
            <a:pPr algn="l"/>
            <a:r>
              <a:rPr lang="zh-CN" sz="1010" dirty="0">
                <a:solidFill>
                  <a:srgbClr val="14532D"/>
                </a:solidFill>
                <a:latin typeface="Arial" panose="020B0704020202020204"/>
                <a:ea typeface="Arial" panose="020B0704020202020204"/>
                <a:cs typeface="Arial" panose="020B0704020202020204"/>
              </a:rPr>
              <a:t>✔ Khách hàng: Chỉ có quyền đọc, xem chi tiết </a:t>
            </a:r>
            <a:endParaRPr lang="zh-CN" sz="1010" dirty="0">
              <a:solidFill>
                <a:srgbClr val="14532D"/>
              </a:solidFill>
              <a:latin typeface="Arial" panose="020B0704020202020204"/>
              <a:ea typeface="Arial" panose="020B0704020202020204"/>
              <a:cs typeface="Arial" panose="020B0704020202020204"/>
            </a:endParaRPr>
          </a:p>
          <a:p>
            <a:pPr algn="l"/>
            <a:r>
              <a:rPr lang="zh-CN" sz="1010" dirty="0">
                <a:solidFill>
                  <a:srgbClr val="14532D"/>
                </a:solidFill>
                <a:latin typeface="Arial" panose="020B0704020202020204"/>
                <a:ea typeface="Arial" panose="020B0704020202020204"/>
                <a:cs typeface="Arial" panose="020B0704020202020204"/>
              </a:rPr>
              <a:t> </a:t>
            </a:r>
            <a:r>
              <a:rPr lang="vi-VN" altLang="zh-CN" sz="1010" dirty="0">
                <a:solidFill>
                  <a:srgbClr val="14532D"/>
                </a:solidFill>
                <a:latin typeface="Arial" panose="020B0704020202020204"/>
                <a:ea typeface="Arial" panose="020B0704020202020204"/>
                <a:cs typeface="Arial" panose="020B0704020202020204"/>
              </a:rPr>
              <a:t>    </a:t>
            </a:r>
            <a:r>
              <a:rPr lang="zh-CN" sz="1010" dirty="0">
                <a:solidFill>
                  <a:srgbClr val="14532D"/>
                </a:solidFill>
                <a:latin typeface="Arial" panose="020B0704020202020204"/>
                <a:ea typeface="Arial" panose="020B0704020202020204"/>
                <a:cs typeface="Arial" panose="020B0704020202020204"/>
              </a:rPr>
              <a:t>và hủy đơn của chính mình.</a:t>
            </a:r>
            <a:endParaRPr lang="zh-CN" sz="1010" dirty="0">
              <a:solidFill>
                <a:srgbClr val="14532D"/>
              </a:solidFill>
              <a:latin typeface="Arial" panose="020B0704020202020204"/>
              <a:ea typeface="Arial" panose="020B0704020202020204"/>
              <a:cs typeface="Arial" panose="020B0704020202020204"/>
            </a:endParaRPr>
          </a:p>
        </p:txBody>
      </p:sp>
      <p:sp>
        <p:nvSpPr>
          <p:cNvPr id="60" name="TextBox 60"/>
          <p:cNvSpPr txBox="1"/>
          <p:nvPr/>
        </p:nvSpPr>
        <p:spPr>
          <a:xfrm>
            <a:off x="8512016" y="4006771"/>
            <a:ext cx="2794635" cy="309880"/>
          </a:xfrm>
          <a:prstGeom prst="rect">
            <a:avLst/>
          </a:prstGeom>
          <a:noFill/>
          <a:ln>
            <a:noFill/>
          </a:ln>
        </p:spPr>
        <p:txBody>
          <a:bodyPr wrap="none" lIns="0" tIns="0" rIns="0" bIns="0" anchor="t" anchorCtr="0">
            <a:spAutoFit/>
          </a:bodyPr>
          <a:lstStyle/>
          <a:p>
            <a:pPr algn="l"/>
            <a:r>
              <a:rPr lang="zh-CN" sz="1010" dirty="0">
                <a:solidFill>
                  <a:srgbClr val="14532D"/>
                </a:solidFill>
                <a:latin typeface="Arial" panose="020B0704020202020204"/>
                <a:ea typeface="Arial" panose="020B0704020202020204"/>
                <a:cs typeface="Arial" panose="020B0704020202020204"/>
              </a:rPr>
              <a:t>✔ Tài xế: Chỉ cập nhật trạng thái các đơn đã gán</a:t>
            </a:r>
            <a:endParaRPr lang="zh-CN" sz="1010" dirty="0">
              <a:solidFill>
                <a:srgbClr val="14532D"/>
              </a:solidFill>
              <a:latin typeface="Arial" panose="020B0704020202020204"/>
              <a:ea typeface="Arial" panose="020B0704020202020204"/>
              <a:cs typeface="Arial" panose="020B0704020202020204"/>
            </a:endParaRPr>
          </a:p>
          <a:p>
            <a:pPr algn="l"/>
            <a:r>
              <a:rPr lang="zh-CN" sz="1010" dirty="0">
                <a:solidFill>
                  <a:srgbClr val="14532D"/>
                </a:solidFill>
                <a:latin typeface="Arial" panose="020B0704020202020204"/>
                <a:ea typeface="Arial" panose="020B0704020202020204"/>
                <a:cs typeface="Arial" panose="020B0704020202020204"/>
              </a:rPr>
              <a:t> </a:t>
            </a:r>
            <a:r>
              <a:rPr lang="vi-VN" altLang="zh-CN" sz="1010" dirty="0">
                <a:solidFill>
                  <a:srgbClr val="14532D"/>
                </a:solidFill>
                <a:latin typeface="Arial" panose="020B0704020202020204"/>
                <a:ea typeface="Arial" panose="020B0704020202020204"/>
                <a:cs typeface="Arial" panose="020B0704020202020204"/>
              </a:rPr>
              <a:t>   </a:t>
            </a:r>
            <a:r>
              <a:rPr lang="zh-CN" sz="1010" dirty="0">
                <a:solidFill>
                  <a:srgbClr val="14532D"/>
                </a:solidFill>
                <a:latin typeface="Arial" panose="020B0704020202020204"/>
                <a:ea typeface="Arial" panose="020B0704020202020204"/>
                <a:cs typeface="Arial" panose="020B0704020202020204"/>
              </a:rPr>
              <a:t> cho mình; chỉ được nhận đơn mở.</a:t>
            </a:r>
            <a:endParaRPr lang="zh-CN" sz="1010" dirty="0">
              <a:solidFill>
                <a:srgbClr val="14532D"/>
              </a:solidFill>
              <a:latin typeface="Arial" panose="020B0704020202020204"/>
              <a:ea typeface="Arial" panose="020B0704020202020204"/>
              <a:cs typeface="Arial" panose="020B0704020202020204"/>
            </a:endParaRPr>
          </a:p>
        </p:txBody>
      </p:sp>
      <p:sp>
        <p:nvSpPr>
          <p:cNvPr id="61" name="TextBox 61"/>
          <p:cNvSpPr txBox="1"/>
          <p:nvPr/>
        </p:nvSpPr>
        <p:spPr>
          <a:xfrm>
            <a:off x="8512016" y="4384596"/>
            <a:ext cx="2504440" cy="309880"/>
          </a:xfrm>
          <a:prstGeom prst="rect">
            <a:avLst/>
          </a:prstGeom>
          <a:noFill/>
          <a:ln>
            <a:noFill/>
          </a:ln>
        </p:spPr>
        <p:txBody>
          <a:bodyPr wrap="none" lIns="0" tIns="0" rIns="0" bIns="0" anchor="t" anchorCtr="0">
            <a:spAutoFit/>
          </a:bodyPr>
          <a:lstStyle/>
          <a:p>
            <a:pPr algn="l"/>
            <a:r>
              <a:rPr lang="zh-CN" sz="1010" dirty="0">
                <a:solidFill>
                  <a:srgbClr val="14532D"/>
                </a:solidFill>
                <a:latin typeface="Arial" panose="020B0704020202020204"/>
                <a:ea typeface="Arial" panose="020B0704020202020204"/>
                <a:cs typeface="Arial" panose="020B0704020202020204"/>
              </a:rPr>
              <a:t>✔ Đánh giá: Khách chỉ được gửi rating sau </a:t>
            </a:r>
            <a:endParaRPr lang="zh-CN" sz="1010" dirty="0">
              <a:solidFill>
                <a:srgbClr val="14532D"/>
              </a:solidFill>
              <a:latin typeface="Arial" panose="020B0704020202020204"/>
              <a:ea typeface="Arial" panose="020B0704020202020204"/>
              <a:cs typeface="Arial" panose="020B0704020202020204"/>
            </a:endParaRPr>
          </a:p>
          <a:p>
            <a:pPr algn="l"/>
            <a:r>
              <a:rPr lang="zh-CN" sz="1010" dirty="0">
                <a:solidFill>
                  <a:srgbClr val="14532D"/>
                </a:solidFill>
                <a:latin typeface="Arial" panose="020B0704020202020204"/>
                <a:ea typeface="Arial" panose="020B0704020202020204"/>
                <a:cs typeface="Arial" panose="020B0704020202020204"/>
              </a:rPr>
              <a:t> </a:t>
            </a:r>
            <a:r>
              <a:rPr lang="vi-VN" altLang="zh-CN" sz="1010" dirty="0">
                <a:solidFill>
                  <a:srgbClr val="14532D"/>
                </a:solidFill>
                <a:latin typeface="Arial" panose="020B0704020202020204"/>
                <a:ea typeface="Arial" panose="020B0704020202020204"/>
                <a:cs typeface="Arial" panose="020B0704020202020204"/>
              </a:rPr>
              <a:t>    </a:t>
            </a:r>
            <a:r>
              <a:rPr lang="zh-CN" sz="1010" dirty="0">
                <a:solidFill>
                  <a:srgbClr val="14532D"/>
                </a:solidFill>
                <a:latin typeface="Arial" panose="020B0704020202020204"/>
                <a:ea typeface="Arial" panose="020B0704020202020204"/>
                <a:cs typeface="Arial" panose="020B0704020202020204"/>
              </a:rPr>
              <a:t>khi đơn đã chuyển DA_GIAO.</a:t>
            </a:r>
            <a:endParaRPr lang="zh-CN" sz="1010" dirty="0">
              <a:solidFill>
                <a:srgbClr val="14532D"/>
              </a:solidFill>
              <a:latin typeface="Arial" panose="020B0704020202020204"/>
              <a:ea typeface="Arial" panose="020B0704020202020204"/>
              <a:cs typeface="Arial" panose="020B0704020202020204"/>
            </a:endParaRPr>
          </a:p>
        </p:txBody>
      </p:sp>
      <p:sp>
        <p:nvSpPr>
          <p:cNvPr id="62" name="Freeform 62"/>
          <p:cNvSpPr/>
          <p:nvPr/>
        </p:nvSpPr>
        <p:spPr>
          <a:xfrm>
            <a:off x="8382000" y="5000625"/>
            <a:ext cx="3238500" cy="952500"/>
          </a:xfrm>
          <a:custGeom>
            <a:avLst/>
            <a:gdLst/>
            <a:ahLst/>
            <a:cxnLst/>
            <a:rect l="l" t="t" r="r" b="b"/>
            <a:pathLst>
              <a:path w="3238500" h="952500">
                <a:moveTo>
                  <a:pt x="76200" y="0"/>
                </a:moveTo>
                <a:lnTo>
                  <a:pt x="3162300" y="0"/>
                </a:lnTo>
                <a:cubicBezTo>
                  <a:pt x="3204384" y="0"/>
                  <a:pt x="3238500" y="34116"/>
                  <a:pt x="3238500" y="76200"/>
                </a:cubicBezTo>
                <a:lnTo>
                  <a:pt x="3238500" y="876300"/>
                </a:lnTo>
                <a:cubicBezTo>
                  <a:pt x="3238500" y="918384"/>
                  <a:pt x="3204384" y="952500"/>
                  <a:pt x="316230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sp>
      <p:sp>
        <p:nvSpPr>
          <p:cNvPr id="63" name="TextBox 63"/>
          <p:cNvSpPr txBox="1"/>
          <p:nvPr/>
        </p:nvSpPr>
        <p:spPr>
          <a:xfrm>
            <a:off x="8510588" y="5117306"/>
            <a:ext cx="2133338" cy="228600"/>
          </a:xfrm>
          <a:prstGeom prst="rect">
            <a:avLst/>
          </a:prstGeom>
          <a:noFill/>
          <a:ln>
            <a:noFill/>
          </a:ln>
        </p:spPr>
        <p:txBody>
          <a:bodyPr wrap="none" lIns="0" tIns="0" rIns="0" bIns="0" anchor="t" anchorCtr="0">
            <a:spAutoFit/>
          </a:bodyPr>
          <a:lstStyle/>
          <a:p>
            <a:pPr algn="l"/>
            <a:r>
              <a:rPr lang="zh-CN" sz="1125" b="1" dirty="0">
                <a:solidFill>
                  <a:srgbClr val="003366"/>
                </a:solidFill>
                <a:latin typeface="Arial" panose="020B0704020202020204"/>
                <a:ea typeface="Arial" panose="020B0704020202020204"/>
                <a:cs typeface="Arial" panose="020B0704020202020204"/>
              </a:rPr>
              <a:t>Endpoint Admin riêng biệt</a:t>
            </a:r>
            <a:endParaRPr lang="zh-CN" sz="1125" b="1" dirty="0">
              <a:solidFill>
                <a:srgbClr val="003366"/>
              </a:solidFill>
              <a:latin typeface="Arial" panose="020B0704020202020204"/>
              <a:ea typeface="Arial" panose="020B0704020202020204"/>
              <a:cs typeface="Arial" panose="020B0704020202020204"/>
            </a:endParaRPr>
          </a:p>
        </p:txBody>
      </p:sp>
      <p:sp>
        <p:nvSpPr>
          <p:cNvPr id="64" name="TextBox 64"/>
          <p:cNvSpPr txBox="1"/>
          <p:nvPr/>
        </p:nvSpPr>
        <p:spPr>
          <a:xfrm>
            <a:off x="8512016" y="5367576"/>
            <a:ext cx="2678430" cy="309880"/>
          </a:xfrm>
          <a:prstGeom prst="rect">
            <a:avLst/>
          </a:prstGeom>
          <a:noFill/>
          <a:ln>
            <a:noFill/>
          </a:ln>
        </p:spPr>
        <p:txBody>
          <a:bodyPr wrap="none" lIns="0" tIns="0" rIns="0" bIns="0" anchor="t" anchorCtr="0">
            <a:spAutoFit/>
          </a:bodyPr>
          <a:lstStyle/>
          <a:p>
            <a:pPr algn="l"/>
            <a:r>
              <a:rPr lang="zh-CN" sz="1010" dirty="0">
                <a:solidFill>
                  <a:srgbClr val="334155"/>
                </a:solidFill>
                <a:latin typeface="Arial" panose="020B0704020202020204"/>
                <a:ea typeface="Arial" panose="020B0704020202020204"/>
                <a:cs typeface="Arial" panose="020B0704020202020204"/>
              </a:rPr>
              <a:t>• Các API lấy danh sách toàn hệ thống yêu cầu</a:t>
            </a:r>
            <a:endParaRPr lang="zh-CN" sz="1010" dirty="0">
              <a:solidFill>
                <a:srgbClr val="334155"/>
              </a:solidFill>
              <a:latin typeface="Arial" panose="020B0704020202020204"/>
              <a:ea typeface="Arial" panose="020B0704020202020204"/>
              <a:cs typeface="Arial" panose="020B0704020202020204"/>
            </a:endParaRPr>
          </a:p>
          <a:p>
            <a:pPr algn="l"/>
            <a:r>
              <a:rPr lang="zh-CN" sz="1010" dirty="0">
                <a:solidFill>
                  <a:srgbClr val="334155"/>
                </a:solidFill>
                <a:latin typeface="Arial" panose="020B0704020202020204"/>
                <a:ea typeface="Arial" panose="020B0704020202020204"/>
                <a:cs typeface="Arial" panose="020B0704020202020204"/>
              </a:rPr>
              <a:t>  quyền ROLE_ADMIN trong JWT.</a:t>
            </a:r>
            <a:endParaRPr lang="zh-CN" sz="1010" dirty="0">
              <a:solidFill>
                <a:srgbClr val="334155"/>
              </a:solidFill>
              <a:latin typeface="Arial" panose="020B0704020202020204"/>
              <a:ea typeface="Arial" panose="020B0704020202020204"/>
              <a:cs typeface="Arial" panose="020B0704020202020204"/>
            </a:endParaRPr>
          </a:p>
        </p:txBody>
      </p:sp>
      <p:sp>
        <p:nvSpPr>
          <p:cNvPr id="65" name="Line 65"/>
          <p:cNvSpPr/>
          <p:nvPr/>
        </p:nvSpPr>
        <p:spPr>
          <a:xfrm>
            <a:off x="381000" y="6334125"/>
            <a:ext cx="11430000" cy="9525"/>
          </a:xfrm>
          <a:custGeom>
            <a:avLst/>
            <a:gdLst/>
            <a:ahLst/>
            <a:cxnLst/>
            <a:rect l="l" t="t" r="r" b="b"/>
            <a:pathLst>
              <a:path w="11430000" h="9525">
                <a:moveTo>
                  <a:pt x="0" y="0"/>
                </a:moveTo>
                <a:lnTo>
                  <a:pt x="11430000" y="0"/>
                </a:lnTo>
              </a:path>
            </a:pathLst>
          </a:custGeom>
          <a:noFill/>
          <a:ln w="9525">
            <a:solidFill>
              <a:srgbClr val="CBD5E1"/>
            </a:solidFill>
          </a:ln>
        </p:spPr>
      </p:sp>
      <p:sp>
        <p:nvSpPr>
          <p:cNvPr id="66" name="TextBox 66"/>
          <p:cNvSpPr txBox="1"/>
          <p:nvPr/>
        </p:nvSpPr>
        <p:spPr>
          <a:xfrm>
            <a:off x="368618" y="6514624"/>
            <a:ext cx="3563374"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panose="020B0704020202020204"/>
                <a:ea typeface="Arial" panose="020B0704020202020204"/>
                <a:cs typeface="Arial" panose="020B0704020202020204"/>
              </a:rPr>
              <a:t>Báo cáo Đồ án Lập trình Di động (MOB402) • Nhóm 10</a:t>
            </a:r>
            <a:endParaRPr lang="zh-CN" sz="975" dirty="0">
              <a:solidFill>
                <a:srgbClr val="64748B"/>
              </a:solidFill>
              <a:latin typeface="Arial" panose="020B0704020202020204"/>
              <a:ea typeface="Arial" panose="020B0704020202020204"/>
              <a:cs typeface="Arial" panose="020B0704020202020204"/>
            </a:endParaRPr>
          </a:p>
        </p:txBody>
      </p:sp>
      <p:sp>
        <p:nvSpPr>
          <p:cNvPr id="67" name="TextBox 67"/>
          <p:cNvSpPr txBox="1"/>
          <p:nvPr/>
        </p:nvSpPr>
        <p:spPr>
          <a:xfrm>
            <a:off x="4527911" y="6514624"/>
            <a:ext cx="3136178" cy="198120"/>
          </a:xfrm>
          <a:prstGeom prst="rect">
            <a:avLst/>
          </a:prstGeom>
          <a:noFill/>
          <a:ln>
            <a:noFill/>
          </a:ln>
        </p:spPr>
        <p:txBody>
          <a:bodyPr wrap="none" lIns="0" tIns="0" rIns="0" bIns="0" anchor="t" anchorCtr="0">
            <a:spAutoFit/>
          </a:bodyPr>
          <a:lstStyle/>
          <a:p>
            <a:pPr algn="ctr"/>
            <a:r>
              <a:rPr lang="zh-CN" sz="975" dirty="0">
                <a:solidFill>
                  <a:srgbClr val="94A3B8"/>
                </a:solidFill>
                <a:latin typeface="Arial" panose="020B0704020202020204"/>
                <a:ea typeface="Arial" panose="020B0704020202020204"/>
                <a:cs typeface="Arial" panose="020B0704020202020204"/>
              </a:rPr>
              <a:t>Xác thực, Quản lý phiên &amp; Phân quyền bảo mật</a:t>
            </a:r>
            <a:endParaRPr lang="zh-CN" sz="975" dirty="0">
              <a:solidFill>
                <a:srgbClr val="94A3B8"/>
              </a:solidFill>
              <a:latin typeface="Arial" panose="020B0704020202020204"/>
              <a:ea typeface="Arial" panose="020B0704020202020204"/>
              <a:cs typeface="Arial" panose="020B0704020202020204"/>
            </a:endParaRPr>
          </a:p>
        </p:txBody>
      </p:sp>
      <p:sp>
        <p:nvSpPr>
          <p:cNvPr id="68" name="TextBox 68"/>
          <p:cNvSpPr txBox="1"/>
          <p:nvPr/>
        </p:nvSpPr>
        <p:spPr>
          <a:xfrm>
            <a:off x="11298503" y="6506528"/>
            <a:ext cx="525832" cy="213360"/>
          </a:xfrm>
          <a:prstGeom prst="rect">
            <a:avLst/>
          </a:prstGeom>
          <a:noFill/>
          <a:ln>
            <a:noFill/>
          </a:ln>
        </p:spPr>
        <p:txBody>
          <a:bodyPr wrap="none" lIns="0" tIns="0" rIns="0" bIns="0" anchor="t" anchorCtr="0">
            <a:spAutoFit/>
          </a:bodyPr>
          <a:lstStyle/>
          <a:p>
            <a:pPr algn="r"/>
            <a:r>
              <a:rPr lang="zh-CN" sz="1050" b="1" dirty="0">
                <a:solidFill>
                  <a:srgbClr val="003366"/>
                </a:solidFill>
                <a:latin typeface="Arial" panose="020B0704020202020204"/>
                <a:ea typeface="Arial" panose="020B0704020202020204"/>
                <a:cs typeface="Arial" panose="020B0704020202020204"/>
              </a:rPr>
              <a:t>07 / 14</a:t>
            </a:r>
            <a:endParaRPr lang="zh-CN" sz="1050" b="1" dirty="0">
              <a:solidFill>
                <a:srgbClr val="003366"/>
              </a:solidFill>
              <a:latin typeface="Arial" panose="020B0704020202020204"/>
              <a:ea typeface="Arial" panose="020B0704020202020204"/>
              <a:cs typeface="Arial" panose="020B070402020202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591415" cy="6858000"/>
          </a:xfrm>
          <a:prstGeom prst="rect">
            <a:avLst/>
          </a:prstGeom>
          <a:solidFill>
            <a:srgbClr val="F8FAFC"/>
          </a:solidFill>
          <a:ln>
            <a:noFill/>
          </a:ln>
        </p:spPr>
      </p:sp>
      <p:sp>
        <p:nvSpPr>
          <p:cNvPr id="4" name="Rectangle 4"/>
          <p:cNvSpPr/>
          <p:nvPr/>
        </p:nvSpPr>
        <p:spPr>
          <a:xfrm>
            <a:off x="0" y="0"/>
            <a:ext cx="12192000" cy="666750"/>
          </a:xfrm>
          <a:prstGeom prst="rect">
            <a:avLst/>
          </a:prstGeom>
          <a:solidFill>
            <a:srgbClr val="003366"/>
          </a:solidFill>
          <a:ln>
            <a:noFill/>
          </a:ln>
        </p:spPr>
      </p:sp>
      <p:sp>
        <p:nvSpPr>
          <p:cNvPr id="5" name="Rectangle 5"/>
          <p:cNvSpPr/>
          <p:nvPr/>
        </p:nvSpPr>
        <p:spPr>
          <a:xfrm>
            <a:off x="0" y="0"/>
            <a:ext cx="57150" cy="666750"/>
          </a:xfrm>
          <a:prstGeom prst="rect">
            <a:avLst/>
          </a:prstGeom>
          <a:solidFill>
            <a:srgbClr val="E65100"/>
          </a:solidFill>
          <a:ln>
            <a:noFill/>
          </a:ln>
        </p:spPr>
      </p:sp>
      <p:sp>
        <p:nvSpPr>
          <p:cNvPr id="6" name="TextBox 6"/>
          <p:cNvSpPr txBox="1"/>
          <p:nvPr/>
        </p:nvSpPr>
        <p:spPr>
          <a:xfrm>
            <a:off x="356235" y="227648"/>
            <a:ext cx="7226427" cy="396240"/>
          </a:xfrm>
          <a:prstGeom prst="rect">
            <a:avLst/>
          </a:prstGeom>
          <a:noFill/>
          <a:ln>
            <a:noFill/>
          </a:ln>
        </p:spPr>
        <p:txBody>
          <a:bodyPr wrap="none" lIns="0" tIns="0" rIns="0" bIns="0" anchor="t" anchorCtr="0">
            <a:spAutoFit/>
          </a:bodyPr>
          <a:lstStyle/>
          <a:p>
            <a:pPr algn="l"/>
            <a:r>
              <a:rPr lang="zh-CN" sz="1950" b="1" dirty="0">
                <a:solidFill>
                  <a:srgbClr val="FFFFFF"/>
                </a:solidFill>
                <a:latin typeface="Arial" panose="020B0704020202020204"/>
                <a:ea typeface="Arial" panose="020B0704020202020204"/>
                <a:cs typeface="Arial" panose="020B0704020202020204"/>
              </a:rPr>
              <a:t>03. XỬ LÝ ĐỒNG THỜI &amp; VÒNG ĐỜI TRẠNG THÁI ĐƠN HÀNG</a:t>
            </a:r>
            <a:endParaRPr lang="zh-CN" sz="1950" b="1" dirty="0">
              <a:solidFill>
                <a:srgbClr val="FFFFFF"/>
              </a:solidFill>
              <a:latin typeface="Arial" panose="020B0704020202020204"/>
              <a:ea typeface="Arial" panose="020B0704020202020204"/>
              <a:cs typeface="Arial" panose="020B0704020202020204"/>
            </a:endParaRPr>
          </a:p>
        </p:txBody>
      </p:sp>
      <p:sp>
        <p:nvSpPr>
          <p:cNvPr id="7" name="TextBox 7"/>
          <p:cNvSpPr txBox="1"/>
          <p:nvPr/>
        </p:nvSpPr>
        <p:spPr>
          <a:xfrm>
            <a:off x="10295973" y="299085"/>
            <a:ext cx="1530267" cy="243840"/>
          </a:xfrm>
          <a:prstGeom prst="rect">
            <a:avLst/>
          </a:prstGeom>
          <a:noFill/>
          <a:ln>
            <a:noFill/>
          </a:ln>
        </p:spPr>
        <p:txBody>
          <a:bodyPr wrap="none" lIns="0" tIns="0" rIns="0" bIns="0" anchor="t" anchorCtr="0">
            <a:spAutoFit/>
          </a:bodyPr>
          <a:lstStyle/>
          <a:p>
            <a:pPr algn="r"/>
            <a:r>
              <a:rPr lang="zh-CN" sz="1200" b="1" dirty="0">
                <a:solidFill>
                  <a:srgbClr val="93C5FD"/>
                </a:solidFill>
                <a:latin typeface="Arial" panose="020B0704020202020204"/>
                <a:ea typeface="Arial" panose="020B0704020202020204"/>
                <a:cs typeface="Arial" panose="020B0704020202020204"/>
              </a:rPr>
              <a:t>GODROP DELIVERY</a:t>
            </a:r>
            <a:endParaRPr lang="zh-CN" sz="1200" b="1" dirty="0">
              <a:solidFill>
                <a:srgbClr val="93C5FD"/>
              </a:solidFill>
              <a:latin typeface="Arial" panose="020B0704020202020204"/>
              <a:ea typeface="Arial" panose="020B0704020202020204"/>
              <a:cs typeface="Arial" panose="020B0704020202020204"/>
            </a:endParaRPr>
          </a:p>
        </p:txBody>
      </p:sp>
      <p:sp>
        <p:nvSpPr>
          <p:cNvPr id="8" name="Rectangle 8"/>
          <p:cNvSpPr/>
          <p:nvPr/>
        </p:nvSpPr>
        <p:spPr>
          <a:xfrm>
            <a:off x="0" y="666750"/>
            <a:ext cx="12192000" cy="476250"/>
          </a:xfrm>
          <a:prstGeom prst="rect">
            <a:avLst/>
          </a:prstGeom>
          <a:solidFill>
            <a:srgbClr val="E8F4FC"/>
          </a:solidFill>
          <a:ln>
            <a:noFill/>
          </a:ln>
        </p:spPr>
      </p:sp>
      <p:sp>
        <p:nvSpPr>
          <p:cNvPr id="9" name="Rectangle 9"/>
          <p:cNvSpPr/>
          <p:nvPr/>
        </p:nvSpPr>
        <p:spPr>
          <a:xfrm>
            <a:off x="0" y="666750"/>
            <a:ext cx="57150" cy="476250"/>
          </a:xfrm>
          <a:prstGeom prst="rect">
            <a:avLst/>
          </a:prstGeom>
          <a:solidFill>
            <a:srgbClr val="0066CC"/>
          </a:solidFill>
          <a:ln>
            <a:noFill/>
          </a:ln>
        </p:spPr>
      </p:sp>
      <p:sp>
        <p:nvSpPr>
          <p:cNvPr id="10" name="TextBox 10"/>
          <p:cNvSpPr txBox="1"/>
          <p:nvPr/>
        </p:nvSpPr>
        <p:spPr>
          <a:xfrm>
            <a:off x="364808" y="824389"/>
            <a:ext cx="10125170" cy="259080"/>
          </a:xfrm>
          <a:prstGeom prst="rect">
            <a:avLst/>
          </a:prstGeom>
          <a:noFill/>
          <a:ln>
            <a:noFill/>
          </a:ln>
        </p:spPr>
        <p:txBody>
          <a:bodyPr wrap="none" lIns="0" tIns="0" rIns="0" bIns="0" anchor="t" anchorCtr="0">
            <a:spAutoFit/>
          </a:bodyPr>
          <a:lstStyle/>
          <a:p>
            <a:pPr algn="l"/>
            <a:r>
              <a:rPr lang="zh-CN" sz="1275" dirty="0">
                <a:solidFill>
                  <a:srgbClr val="0F172A"/>
                </a:solidFill>
                <a:latin typeface="Arial" panose="020B0704020202020204"/>
                <a:ea typeface="Arial" panose="020B0704020202020204"/>
                <a:cs typeface="Arial" panose="020B0704020202020204"/>
              </a:rPr>
              <a:t>Cơ chế Optimistic Locking với trường version ngăn chặn tuyệt đối tình trạng tranh chấp nhận đơn giữa các tài xế</a:t>
            </a:r>
            <a:endParaRPr lang="zh-CN" sz="1275" dirty="0">
              <a:solidFill>
                <a:srgbClr val="0F172A"/>
              </a:solidFill>
              <a:latin typeface="Arial" panose="020B0704020202020204"/>
              <a:ea typeface="Arial" panose="020B0704020202020204"/>
              <a:cs typeface="Arial" panose="020B0704020202020204"/>
            </a:endParaRPr>
          </a:p>
        </p:txBody>
      </p:sp>
      <p:sp>
        <p:nvSpPr>
          <p:cNvPr id="11" name="Freeform 11"/>
          <p:cNvSpPr/>
          <p:nvPr/>
        </p:nvSpPr>
        <p:spPr>
          <a:xfrm>
            <a:off x="381000" y="1285875"/>
            <a:ext cx="11430000" cy="2047875"/>
          </a:xfrm>
          <a:custGeom>
            <a:avLst/>
            <a:gdLst/>
            <a:ahLst/>
            <a:cxnLst/>
            <a:rect l="l" t="t" r="r" b="b"/>
            <a:pathLst>
              <a:path w="11430000" h="2047875">
                <a:moveTo>
                  <a:pt x="95250" y="0"/>
                </a:moveTo>
                <a:lnTo>
                  <a:pt x="11334750" y="0"/>
                </a:lnTo>
                <a:cubicBezTo>
                  <a:pt x="11387355" y="0"/>
                  <a:pt x="11430000" y="42645"/>
                  <a:pt x="11430000" y="95250"/>
                </a:cubicBezTo>
                <a:lnTo>
                  <a:pt x="11430000" y="1952625"/>
                </a:lnTo>
                <a:cubicBezTo>
                  <a:pt x="11430000" y="2005230"/>
                  <a:pt x="11387355" y="2047875"/>
                  <a:pt x="11334750" y="2047875"/>
                </a:cubicBezTo>
                <a:lnTo>
                  <a:pt x="95250" y="2047875"/>
                </a:lnTo>
                <a:cubicBezTo>
                  <a:pt x="42645" y="2047875"/>
                  <a:pt x="0" y="2005230"/>
                  <a:pt x="0" y="1952625"/>
                </a:cubicBezTo>
                <a:lnTo>
                  <a:pt x="0" y="95250"/>
                </a:lnTo>
                <a:cubicBezTo>
                  <a:pt x="0" y="42645"/>
                  <a:pt x="42645" y="0"/>
                  <a:pt x="95250" y="0"/>
                </a:cubicBezTo>
                <a:close/>
              </a:path>
            </a:pathLst>
          </a:custGeom>
          <a:solidFill>
            <a:srgbClr val="FFFFFF"/>
          </a:solidFill>
          <a:ln w="14288">
            <a:solidFill>
              <a:srgbClr val="E2E8F0"/>
            </a:solidFill>
          </a:ln>
        </p:spPr>
      </p:sp>
      <p:sp>
        <p:nvSpPr>
          <p:cNvPr id="12" name="TextBox 12"/>
          <p:cNvSpPr txBox="1"/>
          <p:nvPr/>
        </p:nvSpPr>
        <p:spPr>
          <a:xfrm>
            <a:off x="556260" y="1413510"/>
            <a:ext cx="6167647" cy="243840"/>
          </a:xfrm>
          <a:prstGeom prst="rect">
            <a:avLst/>
          </a:prstGeom>
          <a:noFill/>
          <a:ln>
            <a:noFill/>
          </a:ln>
        </p:spPr>
        <p:txBody>
          <a:bodyPr wrap="none" lIns="0" tIns="0" rIns="0" bIns="0" anchor="t" anchorCtr="0">
            <a:spAutoFit/>
          </a:bodyPr>
          <a:lstStyle/>
          <a:p>
            <a:pPr algn="l"/>
            <a:r>
              <a:rPr lang="zh-CN" sz="1200" b="1" dirty="0">
                <a:solidFill>
                  <a:srgbClr val="003366"/>
                </a:solidFill>
                <a:latin typeface="Arial" panose="020B0704020202020204"/>
                <a:ea typeface="Arial" panose="020B0704020202020204"/>
                <a:cs typeface="Arial" panose="020B0704020202020204"/>
              </a:rPr>
              <a:t>MÁY TRẠNG THÁI ĐƠN HÀNG (STATE MACHINE) ĐƯỢC KIỂM SOÁT BỞI SERVER:</a:t>
            </a:r>
            <a:endParaRPr lang="zh-CN" sz="1200" b="1" dirty="0">
              <a:solidFill>
                <a:srgbClr val="003366"/>
              </a:solidFill>
              <a:latin typeface="Arial" panose="020B0704020202020204"/>
              <a:ea typeface="Arial" panose="020B0704020202020204"/>
              <a:cs typeface="Arial" panose="020B0704020202020204"/>
            </a:endParaRPr>
          </a:p>
        </p:txBody>
      </p:sp>
      <p:sp>
        <p:nvSpPr>
          <p:cNvPr id="13" name="Freeform 13"/>
          <p:cNvSpPr/>
          <p:nvPr/>
        </p:nvSpPr>
        <p:spPr>
          <a:xfrm>
            <a:off x="571500" y="1714500"/>
            <a:ext cx="1762125" cy="904875"/>
          </a:xfrm>
          <a:custGeom>
            <a:avLst/>
            <a:gdLst/>
            <a:ahLst/>
            <a:cxnLst/>
            <a:rect l="l" t="t" r="r" b="b"/>
            <a:pathLst>
              <a:path w="1762125" h="904875">
                <a:moveTo>
                  <a:pt x="76200" y="0"/>
                </a:moveTo>
                <a:lnTo>
                  <a:pt x="1685925" y="0"/>
                </a:lnTo>
                <a:cubicBezTo>
                  <a:pt x="1728009" y="0"/>
                  <a:pt x="1762125" y="34116"/>
                  <a:pt x="1762125" y="76200"/>
                </a:cubicBezTo>
                <a:lnTo>
                  <a:pt x="1762125" y="828675"/>
                </a:lnTo>
                <a:cubicBezTo>
                  <a:pt x="1762125" y="870759"/>
                  <a:pt x="1728009" y="904875"/>
                  <a:pt x="1685925" y="904875"/>
                </a:cubicBezTo>
                <a:lnTo>
                  <a:pt x="76200" y="904875"/>
                </a:lnTo>
                <a:cubicBezTo>
                  <a:pt x="34116" y="904875"/>
                  <a:pt x="0" y="870759"/>
                  <a:pt x="0" y="828675"/>
                </a:cubicBezTo>
                <a:lnTo>
                  <a:pt x="0" y="76200"/>
                </a:lnTo>
                <a:cubicBezTo>
                  <a:pt x="0" y="34116"/>
                  <a:pt x="34116" y="0"/>
                  <a:pt x="76200" y="0"/>
                </a:cubicBezTo>
                <a:close/>
              </a:path>
            </a:pathLst>
          </a:custGeom>
          <a:solidFill>
            <a:srgbClr val="EFF6FF"/>
          </a:solidFill>
          <a:ln w="14288">
            <a:solidFill>
              <a:srgbClr val="3B82F6"/>
            </a:solidFill>
          </a:ln>
        </p:spPr>
      </p:sp>
      <p:sp>
        <p:nvSpPr>
          <p:cNvPr id="14" name="Freeform 14"/>
          <p:cNvSpPr/>
          <p:nvPr/>
        </p:nvSpPr>
        <p:spPr>
          <a:xfrm>
            <a:off x="571500" y="1714500"/>
            <a:ext cx="1762125" cy="266700"/>
          </a:xfrm>
          <a:custGeom>
            <a:avLst/>
            <a:gdLst/>
            <a:ahLst/>
            <a:cxnLst/>
            <a:rect l="l" t="t" r="r" b="b"/>
            <a:pathLst>
              <a:path w="1762125" h="266700">
                <a:moveTo>
                  <a:pt x="76200" y="0"/>
                </a:moveTo>
                <a:lnTo>
                  <a:pt x="1685925" y="0"/>
                </a:lnTo>
                <a:cubicBezTo>
                  <a:pt x="1728009" y="0"/>
                  <a:pt x="1762125" y="34116"/>
                  <a:pt x="1762125" y="76200"/>
                </a:cubicBezTo>
                <a:lnTo>
                  <a:pt x="1762125" y="190500"/>
                </a:lnTo>
                <a:cubicBezTo>
                  <a:pt x="1762125" y="232584"/>
                  <a:pt x="1728009" y="266700"/>
                  <a:pt x="1685925" y="266700"/>
                </a:cubicBezTo>
                <a:lnTo>
                  <a:pt x="76200" y="266700"/>
                </a:lnTo>
                <a:cubicBezTo>
                  <a:pt x="34116" y="266700"/>
                  <a:pt x="0" y="232584"/>
                  <a:pt x="0" y="190500"/>
                </a:cubicBezTo>
                <a:lnTo>
                  <a:pt x="0" y="76200"/>
                </a:lnTo>
                <a:cubicBezTo>
                  <a:pt x="0" y="34116"/>
                  <a:pt x="34116" y="0"/>
                  <a:pt x="76200" y="0"/>
                </a:cubicBezTo>
                <a:close/>
              </a:path>
            </a:pathLst>
          </a:custGeom>
          <a:solidFill>
            <a:srgbClr val="DBEAFE"/>
          </a:solidFill>
          <a:ln>
            <a:noFill/>
          </a:ln>
        </p:spPr>
      </p:sp>
      <p:sp>
        <p:nvSpPr>
          <p:cNvPr id="15" name="TextBox 15"/>
          <p:cNvSpPr txBox="1"/>
          <p:nvPr/>
        </p:nvSpPr>
        <p:spPr>
          <a:xfrm>
            <a:off x="1243146" y="1807845"/>
            <a:ext cx="409308" cy="182880"/>
          </a:xfrm>
          <a:prstGeom prst="rect">
            <a:avLst/>
          </a:prstGeom>
          <a:noFill/>
          <a:ln>
            <a:noFill/>
          </a:ln>
        </p:spPr>
        <p:txBody>
          <a:bodyPr wrap="none" lIns="0" tIns="0" rIns="0" bIns="0" anchor="t" anchorCtr="0">
            <a:spAutoFit/>
          </a:bodyPr>
          <a:lstStyle/>
          <a:p>
            <a:pPr algn="ctr"/>
            <a:r>
              <a:rPr lang="zh-CN" sz="900" b="1" dirty="0">
                <a:solidFill>
                  <a:srgbClr val="1E40AF"/>
                </a:solidFill>
                <a:latin typeface="Arial" panose="020B0704020202020204"/>
                <a:ea typeface="Arial" panose="020B0704020202020204"/>
                <a:cs typeface="Arial" panose="020B0704020202020204"/>
              </a:rPr>
              <a:t>BƯỚC 1</a:t>
            </a:r>
            <a:endParaRPr lang="zh-CN" sz="900" b="1" dirty="0">
              <a:solidFill>
                <a:srgbClr val="1E40AF"/>
              </a:solidFill>
              <a:latin typeface="Arial" panose="020B0704020202020204"/>
              <a:ea typeface="Arial" panose="020B0704020202020204"/>
              <a:cs typeface="Arial" panose="020B0704020202020204"/>
            </a:endParaRPr>
          </a:p>
        </p:txBody>
      </p:sp>
      <p:sp>
        <p:nvSpPr>
          <p:cNvPr id="16" name="TextBox 16"/>
          <p:cNvSpPr txBox="1"/>
          <p:nvPr/>
        </p:nvSpPr>
        <p:spPr>
          <a:xfrm>
            <a:off x="904626" y="2066449"/>
            <a:ext cx="1086348" cy="198120"/>
          </a:xfrm>
          <a:prstGeom prst="rect">
            <a:avLst/>
          </a:prstGeom>
          <a:noFill/>
          <a:ln>
            <a:noFill/>
          </a:ln>
        </p:spPr>
        <p:txBody>
          <a:bodyPr wrap="none" lIns="0" tIns="0" rIns="0" bIns="0" anchor="t" anchorCtr="0">
            <a:spAutoFit/>
          </a:bodyPr>
          <a:lstStyle/>
          <a:p>
            <a:pPr algn="ctr"/>
            <a:r>
              <a:rPr lang="zh-CN" sz="975" b="1" dirty="0">
                <a:solidFill>
                  <a:srgbClr val="0F172A"/>
                </a:solidFill>
                <a:latin typeface="Arial" panose="020B0704020202020204"/>
                <a:ea typeface="Arial" panose="020B0704020202020204"/>
                <a:cs typeface="Arial" panose="020B0704020202020204"/>
              </a:rPr>
              <a:t>CHO_TIEP_NHAN</a:t>
            </a:r>
            <a:endParaRPr lang="zh-CN" sz="975" b="1" dirty="0">
              <a:solidFill>
                <a:srgbClr val="0F172A"/>
              </a:solidFill>
              <a:latin typeface="Arial" panose="020B0704020202020204"/>
              <a:ea typeface="Arial" panose="020B0704020202020204"/>
              <a:cs typeface="Arial" panose="020B0704020202020204"/>
            </a:endParaRPr>
          </a:p>
        </p:txBody>
      </p:sp>
      <p:sp>
        <p:nvSpPr>
          <p:cNvPr id="17" name="TextBox 17"/>
          <p:cNvSpPr txBox="1"/>
          <p:nvPr/>
        </p:nvSpPr>
        <p:spPr>
          <a:xfrm>
            <a:off x="860542" y="2288143"/>
            <a:ext cx="1174516" cy="175260"/>
          </a:xfrm>
          <a:prstGeom prst="rect">
            <a:avLst/>
          </a:prstGeom>
          <a:noFill/>
          <a:ln>
            <a:noFill/>
          </a:ln>
        </p:spPr>
        <p:txBody>
          <a:bodyPr wrap="none" lIns="0" tIns="0" rIns="0" bIns="0" anchor="t" anchorCtr="0">
            <a:spAutoFit/>
          </a:bodyPr>
          <a:lstStyle/>
          <a:p>
            <a:pPr algn="ctr"/>
            <a:r>
              <a:rPr lang="zh-CN" sz="860" dirty="0">
                <a:solidFill>
                  <a:srgbClr val="475569"/>
                </a:solidFill>
                <a:latin typeface="Arial" panose="020B0704020202020204"/>
                <a:ea typeface="Arial" panose="020B0704020202020204"/>
                <a:cs typeface="Arial" panose="020B0704020202020204"/>
              </a:rPr>
              <a:t>Đơn mới, chờ tài xế</a:t>
            </a:r>
            <a:endParaRPr lang="zh-CN" sz="860" dirty="0">
              <a:solidFill>
                <a:srgbClr val="475569"/>
              </a:solidFill>
              <a:latin typeface="Arial" panose="020B0704020202020204"/>
              <a:ea typeface="Arial" panose="020B0704020202020204"/>
              <a:cs typeface="Arial" panose="020B0704020202020204"/>
            </a:endParaRPr>
          </a:p>
        </p:txBody>
      </p:sp>
      <p:sp>
        <p:nvSpPr>
          <p:cNvPr id="18" name="TextBox 18"/>
          <p:cNvSpPr txBox="1"/>
          <p:nvPr/>
        </p:nvSpPr>
        <p:spPr>
          <a:xfrm>
            <a:off x="852940" y="2444591"/>
            <a:ext cx="1189720" cy="167640"/>
          </a:xfrm>
          <a:prstGeom prst="rect">
            <a:avLst/>
          </a:prstGeom>
          <a:noFill/>
          <a:ln>
            <a:noFill/>
          </a:ln>
        </p:spPr>
        <p:txBody>
          <a:bodyPr wrap="none" lIns="0" tIns="0" rIns="0" bIns="0" anchor="t" anchorCtr="0">
            <a:spAutoFit/>
          </a:bodyPr>
          <a:lstStyle/>
          <a:p>
            <a:pPr algn="ctr"/>
            <a:r>
              <a:rPr lang="zh-CN" sz="825" dirty="0">
                <a:solidFill>
                  <a:srgbClr val="16A34A"/>
                </a:solidFill>
                <a:latin typeface="Arial" panose="020B0704020202020204"/>
                <a:ea typeface="Arial" panose="020B0704020202020204"/>
                <a:cs typeface="Arial" panose="020B0704020202020204"/>
              </a:rPr>
              <a:t>Khách được phép hủy</a:t>
            </a:r>
            <a:endParaRPr lang="zh-CN" sz="825" dirty="0">
              <a:solidFill>
                <a:srgbClr val="16A34A"/>
              </a:solidFill>
              <a:latin typeface="Arial" panose="020B0704020202020204"/>
              <a:ea typeface="Arial" panose="020B0704020202020204"/>
              <a:cs typeface="Arial" panose="020B0704020202020204"/>
            </a:endParaRPr>
          </a:p>
        </p:txBody>
      </p:sp>
      <p:sp>
        <p:nvSpPr>
          <p:cNvPr id="19" name="Polygon 19"/>
          <p:cNvSpPr/>
          <p:nvPr/>
        </p:nvSpPr>
        <p:spPr>
          <a:xfrm>
            <a:off x="2400300" y="2114550"/>
            <a:ext cx="133350" cy="57150"/>
          </a:xfrm>
          <a:custGeom>
            <a:avLst/>
            <a:gdLst/>
            <a:ahLst/>
            <a:cxnLst/>
            <a:rect l="l" t="t" r="r" b="b"/>
            <a:pathLst>
              <a:path w="133350" h="57150">
                <a:moveTo>
                  <a:pt x="0" y="57150"/>
                </a:moveTo>
                <a:lnTo>
                  <a:pt x="133350" y="57150"/>
                </a:lnTo>
                <a:lnTo>
                  <a:pt x="76200" y="0"/>
                </a:lnTo>
                <a:close/>
              </a:path>
            </a:pathLst>
          </a:custGeom>
          <a:solidFill>
            <a:srgbClr val="3B82F6"/>
          </a:solidFill>
          <a:ln>
            <a:noFill/>
          </a:ln>
        </p:spPr>
      </p:sp>
      <p:sp>
        <p:nvSpPr>
          <p:cNvPr id="20" name="Polygon 20"/>
          <p:cNvSpPr/>
          <p:nvPr/>
        </p:nvSpPr>
        <p:spPr>
          <a:xfrm>
            <a:off x="2476500" y="2114550"/>
            <a:ext cx="95250" cy="114300"/>
          </a:xfrm>
          <a:custGeom>
            <a:avLst/>
            <a:gdLst/>
            <a:ahLst/>
            <a:cxnLst/>
            <a:rect l="l" t="t" r="r" b="b"/>
            <a:pathLst>
              <a:path w="95250" h="114300">
                <a:moveTo>
                  <a:pt x="0" y="0"/>
                </a:moveTo>
                <a:lnTo>
                  <a:pt x="95250" y="57150"/>
                </a:lnTo>
                <a:lnTo>
                  <a:pt x="0" y="114300"/>
                </a:lnTo>
                <a:close/>
              </a:path>
            </a:pathLst>
          </a:custGeom>
          <a:solidFill>
            <a:srgbClr val="3B82F6"/>
          </a:solidFill>
          <a:ln>
            <a:noFill/>
          </a:ln>
        </p:spPr>
      </p:sp>
      <p:sp>
        <p:nvSpPr>
          <p:cNvPr id="21" name="Freeform 21"/>
          <p:cNvSpPr/>
          <p:nvPr/>
        </p:nvSpPr>
        <p:spPr>
          <a:xfrm>
            <a:off x="2647950" y="1714500"/>
            <a:ext cx="1762125" cy="904875"/>
          </a:xfrm>
          <a:custGeom>
            <a:avLst/>
            <a:gdLst/>
            <a:ahLst/>
            <a:cxnLst/>
            <a:rect l="l" t="t" r="r" b="b"/>
            <a:pathLst>
              <a:path w="1762125" h="904875">
                <a:moveTo>
                  <a:pt x="76200" y="0"/>
                </a:moveTo>
                <a:lnTo>
                  <a:pt x="1685925" y="0"/>
                </a:lnTo>
                <a:cubicBezTo>
                  <a:pt x="1728009" y="0"/>
                  <a:pt x="1762125" y="34116"/>
                  <a:pt x="1762125" y="76200"/>
                </a:cubicBezTo>
                <a:lnTo>
                  <a:pt x="1762125" y="828675"/>
                </a:lnTo>
                <a:cubicBezTo>
                  <a:pt x="1762125" y="870759"/>
                  <a:pt x="1728009" y="904875"/>
                  <a:pt x="1685925" y="904875"/>
                </a:cubicBezTo>
                <a:lnTo>
                  <a:pt x="76200" y="904875"/>
                </a:lnTo>
                <a:cubicBezTo>
                  <a:pt x="34116" y="904875"/>
                  <a:pt x="0" y="870759"/>
                  <a:pt x="0" y="828675"/>
                </a:cubicBezTo>
                <a:lnTo>
                  <a:pt x="0" y="76200"/>
                </a:lnTo>
                <a:cubicBezTo>
                  <a:pt x="0" y="34116"/>
                  <a:pt x="34116" y="0"/>
                  <a:pt x="76200" y="0"/>
                </a:cubicBezTo>
                <a:close/>
              </a:path>
            </a:pathLst>
          </a:custGeom>
          <a:solidFill>
            <a:srgbClr val="EFF6FF"/>
          </a:solidFill>
          <a:ln w="14288">
            <a:solidFill>
              <a:srgbClr val="3B82F6"/>
            </a:solidFill>
          </a:ln>
        </p:spPr>
      </p:sp>
      <p:sp>
        <p:nvSpPr>
          <p:cNvPr id="22" name="Freeform 22"/>
          <p:cNvSpPr/>
          <p:nvPr/>
        </p:nvSpPr>
        <p:spPr>
          <a:xfrm>
            <a:off x="2647950" y="1714500"/>
            <a:ext cx="1762125" cy="266700"/>
          </a:xfrm>
          <a:custGeom>
            <a:avLst/>
            <a:gdLst/>
            <a:ahLst/>
            <a:cxnLst/>
            <a:rect l="l" t="t" r="r" b="b"/>
            <a:pathLst>
              <a:path w="1762125" h="266700">
                <a:moveTo>
                  <a:pt x="76200" y="0"/>
                </a:moveTo>
                <a:lnTo>
                  <a:pt x="1685925" y="0"/>
                </a:lnTo>
                <a:cubicBezTo>
                  <a:pt x="1728009" y="0"/>
                  <a:pt x="1762125" y="34116"/>
                  <a:pt x="1762125" y="76200"/>
                </a:cubicBezTo>
                <a:lnTo>
                  <a:pt x="1762125" y="190500"/>
                </a:lnTo>
                <a:cubicBezTo>
                  <a:pt x="1762125" y="232584"/>
                  <a:pt x="1728009" y="266700"/>
                  <a:pt x="1685925" y="266700"/>
                </a:cubicBezTo>
                <a:lnTo>
                  <a:pt x="76200" y="266700"/>
                </a:lnTo>
                <a:cubicBezTo>
                  <a:pt x="34116" y="266700"/>
                  <a:pt x="0" y="232584"/>
                  <a:pt x="0" y="190500"/>
                </a:cubicBezTo>
                <a:lnTo>
                  <a:pt x="0" y="76200"/>
                </a:lnTo>
                <a:cubicBezTo>
                  <a:pt x="0" y="34116"/>
                  <a:pt x="34116" y="0"/>
                  <a:pt x="76200" y="0"/>
                </a:cubicBezTo>
                <a:close/>
              </a:path>
            </a:pathLst>
          </a:custGeom>
          <a:solidFill>
            <a:srgbClr val="DBEAFE"/>
          </a:solidFill>
          <a:ln>
            <a:noFill/>
          </a:ln>
        </p:spPr>
      </p:sp>
      <p:sp>
        <p:nvSpPr>
          <p:cNvPr id="23" name="TextBox 23"/>
          <p:cNvSpPr txBox="1"/>
          <p:nvPr/>
        </p:nvSpPr>
        <p:spPr>
          <a:xfrm>
            <a:off x="3302344" y="1807845"/>
            <a:ext cx="443813" cy="182880"/>
          </a:xfrm>
          <a:prstGeom prst="rect">
            <a:avLst/>
          </a:prstGeom>
          <a:noFill/>
          <a:ln>
            <a:noFill/>
          </a:ln>
        </p:spPr>
        <p:txBody>
          <a:bodyPr wrap="none" lIns="0" tIns="0" rIns="0" bIns="0" anchor="t" anchorCtr="0">
            <a:spAutoFit/>
          </a:bodyPr>
          <a:lstStyle/>
          <a:p>
            <a:pPr algn="ctr"/>
            <a:r>
              <a:rPr lang="zh-CN" sz="900" b="1" dirty="0">
                <a:solidFill>
                  <a:srgbClr val="1E40AF"/>
                </a:solidFill>
                <a:latin typeface="Arial" panose="020B0704020202020204"/>
                <a:ea typeface="Arial" panose="020B0704020202020204"/>
                <a:cs typeface="Arial" panose="020B0704020202020204"/>
              </a:rPr>
              <a:t>BƯỚC 2</a:t>
            </a:r>
            <a:endParaRPr lang="zh-CN" sz="900" b="1" dirty="0">
              <a:solidFill>
                <a:srgbClr val="1E40AF"/>
              </a:solidFill>
              <a:latin typeface="Arial" panose="020B0704020202020204"/>
              <a:ea typeface="Arial" panose="020B0704020202020204"/>
              <a:cs typeface="Arial" panose="020B0704020202020204"/>
            </a:endParaRPr>
          </a:p>
        </p:txBody>
      </p:sp>
      <p:sp>
        <p:nvSpPr>
          <p:cNvPr id="24" name="TextBox 24"/>
          <p:cNvSpPr txBox="1"/>
          <p:nvPr/>
        </p:nvSpPr>
        <p:spPr>
          <a:xfrm>
            <a:off x="3018456" y="2066449"/>
            <a:ext cx="1011588" cy="198120"/>
          </a:xfrm>
          <a:prstGeom prst="rect">
            <a:avLst/>
          </a:prstGeom>
          <a:noFill/>
          <a:ln>
            <a:noFill/>
          </a:ln>
        </p:spPr>
        <p:txBody>
          <a:bodyPr wrap="none" lIns="0" tIns="0" rIns="0" bIns="0" anchor="t" anchorCtr="0">
            <a:spAutoFit/>
          </a:bodyPr>
          <a:lstStyle/>
          <a:p>
            <a:pPr algn="ctr"/>
            <a:r>
              <a:rPr lang="zh-CN" sz="975" b="1" dirty="0">
                <a:solidFill>
                  <a:srgbClr val="0F172A"/>
                </a:solidFill>
                <a:latin typeface="Arial" panose="020B0704020202020204"/>
                <a:ea typeface="Arial" panose="020B0704020202020204"/>
                <a:cs typeface="Arial" panose="020B0704020202020204"/>
              </a:rPr>
              <a:t>DA_CHAP_NHAN</a:t>
            </a:r>
            <a:endParaRPr lang="zh-CN" sz="975" b="1" dirty="0">
              <a:solidFill>
                <a:srgbClr val="0F172A"/>
              </a:solidFill>
              <a:latin typeface="Arial" panose="020B0704020202020204"/>
              <a:ea typeface="Arial" panose="020B0704020202020204"/>
              <a:cs typeface="Arial" panose="020B0704020202020204"/>
            </a:endParaRPr>
          </a:p>
        </p:txBody>
      </p:sp>
      <p:sp>
        <p:nvSpPr>
          <p:cNvPr id="25" name="TextBox 25"/>
          <p:cNvSpPr txBox="1"/>
          <p:nvPr/>
        </p:nvSpPr>
        <p:spPr>
          <a:xfrm>
            <a:off x="3056662" y="2288143"/>
            <a:ext cx="935176" cy="175260"/>
          </a:xfrm>
          <a:prstGeom prst="rect">
            <a:avLst/>
          </a:prstGeom>
          <a:noFill/>
          <a:ln>
            <a:noFill/>
          </a:ln>
        </p:spPr>
        <p:txBody>
          <a:bodyPr wrap="none" lIns="0" tIns="0" rIns="0" bIns="0" anchor="t" anchorCtr="0">
            <a:spAutoFit/>
          </a:bodyPr>
          <a:lstStyle/>
          <a:p>
            <a:pPr algn="ctr"/>
            <a:r>
              <a:rPr lang="zh-CN" sz="860" dirty="0">
                <a:solidFill>
                  <a:srgbClr val="475569"/>
                </a:solidFill>
                <a:latin typeface="Arial" panose="020B0704020202020204"/>
                <a:ea typeface="Arial" panose="020B0704020202020204"/>
                <a:cs typeface="Arial" panose="020B0704020202020204"/>
              </a:rPr>
              <a:t>Tài xế nhận đơn</a:t>
            </a:r>
            <a:endParaRPr lang="zh-CN" sz="860" dirty="0">
              <a:solidFill>
                <a:srgbClr val="475569"/>
              </a:solidFill>
              <a:latin typeface="Arial" panose="020B0704020202020204"/>
              <a:ea typeface="Arial" panose="020B0704020202020204"/>
              <a:cs typeface="Arial" panose="020B0704020202020204"/>
            </a:endParaRPr>
          </a:p>
        </p:txBody>
      </p:sp>
      <p:sp>
        <p:nvSpPr>
          <p:cNvPr id="26" name="TextBox 26"/>
          <p:cNvSpPr txBox="1"/>
          <p:nvPr/>
        </p:nvSpPr>
        <p:spPr>
          <a:xfrm>
            <a:off x="2860107" y="2444591"/>
            <a:ext cx="1328285" cy="167640"/>
          </a:xfrm>
          <a:prstGeom prst="rect">
            <a:avLst/>
          </a:prstGeom>
          <a:noFill/>
          <a:ln>
            <a:noFill/>
          </a:ln>
        </p:spPr>
        <p:txBody>
          <a:bodyPr wrap="none" lIns="0" tIns="0" rIns="0" bIns="0" anchor="t" anchorCtr="0">
            <a:spAutoFit/>
          </a:bodyPr>
          <a:lstStyle/>
          <a:p>
            <a:pPr algn="ctr"/>
            <a:r>
              <a:rPr lang="zh-CN" sz="825" dirty="0">
                <a:solidFill>
                  <a:srgbClr val="D97706"/>
                </a:solidFill>
                <a:latin typeface="Arial" panose="020B0704020202020204"/>
                <a:ea typeface="Arial" panose="020B0704020202020204"/>
                <a:cs typeface="Arial" panose="020B0704020202020204"/>
              </a:rPr>
              <a:t>Khóa quyền tài xế khác</a:t>
            </a:r>
            <a:endParaRPr lang="zh-CN" sz="825" dirty="0">
              <a:solidFill>
                <a:srgbClr val="D97706"/>
              </a:solidFill>
              <a:latin typeface="Arial" panose="020B0704020202020204"/>
              <a:ea typeface="Arial" panose="020B0704020202020204"/>
              <a:cs typeface="Arial" panose="020B0704020202020204"/>
            </a:endParaRPr>
          </a:p>
        </p:txBody>
      </p:sp>
      <p:sp>
        <p:nvSpPr>
          <p:cNvPr id="27" name="Polygon 27"/>
          <p:cNvSpPr/>
          <p:nvPr/>
        </p:nvSpPr>
        <p:spPr>
          <a:xfrm>
            <a:off x="4476750" y="2114550"/>
            <a:ext cx="133350" cy="57150"/>
          </a:xfrm>
          <a:custGeom>
            <a:avLst/>
            <a:gdLst/>
            <a:ahLst/>
            <a:cxnLst/>
            <a:rect l="l" t="t" r="r" b="b"/>
            <a:pathLst>
              <a:path w="133350" h="57150">
                <a:moveTo>
                  <a:pt x="0" y="57150"/>
                </a:moveTo>
                <a:lnTo>
                  <a:pt x="133350" y="57150"/>
                </a:lnTo>
                <a:lnTo>
                  <a:pt x="76200" y="0"/>
                </a:lnTo>
                <a:close/>
              </a:path>
            </a:pathLst>
          </a:custGeom>
          <a:solidFill>
            <a:srgbClr val="3B82F6"/>
          </a:solidFill>
          <a:ln>
            <a:noFill/>
          </a:ln>
        </p:spPr>
      </p:sp>
      <p:sp>
        <p:nvSpPr>
          <p:cNvPr id="28" name="Polygon 28"/>
          <p:cNvSpPr/>
          <p:nvPr/>
        </p:nvSpPr>
        <p:spPr>
          <a:xfrm>
            <a:off x="4552950" y="2114550"/>
            <a:ext cx="95250" cy="114300"/>
          </a:xfrm>
          <a:custGeom>
            <a:avLst/>
            <a:gdLst/>
            <a:ahLst/>
            <a:cxnLst/>
            <a:rect l="l" t="t" r="r" b="b"/>
            <a:pathLst>
              <a:path w="95250" h="114300">
                <a:moveTo>
                  <a:pt x="0" y="0"/>
                </a:moveTo>
                <a:lnTo>
                  <a:pt x="95250" y="57150"/>
                </a:lnTo>
                <a:lnTo>
                  <a:pt x="0" y="114300"/>
                </a:lnTo>
                <a:close/>
              </a:path>
            </a:pathLst>
          </a:custGeom>
          <a:solidFill>
            <a:srgbClr val="3B82F6"/>
          </a:solidFill>
          <a:ln>
            <a:noFill/>
          </a:ln>
        </p:spPr>
      </p:sp>
      <p:sp>
        <p:nvSpPr>
          <p:cNvPr id="29" name="Freeform 29"/>
          <p:cNvSpPr/>
          <p:nvPr/>
        </p:nvSpPr>
        <p:spPr>
          <a:xfrm>
            <a:off x="4724400" y="1714500"/>
            <a:ext cx="1762125" cy="904875"/>
          </a:xfrm>
          <a:custGeom>
            <a:avLst/>
            <a:gdLst/>
            <a:ahLst/>
            <a:cxnLst/>
            <a:rect l="l" t="t" r="r" b="b"/>
            <a:pathLst>
              <a:path w="1762125" h="904875">
                <a:moveTo>
                  <a:pt x="76200" y="0"/>
                </a:moveTo>
                <a:lnTo>
                  <a:pt x="1685925" y="0"/>
                </a:lnTo>
                <a:cubicBezTo>
                  <a:pt x="1728009" y="0"/>
                  <a:pt x="1762125" y="34116"/>
                  <a:pt x="1762125" y="76200"/>
                </a:cubicBezTo>
                <a:lnTo>
                  <a:pt x="1762125" y="828675"/>
                </a:lnTo>
                <a:cubicBezTo>
                  <a:pt x="1762125" y="870759"/>
                  <a:pt x="1728009" y="904875"/>
                  <a:pt x="1685925" y="904875"/>
                </a:cubicBezTo>
                <a:lnTo>
                  <a:pt x="76200" y="904875"/>
                </a:lnTo>
                <a:cubicBezTo>
                  <a:pt x="34116" y="904875"/>
                  <a:pt x="0" y="870759"/>
                  <a:pt x="0" y="828675"/>
                </a:cubicBezTo>
                <a:lnTo>
                  <a:pt x="0" y="76200"/>
                </a:lnTo>
                <a:cubicBezTo>
                  <a:pt x="0" y="34116"/>
                  <a:pt x="34116" y="0"/>
                  <a:pt x="76200" y="0"/>
                </a:cubicBezTo>
                <a:close/>
              </a:path>
            </a:pathLst>
          </a:custGeom>
          <a:solidFill>
            <a:srgbClr val="FFF7ED"/>
          </a:solidFill>
          <a:ln w="14288">
            <a:solidFill>
              <a:srgbClr val="EA580C"/>
            </a:solidFill>
          </a:ln>
        </p:spPr>
      </p:sp>
      <p:sp>
        <p:nvSpPr>
          <p:cNvPr id="30" name="Freeform 30"/>
          <p:cNvSpPr/>
          <p:nvPr/>
        </p:nvSpPr>
        <p:spPr>
          <a:xfrm>
            <a:off x="4724400" y="1714500"/>
            <a:ext cx="1762125" cy="266700"/>
          </a:xfrm>
          <a:custGeom>
            <a:avLst/>
            <a:gdLst/>
            <a:ahLst/>
            <a:cxnLst/>
            <a:rect l="l" t="t" r="r" b="b"/>
            <a:pathLst>
              <a:path w="1762125" h="266700">
                <a:moveTo>
                  <a:pt x="76200" y="0"/>
                </a:moveTo>
                <a:lnTo>
                  <a:pt x="1685925" y="0"/>
                </a:lnTo>
                <a:cubicBezTo>
                  <a:pt x="1728009" y="0"/>
                  <a:pt x="1762125" y="34116"/>
                  <a:pt x="1762125" y="76200"/>
                </a:cubicBezTo>
                <a:lnTo>
                  <a:pt x="1762125" y="190500"/>
                </a:lnTo>
                <a:cubicBezTo>
                  <a:pt x="1762125" y="232584"/>
                  <a:pt x="1728009" y="266700"/>
                  <a:pt x="1685925" y="266700"/>
                </a:cubicBezTo>
                <a:lnTo>
                  <a:pt x="76200" y="266700"/>
                </a:lnTo>
                <a:cubicBezTo>
                  <a:pt x="34116" y="266700"/>
                  <a:pt x="0" y="232584"/>
                  <a:pt x="0" y="190500"/>
                </a:cubicBezTo>
                <a:lnTo>
                  <a:pt x="0" y="76200"/>
                </a:lnTo>
                <a:cubicBezTo>
                  <a:pt x="0" y="34116"/>
                  <a:pt x="34116" y="0"/>
                  <a:pt x="76200" y="0"/>
                </a:cubicBezTo>
                <a:close/>
              </a:path>
            </a:pathLst>
          </a:custGeom>
          <a:solidFill>
            <a:srgbClr val="FFEDD5"/>
          </a:solidFill>
          <a:ln>
            <a:noFill/>
          </a:ln>
        </p:spPr>
      </p:sp>
      <p:sp>
        <p:nvSpPr>
          <p:cNvPr id="31" name="TextBox 31"/>
          <p:cNvSpPr txBox="1"/>
          <p:nvPr/>
        </p:nvSpPr>
        <p:spPr>
          <a:xfrm>
            <a:off x="5378794" y="1807845"/>
            <a:ext cx="443813" cy="182880"/>
          </a:xfrm>
          <a:prstGeom prst="rect">
            <a:avLst/>
          </a:prstGeom>
          <a:noFill/>
          <a:ln>
            <a:noFill/>
          </a:ln>
        </p:spPr>
        <p:txBody>
          <a:bodyPr wrap="none" lIns="0" tIns="0" rIns="0" bIns="0" anchor="t" anchorCtr="0">
            <a:spAutoFit/>
          </a:bodyPr>
          <a:lstStyle/>
          <a:p>
            <a:pPr algn="ctr"/>
            <a:r>
              <a:rPr lang="zh-CN" sz="900" b="1" dirty="0">
                <a:solidFill>
                  <a:srgbClr val="C2410C"/>
                </a:solidFill>
                <a:latin typeface="Arial" panose="020B0704020202020204"/>
                <a:ea typeface="Arial" panose="020B0704020202020204"/>
                <a:cs typeface="Arial" panose="020B0704020202020204"/>
              </a:rPr>
              <a:t>BƯỚC 3</a:t>
            </a:r>
            <a:endParaRPr lang="zh-CN" sz="900" b="1" dirty="0">
              <a:solidFill>
                <a:srgbClr val="C2410C"/>
              </a:solidFill>
              <a:latin typeface="Arial" panose="020B0704020202020204"/>
              <a:ea typeface="Arial" panose="020B0704020202020204"/>
              <a:cs typeface="Arial" panose="020B0704020202020204"/>
            </a:endParaRPr>
          </a:p>
        </p:txBody>
      </p:sp>
      <p:sp>
        <p:nvSpPr>
          <p:cNvPr id="32" name="TextBox 32"/>
          <p:cNvSpPr txBox="1"/>
          <p:nvPr/>
        </p:nvSpPr>
        <p:spPr>
          <a:xfrm>
            <a:off x="5053788" y="2066449"/>
            <a:ext cx="1093824" cy="198120"/>
          </a:xfrm>
          <a:prstGeom prst="rect">
            <a:avLst/>
          </a:prstGeom>
          <a:noFill/>
          <a:ln>
            <a:noFill/>
          </a:ln>
        </p:spPr>
        <p:txBody>
          <a:bodyPr wrap="none" lIns="0" tIns="0" rIns="0" bIns="0" anchor="t" anchorCtr="0">
            <a:spAutoFit/>
          </a:bodyPr>
          <a:lstStyle/>
          <a:p>
            <a:pPr algn="ctr"/>
            <a:r>
              <a:rPr lang="zh-CN" sz="975" b="1" dirty="0">
                <a:solidFill>
                  <a:srgbClr val="0F172A"/>
                </a:solidFill>
                <a:latin typeface="Arial" panose="020B0704020202020204"/>
                <a:ea typeface="Arial" panose="020B0704020202020204"/>
                <a:cs typeface="Arial" panose="020B0704020202020204"/>
              </a:rPr>
              <a:t>DANG_LAY_HANG</a:t>
            </a:r>
            <a:endParaRPr lang="zh-CN" sz="975" b="1" dirty="0">
              <a:solidFill>
                <a:srgbClr val="0F172A"/>
              </a:solidFill>
              <a:latin typeface="Arial" panose="020B0704020202020204"/>
              <a:ea typeface="Arial" panose="020B0704020202020204"/>
              <a:cs typeface="Arial" panose="020B0704020202020204"/>
            </a:endParaRPr>
          </a:p>
        </p:txBody>
      </p:sp>
      <p:sp>
        <p:nvSpPr>
          <p:cNvPr id="33" name="TextBox 33"/>
          <p:cNvSpPr txBox="1"/>
          <p:nvPr/>
        </p:nvSpPr>
        <p:spPr>
          <a:xfrm>
            <a:off x="5066979" y="2288143"/>
            <a:ext cx="1067443" cy="175260"/>
          </a:xfrm>
          <a:prstGeom prst="rect">
            <a:avLst/>
          </a:prstGeom>
          <a:noFill/>
          <a:ln>
            <a:noFill/>
          </a:ln>
        </p:spPr>
        <p:txBody>
          <a:bodyPr wrap="none" lIns="0" tIns="0" rIns="0" bIns="0" anchor="t" anchorCtr="0">
            <a:spAutoFit/>
          </a:bodyPr>
          <a:lstStyle/>
          <a:p>
            <a:pPr algn="ctr"/>
            <a:r>
              <a:rPr lang="zh-CN" sz="860" dirty="0">
                <a:solidFill>
                  <a:srgbClr val="475569"/>
                </a:solidFill>
                <a:latin typeface="Arial" panose="020B0704020202020204"/>
                <a:ea typeface="Arial" panose="020B0704020202020204"/>
                <a:cs typeface="Arial" panose="020B0704020202020204"/>
              </a:rPr>
              <a:t>Đến điểm lấy hàng</a:t>
            </a:r>
            <a:endParaRPr lang="zh-CN" sz="860" dirty="0">
              <a:solidFill>
                <a:srgbClr val="475569"/>
              </a:solidFill>
              <a:latin typeface="Arial" panose="020B0704020202020204"/>
              <a:ea typeface="Arial" panose="020B0704020202020204"/>
              <a:cs typeface="Arial" panose="020B0704020202020204"/>
            </a:endParaRPr>
          </a:p>
        </p:txBody>
      </p:sp>
      <p:sp>
        <p:nvSpPr>
          <p:cNvPr id="34" name="TextBox 34"/>
          <p:cNvSpPr txBox="1"/>
          <p:nvPr/>
        </p:nvSpPr>
        <p:spPr>
          <a:xfrm>
            <a:off x="4921496" y="2444591"/>
            <a:ext cx="1358408" cy="167640"/>
          </a:xfrm>
          <a:prstGeom prst="rect">
            <a:avLst/>
          </a:prstGeom>
          <a:noFill/>
          <a:ln>
            <a:noFill/>
          </a:ln>
        </p:spPr>
        <p:txBody>
          <a:bodyPr wrap="none" lIns="0" tIns="0" rIns="0" bIns="0" anchor="t" anchorCtr="0">
            <a:spAutoFit/>
          </a:bodyPr>
          <a:lstStyle/>
          <a:p>
            <a:pPr algn="ctr"/>
            <a:r>
              <a:rPr lang="zh-CN" sz="825" dirty="0">
                <a:solidFill>
                  <a:srgbClr val="DC2626"/>
                </a:solidFill>
                <a:latin typeface="Arial" panose="020B0704020202020204"/>
                <a:ea typeface="Arial" panose="020B0704020202020204"/>
                <a:cs typeface="Arial" panose="020B0704020202020204"/>
              </a:rPr>
              <a:t>Khóa nút Hủy của khách</a:t>
            </a:r>
            <a:endParaRPr lang="zh-CN" sz="825" dirty="0">
              <a:solidFill>
                <a:srgbClr val="DC2626"/>
              </a:solidFill>
              <a:latin typeface="Arial" panose="020B0704020202020204"/>
              <a:ea typeface="Arial" panose="020B0704020202020204"/>
              <a:cs typeface="Arial" panose="020B0704020202020204"/>
            </a:endParaRPr>
          </a:p>
        </p:txBody>
      </p:sp>
      <p:sp>
        <p:nvSpPr>
          <p:cNvPr id="35" name="Polygon 35"/>
          <p:cNvSpPr/>
          <p:nvPr/>
        </p:nvSpPr>
        <p:spPr>
          <a:xfrm>
            <a:off x="6553200" y="2114550"/>
            <a:ext cx="133350" cy="57150"/>
          </a:xfrm>
          <a:custGeom>
            <a:avLst/>
            <a:gdLst/>
            <a:ahLst/>
            <a:cxnLst/>
            <a:rect l="l" t="t" r="r" b="b"/>
            <a:pathLst>
              <a:path w="133350" h="57150">
                <a:moveTo>
                  <a:pt x="0" y="57150"/>
                </a:moveTo>
                <a:lnTo>
                  <a:pt x="133350" y="57150"/>
                </a:lnTo>
                <a:lnTo>
                  <a:pt x="76200" y="0"/>
                </a:lnTo>
                <a:close/>
              </a:path>
            </a:pathLst>
          </a:custGeom>
          <a:solidFill>
            <a:srgbClr val="EA580C"/>
          </a:solidFill>
          <a:ln>
            <a:noFill/>
          </a:ln>
        </p:spPr>
      </p:sp>
      <p:sp>
        <p:nvSpPr>
          <p:cNvPr id="36" name="Polygon 36"/>
          <p:cNvSpPr/>
          <p:nvPr/>
        </p:nvSpPr>
        <p:spPr>
          <a:xfrm>
            <a:off x="6629400" y="2114550"/>
            <a:ext cx="95250" cy="114300"/>
          </a:xfrm>
          <a:custGeom>
            <a:avLst/>
            <a:gdLst/>
            <a:ahLst/>
            <a:cxnLst/>
            <a:rect l="l" t="t" r="r" b="b"/>
            <a:pathLst>
              <a:path w="95250" h="114300">
                <a:moveTo>
                  <a:pt x="0" y="0"/>
                </a:moveTo>
                <a:lnTo>
                  <a:pt x="95250" y="57150"/>
                </a:lnTo>
                <a:lnTo>
                  <a:pt x="0" y="114300"/>
                </a:lnTo>
                <a:close/>
              </a:path>
            </a:pathLst>
          </a:custGeom>
          <a:solidFill>
            <a:srgbClr val="EA580C"/>
          </a:solidFill>
          <a:ln>
            <a:noFill/>
          </a:ln>
        </p:spPr>
      </p:sp>
      <p:sp>
        <p:nvSpPr>
          <p:cNvPr id="37" name="Freeform 37"/>
          <p:cNvSpPr/>
          <p:nvPr/>
        </p:nvSpPr>
        <p:spPr>
          <a:xfrm>
            <a:off x="6800850" y="1714500"/>
            <a:ext cx="1762125" cy="904875"/>
          </a:xfrm>
          <a:custGeom>
            <a:avLst/>
            <a:gdLst/>
            <a:ahLst/>
            <a:cxnLst/>
            <a:rect l="l" t="t" r="r" b="b"/>
            <a:pathLst>
              <a:path w="1762125" h="904875">
                <a:moveTo>
                  <a:pt x="76200" y="0"/>
                </a:moveTo>
                <a:lnTo>
                  <a:pt x="1685925" y="0"/>
                </a:lnTo>
                <a:cubicBezTo>
                  <a:pt x="1728009" y="0"/>
                  <a:pt x="1762125" y="34116"/>
                  <a:pt x="1762125" y="76200"/>
                </a:cubicBezTo>
                <a:lnTo>
                  <a:pt x="1762125" y="828675"/>
                </a:lnTo>
                <a:cubicBezTo>
                  <a:pt x="1762125" y="870759"/>
                  <a:pt x="1728009" y="904875"/>
                  <a:pt x="1685925" y="904875"/>
                </a:cubicBezTo>
                <a:lnTo>
                  <a:pt x="76200" y="904875"/>
                </a:lnTo>
                <a:cubicBezTo>
                  <a:pt x="34116" y="904875"/>
                  <a:pt x="0" y="870759"/>
                  <a:pt x="0" y="828675"/>
                </a:cubicBezTo>
                <a:lnTo>
                  <a:pt x="0" y="76200"/>
                </a:lnTo>
                <a:cubicBezTo>
                  <a:pt x="0" y="34116"/>
                  <a:pt x="34116" y="0"/>
                  <a:pt x="76200" y="0"/>
                </a:cubicBezTo>
                <a:close/>
              </a:path>
            </a:pathLst>
          </a:custGeom>
          <a:solidFill>
            <a:srgbClr val="FFF7ED"/>
          </a:solidFill>
          <a:ln w="14288">
            <a:solidFill>
              <a:srgbClr val="EA580C"/>
            </a:solidFill>
          </a:ln>
        </p:spPr>
      </p:sp>
      <p:sp>
        <p:nvSpPr>
          <p:cNvPr id="38" name="Freeform 38"/>
          <p:cNvSpPr/>
          <p:nvPr/>
        </p:nvSpPr>
        <p:spPr>
          <a:xfrm>
            <a:off x="6800850" y="1714500"/>
            <a:ext cx="1762125" cy="266700"/>
          </a:xfrm>
          <a:custGeom>
            <a:avLst/>
            <a:gdLst/>
            <a:ahLst/>
            <a:cxnLst/>
            <a:rect l="l" t="t" r="r" b="b"/>
            <a:pathLst>
              <a:path w="1762125" h="266700">
                <a:moveTo>
                  <a:pt x="76200" y="0"/>
                </a:moveTo>
                <a:lnTo>
                  <a:pt x="1685925" y="0"/>
                </a:lnTo>
                <a:cubicBezTo>
                  <a:pt x="1728009" y="0"/>
                  <a:pt x="1762125" y="34116"/>
                  <a:pt x="1762125" y="76200"/>
                </a:cubicBezTo>
                <a:lnTo>
                  <a:pt x="1762125" y="190500"/>
                </a:lnTo>
                <a:cubicBezTo>
                  <a:pt x="1762125" y="232584"/>
                  <a:pt x="1728009" y="266700"/>
                  <a:pt x="1685925" y="266700"/>
                </a:cubicBezTo>
                <a:lnTo>
                  <a:pt x="76200" y="266700"/>
                </a:lnTo>
                <a:cubicBezTo>
                  <a:pt x="34116" y="266700"/>
                  <a:pt x="0" y="232584"/>
                  <a:pt x="0" y="190500"/>
                </a:cubicBezTo>
                <a:lnTo>
                  <a:pt x="0" y="76200"/>
                </a:lnTo>
                <a:cubicBezTo>
                  <a:pt x="0" y="34116"/>
                  <a:pt x="34116" y="0"/>
                  <a:pt x="76200" y="0"/>
                </a:cubicBezTo>
                <a:close/>
              </a:path>
            </a:pathLst>
          </a:custGeom>
          <a:solidFill>
            <a:srgbClr val="FFEDD5"/>
          </a:solidFill>
          <a:ln>
            <a:noFill/>
          </a:ln>
        </p:spPr>
      </p:sp>
      <p:sp>
        <p:nvSpPr>
          <p:cNvPr id="39" name="TextBox 39"/>
          <p:cNvSpPr txBox="1"/>
          <p:nvPr/>
        </p:nvSpPr>
        <p:spPr>
          <a:xfrm>
            <a:off x="7455244" y="1807845"/>
            <a:ext cx="443813" cy="182880"/>
          </a:xfrm>
          <a:prstGeom prst="rect">
            <a:avLst/>
          </a:prstGeom>
          <a:noFill/>
          <a:ln>
            <a:noFill/>
          </a:ln>
        </p:spPr>
        <p:txBody>
          <a:bodyPr wrap="none" lIns="0" tIns="0" rIns="0" bIns="0" anchor="t" anchorCtr="0">
            <a:spAutoFit/>
          </a:bodyPr>
          <a:lstStyle/>
          <a:p>
            <a:pPr algn="ctr"/>
            <a:r>
              <a:rPr lang="zh-CN" sz="900" b="1" dirty="0">
                <a:solidFill>
                  <a:srgbClr val="C2410C"/>
                </a:solidFill>
                <a:latin typeface="Arial" panose="020B0704020202020204"/>
                <a:ea typeface="Arial" panose="020B0704020202020204"/>
                <a:cs typeface="Arial" panose="020B0704020202020204"/>
              </a:rPr>
              <a:t>BƯỚC 4</a:t>
            </a:r>
            <a:endParaRPr lang="zh-CN" sz="900" b="1" dirty="0">
              <a:solidFill>
                <a:srgbClr val="C2410C"/>
              </a:solidFill>
              <a:latin typeface="Arial" panose="020B0704020202020204"/>
              <a:ea typeface="Arial" panose="020B0704020202020204"/>
              <a:cs typeface="Arial" panose="020B0704020202020204"/>
            </a:endParaRPr>
          </a:p>
        </p:txBody>
      </p:sp>
      <p:sp>
        <p:nvSpPr>
          <p:cNvPr id="40" name="TextBox 40"/>
          <p:cNvSpPr txBox="1"/>
          <p:nvPr/>
        </p:nvSpPr>
        <p:spPr>
          <a:xfrm>
            <a:off x="7298447" y="2066449"/>
            <a:ext cx="757407" cy="198120"/>
          </a:xfrm>
          <a:prstGeom prst="rect">
            <a:avLst/>
          </a:prstGeom>
          <a:noFill/>
          <a:ln>
            <a:noFill/>
          </a:ln>
        </p:spPr>
        <p:txBody>
          <a:bodyPr wrap="none" lIns="0" tIns="0" rIns="0" bIns="0" anchor="t" anchorCtr="0">
            <a:spAutoFit/>
          </a:bodyPr>
          <a:lstStyle/>
          <a:p>
            <a:pPr algn="ctr"/>
            <a:r>
              <a:rPr lang="zh-CN" sz="975" b="1" dirty="0">
                <a:solidFill>
                  <a:srgbClr val="0F172A"/>
                </a:solidFill>
                <a:latin typeface="Arial" panose="020B0704020202020204"/>
                <a:ea typeface="Arial" panose="020B0704020202020204"/>
                <a:cs typeface="Arial" panose="020B0704020202020204"/>
              </a:rPr>
              <a:t>DANG_GIAO</a:t>
            </a:r>
            <a:endParaRPr lang="zh-CN" sz="975" b="1" dirty="0">
              <a:solidFill>
                <a:srgbClr val="0F172A"/>
              </a:solidFill>
              <a:latin typeface="Arial" panose="020B0704020202020204"/>
              <a:ea typeface="Arial" panose="020B0704020202020204"/>
              <a:cs typeface="Arial" panose="020B0704020202020204"/>
            </a:endParaRPr>
          </a:p>
        </p:txBody>
      </p:sp>
      <p:sp>
        <p:nvSpPr>
          <p:cNvPr id="41" name="TextBox 41"/>
          <p:cNvSpPr txBox="1"/>
          <p:nvPr/>
        </p:nvSpPr>
        <p:spPr>
          <a:xfrm>
            <a:off x="7105638" y="2288143"/>
            <a:ext cx="1143024" cy="175260"/>
          </a:xfrm>
          <a:prstGeom prst="rect">
            <a:avLst/>
          </a:prstGeom>
          <a:noFill/>
          <a:ln>
            <a:noFill/>
          </a:ln>
        </p:spPr>
        <p:txBody>
          <a:bodyPr wrap="none" lIns="0" tIns="0" rIns="0" bIns="0" anchor="t" anchorCtr="0">
            <a:spAutoFit/>
          </a:bodyPr>
          <a:lstStyle/>
          <a:p>
            <a:pPr algn="ctr"/>
            <a:r>
              <a:rPr lang="zh-CN" sz="860" dirty="0">
                <a:solidFill>
                  <a:srgbClr val="475569"/>
                </a:solidFill>
                <a:latin typeface="Arial" panose="020B0704020202020204"/>
                <a:ea typeface="Arial" panose="020B0704020202020204"/>
                <a:cs typeface="Arial" panose="020B0704020202020204"/>
              </a:rPr>
              <a:t>Đang trên đường đi</a:t>
            </a:r>
            <a:endParaRPr lang="zh-CN" sz="860" dirty="0">
              <a:solidFill>
                <a:srgbClr val="475569"/>
              </a:solidFill>
              <a:latin typeface="Arial" panose="020B0704020202020204"/>
              <a:ea typeface="Arial" panose="020B0704020202020204"/>
              <a:cs typeface="Arial" panose="020B0704020202020204"/>
            </a:endParaRPr>
          </a:p>
        </p:txBody>
      </p:sp>
      <p:sp>
        <p:nvSpPr>
          <p:cNvPr id="42" name="TextBox 42"/>
          <p:cNvSpPr txBox="1"/>
          <p:nvPr/>
        </p:nvSpPr>
        <p:spPr>
          <a:xfrm>
            <a:off x="6922639" y="2444591"/>
            <a:ext cx="1509022" cy="167640"/>
          </a:xfrm>
          <a:prstGeom prst="rect">
            <a:avLst/>
          </a:prstGeom>
          <a:noFill/>
          <a:ln>
            <a:noFill/>
          </a:ln>
        </p:spPr>
        <p:txBody>
          <a:bodyPr wrap="none" lIns="0" tIns="0" rIns="0" bIns="0" anchor="t" anchorCtr="0">
            <a:spAutoFit/>
          </a:bodyPr>
          <a:lstStyle/>
          <a:p>
            <a:pPr algn="ctr"/>
            <a:r>
              <a:rPr lang="zh-CN" sz="825" dirty="0">
                <a:solidFill>
                  <a:srgbClr val="0066CC"/>
                </a:solidFill>
                <a:latin typeface="Arial" panose="020B0704020202020204"/>
                <a:ea typeface="Arial" panose="020B0704020202020204"/>
                <a:cs typeface="Arial" panose="020B0704020202020204"/>
              </a:rPr>
              <a:t>Mở Google Maps dẫn đường</a:t>
            </a:r>
            <a:endParaRPr lang="zh-CN" sz="825" dirty="0">
              <a:solidFill>
                <a:srgbClr val="0066CC"/>
              </a:solidFill>
              <a:latin typeface="Arial" panose="020B0704020202020204"/>
              <a:ea typeface="Arial" panose="020B0704020202020204"/>
              <a:cs typeface="Arial" panose="020B0704020202020204"/>
            </a:endParaRPr>
          </a:p>
        </p:txBody>
      </p:sp>
      <p:sp>
        <p:nvSpPr>
          <p:cNvPr id="43" name="Polygon 43"/>
          <p:cNvSpPr/>
          <p:nvPr/>
        </p:nvSpPr>
        <p:spPr>
          <a:xfrm>
            <a:off x="8629650" y="2114550"/>
            <a:ext cx="133350" cy="57150"/>
          </a:xfrm>
          <a:custGeom>
            <a:avLst/>
            <a:gdLst/>
            <a:ahLst/>
            <a:cxnLst/>
            <a:rect l="l" t="t" r="r" b="b"/>
            <a:pathLst>
              <a:path w="133350" h="57150">
                <a:moveTo>
                  <a:pt x="0" y="57150"/>
                </a:moveTo>
                <a:lnTo>
                  <a:pt x="133350" y="57150"/>
                </a:lnTo>
                <a:lnTo>
                  <a:pt x="76200" y="0"/>
                </a:lnTo>
                <a:close/>
              </a:path>
            </a:pathLst>
          </a:custGeom>
          <a:solidFill>
            <a:srgbClr val="16A34A"/>
          </a:solidFill>
          <a:ln>
            <a:noFill/>
          </a:ln>
        </p:spPr>
      </p:sp>
      <p:sp>
        <p:nvSpPr>
          <p:cNvPr id="44" name="Polygon 44"/>
          <p:cNvSpPr/>
          <p:nvPr/>
        </p:nvSpPr>
        <p:spPr>
          <a:xfrm>
            <a:off x="8705850" y="2114550"/>
            <a:ext cx="95250" cy="114300"/>
          </a:xfrm>
          <a:custGeom>
            <a:avLst/>
            <a:gdLst/>
            <a:ahLst/>
            <a:cxnLst/>
            <a:rect l="l" t="t" r="r" b="b"/>
            <a:pathLst>
              <a:path w="95250" h="114300">
                <a:moveTo>
                  <a:pt x="0" y="0"/>
                </a:moveTo>
                <a:lnTo>
                  <a:pt x="95250" y="57150"/>
                </a:lnTo>
                <a:lnTo>
                  <a:pt x="0" y="114300"/>
                </a:lnTo>
                <a:close/>
              </a:path>
            </a:pathLst>
          </a:custGeom>
          <a:solidFill>
            <a:srgbClr val="16A34A"/>
          </a:solidFill>
          <a:ln>
            <a:noFill/>
          </a:ln>
        </p:spPr>
      </p:sp>
      <p:sp>
        <p:nvSpPr>
          <p:cNvPr id="45" name="Freeform 45"/>
          <p:cNvSpPr/>
          <p:nvPr/>
        </p:nvSpPr>
        <p:spPr>
          <a:xfrm>
            <a:off x="8877300" y="1714500"/>
            <a:ext cx="1762125" cy="904875"/>
          </a:xfrm>
          <a:custGeom>
            <a:avLst/>
            <a:gdLst/>
            <a:ahLst/>
            <a:cxnLst/>
            <a:rect l="l" t="t" r="r" b="b"/>
            <a:pathLst>
              <a:path w="1762125" h="904875">
                <a:moveTo>
                  <a:pt x="76200" y="0"/>
                </a:moveTo>
                <a:lnTo>
                  <a:pt x="1685925" y="0"/>
                </a:lnTo>
                <a:cubicBezTo>
                  <a:pt x="1728009" y="0"/>
                  <a:pt x="1762125" y="34116"/>
                  <a:pt x="1762125" y="76200"/>
                </a:cubicBezTo>
                <a:lnTo>
                  <a:pt x="1762125" y="828675"/>
                </a:lnTo>
                <a:cubicBezTo>
                  <a:pt x="1762125" y="870759"/>
                  <a:pt x="1728009" y="904875"/>
                  <a:pt x="1685925" y="904875"/>
                </a:cubicBezTo>
                <a:lnTo>
                  <a:pt x="76200" y="904875"/>
                </a:lnTo>
                <a:cubicBezTo>
                  <a:pt x="34116" y="904875"/>
                  <a:pt x="0" y="870759"/>
                  <a:pt x="0" y="828675"/>
                </a:cubicBezTo>
                <a:lnTo>
                  <a:pt x="0" y="76200"/>
                </a:lnTo>
                <a:cubicBezTo>
                  <a:pt x="0" y="34116"/>
                  <a:pt x="34116" y="0"/>
                  <a:pt x="76200" y="0"/>
                </a:cubicBezTo>
                <a:close/>
              </a:path>
            </a:pathLst>
          </a:custGeom>
          <a:solidFill>
            <a:srgbClr val="F0FDF4"/>
          </a:solidFill>
          <a:ln w="14288">
            <a:solidFill>
              <a:srgbClr val="16A34A"/>
            </a:solidFill>
          </a:ln>
        </p:spPr>
      </p:sp>
      <p:sp>
        <p:nvSpPr>
          <p:cNvPr id="46" name="Freeform 46"/>
          <p:cNvSpPr/>
          <p:nvPr/>
        </p:nvSpPr>
        <p:spPr>
          <a:xfrm>
            <a:off x="8877300" y="1714500"/>
            <a:ext cx="1762125" cy="266700"/>
          </a:xfrm>
          <a:custGeom>
            <a:avLst/>
            <a:gdLst/>
            <a:ahLst/>
            <a:cxnLst/>
            <a:rect l="l" t="t" r="r" b="b"/>
            <a:pathLst>
              <a:path w="1762125" h="266700">
                <a:moveTo>
                  <a:pt x="76200" y="0"/>
                </a:moveTo>
                <a:lnTo>
                  <a:pt x="1685925" y="0"/>
                </a:lnTo>
                <a:cubicBezTo>
                  <a:pt x="1728009" y="0"/>
                  <a:pt x="1762125" y="34116"/>
                  <a:pt x="1762125" y="76200"/>
                </a:cubicBezTo>
                <a:lnTo>
                  <a:pt x="1762125" y="190500"/>
                </a:lnTo>
                <a:cubicBezTo>
                  <a:pt x="1762125" y="232584"/>
                  <a:pt x="1728009" y="266700"/>
                  <a:pt x="1685925" y="266700"/>
                </a:cubicBezTo>
                <a:lnTo>
                  <a:pt x="76200" y="266700"/>
                </a:lnTo>
                <a:cubicBezTo>
                  <a:pt x="34116" y="266700"/>
                  <a:pt x="0" y="232584"/>
                  <a:pt x="0" y="190500"/>
                </a:cubicBezTo>
                <a:lnTo>
                  <a:pt x="0" y="76200"/>
                </a:lnTo>
                <a:cubicBezTo>
                  <a:pt x="0" y="34116"/>
                  <a:pt x="34116" y="0"/>
                  <a:pt x="76200" y="0"/>
                </a:cubicBezTo>
                <a:close/>
              </a:path>
            </a:pathLst>
          </a:custGeom>
          <a:solidFill>
            <a:srgbClr val="DCFCE7"/>
          </a:solidFill>
          <a:ln>
            <a:noFill/>
          </a:ln>
        </p:spPr>
      </p:sp>
      <p:sp>
        <p:nvSpPr>
          <p:cNvPr id="47" name="TextBox 47"/>
          <p:cNvSpPr txBox="1"/>
          <p:nvPr/>
        </p:nvSpPr>
        <p:spPr>
          <a:xfrm>
            <a:off x="9366073" y="1807845"/>
            <a:ext cx="775054" cy="182880"/>
          </a:xfrm>
          <a:prstGeom prst="rect">
            <a:avLst/>
          </a:prstGeom>
          <a:noFill/>
          <a:ln>
            <a:noFill/>
          </a:ln>
        </p:spPr>
        <p:txBody>
          <a:bodyPr wrap="none" lIns="0" tIns="0" rIns="0" bIns="0" anchor="t" anchorCtr="0">
            <a:spAutoFit/>
          </a:bodyPr>
          <a:lstStyle/>
          <a:p>
            <a:pPr algn="ctr"/>
            <a:r>
              <a:rPr lang="zh-CN" sz="900" b="1" dirty="0">
                <a:solidFill>
                  <a:srgbClr val="15803D"/>
                </a:solidFill>
                <a:latin typeface="Arial" panose="020B0704020202020204"/>
                <a:ea typeface="Arial" panose="020B0704020202020204"/>
                <a:cs typeface="Arial" panose="020B0704020202020204"/>
              </a:rPr>
              <a:t>HOÀN THÀNH</a:t>
            </a:r>
            <a:endParaRPr lang="zh-CN" sz="900" b="1" dirty="0">
              <a:solidFill>
                <a:srgbClr val="15803D"/>
              </a:solidFill>
              <a:latin typeface="Arial" panose="020B0704020202020204"/>
              <a:ea typeface="Arial" panose="020B0704020202020204"/>
              <a:cs typeface="Arial" panose="020B0704020202020204"/>
            </a:endParaRPr>
          </a:p>
        </p:txBody>
      </p:sp>
      <p:sp>
        <p:nvSpPr>
          <p:cNvPr id="48" name="TextBox 48"/>
          <p:cNvSpPr txBox="1"/>
          <p:nvPr/>
        </p:nvSpPr>
        <p:spPr>
          <a:xfrm>
            <a:off x="9457132" y="2066449"/>
            <a:ext cx="592936" cy="198120"/>
          </a:xfrm>
          <a:prstGeom prst="rect">
            <a:avLst/>
          </a:prstGeom>
          <a:noFill/>
          <a:ln>
            <a:noFill/>
          </a:ln>
        </p:spPr>
        <p:txBody>
          <a:bodyPr wrap="none" lIns="0" tIns="0" rIns="0" bIns="0" anchor="t" anchorCtr="0">
            <a:spAutoFit/>
          </a:bodyPr>
          <a:lstStyle/>
          <a:p>
            <a:pPr algn="ctr"/>
            <a:r>
              <a:rPr lang="zh-CN" sz="975" b="1" dirty="0">
                <a:solidFill>
                  <a:srgbClr val="0F172A"/>
                </a:solidFill>
                <a:latin typeface="Arial" panose="020B0704020202020204"/>
                <a:ea typeface="Arial" panose="020B0704020202020204"/>
                <a:cs typeface="Arial" panose="020B0704020202020204"/>
              </a:rPr>
              <a:t>DA_GIAO</a:t>
            </a:r>
            <a:endParaRPr lang="zh-CN" sz="975" b="1" dirty="0">
              <a:solidFill>
                <a:srgbClr val="0F172A"/>
              </a:solidFill>
              <a:latin typeface="Arial" panose="020B0704020202020204"/>
              <a:ea typeface="Arial" panose="020B0704020202020204"/>
              <a:cs typeface="Arial" panose="020B0704020202020204"/>
            </a:endParaRPr>
          </a:p>
        </p:txBody>
      </p:sp>
      <p:sp>
        <p:nvSpPr>
          <p:cNvPr id="49" name="TextBox 49"/>
          <p:cNvSpPr txBox="1"/>
          <p:nvPr/>
        </p:nvSpPr>
        <p:spPr>
          <a:xfrm>
            <a:off x="9200983" y="2288143"/>
            <a:ext cx="1105233" cy="175260"/>
          </a:xfrm>
          <a:prstGeom prst="rect">
            <a:avLst/>
          </a:prstGeom>
          <a:noFill/>
          <a:ln>
            <a:noFill/>
          </a:ln>
        </p:spPr>
        <p:txBody>
          <a:bodyPr wrap="none" lIns="0" tIns="0" rIns="0" bIns="0" anchor="t" anchorCtr="0">
            <a:spAutoFit/>
          </a:bodyPr>
          <a:lstStyle/>
          <a:p>
            <a:pPr algn="ctr"/>
            <a:r>
              <a:rPr lang="zh-CN" sz="860" dirty="0">
                <a:solidFill>
                  <a:srgbClr val="475569"/>
                </a:solidFill>
                <a:latin typeface="Arial" panose="020B0704020202020204"/>
                <a:ea typeface="Arial" panose="020B0704020202020204"/>
                <a:cs typeface="Arial" panose="020B0704020202020204"/>
              </a:rPr>
              <a:t>Chụp ảnh xác nhận</a:t>
            </a:r>
            <a:endParaRPr lang="zh-CN" sz="860" dirty="0">
              <a:solidFill>
                <a:srgbClr val="475569"/>
              </a:solidFill>
              <a:latin typeface="Arial" panose="020B0704020202020204"/>
              <a:ea typeface="Arial" panose="020B0704020202020204"/>
              <a:cs typeface="Arial" panose="020B0704020202020204"/>
            </a:endParaRPr>
          </a:p>
        </p:txBody>
      </p:sp>
      <p:sp>
        <p:nvSpPr>
          <p:cNvPr id="50" name="TextBox 50"/>
          <p:cNvSpPr txBox="1"/>
          <p:nvPr/>
        </p:nvSpPr>
        <p:spPr>
          <a:xfrm>
            <a:off x="9110543" y="2444591"/>
            <a:ext cx="1286113" cy="167640"/>
          </a:xfrm>
          <a:prstGeom prst="rect">
            <a:avLst/>
          </a:prstGeom>
          <a:noFill/>
          <a:ln>
            <a:noFill/>
          </a:ln>
        </p:spPr>
        <p:txBody>
          <a:bodyPr wrap="none" lIns="0" tIns="0" rIns="0" bIns="0" anchor="t" anchorCtr="0">
            <a:spAutoFit/>
          </a:bodyPr>
          <a:lstStyle/>
          <a:p>
            <a:pPr algn="ctr"/>
            <a:r>
              <a:rPr lang="zh-CN" sz="825" dirty="0">
                <a:solidFill>
                  <a:srgbClr val="15803D"/>
                </a:solidFill>
                <a:latin typeface="Arial" panose="020B0704020202020204"/>
                <a:ea typeface="Arial" panose="020B0704020202020204"/>
                <a:cs typeface="Arial" panose="020B0704020202020204"/>
              </a:rPr>
              <a:t>Mở tính năng Đánh giá</a:t>
            </a:r>
            <a:endParaRPr lang="zh-CN" sz="825" dirty="0">
              <a:solidFill>
                <a:srgbClr val="15803D"/>
              </a:solidFill>
              <a:latin typeface="Arial" panose="020B0704020202020204"/>
              <a:ea typeface="Arial" panose="020B0704020202020204"/>
              <a:cs typeface="Arial" panose="020B0704020202020204"/>
            </a:endParaRPr>
          </a:p>
        </p:txBody>
      </p:sp>
      <p:sp>
        <p:nvSpPr>
          <p:cNvPr id="51" name="Freeform 51"/>
          <p:cNvSpPr/>
          <p:nvPr/>
        </p:nvSpPr>
        <p:spPr>
          <a:xfrm>
            <a:off x="571500" y="2762250"/>
            <a:ext cx="1762125" cy="457200"/>
          </a:xfrm>
          <a:custGeom>
            <a:avLst/>
            <a:gdLst/>
            <a:ahLst/>
            <a:cxnLst/>
            <a:rect l="l" t="t" r="r" b="b"/>
            <a:pathLst>
              <a:path w="1762125" h="457200">
                <a:moveTo>
                  <a:pt x="57150" y="0"/>
                </a:moveTo>
                <a:lnTo>
                  <a:pt x="1704975" y="0"/>
                </a:lnTo>
                <a:cubicBezTo>
                  <a:pt x="1736538" y="0"/>
                  <a:pt x="1762125" y="25587"/>
                  <a:pt x="1762125" y="57150"/>
                </a:cubicBezTo>
                <a:lnTo>
                  <a:pt x="1762125" y="400050"/>
                </a:lnTo>
                <a:cubicBezTo>
                  <a:pt x="1762125" y="431613"/>
                  <a:pt x="1736538" y="457200"/>
                  <a:pt x="1704975" y="457200"/>
                </a:cubicBezTo>
                <a:lnTo>
                  <a:pt x="57150" y="457200"/>
                </a:lnTo>
                <a:cubicBezTo>
                  <a:pt x="25587" y="457200"/>
                  <a:pt x="0" y="431613"/>
                  <a:pt x="0" y="400050"/>
                </a:cubicBezTo>
                <a:lnTo>
                  <a:pt x="0" y="57150"/>
                </a:lnTo>
                <a:cubicBezTo>
                  <a:pt x="0" y="25587"/>
                  <a:pt x="25587" y="0"/>
                  <a:pt x="57150" y="0"/>
                </a:cubicBezTo>
                <a:close/>
              </a:path>
            </a:pathLst>
          </a:custGeom>
          <a:solidFill>
            <a:srgbClr val="FEF2F2"/>
          </a:solidFill>
          <a:ln w="9525">
            <a:solidFill>
              <a:srgbClr val="FECACA"/>
            </a:solidFill>
          </a:ln>
        </p:spPr>
      </p:sp>
      <p:sp>
        <p:nvSpPr>
          <p:cNvPr id="52" name="TextBox 52"/>
          <p:cNvSpPr txBox="1"/>
          <p:nvPr/>
        </p:nvSpPr>
        <p:spPr>
          <a:xfrm>
            <a:off x="729032" y="2874645"/>
            <a:ext cx="1437537" cy="182880"/>
          </a:xfrm>
          <a:prstGeom prst="rect">
            <a:avLst/>
          </a:prstGeom>
          <a:noFill/>
          <a:ln>
            <a:noFill/>
          </a:ln>
        </p:spPr>
        <p:txBody>
          <a:bodyPr wrap="none" lIns="0" tIns="0" rIns="0" bIns="0" anchor="t" anchorCtr="0">
            <a:spAutoFit/>
          </a:bodyPr>
          <a:lstStyle/>
          <a:p>
            <a:pPr algn="ctr"/>
            <a:r>
              <a:rPr lang="zh-CN" sz="900" b="1" dirty="0">
                <a:solidFill>
                  <a:srgbClr val="B91C1C"/>
                </a:solidFill>
                <a:latin typeface="Arial" panose="020B0704020202020204"/>
                <a:ea typeface="Arial" panose="020B0704020202020204"/>
                <a:cs typeface="Arial" panose="020B0704020202020204"/>
              </a:rPr>
              <a:t>➔ DA_HUY (Khách hủy)</a:t>
            </a:r>
            <a:endParaRPr lang="zh-CN" sz="900" b="1" dirty="0">
              <a:solidFill>
                <a:srgbClr val="B91C1C"/>
              </a:solidFill>
              <a:latin typeface="Arial" panose="020B0704020202020204"/>
              <a:ea typeface="Arial" panose="020B0704020202020204"/>
              <a:cs typeface="Arial" panose="020B0704020202020204"/>
            </a:endParaRPr>
          </a:p>
        </p:txBody>
      </p:sp>
      <p:sp>
        <p:nvSpPr>
          <p:cNvPr id="53" name="TextBox 53"/>
          <p:cNvSpPr txBox="1"/>
          <p:nvPr/>
        </p:nvSpPr>
        <p:spPr>
          <a:xfrm>
            <a:off x="479417" y="3035141"/>
            <a:ext cx="1936766" cy="167640"/>
          </a:xfrm>
          <a:prstGeom prst="rect">
            <a:avLst/>
          </a:prstGeom>
          <a:noFill/>
          <a:ln>
            <a:noFill/>
          </a:ln>
        </p:spPr>
        <p:txBody>
          <a:bodyPr wrap="none" lIns="0" tIns="0" rIns="0" bIns="0" anchor="t" anchorCtr="0">
            <a:spAutoFit/>
          </a:bodyPr>
          <a:lstStyle/>
          <a:p>
            <a:pPr algn="ctr"/>
            <a:r>
              <a:rPr lang="zh-CN" sz="825" dirty="0">
                <a:solidFill>
                  <a:srgbClr val="7F1D1D"/>
                </a:solidFill>
                <a:latin typeface="Arial" panose="020B0704020202020204"/>
                <a:ea typeface="Arial" panose="020B0704020202020204"/>
                <a:cs typeface="Arial" panose="020B0704020202020204"/>
              </a:rPr>
              <a:t>Chỉ hợp lệ khi đơn chưa được nhận</a:t>
            </a:r>
            <a:endParaRPr lang="zh-CN" sz="825" dirty="0">
              <a:solidFill>
                <a:srgbClr val="7F1D1D"/>
              </a:solidFill>
              <a:latin typeface="Arial" panose="020B0704020202020204"/>
              <a:ea typeface="Arial" panose="020B0704020202020204"/>
              <a:cs typeface="Arial" panose="020B0704020202020204"/>
            </a:endParaRPr>
          </a:p>
        </p:txBody>
      </p:sp>
      <p:sp>
        <p:nvSpPr>
          <p:cNvPr id="54" name="Freeform 54"/>
          <p:cNvSpPr/>
          <p:nvPr/>
        </p:nvSpPr>
        <p:spPr>
          <a:xfrm>
            <a:off x="381000" y="3476625"/>
            <a:ext cx="5572125" cy="2667000"/>
          </a:xfrm>
          <a:custGeom>
            <a:avLst/>
            <a:gdLst/>
            <a:ahLst/>
            <a:cxnLst/>
            <a:rect l="l" t="t" r="r" b="b"/>
            <a:pathLst>
              <a:path w="5572125" h="2667000">
                <a:moveTo>
                  <a:pt x="95250" y="0"/>
                </a:moveTo>
                <a:lnTo>
                  <a:pt x="5476875" y="0"/>
                </a:lnTo>
                <a:cubicBezTo>
                  <a:pt x="5529480" y="0"/>
                  <a:pt x="5572125" y="42645"/>
                  <a:pt x="5572125" y="95250"/>
                </a:cubicBezTo>
                <a:lnTo>
                  <a:pt x="5572125" y="2571750"/>
                </a:lnTo>
                <a:cubicBezTo>
                  <a:pt x="5572125" y="2624355"/>
                  <a:pt x="5529480" y="2667000"/>
                  <a:pt x="5476875" y="2667000"/>
                </a:cubicBezTo>
                <a:lnTo>
                  <a:pt x="95250" y="2667000"/>
                </a:lnTo>
                <a:cubicBezTo>
                  <a:pt x="42645" y="2667000"/>
                  <a:pt x="0" y="2624355"/>
                  <a:pt x="0" y="2571750"/>
                </a:cubicBezTo>
                <a:lnTo>
                  <a:pt x="0" y="95250"/>
                </a:lnTo>
                <a:cubicBezTo>
                  <a:pt x="0" y="42645"/>
                  <a:pt x="42645" y="0"/>
                  <a:pt x="95250" y="0"/>
                </a:cubicBezTo>
                <a:close/>
              </a:path>
            </a:pathLst>
          </a:custGeom>
          <a:solidFill>
            <a:srgbClr val="FFFFFF"/>
          </a:solidFill>
          <a:ln w="14288">
            <a:solidFill>
              <a:srgbClr val="E2E8F0"/>
            </a:solidFill>
          </a:ln>
        </p:spPr>
      </p:sp>
      <p:sp>
        <p:nvSpPr>
          <p:cNvPr id="55" name="Freeform 55"/>
          <p:cNvSpPr/>
          <p:nvPr/>
        </p:nvSpPr>
        <p:spPr>
          <a:xfrm>
            <a:off x="381000" y="3476625"/>
            <a:ext cx="5572125" cy="400050"/>
          </a:xfrm>
          <a:custGeom>
            <a:avLst/>
            <a:gdLst/>
            <a:ahLst/>
            <a:cxnLst/>
            <a:rect l="l" t="t" r="r" b="b"/>
            <a:pathLst>
              <a:path w="5572125" h="400050">
                <a:moveTo>
                  <a:pt x="95250" y="0"/>
                </a:moveTo>
                <a:lnTo>
                  <a:pt x="5476875" y="0"/>
                </a:lnTo>
                <a:cubicBezTo>
                  <a:pt x="5529480" y="0"/>
                  <a:pt x="5572125" y="42645"/>
                  <a:pt x="5572125" y="95250"/>
                </a:cubicBezTo>
                <a:lnTo>
                  <a:pt x="5572125" y="304800"/>
                </a:lnTo>
                <a:cubicBezTo>
                  <a:pt x="5572125" y="357405"/>
                  <a:pt x="5529480" y="400050"/>
                  <a:pt x="5476875" y="400050"/>
                </a:cubicBezTo>
                <a:lnTo>
                  <a:pt x="95250" y="400050"/>
                </a:lnTo>
                <a:cubicBezTo>
                  <a:pt x="42645" y="400050"/>
                  <a:pt x="0" y="357405"/>
                  <a:pt x="0" y="304800"/>
                </a:cubicBezTo>
                <a:lnTo>
                  <a:pt x="0" y="95250"/>
                </a:lnTo>
                <a:cubicBezTo>
                  <a:pt x="0" y="42645"/>
                  <a:pt x="42645" y="0"/>
                  <a:pt x="95250" y="0"/>
                </a:cubicBezTo>
                <a:close/>
              </a:path>
            </a:pathLst>
          </a:custGeom>
          <a:solidFill>
            <a:srgbClr val="F1F5F9"/>
          </a:solidFill>
          <a:ln>
            <a:noFill/>
          </a:ln>
        </p:spPr>
      </p:sp>
      <p:sp>
        <p:nvSpPr>
          <p:cNvPr id="56" name="Freeform 56"/>
          <p:cNvSpPr/>
          <p:nvPr/>
        </p:nvSpPr>
        <p:spPr>
          <a:xfrm>
            <a:off x="571500" y="3617119"/>
            <a:ext cx="190500" cy="119062"/>
          </a:xfrm>
          <a:custGeom>
            <a:avLst/>
            <a:gdLst/>
            <a:ahLst/>
            <a:cxnLst/>
            <a:rect l="l" t="t" r="r" b="b"/>
            <a:pathLst>
              <a:path w="190500" h="119062">
                <a:moveTo>
                  <a:pt x="71438" y="71438"/>
                </a:moveTo>
                <a:lnTo>
                  <a:pt x="71438" y="119062"/>
                </a:lnTo>
                <a:lnTo>
                  <a:pt x="59531" y="119062"/>
                </a:lnTo>
                <a:lnTo>
                  <a:pt x="0" y="59531"/>
                </a:lnTo>
                <a:lnTo>
                  <a:pt x="59531" y="0"/>
                </a:lnTo>
                <a:lnTo>
                  <a:pt x="71438" y="0"/>
                </a:lnTo>
                <a:lnTo>
                  <a:pt x="71438" y="47625"/>
                </a:lnTo>
                <a:lnTo>
                  <a:pt x="119063" y="47625"/>
                </a:lnTo>
                <a:lnTo>
                  <a:pt x="119063" y="0"/>
                </a:lnTo>
                <a:lnTo>
                  <a:pt x="130969" y="0"/>
                </a:lnTo>
                <a:lnTo>
                  <a:pt x="190500" y="59531"/>
                </a:lnTo>
                <a:lnTo>
                  <a:pt x="130969" y="119062"/>
                </a:lnTo>
                <a:lnTo>
                  <a:pt x="119063" y="119062"/>
                </a:lnTo>
                <a:lnTo>
                  <a:pt x="119063" y="71438"/>
                </a:lnTo>
                <a:lnTo>
                  <a:pt x="71438" y="71438"/>
                </a:lnTo>
                <a:close/>
              </a:path>
            </a:pathLst>
          </a:custGeom>
          <a:solidFill>
            <a:srgbClr val="003366"/>
          </a:solidFill>
          <a:ln>
            <a:noFill/>
          </a:ln>
        </p:spPr>
      </p:sp>
      <p:sp>
        <p:nvSpPr>
          <p:cNvPr id="57" name="TextBox 57"/>
          <p:cNvSpPr txBox="1"/>
          <p:nvPr/>
        </p:nvSpPr>
        <p:spPr>
          <a:xfrm>
            <a:off x="842010" y="3604260"/>
            <a:ext cx="4667860" cy="243840"/>
          </a:xfrm>
          <a:prstGeom prst="rect">
            <a:avLst/>
          </a:prstGeom>
          <a:noFill/>
          <a:ln>
            <a:noFill/>
          </a:ln>
        </p:spPr>
        <p:txBody>
          <a:bodyPr wrap="none" lIns="0" tIns="0" rIns="0" bIns="0" anchor="t" anchorCtr="0">
            <a:spAutoFit/>
          </a:bodyPr>
          <a:lstStyle/>
          <a:p>
            <a:pPr algn="l"/>
            <a:r>
              <a:rPr lang="zh-CN" sz="1200" b="1" dirty="0">
                <a:solidFill>
                  <a:srgbClr val="003366"/>
                </a:solidFill>
                <a:latin typeface="Arial" panose="020B0704020202020204"/>
                <a:ea typeface="Arial" panose="020B0704020202020204"/>
                <a:cs typeface="Arial" panose="020B0704020202020204"/>
              </a:rPr>
              <a:t>Giải quyết tranh chấp nhận đơn (Optimistic Locking)</a:t>
            </a:r>
            <a:endParaRPr lang="zh-CN" sz="1200" b="1" dirty="0">
              <a:solidFill>
                <a:srgbClr val="003366"/>
              </a:solidFill>
              <a:latin typeface="Arial" panose="020B0704020202020204"/>
              <a:ea typeface="Arial" panose="020B0704020202020204"/>
              <a:cs typeface="Arial" panose="020B0704020202020204"/>
            </a:endParaRPr>
          </a:p>
        </p:txBody>
      </p:sp>
      <p:sp>
        <p:nvSpPr>
          <p:cNvPr id="58" name="Freeform 58"/>
          <p:cNvSpPr/>
          <p:nvPr/>
        </p:nvSpPr>
        <p:spPr>
          <a:xfrm>
            <a:off x="571500" y="4000500"/>
            <a:ext cx="5191125" cy="619125"/>
          </a:xfrm>
          <a:custGeom>
            <a:avLst/>
            <a:gdLst/>
            <a:ahLst/>
            <a:cxnLst/>
            <a:rect l="l" t="t" r="r" b="b"/>
            <a:pathLst>
              <a:path w="5191125" h="619125">
                <a:moveTo>
                  <a:pt x="57150" y="0"/>
                </a:moveTo>
                <a:lnTo>
                  <a:pt x="5133975" y="0"/>
                </a:lnTo>
                <a:cubicBezTo>
                  <a:pt x="5165538" y="0"/>
                  <a:pt x="5191125" y="25587"/>
                  <a:pt x="5191125" y="57150"/>
                </a:cubicBezTo>
                <a:lnTo>
                  <a:pt x="5191125" y="561975"/>
                </a:lnTo>
                <a:cubicBezTo>
                  <a:pt x="5191125" y="593538"/>
                  <a:pt x="5165538" y="619125"/>
                  <a:pt x="5133975" y="619125"/>
                </a:cubicBezTo>
                <a:lnTo>
                  <a:pt x="57150" y="619125"/>
                </a:lnTo>
                <a:cubicBezTo>
                  <a:pt x="25587" y="619125"/>
                  <a:pt x="0" y="593538"/>
                  <a:pt x="0" y="561975"/>
                </a:cubicBezTo>
                <a:lnTo>
                  <a:pt x="0" y="57150"/>
                </a:lnTo>
                <a:cubicBezTo>
                  <a:pt x="0" y="25587"/>
                  <a:pt x="25587" y="0"/>
                  <a:pt x="57150" y="0"/>
                </a:cubicBezTo>
                <a:close/>
              </a:path>
            </a:pathLst>
          </a:custGeom>
          <a:solidFill>
            <a:srgbClr val="F8FAFC"/>
          </a:solidFill>
          <a:ln w="9525">
            <a:solidFill>
              <a:srgbClr val="E2E8F0"/>
            </a:solidFill>
          </a:ln>
        </p:spPr>
      </p:sp>
      <p:sp>
        <p:nvSpPr>
          <p:cNvPr id="59" name="TextBox 59"/>
          <p:cNvSpPr txBox="1"/>
          <p:nvPr/>
        </p:nvSpPr>
        <p:spPr>
          <a:xfrm>
            <a:off x="701040" y="4096702"/>
            <a:ext cx="3158511" cy="213360"/>
          </a:xfrm>
          <a:prstGeom prst="rect">
            <a:avLst/>
          </a:prstGeom>
          <a:noFill/>
          <a:ln>
            <a:noFill/>
          </a:ln>
        </p:spPr>
        <p:txBody>
          <a:bodyPr wrap="none" lIns="0" tIns="0" rIns="0" bIns="0" anchor="t" anchorCtr="0">
            <a:spAutoFit/>
          </a:bodyPr>
          <a:lstStyle/>
          <a:p>
            <a:pPr algn="l"/>
            <a:r>
              <a:rPr lang="zh-CN" sz="1050" b="1" dirty="0">
                <a:solidFill>
                  <a:srgbClr val="0066CC"/>
                </a:solidFill>
                <a:latin typeface="Arial" panose="020B0704020202020204"/>
                <a:ea typeface="Arial" panose="020B0704020202020204"/>
                <a:cs typeface="Arial" panose="020B0704020202020204"/>
              </a:rPr>
              <a:t>Tình huống 2 tài xế cùng bấm nhận 1 đơn:</a:t>
            </a:r>
            <a:endParaRPr lang="zh-CN" sz="1050" b="1" dirty="0">
              <a:solidFill>
                <a:srgbClr val="0066CC"/>
              </a:solidFill>
              <a:latin typeface="Arial" panose="020B0704020202020204"/>
              <a:ea typeface="Arial" panose="020B0704020202020204"/>
              <a:cs typeface="Arial" panose="020B0704020202020204"/>
            </a:endParaRPr>
          </a:p>
        </p:txBody>
      </p:sp>
      <p:sp>
        <p:nvSpPr>
          <p:cNvPr id="60" name="TextBox 60"/>
          <p:cNvSpPr txBox="1"/>
          <p:nvPr/>
        </p:nvSpPr>
        <p:spPr>
          <a:xfrm>
            <a:off x="701516" y="4309666"/>
            <a:ext cx="4100195" cy="309880"/>
          </a:xfrm>
          <a:prstGeom prst="rect">
            <a:avLst/>
          </a:prstGeom>
          <a:noFill/>
          <a:ln>
            <a:noFill/>
          </a:ln>
        </p:spPr>
        <p:txBody>
          <a:bodyPr wrap="none" lIns="0" tIns="0" rIns="0" bIns="0" anchor="t" anchorCtr="0">
            <a:spAutoFit/>
          </a:bodyPr>
          <a:lstStyle/>
          <a:p>
            <a:pPr algn="l"/>
            <a:r>
              <a:rPr lang="zh-CN" sz="1010" dirty="0">
                <a:solidFill>
                  <a:srgbClr val="334155"/>
                </a:solidFill>
                <a:latin typeface="Arial" panose="020B0704020202020204"/>
                <a:ea typeface="Arial" panose="020B0704020202020204"/>
                <a:cs typeface="Arial" panose="020B0704020202020204"/>
              </a:rPr>
              <a:t>• Server kiểm tra điều kiện kép: Đơn ở trạng thái</a:t>
            </a:r>
            <a:r>
              <a:rPr lang="vi-VN" altLang="zh-CN" sz="1010" dirty="0">
                <a:solidFill>
                  <a:srgbClr val="334155"/>
                </a:solidFill>
                <a:latin typeface="Arial" panose="020B0704020202020204"/>
                <a:ea typeface="Arial" panose="020B0704020202020204"/>
                <a:cs typeface="Arial" panose="020B0704020202020204"/>
              </a:rPr>
              <a:t> </a:t>
            </a:r>
            <a:r>
              <a:rPr lang="zh-CN" sz="1010" dirty="0">
                <a:solidFill>
                  <a:srgbClr val="334155"/>
                </a:solidFill>
                <a:latin typeface="Arial" panose="020B0704020202020204"/>
                <a:ea typeface="Arial" panose="020B0704020202020204"/>
                <a:cs typeface="Arial" panose="020B0704020202020204"/>
              </a:rPr>
              <a:t>CHO_TIEP_NHAN VÀ </a:t>
            </a:r>
            <a:endParaRPr lang="zh-CN" sz="1010" dirty="0">
              <a:solidFill>
                <a:srgbClr val="334155"/>
              </a:solidFill>
              <a:latin typeface="Arial" panose="020B0704020202020204"/>
              <a:ea typeface="Arial" panose="020B0704020202020204"/>
              <a:cs typeface="Arial" panose="020B0704020202020204"/>
            </a:endParaRPr>
          </a:p>
          <a:p>
            <a:pPr algn="l"/>
            <a:r>
              <a:rPr lang="zh-CN" sz="1010" dirty="0">
                <a:solidFill>
                  <a:srgbClr val="334155"/>
                </a:solidFill>
                <a:latin typeface="Arial" panose="020B0704020202020204"/>
                <a:ea typeface="Arial" panose="020B0704020202020204"/>
                <a:cs typeface="Arial" panose="020B0704020202020204"/>
              </a:rPr>
              <a:t> </a:t>
            </a:r>
            <a:r>
              <a:rPr lang="vi-VN" altLang="zh-CN" sz="1010" dirty="0">
                <a:solidFill>
                  <a:srgbClr val="334155"/>
                </a:solidFill>
                <a:latin typeface="Arial" panose="020B0704020202020204"/>
                <a:ea typeface="Arial" panose="020B0704020202020204"/>
                <a:cs typeface="Arial" panose="020B0704020202020204"/>
              </a:rPr>
              <a:t> </a:t>
            </a:r>
            <a:r>
              <a:rPr lang="zh-CN" sz="1010" dirty="0">
                <a:solidFill>
                  <a:srgbClr val="334155"/>
                </a:solidFill>
                <a:latin typeface="Arial" panose="020B0704020202020204"/>
                <a:ea typeface="Arial" panose="020B0704020202020204"/>
                <a:cs typeface="Arial" panose="020B0704020202020204"/>
              </a:rPr>
              <a:t>Tài xế đang AVAILABLE.</a:t>
            </a:r>
            <a:endParaRPr lang="zh-CN" sz="1010" dirty="0">
              <a:solidFill>
                <a:srgbClr val="334155"/>
              </a:solidFill>
              <a:latin typeface="Arial" panose="020B0704020202020204"/>
              <a:ea typeface="Arial" panose="020B0704020202020204"/>
              <a:cs typeface="Arial" panose="020B0704020202020204"/>
            </a:endParaRPr>
          </a:p>
        </p:txBody>
      </p:sp>
      <p:sp>
        <p:nvSpPr>
          <p:cNvPr id="61" name="Freeform 61"/>
          <p:cNvSpPr/>
          <p:nvPr/>
        </p:nvSpPr>
        <p:spPr>
          <a:xfrm>
            <a:off x="571500" y="4714875"/>
            <a:ext cx="5191125" cy="1285875"/>
          </a:xfrm>
          <a:custGeom>
            <a:avLst/>
            <a:gdLst/>
            <a:ahLst/>
            <a:cxnLst/>
            <a:rect l="l" t="t" r="r" b="b"/>
            <a:pathLst>
              <a:path w="5191125" h="1285875">
                <a:moveTo>
                  <a:pt x="57150" y="0"/>
                </a:moveTo>
                <a:lnTo>
                  <a:pt x="5133975" y="0"/>
                </a:lnTo>
                <a:cubicBezTo>
                  <a:pt x="5165538" y="0"/>
                  <a:pt x="5191125" y="25587"/>
                  <a:pt x="5191125" y="57150"/>
                </a:cubicBezTo>
                <a:lnTo>
                  <a:pt x="5191125" y="1228725"/>
                </a:lnTo>
                <a:cubicBezTo>
                  <a:pt x="5191125" y="1260288"/>
                  <a:pt x="5165538" y="1285875"/>
                  <a:pt x="5133975" y="1285875"/>
                </a:cubicBezTo>
                <a:lnTo>
                  <a:pt x="57150" y="1285875"/>
                </a:lnTo>
                <a:cubicBezTo>
                  <a:pt x="25587" y="1285875"/>
                  <a:pt x="0" y="1260288"/>
                  <a:pt x="0" y="1228725"/>
                </a:cubicBezTo>
                <a:lnTo>
                  <a:pt x="0" y="57150"/>
                </a:lnTo>
                <a:cubicBezTo>
                  <a:pt x="0" y="25587"/>
                  <a:pt x="25587" y="0"/>
                  <a:pt x="57150" y="0"/>
                </a:cubicBezTo>
                <a:close/>
              </a:path>
            </a:pathLst>
          </a:custGeom>
          <a:solidFill>
            <a:srgbClr val="FFF7ED"/>
          </a:solidFill>
          <a:ln w="9525">
            <a:solidFill>
              <a:srgbClr val="FED7AA"/>
            </a:solidFill>
          </a:ln>
        </p:spPr>
      </p:sp>
      <p:sp>
        <p:nvSpPr>
          <p:cNvPr id="62" name="TextBox 62"/>
          <p:cNvSpPr txBox="1"/>
          <p:nvPr/>
        </p:nvSpPr>
        <p:spPr>
          <a:xfrm>
            <a:off x="701040" y="4839652"/>
            <a:ext cx="4358111" cy="213360"/>
          </a:xfrm>
          <a:prstGeom prst="rect">
            <a:avLst/>
          </a:prstGeom>
          <a:noFill/>
          <a:ln>
            <a:noFill/>
          </a:ln>
        </p:spPr>
        <p:txBody>
          <a:bodyPr wrap="none" lIns="0" tIns="0" rIns="0" bIns="0" anchor="t" anchorCtr="0">
            <a:spAutoFit/>
          </a:bodyPr>
          <a:lstStyle/>
          <a:p>
            <a:pPr algn="l"/>
            <a:r>
              <a:rPr lang="zh-CN" sz="1050" b="1" dirty="0">
                <a:solidFill>
                  <a:srgbClr val="C2410C"/>
                </a:solidFill>
                <a:latin typeface="Arial" panose="020B0704020202020204"/>
                <a:ea typeface="Arial" panose="020B0704020202020204"/>
                <a:cs typeface="Arial" panose="020B0704020202020204"/>
              </a:rPr>
              <a:t>Cơ chế khóa lạc quan (Optimistic Locking với @Version):</a:t>
            </a:r>
            <a:endParaRPr lang="zh-CN" sz="1050" b="1" dirty="0">
              <a:solidFill>
                <a:srgbClr val="C2410C"/>
              </a:solidFill>
              <a:latin typeface="Arial" panose="020B0704020202020204"/>
              <a:ea typeface="Arial" panose="020B0704020202020204"/>
              <a:cs typeface="Arial" panose="020B0704020202020204"/>
            </a:endParaRPr>
          </a:p>
        </p:txBody>
      </p:sp>
      <p:sp>
        <p:nvSpPr>
          <p:cNvPr id="63" name="TextBox 63"/>
          <p:cNvSpPr txBox="1"/>
          <p:nvPr/>
        </p:nvSpPr>
        <p:spPr>
          <a:xfrm>
            <a:off x="701516" y="5081826"/>
            <a:ext cx="5001732" cy="205740"/>
          </a:xfrm>
          <a:prstGeom prst="rect">
            <a:avLst/>
          </a:prstGeom>
          <a:noFill/>
          <a:ln>
            <a:noFill/>
          </a:ln>
        </p:spPr>
        <p:txBody>
          <a:bodyPr wrap="none" lIns="0" tIns="0" rIns="0" bIns="0" anchor="t" anchorCtr="0">
            <a:spAutoFit/>
          </a:bodyPr>
          <a:lstStyle/>
          <a:p>
            <a:pPr algn="l"/>
            <a:r>
              <a:rPr lang="zh-CN" sz="1010" dirty="0">
                <a:solidFill>
                  <a:srgbClr val="7C2D12"/>
                </a:solidFill>
                <a:latin typeface="Arial" panose="020B0704020202020204"/>
                <a:ea typeface="Arial" panose="020B0704020202020204"/>
                <a:cs typeface="Arial" panose="020B0704020202020204"/>
              </a:rPr>
              <a:t>• Document DeliveryRequest có trường version tự tăng khi ghi dữ liệu.</a:t>
            </a:r>
            <a:endParaRPr lang="zh-CN" sz="1010" dirty="0">
              <a:solidFill>
                <a:srgbClr val="7C2D12"/>
              </a:solidFill>
              <a:latin typeface="Arial" panose="020B0704020202020204"/>
              <a:ea typeface="Arial" panose="020B0704020202020204"/>
              <a:cs typeface="Arial" panose="020B0704020202020204"/>
            </a:endParaRPr>
          </a:p>
        </p:txBody>
      </p:sp>
      <p:sp>
        <p:nvSpPr>
          <p:cNvPr id="64" name="TextBox 64"/>
          <p:cNvSpPr txBox="1"/>
          <p:nvPr/>
        </p:nvSpPr>
        <p:spPr>
          <a:xfrm>
            <a:off x="701516" y="5319951"/>
            <a:ext cx="4654225" cy="205740"/>
          </a:xfrm>
          <a:prstGeom prst="rect">
            <a:avLst/>
          </a:prstGeom>
          <a:noFill/>
          <a:ln>
            <a:noFill/>
          </a:ln>
        </p:spPr>
        <p:txBody>
          <a:bodyPr wrap="none" lIns="0" tIns="0" rIns="0" bIns="0" anchor="t" anchorCtr="0">
            <a:spAutoFit/>
          </a:bodyPr>
          <a:lstStyle/>
          <a:p>
            <a:pPr algn="l"/>
            <a:r>
              <a:rPr lang="zh-CN" sz="1010" dirty="0">
                <a:solidFill>
                  <a:srgbClr val="7C2D12"/>
                </a:solidFill>
                <a:latin typeface="Arial" panose="020B0704020202020204"/>
                <a:ea typeface="Arial" panose="020B0704020202020204"/>
                <a:cs typeface="Arial" panose="020B0704020202020204"/>
              </a:rPr>
              <a:t>• Giao dịch của tài xế đầu tiên thành công ➔ version tăng lên N+1.</a:t>
            </a:r>
            <a:endParaRPr lang="zh-CN" sz="1010" dirty="0">
              <a:solidFill>
                <a:srgbClr val="7C2D12"/>
              </a:solidFill>
              <a:latin typeface="Arial" panose="020B0704020202020204"/>
              <a:ea typeface="Arial" panose="020B0704020202020204"/>
              <a:cs typeface="Arial" panose="020B0704020202020204"/>
            </a:endParaRPr>
          </a:p>
        </p:txBody>
      </p:sp>
      <p:sp>
        <p:nvSpPr>
          <p:cNvPr id="65" name="TextBox 65"/>
          <p:cNvSpPr txBox="1"/>
          <p:nvPr/>
        </p:nvSpPr>
        <p:spPr>
          <a:xfrm>
            <a:off x="701516" y="5558076"/>
            <a:ext cx="4855845" cy="309880"/>
          </a:xfrm>
          <a:prstGeom prst="rect">
            <a:avLst/>
          </a:prstGeom>
          <a:noFill/>
          <a:ln>
            <a:noFill/>
          </a:ln>
        </p:spPr>
        <p:txBody>
          <a:bodyPr wrap="none" lIns="0" tIns="0" rIns="0" bIns="0" anchor="t" anchorCtr="0">
            <a:spAutoFit/>
          </a:bodyPr>
          <a:lstStyle/>
          <a:p>
            <a:pPr algn="l"/>
            <a:r>
              <a:rPr lang="zh-CN" sz="1010" dirty="0">
                <a:solidFill>
                  <a:srgbClr val="7C2D12"/>
                </a:solidFill>
                <a:latin typeface="Arial" panose="020B0704020202020204"/>
                <a:ea typeface="Arial" panose="020B0704020202020204"/>
                <a:cs typeface="Arial" panose="020B0704020202020204"/>
              </a:rPr>
              <a:t>• Giao dịch của tài xế thứ hai phát hiện xung đột version ➔ Trả về HTTP 409 Conflict </a:t>
            </a:r>
            <a:endParaRPr lang="zh-CN" sz="1010" dirty="0">
              <a:solidFill>
                <a:srgbClr val="7C2D12"/>
              </a:solidFill>
              <a:latin typeface="Arial" panose="020B0704020202020204"/>
              <a:ea typeface="Arial" panose="020B0704020202020204"/>
              <a:cs typeface="Arial" panose="020B0704020202020204"/>
            </a:endParaRPr>
          </a:p>
          <a:p>
            <a:pPr algn="l"/>
            <a:r>
              <a:rPr lang="zh-CN" sz="1010" dirty="0">
                <a:solidFill>
                  <a:srgbClr val="7C2D12"/>
                </a:solidFill>
                <a:latin typeface="Arial" panose="020B0704020202020204"/>
                <a:ea typeface="Arial" panose="020B0704020202020204"/>
                <a:cs typeface="Arial" panose="020B0704020202020204"/>
              </a:rPr>
              <a:t> </a:t>
            </a:r>
            <a:r>
              <a:rPr lang="vi-VN" altLang="zh-CN" sz="1010" dirty="0">
                <a:solidFill>
                  <a:srgbClr val="7C2D12"/>
                </a:solidFill>
                <a:latin typeface="Arial" panose="020B0704020202020204"/>
                <a:ea typeface="Arial" panose="020B0704020202020204"/>
                <a:cs typeface="Arial" panose="020B0704020202020204"/>
              </a:rPr>
              <a:t> </a:t>
            </a:r>
            <a:r>
              <a:rPr lang="zh-CN" sz="1010" dirty="0">
                <a:solidFill>
                  <a:srgbClr val="7C2D12"/>
                </a:solidFill>
                <a:latin typeface="Arial" panose="020B0704020202020204"/>
                <a:ea typeface="Arial" panose="020B0704020202020204"/>
                <a:cs typeface="Arial" panose="020B0704020202020204"/>
              </a:rPr>
              <a:t>thay vì ghi đè!</a:t>
            </a:r>
            <a:endParaRPr lang="zh-CN" sz="1010" dirty="0">
              <a:solidFill>
                <a:srgbClr val="7C2D12"/>
              </a:solidFill>
              <a:latin typeface="Arial" panose="020B0704020202020204"/>
              <a:ea typeface="Arial" panose="020B0704020202020204"/>
              <a:cs typeface="Arial" panose="020B0704020202020204"/>
            </a:endParaRPr>
          </a:p>
        </p:txBody>
      </p:sp>
      <p:sp>
        <p:nvSpPr>
          <p:cNvPr id="66" name="Freeform 66"/>
          <p:cNvSpPr/>
          <p:nvPr/>
        </p:nvSpPr>
        <p:spPr>
          <a:xfrm>
            <a:off x="6238875" y="3476625"/>
            <a:ext cx="6115050" cy="2667000"/>
          </a:xfrm>
          <a:custGeom>
            <a:avLst/>
            <a:gdLst/>
            <a:ahLst/>
            <a:cxnLst/>
            <a:rect l="l" t="t" r="r" b="b"/>
            <a:pathLst>
              <a:path w="5572125" h="2667000">
                <a:moveTo>
                  <a:pt x="95250" y="0"/>
                </a:moveTo>
                <a:lnTo>
                  <a:pt x="5476875" y="0"/>
                </a:lnTo>
                <a:cubicBezTo>
                  <a:pt x="5529480" y="0"/>
                  <a:pt x="5572125" y="42645"/>
                  <a:pt x="5572125" y="95250"/>
                </a:cubicBezTo>
                <a:lnTo>
                  <a:pt x="5572125" y="2571750"/>
                </a:lnTo>
                <a:cubicBezTo>
                  <a:pt x="5572125" y="2624355"/>
                  <a:pt x="5529480" y="2667000"/>
                  <a:pt x="5476875" y="2667000"/>
                </a:cubicBezTo>
                <a:lnTo>
                  <a:pt x="95250" y="2667000"/>
                </a:lnTo>
                <a:cubicBezTo>
                  <a:pt x="42645" y="2667000"/>
                  <a:pt x="0" y="2624355"/>
                  <a:pt x="0" y="2571750"/>
                </a:cubicBezTo>
                <a:lnTo>
                  <a:pt x="0" y="95250"/>
                </a:lnTo>
                <a:cubicBezTo>
                  <a:pt x="0" y="42645"/>
                  <a:pt x="42645" y="0"/>
                  <a:pt x="95250" y="0"/>
                </a:cubicBezTo>
                <a:close/>
              </a:path>
            </a:pathLst>
          </a:custGeom>
          <a:solidFill>
            <a:srgbClr val="FFFFFF"/>
          </a:solidFill>
          <a:ln w="14288">
            <a:solidFill>
              <a:srgbClr val="E2E8F0"/>
            </a:solidFill>
          </a:ln>
        </p:spPr>
      </p:sp>
      <p:sp>
        <p:nvSpPr>
          <p:cNvPr id="67" name="Freeform 67"/>
          <p:cNvSpPr/>
          <p:nvPr/>
        </p:nvSpPr>
        <p:spPr>
          <a:xfrm>
            <a:off x="6238875" y="3476625"/>
            <a:ext cx="6109335" cy="400050"/>
          </a:xfrm>
          <a:custGeom>
            <a:avLst/>
            <a:gdLst/>
            <a:ahLst/>
            <a:cxnLst/>
            <a:rect l="l" t="t" r="r" b="b"/>
            <a:pathLst>
              <a:path w="5572125" h="400050">
                <a:moveTo>
                  <a:pt x="95250" y="0"/>
                </a:moveTo>
                <a:lnTo>
                  <a:pt x="5476875" y="0"/>
                </a:lnTo>
                <a:cubicBezTo>
                  <a:pt x="5529480" y="0"/>
                  <a:pt x="5572125" y="42645"/>
                  <a:pt x="5572125" y="95250"/>
                </a:cubicBezTo>
                <a:lnTo>
                  <a:pt x="5572125" y="304800"/>
                </a:lnTo>
                <a:cubicBezTo>
                  <a:pt x="5572125" y="357405"/>
                  <a:pt x="5529480" y="400050"/>
                  <a:pt x="5476875" y="400050"/>
                </a:cubicBezTo>
                <a:lnTo>
                  <a:pt x="95250" y="400050"/>
                </a:lnTo>
                <a:cubicBezTo>
                  <a:pt x="42645" y="400050"/>
                  <a:pt x="0" y="357405"/>
                  <a:pt x="0" y="304800"/>
                </a:cubicBezTo>
                <a:lnTo>
                  <a:pt x="0" y="95250"/>
                </a:lnTo>
                <a:cubicBezTo>
                  <a:pt x="0" y="42645"/>
                  <a:pt x="42645" y="0"/>
                  <a:pt x="95250" y="0"/>
                </a:cubicBezTo>
                <a:close/>
              </a:path>
            </a:pathLst>
          </a:custGeom>
          <a:solidFill>
            <a:srgbClr val="F1F5F9"/>
          </a:solidFill>
          <a:ln>
            <a:noFill/>
          </a:ln>
        </p:spPr>
      </p:sp>
      <p:sp>
        <p:nvSpPr>
          <p:cNvPr id="68" name="Freeform 68"/>
          <p:cNvSpPr/>
          <p:nvPr/>
        </p:nvSpPr>
        <p:spPr>
          <a:xfrm>
            <a:off x="6441281" y="3593306"/>
            <a:ext cx="23812" cy="23812"/>
          </a:xfrm>
          <a:custGeom>
            <a:avLst/>
            <a:gdLst/>
            <a:ahLst/>
            <a:cxnLst/>
            <a:rect l="l" t="t" r="r" b="b"/>
            <a:pathLst>
              <a:path w="23812" h="23812">
                <a:moveTo>
                  <a:pt x="23812" y="0"/>
                </a:moveTo>
                <a:lnTo>
                  <a:pt x="0" y="0"/>
                </a:lnTo>
                <a:lnTo>
                  <a:pt x="0" y="23812"/>
                </a:lnTo>
                <a:lnTo>
                  <a:pt x="23812" y="23812"/>
                </a:lnTo>
                <a:lnTo>
                  <a:pt x="23812" y="0"/>
                </a:lnTo>
                <a:close/>
              </a:path>
            </a:pathLst>
          </a:custGeom>
          <a:solidFill>
            <a:srgbClr val="003366"/>
          </a:solidFill>
          <a:ln>
            <a:noFill/>
          </a:ln>
        </p:spPr>
      </p:sp>
      <p:sp>
        <p:nvSpPr>
          <p:cNvPr id="69" name="Freeform 69"/>
          <p:cNvSpPr/>
          <p:nvPr/>
        </p:nvSpPr>
        <p:spPr>
          <a:xfrm>
            <a:off x="6441281" y="3640931"/>
            <a:ext cx="23812" cy="23812"/>
          </a:xfrm>
          <a:custGeom>
            <a:avLst/>
            <a:gdLst/>
            <a:ahLst/>
            <a:cxnLst/>
            <a:rect l="l" t="t" r="r" b="b"/>
            <a:pathLst>
              <a:path w="23812" h="23812">
                <a:moveTo>
                  <a:pt x="23812" y="0"/>
                </a:moveTo>
                <a:lnTo>
                  <a:pt x="0" y="0"/>
                </a:lnTo>
                <a:lnTo>
                  <a:pt x="0" y="23812"/>
                </a:lnTo>
                <a:lnTo>
                  <a:pt x="23812" y="23812"/>
                </a:lnTo>
                <a:lnTo>
                  <a:pt x="23812" y="0"/>
                </a:lnTo>
                <a:close/>
              </a:path>
            </a:pathLst>
          </a:custGeom>
          <a:solidFill>
            <a:srgbClr val="003366"/>
          </a:solidFill>
          <a:ln>
            <a:noFill/>
          </a:ln>
        </p:spPr>
      </p:sp>
      <p:sp>
        <p:nvSpPr>
          <p:cNvPr id="70" name="Freeform 70"/>
          <p:cNvSpPr/>
          <p:nvPr/>
        </p:nvSpPr>
        <p:spPr>
          <a:xfrm>
            <a:off x="6441281" y="3688556"/>
            <a:ext cx="23812" cy="23812"/>
          </a:xfrm>
          <a:custGeom>
            <a:avLst/>
            <a:gdLst/>
            <a:ahLst/>
            <a:cxnLst/>
            <a:rect l="l" t="t" r="r" b="b"/>
            <a:pathLst>
              <a:path w="23812" h="23812">
                <a:moveTo>
                  <a:pt x="0" y="0"/>
                </a:moveTo>
                <a:lnTo>
                  <a:pt x="23812" y="0"/>
                </a:lnTo>
                <a:lnTo>
                  <a:pt x="23812" y="23812"/>
                </a:lnTo>
                <a:lnTo>
                  <a:pt x="0" y="23812"/>
                </a:lnTo>
                <a:lnTo>
                  <a:pt x="0" y="0"/>
                </a:lnTo>
                <a:close/>
              </a:path>
            </a:pathLst>
          </a:custGeom>
          <a:solidFill>
            <a:srgbClr val="003366"/>
          </a:solidFill>
          <a:ln>
            <a:noFill/>
          </a:ln>
        </p:spPr>
      </p:sp>
      <p:sp>
        <p:nvSpPr>
          <p:cNvPr id="71" name="Freeform 71"/>
          <p:cNvSpPr/>
          <p:nvPr/>
        </p:nvSpPr>
        <p:spPr>
          <a:xfrm>
            <a:off x="6441281" y="3736181"/>
            <a:ext cx="23812" cy="23812"/>
          </a:xfrm>
          <a:custGeom>
            <a:avLst/>
            <a:gdLst/>
            <a:ahLst/>
            <a:cxnLst/>
            <a:rect l="l" t="t" r="r" b="b"/>
            <a:pathLst>
              <a:path w="23812" h="23812">
                <a:moveTo>
                  <a:pt x="23812" y="0"/>
                </a:moveTo>
                <a:lnTo>
                  <a:pt x="0" y="0"/>
                </a:lnTo>
                <a:lnTo>
                  <a:pt x="0" y="23812"/>
                </a:lnTo>
                <a:lnTo>
                  <a:pt x="23812" y="23812"/>
                </a:lnTo>
                <a:lnTo>
                  <a:pt x="23812" y="0"/>
                </a:lnTo>
                <a:close/>
              </a:path>
            </a:pathLst>
          </a:custGeom>
          <a:solidFill>
            <a:srgbClr val="003366"/>
          </a:solidFill>
          <a:ln>
            <a:noFill/>
          </a:ln>
        </p:spPr>
      </p:sp>
      <p:sp>
        <p:nvSpPr>
          <p:cNvPr id="72" name="Freeform 72"/>
          <p:cNvSpPr/>
          <p:nvPr/>
        </p:nvSpPr>
        <p:spPr>
          <a:xfrm>
            <a:off x="6488906" y="3593306"/>
            <a:ext cx="119062" cy="23812"/>
          </a:xfrm>
          <a:custGeom>
            <a:avLst/>
            <a:gdLst/>
            <a:ahLst/>
            <a:cxnLst/>
            <a:rect l="l" t="t" r="r" b="b"/>
            <a:pathLst>
              <a:path w="119062" h="23812">
                <a:moveTo>
                  <a:pt x="119062" y="0"/>
                </a:moveTo>
                <a:lnTo>
                  <a:pt x="0" y="0"/>
                </a:lnTo>
                <a:lnTo>
                  <a:pt x="0" y="23812"/>
                </a:lnTo>
                <a:lnTo>
                  <a:pt x="119062" y="23812"/>
                </a:lnTo>
                <a:lnTo>
                  <a:pt x="119062" y="0"/>
                </a:lnTo>
                <a:close/>
              </a:path>
            </a:pathLst>
          </a:custGeom>
          <a:solidFill>
            <a:srgbClr val="003366"/>
          </a:solidFill>
          <a:ln>
            <a:noFill/>
          </a:ln>
        </p:spPr>
      </p:sp>
      <p:sp>
        <p:nvSpPr>
          <p:cNvPr id="73" name="Freeform 73"/>
          <p:cNvSpPr/>
          <p:nvPr/>
        </p:nvSpPr>
        <p:spPr>
          <a:xfrm>
            <a:off x="6488906" y="3640931"/>
            <a:ext cx="119062" cy="23812"/>
          </a:xfrm>
          <a:custGeom>
            <a:avLst/>
            <a:gdLst/>
            <a:ahLst/>
            <a:cxnLst/>
            <a:rect l="l" t="t" r="r" b="b"/>
            <a:pathLst>
              <a:path w="119062" h="23812">
                <a:moveTo>
                  <a:pt x="119062" y="0"/>
                </a:moveTo>
                <a:lnTo>
                  <a:pt x="0" y="0"/>
                </a:lnTo>
                <a:lnTo>
                  <a:pt x="0" y="23812"/>
                </a:lnTo>
                <a:lnTo>
                  <a:pt x="119062" y="23812"/>
                </a:lnTo>
                <a:lnTo>
                  <a:pt x="119062" y="0"/>
                </a:lnTo>
                <a:close/>
              </a:path>
            </a:pathLst>
          </a:custGeom>
          <a:solidFill>
            <a:srgbClr val="003366"/>
          </a:solidFill>
          <a:ln>
            <a:noFill/>
          </a:ln>
        </p:spPr>
      </p:sp>
      <p:sp>
        <p:nvSpPr>
          <p:cNvPr id="74" name="Freeform 74"/>
          <p:cNvSpPr/>
          <p:nvPr/>
        </p:nvSpPr>
        <p:spPr>
          <a:xfrm>
            <a:off x="6488906" y="3688556"/>
            <a:ext cx="119062" cy="23812"/>
          </a:xfrm>
          <a:custGeom>
            <a:avLst/>
            <a:gdLst/>
            <a:ahLst/>
            <a:cxnLst/>
            <a:rect l="l" t="t" r="r" b="b"/>
            <a:pathLst>
              <a:path w="119062" h="23812">
                <a:moveTo>
                  <a:pt x="0" y="0"/>
                </a:moveTo>
                <a:lnTo>
                  <a:pt x="119062" y="0"/>
                </a:lnTo>
                <a:lnTo>
                  <a:pt x="119062" y="23812"/>
                </a:lnTo>
                <a:lnTo>
                  <a:pt x="0" y="23812"/>
                </a:lnTo>
                <a:lnTo>
                  <a:pt x="0" y="0"/>
                </a:lnTo>
                <a:close/>
              </a:path>
            </a:pathLst>
          </a:custGeom>
          <a:solidFill>
            <a:srgbClr val="003366"/>
          </a:solidFill>
          <a:ln>
            <a:noFill/>
          </a:ln>
        </p:spPr>
      </p:sp>
      <p:sp>
        <p:nvSpPr>
          <p:cNvPr id="75" name="Freeform 75"/>
          <p:cNvSpPr/>
          <p:nvPr/>
        </p:nvSpPr>
        <p:spPr>
          <a:xfrm>
            <a:off x="6488906" y="3736181"/>
            <a:ext cx="119062" cy="23812"/>
          </a:xfrm>
          <a:custGeom>
            <a:avLst/>
            <a:gdLst/>
            <a:ahLst/>
            <a:cxnLst/>
            <a:rect l="l" t="t" r="r" b="b"/>
            <a:pathLst>
              <a:path w="119062" h="23812">
                <a:moveTo>
                  <a:pt x="119062" y="0"/>
                </a:moveTo>
                <a:lnTo>
                  <a:pt x="0" y="0"/>
                </a:lnTo>
                <a:lnTo>
                  <a:pt x="0" y="23812"/>
                </a:lnTo>
                <a:lnTo>
                  <a:pt x="119062" y="23812"/>
                </a:lnTo>
                <a:lnTo>
                  <a:pt x="119062" y="0"/>
                </a:lnTo>
                <a:close/>
              </a:path>
            </a:pathLst>
          </a:custGeom>
          <a:solidFill>
            <a:srgbClr val="003366"/>
          </a:solidFill>
          <a:ln>
            <a:noFill/>
          </a:ln>
        </p:spPr>
      </p:sp>
      <p:sp>
        <p:nvSpPr>
          <p:cNvPr id="76" name="TextBox 76"/>
          <p:cNvSpPr txBox="1"/>
          <p:nvPr/>
        </p:nvSpPr>
        <p:spPr>
          <a:xfrm>
            <a:off x="6699885" y="3604260"/>
            <a:ext cx="4695463" cy="243840"/>
          </a:xfrm>
          <a:prstGeom prst="rect">
            <a:avLst/>
          </a:prstGeom>
          <a:noFill/>
          <a:ln>
            <a:noFill/>
          </a:ln>
        </p:spPr>
        <p:txBody>
          <a:bodyPr wrap="none" lIns="0" tIns="0" rIns="0" bIns="0" anchor="t" anchorCtr="0">
            <a:spAutoFit/>
          </a:bodyPr>
          <a:lstStyle/>
          <a:p>
            <a:pPr algn="l"/>
            <a:r>
              <a:rPr lang="zh-CN" sz="1200" b="1" dirty="0">
                <a:solidFill>
                  <a:srgbClr val="003366"/>
                </a:solidFill>
                <a:latin typeface="Arial" panose="020B0704020202020204"/>
                <a:ea typeface="Arial" panose="020B0704020202020204"/>
                <a:cs typeface="Arial" panose="020B0704020202020204"/>
              </a:rPr>
              <a:t>Ràng buộc chuyển bước &amp; Ghi nhận lịch sử (Audit Log)</a:t>
            </a:r>
            <a:endParaRPr lang="zh-CN" sz="1200" b="1" dirty="0">
              <a:solidFill>
                <a:srgbClr val="003366"/>
              </a:solidFill>
              <a:latin typeface="Arial" panose="020B0704020202020204"/>
              <a:ea typeface="Arial" panose="020B0704020202020204"/>
              <a:cs typeface="Arial" panose="020B0704020202020204"/>
            </a:endParaRPr>
          </a:p>
        </p:txBody>
      </p:sp>
      <p:sp>
        <p:nvSpPr>
          <p:cNvPr id="77" name="Freeform 77"/>
          <p:cNvSpPr/>
          <p:nvPr/>
        </p:nvSpPr>
        <p:spPr>
          <a:xfrm>
            <a:off x="6429375" y="4000500"/>
            <a:ext cx="5890260" cy="619125"/>
          </a:xfrm>
          <a:custGeom>
            <a:avLst/>
            <a:gdLst/>
            <a:ahLst/>
            <a:cxnLst/>
            <a:rect l="l" t="t" r="r" b="b"/>
            <a:pathLst>
              <a:path w="5191125" h="619125">
                <a:moveTo>
                  <a:pt x="57150" y="0"/>
                </a:moveTo>
                <a:lnTo>
                  <a:pt x="5133975" y="0"/>
                </a:lnTo>
                <a:cubicBezTo>
                  <a:pt x="5165538" y="0"/>
                  <a:pt x="5191125" y="25587"/>
                  <a:pt x="5191125" y="57150"/>
                </a:cubicBezTo>
                <a:lnTo>
                  <a:pt x="5191125" y="561975"/>
                </a:lnTo>
                <a:cubicBezTo>
                  <a:pt x="5191125" y="593538"/>
                  <a:pt x="5165538" y="619125"/>
                  <a:pt x="5133975" y="619125"/>
                </a:cubicBezTo>
                <a:lnTo>
                  <a:pt x="57150" y="619125"/>
                </a:lnTo>
                <a:cubicBezTo>
                  <a:pt x="25587" y="619125"/>
                  <a:pt x="0" y="593538"/>
                  <a:pt x="0" y="561975"/>
                </a:cubicBezTo>
                <a:lnTo>
                  <a:pt x="0" y="57150"/>
                </a:lnTo>
                <a:cubicBezTo>
                  <a:pt x="0" y="25587"/>
                  <a:pt x="25587" y="0"/>
                  <a:pt x="57150" y="0"/>
                </a:cubicBezTo>
                <a:close/>
              </a:path>
            </a:pathLst>
          </a:custGeom>
          <a:solidFill>
            <a:srgbClr val="F8FAFC"/>
          </a:solidFill>
          <a:ln w="9525">
            <a:solidFill>
              <a:srgbClr val="E2E8F0"/>
            </a:solidFill>
          </a:ln>
        </p:spPr>
      </p:sp>
      <p:sp>
        <p:nvSpPr>
          <p:cNvPr id="78" name="TextBox 78"/>
          <p:cNvSpPr txBox="1"/>
          <p:nvPr/>
        </p:nvSpPr>
        <p:spPr>
          <a:xfrm>
            <a:off x="6558915" y="4096702"/>
            <a:ext cx="2780114" cy="213360"/>
          </a:xfrm>
          <a:prstGeom prst="rect">
            <a:avLst/>
          </a:prstGeom>
          <a:noFill/>
          <a:ln>
            <a:noFill/>
          </a:ln>
        </p:spPr>
        <p:txBody>
          <a:bodyPr wrap="none" lIns="0" tIns="0" rIns="0" bIns="0" anchor="t" anchorCtr="0">
            <a:spAutoFit/>
          </a:bodyPr>
          <a:lstStyle/>
          <a:p>
            <a:pPr algn="l"/>
            <a:r>
              <a:rPr lang="zh-CN" sz="1050" b="1" dirty="0">
                <a:solidFill>
                  <a:srgbClr val="003366"/>
                </a:solidFill>
                <a:latin typeface="Arial" panose="020B0704020202020204"/>
                <a:ea typeface="Arial" panose="020B0704020202020204"/>
                <a:cs typeface="Arial" panose="020B0704020202020204"/>
              </a:rPr>
              <a:t>Kiểm tra tính tuần tự nghiêm ngặt:</a:t>
            </a:r>
            <a:endParaRPr lang="zh-CN" sz="1050" b="1" dirty="0">
              <a:solidFill>
                <a:srgbClr val="003366"/>
              </a:solidFill>
              <a:latin typeface="Arial" panose="020B0704020202020204"/>
              <a:ea typeface="Arial" panose="020B0704020202020204"/>
              <a:cs typeface="Arial" panose="020B0704020202020204"/>
            </a:endParaRPr>
          </a:p>
        </p:txBody>
      </p:sp>
      <p:sp>
        <p:nvSpPr>
          <p:cNvPr id="79" name="TextBox 79"/>
          <p:cNvSpPr txBox="1"/>
          <p:nvPr/>
        </p:nvSpPr>
        <p:spPr>
          <a:xfrm>
            <a:off x="6559391" y="4329351"/>
            <a:ext cx="7352955" cy="205740"/>
          </a:xfrm>
          <a:prstGeom prst="rect">
            <a:avLst/>
          </a:prstGeom>
          <a:noFill/>
          <a:ln>
            <a:noFill/>
          </a:ln>
        </p:spPr>
        <p:txBody>
          <a:bodyPr wrap="none" lIns="0" tIns="0" rIns="0" bIns="0" anchor="t" anchorCtr="0">
            <a:spAutoFit/>
          </a:bodyPr>
          <a:lstStyle/>
          <a:p>
            <a:pPr algn="l"/>
            <a:r>
              <a:rPr lang="zh-CN" sz="1010" dirty="0">
                <a:solidFill>
                  <a:srgbClr val="334155"/>
                </a:solidFill>
                <a:latin typeface="Arial" panose="020B0704020202020204"/>
                <a:ea typeface="Arial" panose="020B0704020202020204"/>
                <a:cs typeface="Arial" panose="020B0704020202020204"/>
              </a:rPr>
              <a:t>• Chặn tuyệt đối việc nhảy cóc trạng thái (ví dụ: không thể chuyển trực tiếp từ Mới tạo sang Đã giao).</a:t>
            </a:r>
            <a:endParaRPr lang="zh-CN" sz="1010" dirty="0">
              <a:solidFill>
                <a:srgbClr val="334155"/>
              </a:solidFill>
              <a:latin typeface="Arial" panose="020B0704020202020204"/>
              <a:ea typeface="Arial" panose="020B0704020202020204"/>
              <a:cs typeface="Arial" panose="020B0704020202020204"/>
            </a:endParaRPr>
          </a:p>
        </p:txBody>
      </p:sp>
      <p:sp>
        <p:nvSpPr>
          <p:cNvPr id="80" name="Freeform 80"/>
          <p:cNvSpPr/>
          <p:nvPr/>
        </p:nvSpPr>
        <p:spPr>
          <a:xfrm>
            <a:off x="6429375" y="4714875"/>
            <a:ext cx="5724525" cy="1285875"/>
          </a:xfrm>
          <a:custGeom>
            <a:avLst/>
            <a:gdLst/>
            <a:ahLst/>
            <a:cxnLst/>
            <a:rect l="l" t="t" r="r" b="b"/>
            <a:pathLst>
              <a:path w="5191125" h="1285875">
                <a:moveTo>
                  <a:pt x="57150" y="0"/>
                </a:moveTo>
                <a:lnTo>
                  <a:pt x="5133975" y="0"/>
                </a:lnTo>
                <a:cubicBezTo>
                  <a:pt x="5165538" y="0"/>
                  <a:pt x="5191125" y="25587"/>
                  <a:pt x="5191125" y="57150"/>
                </a:cubicBezTo>
                <a:lnTo>
                  <a:pt x="5191125" y="1228725"/>
                </a:lnTo>
                <a:cubicBezTo>
                  <a:pt x="5191125" y="1260288"/>
                  <a:pt x="5165538" y="1285875"/>
                  <a:pt x="5133975" y="1285875"/>
                </a:cubicBezTo>
                <a:lnTo>
                  <a:pt x="57150" y="1285875"/>
                </a:lnTo>
                <a:cubicBezTo>
                  <a:pt x="25587" y="1285875"/>
                  <a:pt x="0" y="1260288"/>
                  <a:pt x="0" y="1228725"/>
                </a:cubicBezTo>
                <a:lnTo>
                  <a:pt x="0" y="57150"/>
                </a:lnTo>
                <a:cubicBezTo>
                  <a:pt x="0" y="25587"/>
                  <a:pt x="25587" y="0"/>
                  <a:pt x="57150" y="0"/>
                </a:cubicBezTo>
                <a:close/>
              </a:path>
            </a:pathLst>
          </a:custGeom>
          <a:solidFill>
            <a:srgbClr val="F0FDF4"/>
          </a:solidFill>
          <a:ln w="9525">
            <a:solidFill>
              <a:srgbClr val="BBF7D0"/>
            </a:solidFill>
          </a:ln>
        </p:spPr>
      </p:sp>
      <p:sp>
        <p:nvSpPr>
          <p:cNvPr id="81" name="TextBox 81"/>
          <p:cNvSpPr txBox="1"/>
          <p:nvPr/>
        </p:nvSpPr>
        <p:spPr>
          <a:xfrm>
            <a:off x="6558915" y="4839652"/>
            <a:ext cx="3432246" cy="213360"/>
          </a:xfrm>
          <a:prstGeom prst="rect">
            <a:avLst/>
          </a:prstGeom>
          <a:noFill/>
          <a:ln>
            <a:noFill/>
          </a:ln>
        </p:spPr>
        <p:txBody>
          <a:bodyPr wrap="none" lIns="0" tIns="0" rIns="0" bIns="0" anchor="t" anchorCtr="0">
            <a:spAutoFit/>
          </a:bodyPr>
          <a:lstStyle/>
          <a:p>
            <a:pPr algn="l"/>
            <a:r>
              <a:rPr lang="zh-CN" sz="1050" b="1" dirty="0">
                <a:solidFill>
                  <a:srgbClr val="15803D"/>
                </a:solidFill>
                <a:latin typeface="Arial" panose="020B0704020202020204"/>
                <a:ea typeface="Arial" panose="020B0704020202020204"/>
                <a:cs typeface="Arial" panose="020B0704020202020204"/>
              </a:rPr>
              <a:t>Bảng lịch sử StatusHistory ghi nhận đầy đủ:</a:t>
            </a:r>
            <a:endParaRPr lang="zh-CN" sz="1050" b="1" dirty="0">
              <a:solidFill>
                <a:srgbClr val="15803D"/>
              </a:solidFill>
              <a:latin typeface="Arial" panose="020B0704020202020204"/>
              <a:ea typeface="Arial" panose="020B0704020202020204"/>
              <a:cs typeface="Arial" panose="020B0704020202020204"/>
            </a:endParaRPr>
          </a:p>
        </p:txBody>
      </p:sp>
      <p:sp>
        <p:nvSpPr>
          <p:cNvPr id="82" name="TextBox 82"/>
          <p:cNvSpPr txBox="1"/>
          <p:nvPr/>
        </p:nvSpPr>
        <p:spPr>
          <a:xfrm>
            <a:off x="6559391" y="5081826"/>
            <a:ext cx="5238333" cy="205740"/>
          </a:xfrm>
          <a:prstGeom prst="rect">
            <a:avLst/>
          </a:prstGeom>
          <a:noFill/>
          <a:ln>
            <a:noFill/>
          </a:ln>
        </p:spPr>
        <p:txBody>
          <a:bodyPr wrap="none" lIns="0" tIns="0" rIns="0" bIns="0" anchor="t" anchorCtr="0">
            <a:spAutoFit/>
          </a:bodyPr>
          <a:lstStyle/>
          <a:p>
            <a:pPr algn="l"/>
            <a:r>
              <a:rPr lang="zh-CN" sz="1010" dirty="0">
                <a:solidFill>
                  <a:srgbClr val="14532D"/>
                </a:solidFill>
                <a:latin typeface="Arial" panose="020B0704020202020204"/>
                <a:ea typeface="Arial" panose="020B0704020202020204"/>
                <a:cs typeface="Arial" panose="020B0704020202020204"/>
              </a:rPr>
              <a:t>• Mỗi lần đổi trạng thái đều phát sinh một bản ghi lịch sử trong MongoDB.</a:t>
            </a:r>
            <a:endParaRPr lang="zh-CN" sz="1010" dirty="0">
              <a:solidFill>
                <a:srgbClr val="14532D"/>
              </a:solidFill>
              <a:latin typeface="Arial" panose="020B0704020202020204"/>
              <a:ea typeface="Arial" panose="020B0704020202020204"/>
              <a:cs typeface="Arial" panose="020B0704020202020204"/>
            </a:endParaRPr>
          </a:p>
        </p:txBody>
      </p:sp>
      <p:sp>
        <p:nvSpPr>
          <p:cNvPr id="83" name="TextBox 83"/>
          <p:cNvSpPr txBox="1"/>
          <p:nvPr/>
        </p:nvSpPr>
        <p:spPr>
          <a:xfrm>
            <a:off x="6559391" y="5319951"/>
            <a:ext cx="6864965" cy="205740"/>
          </a:xfrm>
          <a:prstGeom prst="rect">
            <a:avLst/>
          </a:prstGeom>
          <a:noFill/>
          <a:ln>
            <a:noFill/>
          </a:ln>
        </p:spPr>
        <p:txBody>
          <a:bodyPr wrap="none" lIns="0" tIns="0" rIns="0" bIns="0" anchor="t" anchorCtr="0">
            <a:spAutoFit/>
          </a:bodyPr>
          <a:lstStyle/>
          <a:p>
            <a:pPr algn="l"/>
            <a:r>
              <a:rPr lang="zh-CN" sz="1010" dirty="0">
                <a:solidFill>
                  <a:srgbClr val="14532D"/>
                </a:solidFill>
                <a:latin typeface="Arial" panose="020B0704020202020204"/>
                <a:ea typeface="Arial" panose="020B0704020202020204"/>
                <a:cs typeface="Arial" panose="020B0704020202020204"/>
              </a:rPr>
              <a:t>• Lưu chính xác: Mã đơn, Trạng thái cũ ➔ mới, Người thực hiện (UserId), Thời gian (Timestamp).</a:t>
            </a:r>
            <a:endParaRPr lang="zh-CN" sz="1010" dirty="0">
              <a:solidFill>
                <a:srgbClr val="14532D"/>
              </a:solidFill>
              <a:latin typeface="Arial" panose="020B0704020202020204"/>
              <a:ea typeface="Arial" panose="020B0704020202020204"/>
              <a:cs typeface="Arial" panose="020B0704020202020204"/>
            </a:endParaRPr>
          </a:p>
        </p:txBody>
      </p:sp>
      <p:sp>
        <p:nvSpPr>
          <p:cNvPr id="84" name="TextBox 84"/>
          <p:cNvSpPr txBox="1"/>
          <p:nvPr/>
        </p:nvSpPr>
        <p:spPr>
          <a:xfrm>
            <a:off x="6559391" y="5558076"/>
            <a:ext cx="5615416" cy="205740"/>
          </a:xfrm>
          <a:prstGeom prst="rect">
            <a:avLst/>
          </a:prstGeom>
          <a:noFill/>
          <a:ln>
            <a:noFill/>
          </a:ln>
        </p:spPr>
        <p:txBody>
          <a:bodyPr wrap="none" lIns="0" tIns="0" rIns="0" bIns="0" anchor="t" anchorCtr="0">
            <a:spAutoFit/>
          </a:bodyPr>
          <a:lstStyle/>
          <a:p>
            <a:pPr algn="l"/>
            <a:r>
              <a:rPr lang="zh-CN" sz="1010" dirty="0">
                <a:solidFill>
                  <a:srgbClr val="14532D"/>
                </a:solidFill>
                <a:latin typeface="Arial" panose="020B0704020202020204"/>
                <a:ea typeface="Arial" panose="020B0704020202020204"/>
                <a:cs typeface="Arial" panose="020B0704020202020204"/>
              </a:rPr>
              <a:t>• Khách hàng mở màn theo dõi đơn sẽ thấy toàn bộ dòng thời gian xử lý thực tế.</a:t>
            </a:r>
            <a:endParaRPr lang="zh-CN" sz="1010" dirty="0">
              <a:solidFill>
                <a:srgbClr val="14532D"/>
              </a:solidFill>
              <a:latin typeface="Arial" panose="020B0704020202020204"/>
              <a:ea typeface="Arial" panose="020B0704020202020204"/>
              <a:cs typeface="Arial" panose="020B0704020202020204"/>
            </a:endParaRPr>
          </a:p>
        </p:txBody>
      </p:sp>
      <p:sp>
        <p:nvSpPr>
          <p:cNvPr id="85" name="Line 85"/>
          <p:cNvSpPr/>
          <p:nvPr/>
        </p:nvSpPr>
        <p:spPr>
          <a:xfrm>
            <a:off x="381000" y="6334125"/>
            <a:ext cx="11430000" cy="9525"/>
          </a:xfrm>
          <a:custGeom>
            <a:avLst/>
            <a:gdLst/>
            <a:ahLst/>
            <a:cxnLst/>
            <a:rect l="l" t="t" r="r" b="b"/>
            <a:pathLst>
              <a:path w="11430000" h="9525">
                <a:moveTo>
                  <a:pt x="0" y="0"/>
                </a:moveTo>
                <a:lnTo>
                  <a:pt x="11430000" y="0"/>
                </a:lnTo>
              </a:path>
            </a:pathLst>
          </a:custGeom>
          <a:noFill/>
          <a:ln w="9525">
            <a:solidFill>
              <a:srgbClr val="CBD5E1"/>
            </a:solidFill>
          </a:ln>
        </p:spPr>
      </p:sp>
      <p:sp>
        <p:nvSpPr>
          <p:cNvPr id="86" name="TextBox 86"/>
          <p:cNvSpPr txBox="1"/>
          <p:nvPr/>
        </p:nvSpPr>
        <p:spPr>
          <a:xfrm>
            <a:off x="368618" y="6514624"/>
            <a:ext cx="3563374"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panose="020B0704020202020204"/>
                <a:ea typeface="Arial" panose="020B0704020202020204"/>
                <a:cs typeface="Arial" panose="020B0704020202020204"/>
              </a:rPr>
              <a:t>Báo cáo Đồ án Lập trình Di động (MOB402) • Nhóm 10</a:t>
            </a:r>
            <a:endParaRPr lang="zh-CN" sz="975" dirty="0">
              <a:solidFill>
                <a:srgbClr val="64748B"/>
              </a:solidFill>
              <a:latin typeface="Arial" panose="020B0704020202020204"/>
              <a:ea typeface="Arial" panose="020B0704020202020204"/>
              <a:cs typeface="Arial" panose="020B0704020202020204"/>
            </a:endParaRPr>
          </a:p>
        </p:txBody>
      </p:sp>
      <p:sp>
        <p:nvSpPr>
          <p:cNvPr id="87" name="TextBox 87"/>
          <p:cNvSpPr txBox="1"/>
          <p:nvPr/>
        </p:nvSpPr>
        <p:spPr>
          <a:xfrm>
            <a:off x="4531471" y="6514624"/>
            <a:ext cx="3129058" cy="198120"/>
          </a:xfrm>
          <a:prstGeom prst="rect">
            <a:avLst/>
          </a:prstGeom>
          <a:noFill/>
          <a:ln>
            <a:noFill/>
          </a:ln>
        </p:spPr>
        <p:txBody>
          <a:bodyPr wrap="none" lIns="0" tIns="0" rIns="0" bIns="0" anchor="t" anchorCtr="0">
            <a:spAutoFit/>
          </a:bodyPr>
          <a:lstStyle/>
          <a:p>
            <a:pPr algn="ctr"/>
            <a:r>
              <a:rPr lang="zh-CN" sz="975" dirty="0">
                <a:solidFill>
                  <a:srgbClr val="94A3B8"/>
                </a:solidFill>
                <a:latin typeface="Arial" panose="020B0704020202020204"/>
                <a:ea typeface="Arial" panose="020B0704020202020204"/>
                <a:cs typeface="Arial" panose="020B0704020202020204"/>
              </a:rPr>
              <a:t>Xử lý đồng thời &amp; Vòng đời trạng thái đơn hàng</a:t>
            </a:r>
            <a:endParaRPr lang="zh-CN" sz="975" dirty="0">
              <a:solidFill>
                <a:srgbClr val="94A3B8"/>
              </a:solidFill>
              <a:latin typeface="Arial" panose="020B0704020202020204"/>
              <a:ea typeface="Arial" panose="020B0704020202020204"/>
              <a:cs typeface="Arial" panose="020B0704020202020204"/>
            </a:endParaRPr>
          </a:p>
        </p:txBody>
      </p:sp>
      <p:sp>
        <p:nvSpPr>
          <p:cNvPr id="88" name="TextBox 88"/>
          <p:cNvSpPr txBox="1"/>
          <p:nvPr/>
        </p:nvSpPr>
        <p:spPr>
          <a:xfrm>
            <a:off x="11298503" y="6506528"/>
            <a:ext cx="525832" cy="213360"/>
          </a:xfrm>
          <a:prstGeom prst="rect">
            <a:avLst/>
          </a:prstGeom>
          <a:noFill/>
          <a:ln>
            <a:noFill/>
          </a:ln>
        </p:spPr>
        <p:txBody>
          <a:bodyPr wrap="none" lIns="0" tIns="0" rIns="0" bIns="0" anchor="t" anchorCtr="0">
            <a:spAutoFit/>
          </a:bodyPr>
          <a:lstStyle/>
          <a:p>
            <a:pPr algn="r"/>
            <a:r>
              <a:rPr lang="zh-CN" sz="1050" b="1" dirty="0">
                <a:solidFill>
                  <a:srgbClr val="003366"/>
                </a:solidFill>
                <a:latin typeface="Arial" panose="020B0704020202020204"/>
                <a:ea typeface="Arial" panose="020B0704020202020204"/>
                <a:cs typeface="Arial" panose="020B0704020202020204"/>
              </a:rPr>
              <a:t>08 / 14</a:t>
            </a:r>
            <a:endParaRPr lang="zh-CN" sz="1050" b="1" dirty="0">
              <a:solidFill>
                <a:srgbClr val="003366"/>
              </a:solidFill>
              <a:latin typeface="Arial" panose="020B0704020202020204"/>
              <a:ea typeface="Arial" panose="020B0704020202020204"/>
              <a:cs typeface="Arial" panose="020B070402020202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858000"/>
          </a:xfrm>
          <a:prstGeom prst="rect">
            <a:avLst/>
          </a:prstGeom>
          <a:solidFill>
            <a:srgbClr val="F8FAFC"/>
          </a:solidFill>
          <a:ln>
            <a:noFill/>
          </a:ln>
        </p:spPr>
      </p:sp>
      <p:sp>
        <p:nvSpPr>
          <p:cNvPr id="4" name="Rectangle 4"/>
          <p:cNvSpPr/>
          <p:nvPr/>
        </p:nvSpPr>
        <p:spPr>
          <a:xfrm>
            <a:off x="0" y="0"/>
            <a:ext cx="12192000" cy="666750"/>
          </a:xfrm>
          <a:prstGeom prst="rect">
            <a:avLst/>
          </a:prstGeom>
          <a:solidFill>
            <a:srgbClr val="003366"/>
          </a:solidFill>
          <a:ln>
            <a:noFill/>
          </a:ln>
        </p:spPr>
      </p:sp>
      <p:sp>
        <p:nvSpPr>
          <p:cNvPr id="5" name="Rectangle 5"/>
          <p:cNvSpPr/>
          <p:nvPr/>
        </p:nvSpPr>
        <p:spPr>
          <a:xfrm>
            <a:off x="0" y="0"/>
            <a:ext cx="57150" cy="666750"/>
          </a:xfrm>
          <a:prstGeom prst="rect">
            <a:avLst/>
          </a:prstGeom>
          <a:solidFill>
            <a:srgbClr val="E65100"/>
          </a:solidFill>
          <a:ln>
            <a:noFill/>
          </a:ln>
        </p:spPr>
      </p:sp>
      <p:sp>
        <p:nvSpPr>
          <p:cNvPr id="6" name="TextBox 6"/>
          <p:cNvSpPr txBox="1"/>
          <p:nvPr/>
        </p:nvSpPr>
        <p:spPr>
          <a:xfrm>
            <a:off x="356235" y="227648"/>
            <a:ext cx="5761144" cy="396240"/>
          </a:xfrm>
          <a:prstGeom prst="rect">
            <a:avLst/>
          </a:prstGeom>
          <a:noFill/>
          <a:ln>
            <a:noFill/>
          </a:ln>
        </p:spPr>
        <p:txBody>
          <a:bodyPr wrap="none" lIns="0" tIns="0" rIns="0" bIns="0" anchor="t" anchorCtr="0">
            <a:spAutoFit/>
          </a:bodyPr>
          <a:lstStyle/>
          <a:p>
            <a:pPr algn="l"/>
            <a:r>
              <a:rPr lang="zh-CN" sz="1950" b="1" dirty="0">
                <a:solidFill>
                  <a:srgbClr val="FFFFFF"/>
                </a:solidFill>
                <a:latin typeface="Arial" panose="020B0704020202020204"/>
                <a:ea typeface="Arial" panose="020B0704020202020204"/>
                <a:cs typeface="Arial" panose="020B0704020202020204"/>
              </a:rPr>
              <a:t>04. THIẾT KẾ DATA MODEL &amp; CƠ SỞ DỮ LIỆU</a:t>
            </a:r>
            <a:endParaRPr lang="zh-CN" sz="1950" b="1" dirty="0">
              <a:solidFill>
                <a:srgbClr val="FFFFFF"/>
              </a:solidFill>
              <a:latin typeface="Arial" panose="020B0704020202020204"/>
              <a:ea typeface="Arial" panose="020B0704020202020204"/>
              <a:cs typeface="Arial" panose="020B0704020202020204"/>
            </a:endParaRPr>
          </a:p>
        </p:txBody>
      </p:sp>
      <p:sp>
        <p:nvSpPr>
          <p:cNvPr id="7" name="TextBox 7"/>
          <p:cNvSpPr txBox="1"/>
          <p:nvPr/>
        </p:nvSpPr>
        <p:spPr>
          <a:xfrm>
            <a:off x="10295973" y="299085"/>
            <a:ext cx="1530267" cy="243840"/>
          </a:xfrm>
          <a:prstGeom prst="rect">
            <a:avLst/>
          </a:prstGeom>
          <a:noFill/>
          <a:ln>
            <a:noFill/>
          </a:ln>
        </p:spPr>
        <p:txBody>
          <a:bodyPr wrap="none" lIns="0" tIns="0" rIns="0" bIns="0" anchor="t" anchorCtr="0">
            <a:spAutoFit/>
          </a:bodyPr>
          <a:lstStyle/>
          <a:p>
            <a:pPr algn="r"/>
            <a:r>
              <a:rPr lang="zh-CN" sz="1200" b="1" dirty="0">
                <a:solidFill>
                  <a:srgbClr val="93C5FD"/>
                </a:solidFill>
                <a:latin typeface="Arial" panose="020B0704020202020204"/>
                <a:ea typeface="Arial" panose="020B0704020202020204"/>
                <a:cs typeface="Arial" panose="020B0704020202020204"/>
              </a:rPr>
              <a:t>GODROP DELIVERY</a:t>
            </a:r>
            <a:endParaRPr lang="zh-CN" sz="1200" b="1" dirty="0">
              <a:solidFill>
                <a:srgbClr val="93C5FD"/>
              </a:solidFill>
              <a:latin typeface="Arial" panose="020B0704020202020204"/>
              <a:ea typeface="Arial" panose="020B0704020202020204"/>
              <a:cs typeface="Arial" panose="020B0704020202020204"/>
            </a:endParaRPr>
          </a:p>
        </p:txBody>
      </p:sp>
      <p:sp>
        <p:nvSpPr>
          <p:cNvPr id="8" name="Rectangle 8"/>
          <p:cNvSpPr/>
          <p:nvPr/>
        </p:nvSpPr>
        <p:spPr>
          <a:xfrm>
            <a:off x="0" y="666750"/>
            <a:ext cx="12192000" cy="476250"/>
          </a:xfrm>
          <a:prstGeom prst="rect">
            <a:avLst/>
          </a:prstGeom>
          <a:solidFill>
            <a:srgbClr val="E8F4FC"/>
          </a:solidFill>
          <a:ln>
            <a:noFill/>
          </a:ln>
        </p:spPr>
      </p:sp>
      <p:sp>
        <p:nvSpPr>
          <p:cNvPr id="9" name="Rectangle 9"/>
          <p:cNvSpPr/>
          <p:nvPr/>
        </p:nvSpPr>
        <p:spPr>
          <a:xfrm>
            <a:off x="0" y="666750"/>
            <a:ext cx="57150" cy="476250"/>
          </a:xfrm>
          <a:prstGeom prst="rect">
            <a:avLst/>
          </a:prstGeom>
          <a:solidFill>
            <a:srgbClr val="0066CC"/>
          </a:solidFill>
          <a:ln>
            <a:noFill/>
          </a:ln>
        </p:spPr>
      </p:sp>
      <p:sp>
        <p:nvSpPr>
          <p:cNvPr id="10" name="TextBox 10"/>
          <p:cNvSpPr txBox="1"/>
          <p:nvPr/>
        </p:nvSpPr>
        <p:spPr>
          <a:xfrm>
            <a:off x="364808" y="824389"/>
            <a:ext cx="9222034" cy="259080"/>
          </a:xfrm>
          <a:prstGeom prst="rect">
            <a:avLst/>
          </a:prstGeom>
          <a:noFill/>
          <a:ln>
            <a:noFill/>
          </a:ln>
        </p:spPr>
        <p:txBody>
          <a:bodyPr wrap="none" lIns="0" tIns="0" rIns="0" bIns="0" anchor="t" anchorCtr="0">
            <a:spAutoFit/>
          </a:bodyPr>
          <a:lstStyle/>
          <a:p>
            <a:pPr algn="l"/>
            <a:r>
              <a:rPr lang="zh-CN" sz="1275" dirty="0">
                <a:solidFill>
                  <a:srgbClr val="0F172A"/>
                </a:solidFill>
                <a:latin typeface="Arial" panose="020B0704020202020204"/>
                <a:ea typeface="Arial" panose="020B0704020202020204"/>
                <a:cs typeface="Arial" panose="020B0704020202020204"/>
              </a:rPr>
              <a:t>Phân định ranh giới rõ ràng giữa nguồn dữ liệu trực tuyến MongoDB và bộ nhớ tạm cục bộ Room Database</a:t>
            </a:r>
            <a:endParaRPr lang="zh-CN" sz="1275" dirty="0">
              <a:solidFill>
                <a:srgbClr val="0F172A"/>
              </a:solidFill>
              <a:latin typeface="Arial" panose="020B0704020202020204"/>
              <a:ea typeface="Arial" panose="020B0704020202020204"/>
              <a:cs typeface="Arial" panose="020B0704020202020204"/>
            </a:endParaRPr>
          </a:p>
        </p:txBody>
      </p:sp>
      <p:sp>
        <p:nvSpPr>
          <p:cNvPr id="11" name="Freeform 11"/>
          <p:cNvSpPr/>
          <p:nvPr/>
        </p:nvSpPr>
        <p:spPr>
          <a:xfrm>
            <a:off x="381000" y="1333500"/>
            <a:ext cx="5572125" cy="4810125"/>
          </a:xfrm>
          <a:custGeom>
            <a:avLst/>
            <a:gdLst/>
            <a:ahLst/>
            <a:cxnLst/>
            <a:rect l="l" t="t" r="r" b="b"/>
            <a:pathLst>
              <a:path w="5572125" h="4810125">
                <a:moveTo>
                  <a:pt x="95250" y="0"/>
                </a:moveTo>
                <a:lnTo>
                  <a:pt x="5476875" y="0"/>
                </a:lnTo>
                <a:cubicBezTo>
                  <a:pt x="5529480" y="0"/>
                  <a:pt x="5572125" y="42645"/>
                  <a:pt x="5572125" y="95250"/>
                </a:cubicBezTo>
                <a:lnTo>
                  <a:pt x="5572125" y="4714875"/>
                </a:lnTo>
                <a:cubicBezTo>
                  <a:pt x="5572125" y="4767480"/>
                  <a:pt x="5529480" y="4810125"/>
                  <a:pt x="5476875" y="4810125"/>
                </a:cubicBezTo>
                <a:lnTo>
                  <a:pt x="95250" y="4810125"/>
                </a:lnTo>
                <a:cubicBezTo>
                  <a:pt x="42645" y="4810125"/>
                  <a:pt x="0" y="4767480"/>
                  <a:pt x="0" y="4714875"/>
                </a:cubicBezTo>
                <a:lnTo>
                  <a:pt x="0" y="95250"/>
                </a:lnTo>
                <a:cubicBezTo>
                  <a:pt x="0" y="42645"/>
                  <a:pt x="42645" y="0"/>
                  <a:pt x="95250" y="0"/>
                </a:cubicBezTo>
                <a:close/>
              </a:path>
            </a:pathLst>
          </a:custGeom>
          <a:solidFill>
            <a:srgbClr val="FFFFFF"/>
          </a:solidFill>
          <a:ln w="14288">
            <a:solidFill>
              <a:srgbClr val="E2E8F0"/>
            </a:solidFill>
          </a:ln>
        </p:spPr>
      </p:sp>
      <p:sp>
        <p:nvSpPr>
          <p:cNvPr id="12" name="Freeform 12"/>
          <p:cNvSpPr/>
          <p:nvPr/>
        </p:nvSpPr>
        <p:spPr>
          <a:xfrm>
            <a:off x="381000" y="1333500"/>
            <a:ext cx="5572125" cy="476250"/>
          </a:xfrm>
          <a:custGeom>
            <a:avLst/>
            <a:gdLst/>
            <a:ahLst/>
            <a:cxnLst/>
            <a:rect l="l" t="t" r="r" b="b"/>
            <a:pathLst>
              <a:path w="5572125" h="476250">
                <a:moveTo>
                  <a:pt x="95250" y="0"/>
                </a:moveTo>
                <a:lnTo>
                  <a:pt x="5476875" y="0"/>
                </a:lnTo>
                <a:cubicBezTo>
                  <a:pt x="5529480" y="0"/>
                  <a:pt x="5572125" y="42645"/>
                  <a:pt x="5572125" y="95250"/>
                </a:cubicBezTo>
                <a:lnTo>
                  <a:pt x="5572125" y="381000"/>
                </a:lnTo>
                <a:cubicBezTo>
                  <a:pt x="5572125" y="433605"/>
                  <a:pt x="5529480" y="476250"/>
                  <a:pt x="5476875" y="476250"/>
                </a:cubicBezTo>
                <a:lnTo>
                  <a:pt x="95250" y="476250"/>
                </a:lnTo>
                <a:cubicBezTo>
                  <a:pt x="42645" y="476250"/>
                  <a:pt x="0" y="433605"/>
                  <a:pt x="0" y="381000"/>
                </a:cubicBezTo>
                <a:lnTo>
                  <a:pt x="0" y="95250"/>
                </a:lnTo>
                <a:cubicBezTo>
                  <a:pt x="0" y="42645"/>
                  <a:pt x="42645" y="0"/>
                  <a:pt x="95250" y="0"/>
                </a:cubicBezTo>
                <a:close/>
              </a:path>
            </a:pathLst>
          </a:custGeom>
          <a:solidFill>
            <a:srgbClr val="F1F5F9"/>
          </a:solidFill>
          <a:ln>
            <a:noFill/>
          </a:ln>
        </p:spPr>
      </p:sp>
      <p:sp>
        <p:nvSpPr>
          <p:cNvPr id="13" name="Freeform 13"/>
          <p:cNvSpPr/>
          <p:nvPr/>
        </p:nvSpPr>
        <p:spPr>
          <a:xfrm>
            <a:off x="600075" y="1548765"/>
            <a:ext cx="171450" cy="65722"/>
          </a:xfrm>
          <a:custGeom>
            <a:avLst/>
            <a:gdLst/>
            <a:ahLst/>
            <a:cxnLst/>
            <a:rect l="l" t="t" r="r" b="b"/>
            <a:pathLst>
              <a:path w="171450" h="65722">
                <a:moveTo>
                  <a:pt x="159121" y="7289"/>
                </a:moveTo>
                <a:cubicBezTo>
                  <a:pt x="163140" y="5279"/>
                  <a:pt x="167339" y="2855"/>
                  <a:pt x="171450" y="0"/>
                </a:cubicBezTo>
                <a:lnTo>
                  <a:pt x="171450" y="22860"/>
                </a:lnTo>
                <a:cubicBezTo>
                  <a:pt x="171450" y="46532"/>
                  <a:pt x="133069" y="65722"/>
                  <a:pt x="85725" y="65722"/>
                </a:cubicBezTo>
                <a:cubicBezTo>
                  <a:pt x="38380" y="65722"/>
                  <a:pt x="0" y="46532"/>
                  <a:pt x="0" y="22860"/>
                </a:cubicBezTo>
                <a:lnTo>
                  <a:pt x="0" y="0"/>
                </a:lnTo>
                <a:cubicBezTo>
                  <a:pt x="4111" y="2855"/>
                  <a:pt x="8309" y="5279"/>
                  <a:pt x="12329" y="7289"/>
                </a:cubicBezTo>
                <a:cubicBezTo>
                  <a:pt x="32589" y="17419"/>
                  <a:pt x="58578" y="22860"/>
                  <a:pt x="85725" y="22860"/>
                </a:cubicBezTo>
                <a:cubicBezTo>
                  <a:pt x="112872" y="22860"/>
                  <a:pt x="138860" y="17419"/>
                  <a:pt x="159121" y="7289"/>
                </a:cubicBezTo>
                <a:close/>
              </a:path>
            </a:pathLst>
          </a:custGeom>
          <a:solidFill>
            <a:srgbClr val="003366"/>
          </a:solidFill>
          <a:ln>
            <a:noFill/>
          </a:ln>
        </p:spPr>
      </p:sp>
      <p:sp>
        <p:nvSpPr>
          <p:cNvPr id="14" name="Freeform 14"/>
          <p:cNvSpPr/>
          <p:nvPr/>
        </p:nvSpPr>
        <p:spPr>
          <a:xfrm>
            <a:off x="600075" y="1620202"/>
            <a:ext cx="171450" cy="65723"/>
          </a:xfrm>
          <a:custGeom>
            <a:avLst/>
            <a:gdLst/>
            <a:ahLst/>
            <a:cxnLst/>
            <a:rect l="l" t="t" r="r" b="b"/>
            <a:pathLst>
              <a:path w="171450" h="65723">
                <a:moveTo>
                  <a:pt x="0" y="0"/>
                </a:moveTo>
                <a:lnTo>
                  <a:pt x="0" y="22860"/>
                </a:lnTo>
                <a:cubicBezTo>
                  <a:pt x="0" y="46533"/>
                  <a:pt x="38380" y="65723"/>
                  <a:pt x="85725" y="65723"/>
                </a:cubicBezTo>
                <a:cubicBezTo>
                  <a:pt x="133069" y="65723"/>
                  <a:pt x="171450" y="46533"/>
                  <a:pt x="171450" y="22860"/>
                </a:cubicBezTo>
                <a:lnTo>
                  <a:pt x="171450" y="0"/>
                </a:lnTo>
                <a:cubicBezTo>
                  <a:pt x="167339" y="2855"/>
                  <a:pt x="163140" y="5279"/>
                  <a:pt x="159121" y="7289"/>
                </a:cubicBezTo>
                <a:cubicBezTo>
                  <a:pt x="138860" y="17419"/>
                  <a:pt x="112872" y="22860"/>
                  <a:pt x="85725" y="22860"/>
                </a:cubicBezTo>
                <a:cubicBezTo>
                  <a:pt x="58578" y="22860"/>
                  <a:pt x="32589" y="17419"/>
                  <a:pt x="12329" y="7289"/>
                </a:cubicBezTo>
                <a:cubicBezTo>
                  <a:pt x="8309" y="5279"/>
                  <a:pt x="4111" y="2855"/>
                  <a:pt x="0" y="0"/>
                </a:cubicBezTo>
                <a:close/>
              </a:path>
            </a:pathLst>
          </a:custGeom>
          <a:solidFill>
            <a:srgbClr val="003366"/>
          </a:solidFill>
          <a:ln>
            <a:noFill/>
          </a:ln>
        </p:spPr>
      </p:sp>
      <p:sp>
        <p:nvSpPr>
          <p:cNvPr id="15" name="Freeform 15"/>
          <p:cNvSpPr/>
          <p:nvPr/>
        </p:nvSpPr>
        <p:spPr>
          <a:xfrm>
            <a:off x="600075" y="1457325"/>
            <a:ext cx="171450" cy="85725"/>
          </a:xfrm>
          <a:custGeom>
            <a:avLst/>
            <a:gdLst/>
            <a:ahLst/>
            <a:cxnLst/>
            <a:rect l="l" t="t" r="r" b="b"/>
            <a:pathLst>
              <a:path w="171450" h="85725">
                <a:moveTo>
                  <a:pt x="85725" y="0"/>
                </a:moveTo>
                <a:cubicBezTo>
                  <a:pt x="133069" y="0"/>
                  <a:pt x="171450" y="19190"/>
                  <a:pt x="171450" y="42862"/>
                </a:cubicBezTo>
                <a:cubicBezTo>
                  <a:pt x="171450" y="66535"/>
                  <a:pt x="133069" y="85725"/>
                  <a:pt x="85725" y="85725"/>
                </a:cubicBezTo>
                <a:cubicBezTo>
                  <a:pt x="38380" y="85725"/>
                  <a:pt x="0" y="66535"/>
                  <a:pt x="0" y="42862"/>
                </a:cubicBezTo>
                <a:cubicBezTo>
                  <a:pt x="0" y="19190"/>
                  <a:pt x="38380" y="0"/>
                  <a:pt x="85725" y="0"/>
                </a:cubicBezTo>
                <a:close/>
              </a:path>
            </a:pathLst>
          </a:custGeom>
          <a:solidFill>
            <a:srgbClr val="003366"/>
          </a:solidFill>
          <a:ln>
            <a:noFill/>
          </a:ln>
        </p:spPr>
      </p:sp>
      <p:sp>
        <p:nvSpPr>
          <p:cNvPr id="16" name="TextBox 16"/>
          <p:cNvSpPr txBox="1"/>
          <p:nvPr/>
        </p:nvSpPr>
        <p:spPr>
          <a:xfrm>
            <a:off x="887730" y="1492568"/>
            <a:ext cx="4671670" cy="274320"/>
          </a:xfrm>
          <a:prstGeom prst="rect">
            <a:avLst/>
          </a:prstGeom>
          <a:noFill/>
          <a:ln>
            <a:noFill/>
          </a:ln>
        </p:spPr>
        <p:txBody>
          <a:bodyPr wrap="none" lIns="0" tIns="0" rIns="0" bIns="0" anchor="t" anchorCtr="0">
            <a:spAutoFit/>
          </a:bodyPr>
          <a:lstStyle/>
          <a:p>
            <a:pPr algn="l"/>
            <a:r>
              <a:rPr lang="zh-CN" sz="1350" b="1" dirty="0">
                <a:solidFill>
                  <a:srgbClr val="003366"/>
                </a:solidFill>
                <a:latin typeface="Arial" panose="020B0704020202020204"/>
                <a:ea typeface="Arial" panose="020B0704020202020204"/>
                <a:cs typeface="Arial" panose="020B0704020202020204"/>
              </a:rPr>
              <a:t>MongoDB Collections (Nguồn dữ liệu trung tâm)</a:t>
            </a:r>
            <a:endParaRPr lang="zh-CN" sz="1350" b="1" dirty="0">
              <a:solidFill>
                <a:srgbClr val="003366"/>
              </a:solidFill>
              <a:latin typeface="Arial" panose="020B0704020202020204"/>
              <a:ea typeface="Arial" panose="020B0704020202020204"/>
              <a:cs typeface="Arial" panose="020B0704020202020204"/>
            </a:endParaRPr>
          </a:p>
        </p:txBody>
      </p:sp>
      <p:sp>
        <p:nvSpPr>
          <p:cNvPr id="17" name="Freeform 17"/>
          <p:cNvSpPr/>
          <p:nvPr/>
        </p:nvSpPr>
        <p:spPr>
          <a:xfrm>
            <a:off x="571500" y="1952625"/>
            <a:ext cx="5191125" cy="1190625"/>
          </a:xfrm>
          <a:custGeom>
            <a:avLst/>
            <a:gdLst/>
            <a:ahLst/>
            <a:cxnLst/>
            <a:rect l="l" t="t" r="r" b="b"/>
            <a:pathLst>
              <a:path w="5191125" h="1190625">
                <a:moveTo>
                  <a:pt x="76200" y="0"/>
                </a:moveTo>
                <a:lnTo>
                  <a:pt x="5114925" y="0"/>
                </a:lnTo>
                <a:cubicBezTo>
                  <a:pt x="5157009" y="0"/>
                  <a:pt x="5191125" y="34116"/>
                  <a:pt x="5191125" y="76200"/>
                </a:cubicBezTo>
                <a:lnTo>
                  <a:pt x="5191125" y="1114425"/>
                </a:lnTo>
                <a:cubicBezTo>
                  <a:pt x="5191125" y="1156509"/>
                  <a:pt x="5157009" y="1190625"/>
                  <a:pt x="5114925" y="1190625"/>
                </a:cubicBezTo>
                <a:lnTo>
                  <a:pt x="76200" y="1190625"/>
                </a:lnTo>
                <a:cubicBezTo>
                  <a:pt x="34116" y="1190625"/>
                  <a:pt x="0" y="1156509"/>
                  <a:pt x="0" y="1114425"/>
                </a:cubicBezTo>
                <a:lnTo>
                  <a:pt x="0" y="76200"/>
                </a:lnTo>
                <a:cubicBezTo>
                  <a:pt x="0" y="34116"/>
                  <a:pt x="34116" y="0"/>
                  <a:pt x="76200" y="0"/>
                </a:cubicBezTo>
                <a:close/>
              </a:path>
            </a:pathLst>
          </a:custGeom>
          <a:solidFill>
            <a:srgbClr val="EFF6FF"/>
          </a:solidFill>
          <a:ln w="9525">
            <a:solidFill>
              <a:srgbClr val="BFDBFE"/>
            </a:solidFill>
          </a:ln>
        </p:spPr>
      </p:sp>
      <p:sp>
        <p:nvSpPr>
          <p:cNvPr id="18" name="TextBox 18"/>
          <p:cNvSpPr txBox="1"/>
          <p:nvPr/>
        </p:nvSpPr>
        <p:spPr>
          <a:xfrm>
            <a:off x="700088" y="2050256"/>
            <a:ext cx="4143214" cy="228600"/>
          </a:xfrm>
          <a:prstGeom prst="rect">
            <a:avLst/>
          </a:prstGeom>
          <a:noFill/>
          <a:ln>
            <a:noFill/>
          </a:ln>
        </p:spPr>
        <p:txBody>
          <a:bodyPr wrap="none" lIns="0" tIns="0" rIns="0" bIns="0" anchor="t" anchorCtr="0">
            <a:spAutoFit/>
          </a:bodyPr>
          <a:lstStyle/>
          <a:p>
            <a:pPr algn="l"/>
            <a:r>
              <a:rPr lang="zh-CN" sz="1125" b="1" dirty="0">
                <a:solidFill>
                  <a:srgbClr val="1D4ED8"/>
                </a:solidFill>
                <a:latin typeface="Arial" panose="020B0704020202020204"/>
                <a:ea typeface="Arial" panose="020B0704020202020204"/>
                <a:cs typeface="Arial" panose="020B0704020202020204"/>
              </a:rPr>
              <a:t>Collection: delivery_requests (Document cốt lõi)</a:t>
            </a:r>
            <a:endParaRPr lang="zh-CN" sz="1125" b="1" dirty="0">
              <a:solidFill>
                <a:srgbClr val="1D4ED8"/>
              </a:solidFill>
              <a:latin typeface="Arial" panose="020B0704020202020204"/>
              <a:ea typeface="Arial" panose="020B0704020202020204"/>
              <a:cs typeface="Arial" panose="020B0704020202020204"/>
            </a:endParaRPr>
          </a:p>
        </p:txBody>
      </p:sp>
      <p:sp>
        <p:nvSpPr>
          <p:cNvPr id="19" name="TextBox 19"/>
          <p:cNvSpPr txBox="1"/>
          <p:nvPr/>
        </p:nvSpPr>
        <p:spPr>
          <a:xfrm>
            <a:off x="701992" y="2295049"/>
            <a:ext cx="6190631" cy="198120"/>
          </a:xfrm>
          <a:prstGeom prst="rect">
            <a:avLst/>
          </a:prstGeom>
          <a:noFill/>
          <a:ln>
            <a:noFill/>
          </a:ln>
        </p:spPr>
        <p:txBody>
          <a:bodyPr wrap="none" lIns="0" tIns="0" rIns="0" bIns="0" anchor="t" anchorCtr="0">
            <a:spAutoFit/>
          </a:bodyPr>
          <a:lstStyle/>
          <a:p>
            <a:pPr algn="l"/>
            <a:r>
              <a:rPr lang="zh-CN" sz="975" dirty="0">
                <a:solidFill>
                  <a:srgbClr val="1E3A8A"/>
                </a:solidFill>
                <a:latin typeface="Arial" panose="020B0704020202020204"/>
                <a:ea typeface="Arial" panose="020B0704020202020204"/>
                <a:cs typeface="Arial" panose="020B0704020202020204"/>
              </a:rPr>
              <a:t>• Trường chính: _id, clientId, deliveryPersonId, status, distanceKm, totalFee, @version</a:t>
            </a:r>
            <a:endParaRPr lang="zh-CN" sz="975" dirty="0">
              <a:solidFill>
                <a:srgbClr val="1E3A8A"/>
              </a:solidFill>
              <a:latin typeface="Arial" panose="020B0704020202020204"/>
              <a:ea typeface="Arial" panose="020B0704020202020204"/>
              <a:cs typeface="Arial" panose="020B0704020202020204"/>
            </a:endParaRPr>
          </a:p>
        </p:txBody>
      </p:sp>
      <p:sp>
        <p:nvSpPr>
          <p:cNvPr id="20" name="TextBox 20"/>
          <p:cNvSpPr txBox="1"/>
          <p:nvPr/>
        </p:nvSpPr>
        <p:spPr>
          <a:xfrm>
            <a:off x="701992" y="2514124"/>
            <a:ext cx="5578316" cy="198120"/>
          </a:xfrm>
          <a:prstGeom prst="rect">
            <a:avLst/>
          </a:prstGeom>
          <a:noFill/>
          <a:ln>
            <a:noFill/>
          </a:ln>
        </p:spPr>
        <p:txBody>
          <a:bodyPr wrap="none" lIns="0" tIns="0" rIns="0" bIns="0" anchor="t" anchorCtr="0">
            <a:spAutoFit/>
          </a:bodyPr>
          <a:lstStyle/>
          <a:p>
            <a:pPr algn="l"/>
            <a:r>
              <a:rPr lang="zh-CN" sz="975" dirty="0">
                <a:solidFill>
                  <a:srgbClr val="1E3A8A"/>
                </a:solidFill>
                <a:latin typeface="Arial" panose="020B0704020202020204"/>
                <a:ea typeface="Arial" panose="020B0704020202020204"/>
                <a:cs typeface="Arial" panose="020B0704020202020204"/>
              </a:rPr>
              <a:t>• Địa chỉ: senderAddress (lat, lng, detail), recipientAddress (lat, lng, detail)</a:t>
            </a:r>
            <a:endParaRPr lang="zh-CN" sz="975" dirty="0">
              <a:solidFill>
                <a:srgbClr val="1E3A8A"/>
              </a:solidFill>
              <a:latin typeface="Arial" panose="020B0704020202020204"/>
              <a:ea typeface="Arial" panose="020B0704020202020204"/>
              <a:cs typeface="Arial" panose="020B0704020202020204"/>
            </a:endParaRPr>
          </a:p>
        </p:txBody>
      </p:sp>
      <p:sp>
        <p:nvSpPr>
          <p:cNvPr id="21" name="TextBox 21"/>
          <p:cNvSpPr txBox="1"/>
          <p:nvPr/>
        </p:nvSpPr>
        <p:spPr>
          <a:xfrm>
            <a:off x="701992" y="2733199"/>
            <a:ext cx="5535597" cy="198120"/>
          </a:xfrm>
          <a:prstGeom prst="rect">
            <a:avLst/>
          </a:prstGeom>
          <a:noFill/>
          <a:ln>
            <a:noFill/>
          </a:ln>
        </p:spPr>
        <p:txBody>
          <a:bodyPr wrap="none" lIns="0" tIns="0" rIns="0" bIns="0" anchor="t" anchorCtr="0">
            <a:spAutoFit/>
          </a:bodyPr>
          <a:lstStyle/>
          <a:p>
            <a:pPr algn="l"/>
            <a:r>
              <a:rPr lang="zh-CN" sz="975" dirty="0">
                <a:solidFill>
                  <a:srgbClr val="1E3A8A"/>
                </a:solidFill>
                <a:latin typeface="Arial" panose="020B0704020202020204"/>
                <a:ea typeface="Arial" panose="020B0704020202020204"/>
                <a:cs typeface="Arial" panose="020B0704020202020204"/>
              </a:rPr>
              <a:t>• Nhúng trực tiếp: packageItems: [ { name, weightKg, dimensions, isFragile } ]</a:t>
            </a:r>
            <a:endParaRPr lang="zh-CN" sz="975" dirty="0">
              <a:solidFill>
                <a:srgbClr val="1E3A8A"/>
              </a:solidFill>
              <a:latin typeface="Arial" panose="020B0704020202020204"/>
              <a:ea typeface="Arial" panose="020B0704020202020204"/>
              <a:cs typeface="Arial" panose="020B0704020202020204"/>
            </a:endParaRPr>
          </a:p>
        </p:txBody>
      </p:sp>
      <p:sp>
        <p:nvSpPr>
          <p:cNvPr id="22" name="TextBox 22"/>
          <p:cNvSpPr txBox="1"/>
          <p:nvPr/>
        </p:nvSpPr>
        <p:spPr>
          <a:xfrm>
            <a:off x="701992" y="2942749"/>
            <a:ext cx="5428798" cy="198120"/>
          </a:xfrm>
          <a:prstGeom prst="rect">
            <a:avLst/>
          </a:prstGeom>
          <a:noFill/>
          <a:ln>
            <a:noFill/>
          </a:ln>
        </p:spPr>
        <p:txBody>
          <a:bodyPr wrap="none" lIns="0" tIns="0" rIns="0" bIns="0" anchor="t" anchorCtr="0">
            <a:spAutoFit/>
          </a:bodyPr>
          <a:lstStyle/>
          <a:p>
            <a:pPr algn="l"/>
            <a:r>
              <a:rPr lang="zh-CN" sz="975" dirty="0">
                <a:solidFill>
                  <a:srgbClr val="1E3A8A"/>
                </a:solidFill>
                <a:latin typeface="Arial" panose="020B0704020202020204"/>
                <a:ea typeface="Arial" panose="020B0704020202020204"/>
                <a:cs typeface="Arial" panose="020B0704020202020204"/>
              </a:rPr>
              <a:t>• Nhúng tài liệu giúp tối ưu tốc độ đọc, không cần nhiều câu lệnh JOIN phức tạp.</a:t>
            </a:r>
            <a:endParaRPr lang="zh-CN" sz="975" dirty="0">
              <a:solidFill>
                <a:srgbClr val="1E3A8A"/>
              </a:solidFill>
              <a:latin typeface="Arial" panose="020B0704020202020204"/>
              <a:ea typeface="Arial" panose="020B0704020202020204"/>
              <a:cs typeface="Arial" panose="020B0704020202020204"/>
            </a:endParaRPr>
          </a:p>
        </p:txBody>
      </p:sp>
      <p:sp>
        <p:nvSpPr>
          <p:cNvPr id="23" name="Freeform 23"/>
          <p:cNvSpPr/>
          <p:nvPr/>
        </p:nvSpPr>
        <p:spPr>
          <a:xfrm>
            <a:off x="571500" y="3238500"/>
            <a:ext cx="5191125" cy="809625"/>
          </a:xfrm>
          <a:custGeom>
            <a:avLst/>
            <a:gdLst/>
            <a:ahLst/>
            <a:cxnLst/>
            <a:rect l="l" t="t" r="r" b="b"/>
            <a:pathLst>
              <a:path w="5191125" h="809625">
                <a:moveTo>
                  <a:pt x="76200" y="0"/>
                </a:moveTo>
                <a:lnTo>
                  <a:pt x="5114925" y="0"/>
                </a:lnTo>
                <a:cubicBezTo>
                  <a:pt x="5157009" y="0"/>
                  <a:pt x="5191125" y="34116"/>
                  <a:pt x="5191125" y="76200"/>
                </a:cubicBezTo>
                <a:lnTo>
                  <a:pt x="5191125" y="733425"/>
                </a:lnTo>
                <a:cubicBezTo>
                  <a:pt x="5191125" y="775509"/>
                  <a:pt x="5157009" y="809625"/>
                  <a:pt x="5114925" y="809625"/>
                </a:cubicBezTo>
                <a:lnTo>
                  <a:pt x="76200" y="809625"/>
                </a:lnTo>
                <a:cubicBezTo>
                  <a:pt x="34116" y="809625"/>
                  <a:pt x="0" y="775509"/>
                  <a:pt x="0" y="733425"/>
                </a:cubicBezTo>
                <a:lnTo>
                  <a:pt x="0" y="76200"/>
                </a:lnTo>
                <a:cubicBezTo>
                  <a:pt x="0" y="34116"/>
                  <a:pt x="34116" y="0"/>
                  <a:pt x="76200" y="0"/>
                </a:cubicBezTo>
                <a:close/>
              </a:path>
            </a:pathLst>
          </a:custGeom>
          <a:solidFill>
            <a:srgbClr val="F8FAFC"/>
          </a:solidFill>
          <a:ln w="9525">
            <a:solidFill>
              <a:srgbClr val="E2E8F0"/>
            </a:solidFill>
          </a:ln>
        </p:spPr>
      </p:sp>
      <p:sp>
        <p:nvSpPr>
          <p:cNvPr id="24" name="TextBox 24"/>
          <p:cNvSpPr txBox="1"/>
          <p:nvPr/>
        </p:nvSpPr>
        <p:spPr>
          <a:xfrm>
            <a:off x="700088" y="3336131"/>
            <a:ext cx="1469130" cy="228600"/>
          </a:xfrm>
          <a:prstGeom prst="rect">
            <a:avLst/>
          </a:prstGeom>
          <a:noFill/>
          <a:ln>
            <a:noFill/>
          </a:ln>
        </p:spPr>
        <p:txBody>
          <a:bodyPr wrap="none" lIns="0" tIns="0" rIns="0" bIns="0" anchor="t" anchorCtr="0">
            <a:spAutoFit/>
          </a:bodyPr>
          <a:lstStyle/>
          <a:p>
            <a:pPr algn="l"/>
            <a:r>
              <a:rPr lang="zh-CN" sz="1125" b="1" dirty="0">
                <a:solidFill>
                  <a:srgbClr val="003366"/>
                </a:solidFill>
                <a:latin typeface="Arial" panose="020B0704020202020204"/>
                <a:ea typeface="Arial" panose="020B0704020202020204"/>
                <a:cs typeface="Arial" panose="020B0704020202020204"/>
              </a:rPr>
              <a:t>Collection: users</a:t>
            </a:r>
            <a:endParaRPr lang="zh-CN" sz="1125" b="1" dirty="0">
              <a:solidFill>
                <a:srgbClr val="003366"/>
              </a:solidFill>
              <a:latin typeface="Arial" panose="020B0704020202020204"/>
              <a:ea typeface="Arial" panose="020B0704020202020204"/>
              <a:cs typeface="Arial" panose="020B0704020202020204"/>
            </a:endParaRPr>
          </a:p>
        </p:txBody>
      </p:sp>
      <p:sp>
        <p:nvSpPr>
          <p:cNvPr id="25" name="TextBox 25"/>
          <p:cNvSpPr txBox="1"/>
          <p:nvPr/>
        </p:nvSpPr>
        <p:spPr>
          <a:xfrm>
            <a:off x="701992" y="3590449"/>
            <a:ext cx="5386078"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panose="020B0704020202020204"/>
                <a:ea typeface="Arial" panose="020B0704020202020204"/>
                <a:cs typeface="Arial" panose="020B0704020202020204"/>
              </a:rPr>
              <a:t>• _id, username, passwordHash (BCrypt), fullName, phoneNumber, avatarUrl</a:t>
            </a:r>
            <a:endParaRPr lang="zh-CN" sz="975" dirty="0">
              <a:solidFill>
                <a:srgbClr val="475569"/>
              </a:solidFill>
              <a:latin typeface="Arial" panose="020B0704020202020204"/>
              <a:ea typeface="Arial" panose="020B0704020202020204"/>
              <a:cs typeface="Arial" panose="020B0704020202020204"/>
            </a:endParaRPr>
          </a:p>
        </p:txBody>
      </p:sp>
      <p:sp>
        <p:nvSpPr>
          <p:cNvPr id="26" name="TextBox 26"/>
          <p:cNvSpPr txBox="1"/>
          <p:nvPr/>
        </p:nvSpPr>
        <p:spPr>
          <a:xfrm>
            <a:off x="701992" y="3809524"/>
            <a:ext cx="5535597"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panose="020B0704020202020204"/>
                <a:ea typeface="Arial" panose="020B0704020202020204"/>
                <a:cs typeface="Arial" panose="020B0704020202020204"/>
              </a:rPr>
              <a:t>• role: [CLIENT | DELIVERY | ADMIN], status: [ACTIVE | LOCKED | BUSY | AVAILABLE]</a:t>
            </a:r>
            <a:endParaRPr lang="zh-CN" sz="975" dirty="0">
              <a:solidFill>
                <a:srgbClr val="475569"/>
              </a:solidFill>
              <a:latin typeface="Arial" panose="020B0704020202020204"/>
              <a:ea typeface="Arial" panose="020B0704020202020204"/>
              <a:cs typeface="Arial" panose="020B0704020202020204"/>
            </a:endParaRPr>
          </a:p>
        </p:txBody>
      </p:sp>
      <p:sp>
        <p:nvSpPr>
          <p:cNvPr id="27" name="Freeform 27"/>
          <p:cNvSpPr/>
          <p:nvPr/>
        </p:nvSpPr>
        <p:spPr>
          <a:xfrm>
            <a:off x="571500" y="4143375"/>
            <a:ext cx="5191125" cy="1857375"/>
          </a:xfrm>
          <a:custGeom>
            <a:avLst/>
            <a:gdLst/>
            <a:ahLst/>
            <a:cxnLst/>
            <a:rect l="l" t="t" r="r" b="b"/>
            <a:pathLst>
              <a:path w="5191125" h="1857375">
                <a:moveTo>
                  <a:pt x="76200" y="0"/>
                </a:moveTo>
                <a:lnTo>
                  <a:pt x="5114925" y="0"/>
                </a:lnTo>
                <a:cubicBezTo>
                  <a:pt x="5157009" y="0"/>
                  <a:pt x="5191125" y="34116"/>
                  <a:pt x="5191125" y="76200"/>
                </a:cubicBezTo>
                <a:lnTo>
                  <a:pt x="5191125" y="1781175"/>
                </a:lnTo>
                <a:cubicBezTo>
                  <a:pt x="5191125" y="1823259"/>
                  <a:pt x="5157009" y="1857375"/>
                  <a:pt x="5114925" y="1857375"/>
                </a:cubicBezTo>
                <a:lnTo>
                  <a:pt x="76200" y="1857375"/>
                </a:lnTo>
                <a:cubicBezTo>
                  <a:pt x="34116" y="1857375"/>
                  <a:pt x="0" y="1823259"/>
                  <a:pt x="0" y="1781175"/>
                </a:cubicBezTo>
                <a:lnTo>
                  <a:pt x="0" y="76200"/>
                </a:lnTo>
                <a:cubicBezTo>
                  <a:pt x="0" y="34116"/>
                  <a:pt x="34116" y="0"/>
                  <a:pt x="76200" y="0"/>
                </a:cubicBezTo>
                <a:close/>
              </a:path>
            </a:pathLst>
          </a:custGeom>
          <a:solidFill>
            <a:srgbClr val="F8FAFC"/>
          </a:solidFill>
          <a:ln w="9525">
            <a:solidFill>
              <a:srgbClr val="E2E8F0"/>
            </a:solidFill>
          </a:ln>
        </p:spPr>
      </p:sp>
      <p:sp>
        <p:nvSpPr>
          <p:cNvPr id="28" name="TextBox 28"/>
          <p:cNvSpPr txBox="1"/>
          <p:nvPr/>
        </p:nvSpPr>
        <p:spPr>
          <a:xfrm>
            <a:off x="700088" y="4241006"/>
            <a:ext cx="4393371" cy="228600"/>
          </a:xfrm>
          <a:prstGeom prst="rect">
            <a:avLst/>
          </a:prstGeom>
          <a:noFill/>
          <a:ln>
            <a:noFill/>
          </a:ln>
        </p:spPr>
        <p:txBody>
          <a:bodyPr wrap="none" lIns="0" tIns="0" rIns="0" bIns="0" anchor="t" anchorCtr="0">
            <a:spAutoFit/>
          </a:bodyPr>
          <a:lstStyle/>
          <a:p>
            <a:pPr algn="l"/>
            <a:r>
              <a:rPr lang="zh-CN" sz="1125" b="1" dirty="0">
                <a:solidFill>
                  <a:srgbClr val="003366"/>
                </a:solidFill>
                <a:latin typeface="Arial" panose="020B0704020202020204"/>
                <a:ea typeface="Arial" panose="020B0704020202020204"/>
                <a:cs typeface="Arial" panose="020B0704020202020204"/>
              </a:rPr>
              <a:t>Các Collections bổ trợ phục vụ truy vấn &amp; kiểm toán:</a:t>
            </a:r>
            <a:endParaRPr lang="zh-CN" sz="1125" b="1" dirty="0">
              <a:solidFill>
                <a:srgbClr val="003366"/>
              </a:solidFill>
              <a:latin typeface="Arial" panose="020B0704020202020204"/>
              <a:ea typeface="Arial" panose="020B0704020202020204"/>
              <a:cs typeface="Arial" panose="020B0704020202020204"/>
            </a:endParaRPr>
          </a:p>
        </p:txBody>
      </p:sp>
      <p:sp>
        <p:nvSpPr>
          <p:cNvPr id="29" name="TextBox 29"/>
          <p:cNvSpPr txBox="1"/>
          <p:nvPr/>
        </p:nvSpPr>
        <p:spPr>
          <a:xfrm>
            <a:off x="701516" y="4538901"/>
            <a:ext cx="1531831" cy="205740"/>
          </a:xfrm>
          <a:prstGeom prst="rect">
            <a:avLst/>
          </a:prstGeom>
          <a:noFill/>
          <a:ln>
            <a:noFill/>
          </a:ln>
        </p:spPr>
        <p:txBody>
          <a:bodyPr wrap="none" lIns="0" tIns="0" rIns="0" bIns="0" anchor="t" anchorCtr="0">
            <a:spAutoFit/>
          </a:bodyPr>
          <a:lstStyle/>
          <a:p>
            <a:pPr algn="l"/>
            <a:r>
              <a:rPr lang="zh-CN" sz="1010" b="1" dirty="0">
                <a:solidFill>
                  <a:srgbClr val="0F172A"/>
                </a:solidFill>
                <a:latin typeface="Arial" panose="020B0704020202020204"/>
                <a:ea typeface="Arial" panose="020B0704020202020204"/>
                <a:cs typeface="Arial" panose="020B0704020202020204"/>
              </a:rPr>
              <a:t>• status_histories:</a:t>
            </a:r>
            <a:endParaRPr lang="zh-CN" sz="1010" b="1" dirty="0">
              <a:solidFill>
                <a:srgbClr val="0F172A"/>
              </a:solidFill>
              <a:latin typeface="Arial" panose="020B0704020202020204"/>
              <a:ea typeface="Arial" panose="020B0704020202020204"/>
              <a:cs typeface="Arial" panose="020B0704020202020204"/>
            </a:endParaRPr>
          </a:p>
        </p:txBody>
      </p:sp>
      <p:sp>
        <p:nvSpPr>
          <p:cNvPr id="30" name="TextBox 30"/>
          <p:cNvSpPr txBox="1"/>
          <p:nvPr/>
        </p:nvSpPr>
        <p:spPr>
          <a:xfrm>
            <a:off x="844868" y="4733449"/>
            <a:ext cx="5912953"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panose="020B0704020202020204"/>
                <a:ea typeface="Arial" panose="020B0704020202020204"/>
                <a:cs typeface="Arial" panose="020B0704020202020204"/>
              </a:rPr>
              <a:t>requestId, fromStatus, toStatus, updatedBy, note, timestamp (Dòng thời gian đơn)</a:t>
            </a:r>
            <a:endParaRPr lang="zh-CN" sz="975" dirty="0">
              <a:solidFill>
                <a:srgbClr val="475569"/>
              </a:solidFill>
              <a:latin typeface="Arial" panose="020B0704020202020204"/>
              <a:ea typeface="Arial" panose="020B0704020202020204"/>
              <a:cs typeface="Arial" panose="020B0704020202020204"/>
            </a:endParaRPr>
          </a:p>
        </p:txBody>
      </p:sp>
      <p:sp>
        <p:nvSpPr>
          <p:cNvPr id="31" name="TextBox 31"/>
          <p:cNvSpPr txBox="1"/>
          <p:nvPr/>
        </p:nvSpPr>
        <p:spPr>
          <a:xfrm>
            <a:off x="701516" y="5015151"/>
            <a:ext cx="1361034" cy="205740"/>
          </a:xfrm>
          <a:prstGeom prst="rect">
            <a:avLst/>
          </a:prstGeom>
          <a:noFill/>
          <a:ln>
            <a:noFill/>
          </a:ln>
        </p:spPr>
        <p:txBody>
          <a:bodyPr wrap="none" lIns="0" tIns="0" rIns="0" bIns="0" anchor="t" anchorCtr="0">
            <a:spAutoFit/>
          </a:bodyPr>
          <a:lstStyle/>
          <a:p>
            <a:pPr algn="l"/>
            <a:r>
              <a:rPr lang="zh-CN" sz="1010" b="1" dirty="0">
                <a:solidFill>
                  <a:srgbClr val="0F172A"/>
                </a:solidFill>
                <a:latin typeface="Arial" panose="020B0704020202020204"/>
                <a:ea typeface="Arial" panose="020B0704020202020204"/>
                <a:cs typeface="Arial" panose="020B0704020202020204"/>
              </a:rPr>
              <a:t>• driver_ratings:</a:t>
            </a:r>
            <a:endParaRPr lang="zh-CN" sz="1010" b="1" dirty="0">
              <a:solidFill>
                <a:srgbClr val="0F172A"/>
              </a:solidFill>
              <a:latin typeface="Arial" panose="020B0704020202020204"/>
              <a:ea typeface="Arial" panose="020B0704020202020204"/>
              <a:cs typeface="Arial" panose="020B0704020202020204"/>
            </a:endParaRPr>
          </a:p>
        </p:txBody>
      </p:sp>
      <p:sp>
        <p:nvSpPr>
          <p:cNvPr id="32" name="TextBox 32"/>
          <p:cNvSpPr txBox="1"/>
          <p:nvPr/>
        </p:nvSpPr>
        <p:spPr>
          <a:xfrm>
            <a:off x="844868" y="5209699"/>
            <a:ext cx="4909042"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panose="020B0704020202020204"/>
                <a:ea typeface="Arial" panose="020B0704020202020204"/>
                <a:cs typeface="Arial" panose="020B0704020202020204"/>
              </a:rPr>
              <a:t>requestId, clientId, driverId, ratingStars (1-5), comment, createdAt</a:t>
            </a:r>
            <a:endParaRPr lang="zh-CN" sz="975" dirty="0">
              <a:solidFill>
                <a:srgbClr val="475569"/>
              </a:solidFill>
              <a:latin typeface="Arial" panose="020B0704020202020204"/>
              <a:ea typeface="Arial" panose="020B0704020202020204"/>
              <a:cs typeface="Arial" panose="020B0704020202020204"/>
            </a:endParaRPr>
          </a:p>
        </p:txBody>
      </p:sp>
      <p:sp>
        <p:nvSpPr>
          <p:cNvPr id="33" name="TextBox 33"/>
          <p:cNvSpPr txBox="1"/>
          <p:nvPr/>
        </p:nvSpPr>
        <p:spPr>
          <a:xfrm>
            <a:off x="701516" y="5491401"/>
            <a:ext cx="1578412" cy="205740"/>
          </a:xfrm>
          <a:prstGeom prst="rect">
            <a:avLst/>
          </a:prstGeom>
          <a:noFill/>
          <a:ln>
            <a:noFill/>
          </a:ln>
        </p:spPr>
        <p:txBody>
          <a:bodyPr wrap="none" lIns="0" tIns="0" rIns="0" bIns="0" anchor="t" anchorCtr="0">
            <a:spAutoFit/>
          </a:bodyPr>
          <a:lstStyle/>
          <a:p>
            <a:pPr algn="l"/>
            <a:r>
              <a:rPr lang="zh-CN" sz="1010" b="1" dirty="0">
                <a:solidFill>
                  <a:srgbClr val="0F172A"/>
                </a:solidFill>
                <a:latin typeface="Arial" panose="020B0704020202020204"/>
                <a:ea typeface="Arial" panose="020B0704020202020204"/>
                <a:cs typeface="Arial" panose="020B0704020202020204"/>
              </a:rPr>
              <a:t>• driver_rejections:</a:t>
            </a:r>
            <a:endParaRPr lang="zh-CN" sz="1010" b="1" dirty="0">
              <a:solidFill>
                <a:srgbClr val="0F172A"/>
              </a:solidFill>
              <a:latin typeface="Arial" panose="020B0704020202020204"/>
              <a:ea typeface="Arial" panose="020B0704020202020204"/>
              <a:cs typeface="Arial" panose="020B0704020202020204"/>
            </a:endParaRPr>
          </a:p>
        </p:txBody>
      </p:sp>
      <p:sp>
        <p:nvSpPr>
          <p:cNvPr id="34" name="TextBox 34"/>
          <p:cNvSpPr txBox="1"/>
          <p:nvPr/>
        </p:nvSpPr>
        <p:spPr>
          <a:xfrm>
            <a:off x="844868" y="5685949"/>
            <a:ext cx="5464397"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panose="020B0704020202020204"/>
                <a:ea typeface="Arial" panose="020B0704020202020204"/>
                <a:cs typeface="Arial" panose="020B0704020202020204"/>
              </a:rPr>
              <a:t>requestId, driverId, reason, rejectedAt (Theo dõi tỉ lệ bỏ trôi đơn của tài xế)</a:t>
            </a:r>
            <a:endParaRPr lang="zh-CN" sz="975" dirty="0">
              <a:solidFill>
                <a:srgbClr val="475569"/>
              </a:solidFill>
              <a:latin typeface="Arial" panose="020B0704020202020204"/>
              <a:ea typeface="Arial" panose="020B0704020202020204"/>
              <a:cs typeface="Arial" panose="020B0704020202020204"/>
            </a:endParaRPr>
          </a:p>
        </p:txBody>
      </p:sp>
      <p:sp>
        <p:nvSpPr>
          <p:cNvPr id="35" name="Freeform 35"/>
          <p:cNvSpPr/>
          <p:nvPr/>
        </p:nvSpPr>
        <p:spPr>
          <a:xfrm>
            <a:off x="6238875" y="1333500"/>
            <a:ext cx="5572125" cy="4810125"/>
          </a:xfrm>
          <a:custGeom>
            <a:avLst/>
            <a:gdLst/>
            <a:ahLst/>
            <a:cxnLst/>
            <a:rect l="l" t="t" r="r" b="b"/>
            <a:pathLst>
              <a:path w="5572125" h="4810125">
                <a:moveTo>
                  <a:pt x="95250" y="0"/>
                </a:moveTo>
                <a:lnTo>
                  <a:pt x="5476875" y="0"/>
                </a:lnTo>
                <a:cubicBezTo>
                  <a:pt x="5529480" y="0"/>
                  <a:pt x="5572125" y="42645"/>
                  <a:pt x="5572125" y="95250"/>
                </a:cubicBezTo>
                <a:lnTo>
                  <a:pt x="5572125" y="4714875"/>
                </a:lnTo>
                <a:cubicBezTo>
                  <a:pt x="5572125" y="4767480"/>
                  <a:pt x="5529480" y="4810125"/>
                  <a:pt x="5476875" y="4810125"/>
                </a:cubicBezTo>
                <a:lnTo>
                  <a:pt x="95250" y="4810125"/>
                </a:lnTo>
                <a:cubicBezTo>
                  <a:pt x="42645" y="4810125"/>
                  <a:pt x="0" y="4767480"/>
                  <a:pt x="0" y="4714875"/>
                </a:cubicBezTo>
                <a:lnTo>
                  <a:pt x="0" y="95250"/>
                </a:lnTo>
                <a:cubicBezTo>
                  <a:pt x="0" y="42645"/>
                  <a:pt x="42645" y="0"/>
                  <a:pt x="95250" y="0"/>
                </a:cubicBezTo>
                <a:close/>
              </a:path>
            </a:pathLst>
          </a:custGeom>
          <a:solidFill>
            <a:srgbClr val="FFFFFF"/>
          </a:solidFill>
          <a:ln w="14288">
            <a:solidFill>
              <a:srgbClr val="E2E8F0"/>
            </a:solidFill>
          </a:ln>
        </p:spPr>
      </p:sp>
      <p:sp>
        <p:nvSpPr>
          <p:cNvPr id="36" name="Freeform 36"/>
          <p:cNvSpPr/>
          <p:nvPr/>
        </p:nvSpPr>
        <p:spPr>
          <a:xfrm>
            <a:off x="6238875" y="1333500"/>
            <a:ext cx="5572125" cy="476250"/>
          </a:xfrm>
          <a:custGeom>
            <a:avLst/>
            <a:gdLst/>
            <a:ahLst/>
            <a:cxnLst/>
            <a:rect l="l" t="t" r="r" b="b"/>
            <a:pathLst>
              <a:path w="5572125" h="476250">
                <a:moveTo>
                  <a:pt x="95250" y="0"/>
                </a:moveTo>
                <a:lnTo>
                  <a:pt x="5476875" y="0"/>
                </a:lnTo>
                <a:cubicBezTo>
                  <a:pt x="5529480" y="0"/>
                  <a:pt x="5572125" y="42645"/>
                  <a:pt x="5572125" y="95250"/>
                </a:cubicBezTo>
                <a:lnTo>
                  <a:pt x="5572125" y="381000"/>
                </a:lnTo>
                <a:cubicBezTo>
                  <a:pt x="5572125" y="433605"/>
                  <a:pt x="5529480" y="476250"/>
                  <a:pt x="5476875" y="476250"/>
                </a:cubicBezTo>
                <a:lnTo>
                  <a:pt x="95250" y="476250"/>
                </a:lnTo>
                <a:cubicBezTo>
                  <a:pt x="42645" y="476250"/>
                  <a:pt x="0" y="433605"/>
                  <a:pt x="0" y="381000"/>
                </a:cubicBezTo>
                <a:lnTo>
                  <a:pt x="0" y="95250"/>
                </a:lnTo>
                <a:cubicBezTo>
                  <a:pt x="0" y="42645"/>
                  <a:pt x="42645" y="0"/>
                  <a:pt x="95250" y="0"/>
                </a:cubicBezTo>
                <a:close/>
              </a:path>
            </a:pathLst>
          </a:custGeom>
          <a:solidFill>
            <a:srgbClr val="F1F5F9"/>
          </a:solidFill>
          <a:ln>
            <a:noFill/>
          </a:ln>
        </p:spPr>
      </p:sp>
      <p:sp>
        <p:nvSpPr>
          <p:cNvPr id="37" name="Freeform 37"/>
          <p:cNvSpPr/>
          <p:nvPr/>
        </p:nvSpPr>
        <p:spPr>
          <a:xfrm>
            <a:off x="6600825" y="1471612"/>
            <a:ext cx="57150" cy="200025"/>
          </a:xfrm>
          <a:custGeom>
            <a:avLst/>
            <a:gdLst/>
            <a:ahLst/>
            <a:cxnLst/>
            <a:rect l="l" t="t" r="r" b="b"/>
            <a:pathLst>
              <a:path w="57150" h="200025">
                <a:moveTo>
                  <a:pt x="57150" y="0"/>
                </a:moveTo>
                <a:lnTo>
                  <a:pt x="0" y="0"/>
                </a:lnTo>
                <a:lnTo>
                  <a:pt x="0" y="200025"/>
                </a:lnTo>
                <a:lnTo>
                  <a:pt x="57150" y="200025"/>
                </a:lnTo>
                <a:lnTo>
                  <a:pt x="57150" y="0"/>
                </a:lnTo>
                <a:close/>
              </a:path>
            </a:pathLst>
          </a:custGeom>
          <a:solidFill>
            <a:srgbClr val="003366"/>
          </a:solidFill>
          <a:ln>
            <a:noFill/>
          </a:ln>
        </p:spPr>
      </p:sp>
      <p:sp>
        <p:nvSpPr>
          <p:cNvPr id="38" name="Freeform 38"/>
          <p:cNvSpPr/>
          <p:nvPr/>
        </p:nvSpPr>
        <p:spPr>
          <a:xfrm>
            <a:off x="6515100" y="1528762"/>
            <a:ext cx="57150" cy="142875"/>
          </a:xfrm>
          <a:custGeom>
            <a:avLst/>
            <a:gdLst/>
            <a:ahLst/>
            <a:cxnLst/>
            <a:rect l="l" t="t" r="r" b="b"/>
            <a:pathLst>
              <a:path w="57150" h="142875">
                <a:moveTo>
                  <a:pt x="0" y="0"/>
                </a:moveTo>
                <a:lnTo>
                  <a:pt x="57150" y="0"/>
                </a:lnTo>
                <a:lnTo>
                  <a:pt x="57150" y="142875"/>
                </a:lnTo>
                <a:lnTo>
                  <a:pt x="0" y="142875"/>
                </a:lnTo>
                <a:lnTo>
                  <a:pt x="0" y="0"/>
                </a:lnTo>
                <a:close/>
              </a:path>
            </a:pathLst>
          </a:custGeom>
          <a:solidFill>
            <a:srgbClr val="003366"/>
          </a:solidFill>
          <a:ln>
            <a:noFill/>
          </a:ln>
        </p:spPr>
      </p:sp>
      <p:sp>
        <p:nvSpPr>
          <p:cNvPr id="39" name="Freeform 39"/>
          <p:cNvSpPr/>
          <p:nvPr/>
        </p:nvSpPr>
        <p:spPr>
          <a:xfrm>
            <a:off x="6429375" y="1585912"/>
            <a:ext cx="57150" cy="85725"/>
          </a:xfrm>
          <a:custGeom>
            <a:avLst/>
            <a:gdLst/>
            <a:ahLst/>
            <a:cxnLst/>
            <a:rect l="l" t="t" r="r" b="b"/>
            <a:pathLst>
              <a:path w="57150" h="85725">
                <a:moveTo>
                  <a:pt x="0" y="0"/>
                </a:moveTo>
                <a:lnTo>
                  <a:pt x="57150" y="0"/>
                </a:lnTo>
                <a:lnTo>
                  <a:pt x="57150" y="85725"/>
                </a:lnTo>
                <a:lnTo>
                  <a:pt x="0" y="85725"/>
                </a:lnTo>
                <a:lnTo>
                  <a:pt x="0" y="0"/>
                </a:lnTo>
                <a:close/>
              </a:path>
            </a:pathLst>
          </a:custGeom>
          <a:solidFill>
            <a:srgbClr val="003366"/>
          </a:solidFill>
          <a:ln>
            <a:noFill/>
          </a:ln>
        </p:spPr>
      </p:sp>
      <p:sp>
        <p:nvSpPr>
          <p:cNvPr id="40" name="TextBox 40"/>
          <p:cNvSpPr txBox="1"/>
          <p:nvPr/>
        </p:nvSpPr>
        <p:spPr>
          <a:xfrm>
            <a:off x="6745605" y="1492568"/>
            <a:ext cx="4257618" cy="274320"/>
          </a:xfrm>
          <a:prstGeom prst="rect">
            <a:avLst/>
          </a:prstGeom>
          <a:noFill/>
          <a:ln>
            <a:noFill/>
          </a:ln>
        </p:spPr>
        <p:txBody>
          <a:bodyPr wrap="none" lIns="0" tIns="0" rIns="0" bIns="0" anchor="t" anchorCtr="0">
            <a:spAutoFit/>
          </a:bodyPr>
          <a:lstStyle/>
          <a:p>
            <a:pPr algn="l"/>
            <a:r>
              <a:rPr lang="zh-CN" sz="1350" b="1" dirty="0">
                <a:solidFill>
                  <a:srgbClr val="003366"/>
                </a:solidFill>
                <a:latin typeface="Arial" panose="020B0704020202020204"/>
                <a:ea typeface="Arial" panose="020B0704020202020204"/>
                <a:cs typeface="Arial" panose="020B0704020202020204"/>
              </a:rPr>
              <a:t>Quy tắc tính phí tự động &amp; Room Database</a:t>
            </a:r>
            <a:endParaRPr lang="zh-CN" sz="1350" b="1" dirty="0">
              <a:solidFill>
                <a:srgbClr val="003366"/>
              </a:solidFill>
              <a:latin typeface="Arial" panose="020B0704020202020204"/>
              <a:ea typeface="Arial" panose="020B0704020202020204"/>
              <a:cs typeface="Arial" panose="020B0704020202020204"/>
            </a:endParaRPr>
          </a:p>
        </p:txBody>
      </p:sp>
      <p:sp>
        <p:nvSpPr>
          <p:cNvPr id="41" name="Freeform 41"/>
          <p:cNvSpPr/>
          <p:nvPr/>
        </p:nvSpPr>
        <p:spPr>
          <a:xfrm>
            <a:off x="6429375" y="1952625"/>
            <a:ext cx="5191125" cy="1857375"/>
          </a:xfrm>
          <a:custGeom>
            <a:avLst/>
            <a:gdLst/>
            <a:ahLst/>
            <a:cxnLst/>
            <a:rect l="l" t="t" r="r" b="b"/>
            <a:pathLst>
              <a:path w="5191125" h="1857375">
                <a:moveTo>
                  <a:pt x="76200" y="0"/>
                </a:moveTo>
                <a:lnTo>
                  <a:pt x="5114925" y="0"/>
                </a:lnTo>
                <a:cubicBezTo>
                  <a:pt x="5157009" y="0"/>
                  <a:pt x="5191125" y="34116"/>
                  <a:pt x="5191125" y="76200"/>
                </a:cubicBezTo>
                <a:lnTo>
                  <a:pt x="5191125" y="1781175"/>
                </a:lnTo>
                <a:cubicBezTo>
                  <a:pt x="5191125" y="1823259"/>
                  <a:pt x="5157009" y="1857375"/>
                  <a:pt x="5114925" y="1857375"/>
                </a:cubicBezTo>
                <a:lnTo>
                  <a:pt x="76200" y="1857375"/>
                </a:lnTo>
                <a:cubicBezTo>
                  <a:pt x="34116" y="1857375"/>
                  <a:pt x="0" y="1823259"/>
                  <a:pt x="0" y="1781175"/>
                </a:cubicBezTo>
                <a:lnTo>
                  <a:pt x="0" y="76200"/>
                </a:lnTo>
                <a:cubicBezTo>
                  <a:pt x="0" y="34116"/>
                  <a:pt x="34116" y="0"/>
                  <a:pt x="76200" y="0"/>
                </a:cubicBezTo>
                <a:close/>
              </a:path>
            </a:pathLst>
          </a:custGeom>
          <a:solidFill>
            <a:srgbClr val="FFF7ED"/>
          </a:solidFill>
          <a:ln w="9525">
            <a:solidFill>
              <a:srgbClr val="FED7AA"/>
            </a:solidFill>
          </a:ln>
        </p:spPr>
      </p:sp>
      <p:sp>
        <p:nvSpPr>
          <p:cNvPr id="42" name="TextBox 42"/>
          <p:cNvSpPr txBox="1"/>
          <p:nvPr/>
        </p:nvSpPr>
        <p:spPr>
          <a:xfrm>
            <a:off x="6557010" y="2061210"/>
            <a:ext cx="4170998" cy="243840"/>
          </a:xfrm>
          <a:prstGeom prst="rect">
            <a:avLst/>
          </a:prstGeom>
          <a:noFill/>
          <a:ln>
            <a:noFill/>
          </a:ln>
        </p:spPr>
        <p:txBody>
          <a:bodyPr wrap="none" lIns="0" tIns="0" rIns="0" bIns="0" anchor="t" anchorCtr="0">
            <a:spAutoFit/>
          </a:bodyPr>
          <a:lstStyle/>
          <a:p>
            <a:pPr algn="l"/>
            <a:r>
              <a:rPr lang="zh-CN" sz="1200" b="1" dirty="0">
                <a:solidFill>
                  <a:srgbClr val="C2410C"/>
                </a:solidFill>
                <a:latin typeface="Arial" panose="020B0704020202020204"/>
                <a:ea typeface="Arial" panose="020B0704020202020204"/>
                <a:cs typeface="Arial" panose="020B0704020202020204"/>
              </a:rPr>
              <a:t>Công thức tính cước tự động (PricingService):</a:t>
            </a:r>
            <a:endParaRPr lang="zh-CN" sz="1200" b="1" dirty="0">
              <a:solidFill>
                <a:srgbClr val="C2410C"/>
              </a:solidFill>
              <a:latin typeface="Arial" panose="020B0704020202020204"/>
              <a:ea typeface="Arial" panose="020B0704020202020204"/>
              <a:cs typeface="Arial" panose="020B0704020202020204"/>
            </a:endParaRPr>
          </a:p>
        </p:txBody>
      </p:sp>
      <p:sp>
        <p:nvSpPr>
          <p:cNvPr id="43" name="Freeform 43"/>
          <p:cNvSpPr/>
          <p:nvPr/>
        </p:nvSpPr>
        <p:spPr>
          <a:xfrm>
            <a:off x="6572250" y="2333625"/>
            <a:ext cx="4905375" cy="400050"/>
          </a:xfrm>
          <a:custGeom>
            <a:avLst/>
            <a:gdLst/>
            <a:ahLst/>
            <a:cxnLst/>
            <a:rect l="l" t="t" r="r" b="b"/>
            <a:pathLst>
              <a:path w="4905375" h="400050">
                <a:moveTo>
                  <a:pt x="57150" y="0"/>
                </a:moveTo>
                <a:lnTo>
                  <a:pt x="4848225" y="0"/>
                </a:lnTo>
                <a:cubicBezTo>
                  <a:pt x="4879788" y="0"/>
                  <a:pt x="4905375" y="25587"/>
                  <a:pt x="4905375" y="57150"/>
                </a:cubicBezTo>
                <a:lnTo>
                  <a:pt x="4905375" y="342900"/>
                </a:lnTo>
                <a:cubicBezTo>
                  <a:pt x="4905375" y="374463"/>
                  <a:pt x="4879788" y="400050"/>
                  <a:pt x="4848225" y="400050"/>
                </a:cubicBezTo>
                <a:lnTo>
                  <a:pt x="57150" y="400050"/>
                </a:lnTo>
                <a:cubicBezTo>
                  <a:pt x="25587" y="400050"/>
                  <a:pt x="0" y="374463"/>
                  <a:pt x="0" y="342900"/>
                </a:cubicBezTo>
                <a:lnTo>
                  <a:pt x="0" y="57150"/>
                </a:lnTo>
                <a:cubicBezTo>
                  <a:pt x="0" y="25587"/>
                  <a:pt x="25587" y="0"/>
                  <a:pt x="57150" y="0"/>
                </a:cubicBezTo>
                <a:close/>
              </a:path>
            </a:pathLst>
          </a:custGeom>
          <a:solidFill>
            <a:srgbClr val="FFFFFF"/>
          </a:solidFill>
          <a:ln w="9525">
            <a:solidFill>
              <a:srgbClr val="FDBA74"/>
            </a:solidFill>
          </a:ln>
        </p:spPr>
      </p:sp>
      <p:sp>
        <p:nvSpPr>
          <p:cNvPr id="44" name="TextBox 44"/>
          <p:cNvSpPr txBox="1"/>
          <p:nvPr/>
        </p:nvSpPr>
        <p:spPr>
          <a:xfrm>
            <a:off x="6700838" y="2459831"/>
            <a:ext cx="5290483" cy="228600"/>
          </a:xfrm>
          <a:prstGeom prst="rect">
            <a:avLst/>
          </a:prstGeom>
          <a:noFill/>
          <a:ln>
            <a:noFill/>
          </a:ln>
        </p:spPr>
        <p:txBody>
          <a:bodyPr wrap="none" lIns="0" tIns="0" rIns="0" bIns="0" anchor="t" anchorCtr="0">
            <a:spAutoFit/>
          </a:bodyPr>
          <a:lstStyle/>
          <a:p>
            <a:pPr algn="l"/>
            <a:r>
              <a:rPr lang="zh-CN" sz="1125" b="1" dirty="0">
                <a:solidFill>
                  <a:srgbClr val="EA580C"/>
                </a:solidFill>
                <a:latin typeface="Arial" panose="020B0704020202020204"/>
                <a:ea typeface="Arial" panose="020B0704020202020204"/>
                <a:cs typeface="Arial" panose="020B0704020202020204"/>
              </a:rPr>
              <a:t>Tổng phí = Phí cơ bản (15.000đ) + [Khoảng cách (km) × 5.000đ]</a:t>
            </a:r>
            <a:endParaRPr lang="zh-CN" sz="1125" b="1" dirty="0">
              <a:solidFill>
                <a:srgbClr val="EA580C"/>
              </a:solidFill>
              <a:latin typeface="Arial" panose="020B0704020202020204"/>
              <a:ea typeface="Arial" panose="020B0704020202020204"/>
              <a:cs typeface="Arial" panose="020B0704020202020204"/>
            </a:endParaRPr>
          </a:p>
        </p:txBody>
      </p:sp>
      <p:sp>
        <p:nvSpPr>
          <p:cNvPr id="45" name="TextBox 45"/>
          <p:cNvSpPr txBox="1"/>
          <p:nvPr/>
        </p:nvSpPr>
        <p:spPr>
          <a:xfrm>
            <a:off x="6559391" y="2862501"/>
            <a:ext cx="4425017" cy="205740"/>
          </a:xfrm>
          <a:prstGeom prst="rect">
            <a:avLst/>
          </a:prstGeom>
          <a:noFill/>
          <a:ln>
            <a:noFill/>
          </a:ln>
        </p:spPr>
        <p:txBody>
          <a:bodyPr wrap="none" lIns="0" tIns="0" rIns="0" bIns="0" anchor="t" anchorCtr="0">
            <a:spAutoFit/>
          </a:bodyPr>
          <a:lstStyle/>
          <a:p>
            <a:pPr algn="l"/>
            <a:r>
              <a:rPr lang="zh-CN" sz="1010" dirty="0">
                <a:solidFill>
                  <a:srgbClr val="7C2D12"/>
                </a:solidFill>
                <a:latin typeface="Arial" panose="020B0704020202020204"/>
                <a:ea typeface="Arial" panose="020B0704020202020204"/>
                <a:cs typeface="Arial" panose="020B0704020202020204"/>
              </a:rPr>
              <a:t>• Phí cơ sở (Base Fee): 15.000 VNĐ áp dụng cho 2 km đầu tiên.</a:t>
            </a:r>
            <a:endParaRPr lang="zh-CN" sz="1010" dirty="0">
              <a:solidFill>
                <a:srgbClr val="7C2D12"/>
              </a:solidFill>
              <a:latin typeface="Arial" panose="020B0704020202020204"/>
              <a:ea typeface="Arial" panose="020B0704020202020204"/>
              <a:cs typeface="Arial" panose="020B0704020202020204"/>
            </a:endParaRPr>
          </a:p>
        </p:txBody>
      </p:sp>
      <p:sp>
        <p:nvSpPr>
          <p:cNvPr id="46" name="TextBox 46"/>
          <p:cNvSpPr txBox="1"/>
          <p:nvPr/>
        </p:nvSpPr>
        <p:spPr>
          <a:xfrm>
            <a:off x="6559391" y="3100626"/>
            <a:ext cx="4698587" cy="205740"/>
          </a:xfrm>
          <a:prstGeom prst="rect">
            <a:avLst/>
          </a:prstGeom>
          <a:noFill/>
          <a:ln>
            <a:noFill/>
          </a:ln>
        </p:spPr>
        <p:txBody>
          <a:bodyPr wrap="none" lIns="0" tIns="0" rIns="0" bIns="0" anchor="t" anchorCtr="0">
            <a:spAutoFit/>
          </a:bodyPr>
          <a:lstStyle/>
          <a:p>
            <a:pPr algn="l"/>
            <a:r>
              <a:rPr lang="zh-CN" sz="1010" dirty="0">
                <a:solidFill>
                  <a:srgbClr val="7C2D12"/>
                </a:solidFill>
                <a:latin typeface="Arial" panose="020B0704020202020204"/>
                <a:ea typeface="Arial" panose="020B0704020202020204"/>
                <a:cs typeface="Arial" panose="020B0704020202020204"/>
              </a:rPr>
              <a:t>• Phụ phí khoảng cách: 5.000 VNĐ cho mỗi km phát sinh tiếp theo.</a:t>
            </a:r>
            <a:endParaRPr lang="zh-CN" sz="1010" dirty="0">
              <a:solidFill>
                <a:srgbClr val="7C2D12"/>
              </a:solidFill>
              <a:latin typeface="Arial" panose="020B0704020202020204"/>
              <a:ea typeface="Arial" panose="020B0704020202020204"/>
              <a:cs typeface="Arial" panose="020B0704020202020204"/>
            </a:endParaRPr>
          </a:p>
        </p:txBody>
      </p:sp>
      <p:sp>
        <p:nvSpPr>
          <p:cNvPr id="47" name="TextBox 47"/>
          <p:cNvSpPr txBox="1"/>
          <p:nvPr/>
        </p:nvSpPr>
        <p:spPr>
          <a:xfrm>
            <a:off x="6559391" y="3338751"/>
            <a:ext cx="5822442" cy="205740"/>
          </a:xfrm>
          <a:prstGeom prst="rect">
            <a:avLst/>
          </a:prstGeom>
          <a:noFill/>
          <a:ln>
            <a:noFill/>
          </a:ln>
        </p:spPr>
        <p:txBody>
          <a:bodyPr wrap="none" lIns="0" tIns="0" rIns="0" bIns="0" anchor="t" anchorCtr="0">
            <a:spAutoFit/>
          </a:bodyPr>
          <a:lstStyle/>
          <a:p>
            <a:pPr algn="l"/>
            <a:r>
              <a:rPr lang="zh-CN" sz="1010" dirty="0">
                <a:solidFill>
                  <a:srgbClr val="7C2D12"/>
                </a:solidFill>
                <a:latin typeface="Arial" panose="020B0704020202020204"/>
                <a:ea typeface="Arial" panose="020B0704020202020204"/>
                <a:cs typeface="Arial" panose="020B0704020202020204"/>
              </a:rPr>
              <a:t>• Backend tự động đo khoảng cách theo công thức Haversine từ kinh độ/vĩ độ GPS.</a:t>
            </a:r>
            <a:endParaRPr lang="zh-CN" sz="1010" dirty="0">
              <a:solidFill>
                <a:srgbClr val="7C2D12"/>
              </a:solidFill>
              <a:latin typeface="Arial" panose="020B0704020202020204"/>
              <a:ea typeface="Arial" panose="020B0704020202020204"/>
              <a:cs typeface="Arial" panose="020B0704020202020204"/>
            </a:endParaRPr>
          </a:p>
        </p:txBody>
      </p:sp>
      <p:sp>
        <p:nvSpPr>
          <p:cNvPr id="48" name="TextBox 48"/>
          <p:cNvSpPr txBox="1"/>
          <p:nvPr/>
        </p:nvSpPr>
        <p:spPr>
          <a:xfrm>
            <a:off x="6559391" y="3576876"/>
            <a:ext cx="5467541" cy="205740"/>
          </a:xfrm>
          <a:prstGeom prst="rect">
            <a:avLst/>
          </a:prstGeom>
          <a:noFill/>
          <a:ln>
            <a:noFill/>
          </a:ln>
        </p:spPr>
        <p:txBody>
          <a:bodyPr wrap="none" lIns="0" tIns="0" rIns="0" bIns="0" anchor="t" anchorCtr="0">
            <a:spAutoFit/>
          </a:bodyPr>
          <a:lstStyle/>
          <a:p>
            <a:pPr algn="l"/>
            <a:r>
              <a:rPr lang="zh-CN" sz="1010" dirty="0">
                <a:solidFill>
                  <a:srgbClr val="7C2D12"/>
                </a:solidFill>
                <a:latin typeface="Arial" panose="020B0704020202020204"/>
                <a:ea typeface="Arial" panose="020B0704020202020204"/>
                <a:cs typeface="Arial" panose="020B0704020202020204"/>
              </a:rPr>
              <a:t>• Khách hàng nhận báo giá tức thì trên giao diện trước khi xác nhận đặt đơn.</a:t>
            </a:r>
            <a:endParaRPr lang="zh-CN" sz="1010" dirty="0">
              <a:solidFill>
                <a:srgbClr val="7C2D12"/>
              </a:solidFill>
              <a:latin typeface="Arial" panose="020B0704020202020204"/>
              <a:ea typeface="Arial" panose="020B0704020202020204"/>
              <a:cs typeface="Arial" panose="020B0704020202020204"/>
            </a:endParaRPr>
          </a:p>
        </p:txBody>
      </p:sp>
      <p:sp>
        <p:nvSpPr>
          <p:cNvPr id="49" name="Freeform 49"/>
          <p:cNvSpPr/>
          <p:nvPr/>
        </p:nvSpPr>
        <p:spPr>
          <a:xfrm>
            <a:off x="6429375" y="3952875"/>
            <a:ext cx="5191125" cy="2047875"/>
          </a:xfrm>
          <a:custGeom>
            <a:avLst/>
            <a:gdLst/>
            <a:ahLst/>
            <a:cxnLst/>
            <a:rect l="l" t="t" r="r" b="b"/>
            <a:pathLst>
              <a:path w="5191125" h="2047875">
                <a:moveTo>
                  <a:pt x="76200" y="0"/>
                </a:moveTo>
                <a:lnTo>
                  <a:pt x="5114925" y="0"/>
                </a:lnTo>
                <a:cubicBezTo>
                  <a:pt x="5157009" y="0"/>
                  <a:pt x="5191125" y="34116"/>
                  <a:pt x="5191125" y="76200"/>
                </a:cubicBezTo>
                <a:lnTo>
                  <a:pt x="5191125" y="1971675"/>
                </a:lnTo>
                <a:cubicBezTo>
                  <a:pt x="5191125" y="2013759"/>
                  <a:pt x="5157009" y="2047875"/>
                  <a:pt x="5114925" y="2047875"/>
                </a:cubicBezTo>
                <a:lnTo>
                  <a:pt x="76200" y="2047875"/>
                </a:lnTo>
                <a:cubicBezTo>
                  <a:pt x="34116" y="2047875"/>
                  <a:pt x="0" y="2013759"/>
                  <a:pt x="0" y="1971675"/>
                </a:cubicBezTo>
                <a:lnTo>
                  <a:pt x="0" y="76200"/>
                </a:lnTo>
                <a:cubicBezTo>
                  <a:pt x="0" y="34116"/>
                  <a:pt x="34116" y="0"/>
                  <a:pt x="76200" y="0"/>
                </a:cubicBezTo>
                <a:close/>
              </a:path>
            </a:pathLst>
          </a:custGeom>
          <a:solidFill>
            <a:srgbClr val="F8FAFC"/>
          </a:solidFill>
          <a:ln w="9525">
            <a:solidFill>
              <a:srgbClr val="E2E8F0"/>
            </a:solidFill>
          </a:ln>
        </p:spPr>
      </p:sp>
      <p:sp>
        <p:nvSpPr>
          <p:cNvPr id="50" name="TextBox 50"/>
          <p:cNvSpPr txBox="1"/>
          <p:nvPr/>
        </p:nvSpPr>
        <p:spPr>
          <a:xfrm>
            <a:off x="6557010" y="4061460"/>
            <a:ext cx="3858158" cy="243840"/>
          </a:xfrm>
          <a:prstGeom prst="rect">
            <a:avLst/>
          </a:prstGeom>
          <a:noFill/>
          <a:ln>
            <a:noFill/>
          </a:ln>
        </p:spPr>
        <p:txBody>
          <a:bodyPr wrap="none" lIns="0" tIns="0" rIns="0" bIns="0" anchor="t" anchorCtr="0">
            <a:spAutoFit/>
          </a:bodyPr>
          <a:lstStyle/>
          <a:p>
            <a:pPr algn="l"/>
            <a:r>
              <a:rPr lang="zh-CN" sz="1200" b="1" dirty="0">
                <a:solidFill>
                  <a:srgbClr val="003366"/>
                </a:solidFill>
                <a:latin typeface="Arial" panose="020B0704020202020204"/>
                <a:ea typeface="Arial" panose="020B0704020202020204"/>
                <a:cs typeface="Arial" panose="020B0704020202020204"/>
              </a:rPr>
              <a:t>Vai trò &amp; Vị trí của Room Database cục bộ:</a:t>
            </a:r>
            <a:endParaRPr lang="zh-CN" sz="1200" b="1" dirty="0">
              <a:solidFill>
                <a:srgbClr val="003366"/>
              </a:solidFill>
              <a:latin typeface="Arial" panose="020B0704020202020204"/>
              <a:ea typeface="Arial" panose="020B0704020202020204"/>
              <a:cs typeface="Arial" panose="020B0704020202020204"/>
            </a:endParaRPr>
          </a:p>
        </p:txBody>
      </p:sp>
      <p:sp>
        <p:nvSpPr>
          <p:cNvPr id="51" name="TextBox 51"/>
          <p:cNvSpPr txBox="1"/>
          <p:nvPr/>
        </p:nvSpPr>
        <p:spPr>
          <a:xfrm>
            <a:off x="6559391" y="4367451"/>
            <a:ext cx="5171789" cy="205740"/>
          </a:xfrm>
          <a:prstGeom prst="rect">
            <a:avLst/>
          </a:prstGeom>
          <a:noFill/>
          <a:ln>
            <a:noFill/>
          </a:ln>
        </p:spPr>
        <p:txBody>
          <a:bodyPr wrap="none" lIns="0" tIns="0" rIns="0" bIns="0" anchor="t" anchorCtr="0">
            <a:spAutoFit/>
          </a:bodyPr>
          <a:lstStyle/>
          <a:p>
            <a:pPr algn="l"/>
            <a:r>
              <a:rPr lang="zh-CN" sz="1010" dirty="0">
                <a:solidFill>
                  <a:srgbClr val="334155"/>
                </a:solidFill>
                <a:latin typeface="Arial" panose="020B0704020202020204"/>
                <a:ea typeface="Arial" panose="020B0704020202020204"/>
                <a:cs typeface="Arial" panose="020B0704020202020204"/>
              </a:rPr>
              <a:t>• AppDatabase v6 được giữ lại trên Android với các Entity và DAO sẵn có.</a:t>
            </a:r>
            <a:endParaRPr lang="zh-CN" sz="1010" dirty="0">
              <a:solidFill>
                <a:srgbClr val="334155"/>
              </a:solidFill>
              <a:latin typeface="Arial" panose="020B0704020202020204"/>
              <a:ea typeface="Arial" panose="020B0704020202020204"/>
              <a:cs typeface="Arial" panose="020B0704020202020204"/>
            </a:endParaRPr>
          </a:p>
        </p:txBody>
      </p:sp>
      <p:sp>
        <p:nvSpPr>
          <p:cNvPr id="52" name="TextBox 52"/>
          <p:cNvSpPr txBox="1"/>
          <p:nvPr/>
        </p:nvSpPr>
        <p:spPr>
          <a:xfrm>
            <a:off x="6559391" y="4653201"/>
            <a:ext cx="5822442" cy="205740"/>
          </a:xfrm>
          <a:prstGeom prst="rect">
            <a:avLst/>
          </a:prstGeom>
          <a:noFill/>
          <a:ln>
            <a:noFill/>
          </a:ln>
        </p:spPr>
        <p:txBody>
          <a:bodyPr wrap="none" lIns="0" tIns="0" rIns="0" bIns="0" anchor="t" anchorCtr="0">
            <a:spAutoFit/>
          </a:bodyPr>
          <a:lstStyle/>
          <a:p>
            <a:pPr algn="l"/>
            <a:r>
              <a:rPr lang="zh-CN" sz="1010" dirty="0">
                <a:solidFill>
                  <a:srgbClr val="334155"/>
                </a:solidFill>
                <a:latin typeface="Arial" panose="020B0704020202020204"/>
                <a:ea typeface="Arial" panose="020B0704020202020204"/>
                <a:cs typeface="Arial" panose="020B0704020202020204"/>
              </a:rPr>
              <a:t>• Nhiệm vụ chính: Lưu trữ cache hồ sơ tài khoản (bảng users) và thông tin phiên.</a:t>
            </a:r>
            <a:endParaRPr lang="zh-CN" sz="1010" dirty="0">
              <a:solidFill>
                <a:srgbClr val="334155"/>
              </a:solidFill>
              <a:latin typeface="Arial" panose="020B0704020202020204"/>
              <a:ea typeface="Arial" panose="020B0704020202020204"/>
              <a:cs typeface="Arial" panose="020B0704020202020204"/>
            </a:endParaRPr>
          </a:p>
        </p:txBody>
      </p:sp>
      <p:sp>
        <p:nvSpPr>
          <p:cNvPr id="53" name="TextBox 53"/>
          <p:cNvSpPr txBox="1"/>
          <p:nvPr/>
        </p:nvSpPr>
        <p:spPr>
          <a:xfrm>
            <a:off x="6559391" y="4938951"/>
            <a:ext cx="5925955" cy="205740"/>
          </a:xfrm>
          <a:prstGeom prst="rect">
            <a:avLst/>
          </a:prstGeom>
          <a:noFill/>
          <a:ln>
            <a:noFill/>
          </a:ln>
        </p:spPr>
        <p:txBody>
          <a:bodyPr wrap="none" lIns="0" tIns="0" rIns="0" bIns="0" anchor="t" anchorCtr="0">
            <a:spAutoFit/>
          </a:bodyPr>
          <a:lstStyle/>
          <a:p>
            <a:pPr algn="l"/>
            <a:r>
              <a:rPr lang="zh-CN" sz="1010" dirty="0">
                <a:solidFill>
                  <a:srgbClr val="334155"/>
                </a:solidFill>
                <a:latin typeface="Arial" panose="020B0704020202020204"/>
                <a:ea typeface="Arial" panose="020B0704020202020204"/>
                <a:cs typeface="Arial" panose="020B0704020202020204"/>
              </a:rPr>
              <a:t>• Giúp ứng dụng khởi động tức thì, hiển thị thông tin người dùng không cần chờ API.</a:t>
            </a:r>
            <a:endParaRPr lang="zh-CN" sz="1010" dirty="0">
              <a:solidFill>
                <a:srgbClr val="334155"/>
              </a:solidFill>
              <a:latin typeface="Arial" panose="020B0704020202020204"/>
              <a:ea typeface="Arial" panose="020B0704020202020204"/>
              <a:cs typeface="Arial" panose="020B0704020202020204"/>
            </a:endParaRPr>
          </a:p>
        </p:txBody>
      </p:sp>
      <p:sp>
        <p:nvSpPr>
          <p:cNvPr id="54" name="TextBox 54"/>
          <p:cNvSpPr txBox="1"/>
          <p:nvPr/>
        </p:nvSpPr>
        <p:spPr>
          <a:xfrm>
            <a:off x="6559391" y="5224701"/>
            <a:ext cx="3356246" cy="205740"/>
          </a:xfrm>
          <a:prstGeom prst="rect">
            <a:avLst/>
          </a:prstGeom>
          <a:noFill/>
          <a:ln>
            <a:noFill/>
          </a:ln>
        </p:spPr>
        <p:txBody>
          <a:bodyPr wrap="none" lIns="0" tIns="0" rIns="0" bIns="0" anchor="t" anchorCtr="0">
            <a:spAutoFit/>
          </a:bodyPr>
          <a:lstStyle/>
          <a:p>
            <a:pPr algn="l"/>
            <a:r>
              <a:rPr lang="zh-CN" sz="1010" b="1" dirty="0">
                <a:solidFill>
                  <a:srgbClr val="B91C1C"/>
                </a:solidFill>
                <a:latin typeface="Arial" panose="020B0704020202020204"/>
                <a:ea typeface="Arial" panose="020B0704020202020204"/>
                <a:cs typeface="Arial" panose="020B0704020202020204"/>
              </a:rPr>
              <a:t>⚠️ Điểm lưu ý quan trọng khi phản biện đồ án:</a:t>
            </a:r>
            <a:endParaRPr lang="zh-CN" sz="1010" b="1" dirty="0">
              <a:solidFill>
                <a:srgbClr val="B91C1C"/>
              </a:solidFill>
              <a:latin typeface="Arial" panose="020B0704020202020204"/>
              <a:ea typeface="Arial" panose="020B0704020202020204"/>
              <a:cs typeface="Arial" panose="020B0704020202020204"/>
            </a:endParaRPr>
          </a:p>
        </p:txBody>
      </p:sp>
      <p:sp>
        <p:nvSpPr>
          <p:cNvPr id="55" name="TextBox 55"/>
          <p:cNvSpPr txBox="1"/>
          <p:nvPr/>
        </p:nvSpPr>
        <p:spPr>
          <a:xfrm>
            <a:off x="6559868" y="5466874"/>
            <a:ext cx="4375047" cy="198120"/>
          </a:xfrm>
          <a:prstGeom prst="rect">
            <a:avLst/>
          </a:prstGeom>
          <a:noFill/>
          <a:ln>
            <a:noFill/>
          </a:ln>
        </p:spPr>
        <p:txBody>
          <a:bodyPr wrap="none" lIns="0" tIns="0" rIns="0" bIns="0" anchor="t" anchorCtr="0">
            <a:spAutoFit/>
          </a:bodyPr>
          <a:lstStyle/>
          <a:p>
            <a:pPr algn="l"/>
            <a:r>
              <a:rPr lang="zh-CN" sz="975" dirty="0">
                <a:solidFill>
                  <a:srgbClr val="7F1D1D"/>
                </a:solidFill>
                <a:latin typeface="Arial" panose="020B0704020202020204"/>
                <a:ea typeface="Arial" panose="020B0704020202020204"/>
                <a:cs typeface="Arial" panose="020B0704020202020204"/>
              </a:rPr>
              <a:t>• Toàn bộ dữ liệu đơn hàng đều lấy từ REST/MongoDB trực tuyến.</a:t>
            </a:r>
            <a:endParaRPr lang="zh-CN" sz="975" dirty="0">
              <a:solidFill>
                <a:srgbClr val="7F1D1D"/>
              </a:solidFill>
              <a:latin typeface="Arial" panose="020B0704020202020204"/>
              <a:ea typeface="Arial" panose="020B0704020202020204"/>
              <a:cs typeface="Arial" panose="020B0704020202020204"/>
            </a:endParaRPr>
          </a:p>
        </p:txBody>
      </p:sp>
      <p:sp>
        <p:nvSpPr>
          <p:cNvPr id="56" name="TextBox 56"/>
          <p:cNvSpPr txBox="1"/>
          <p:nvPr/>
        </p:nvSpPr>
        <p:spPr>
          <a:xfrm>
            <a:off x="6559868" y="5685949"/>
            <a:ext cx="5528477" cy="198120"/>
          </a:xfrm>
          <a:prstGeom prst="rect">
            <a:avLst/>
          </a:prstGeom>
          <a:noFill/>
          <a:ln>
            <a:noFill/>
          </a:ln>
        </p:spPr>
        <p:txBody>
          <a:bodyPr wrap="none" lIns="0" tIns="0" rIns="0" bIns="0" anchor="t" anchorCtr="0">
            <a:spAutoFit/>
          </a:bodyPr>
          <a:lstStyle/>
          <a:p>
            <a:pPr algn="l"/>
            <a:r>
              <a:rPr lang="zh-CN" sz="975" dirty="0">
                <a:solidFill>
                  <a:srgbClr val="7F1D1D"/>
                </a:solidFill>
                <a:latin typeface="Arial" panose="020B0704020202020204"/>
                <a:ea typeface="Arial" panose="020B0704020202020204"/>
                <a:cs typeface="Arial" panose="020B0704020202020204"/>
              </a:rPr>
              <a:t>• Không đọc ERD Room tuần đầu như sơ đồ triển khai cuối cùng của toàn hệ thống.</a:t>
            </a:r>
            <a:endParaRPr lang="zh-CN" sz="975" dirty="0">
              <a:solidFill>
                <a:srgbClr val="7F1D1D"/>
              </a:solidFill>
              <a:latin typeface="Arial" panose="020B0704020202020204"/>
              <a:ea typeface="Arial" panose="020B0704020202020204"/>
              <a:cs typeface="Arial" panose="020B0704020202020204"/>
            </a:endParaRPr>
          </a:p>
        </p:txBody>
      </p:sp>
      <p:sp>
        <p:nvSpPr>
          <p:cNvPr id="57" name="Line 57"/>
          <p:cNvSpPr/>
          <p:nvPr/>
        </p:nvSpPr>
        <p:spPr>
          <a:xfrm>
            <a:off x="381000" y="6334125"/>
            <a:ext cx="11430000" cy="9525"/>
          </a:xfrm>
          <a:custGeom>
            <a:avLst/>
            <a:gdLst/>
            <a:ahLst/>
            <a:cxnLst/>
            <a:rect l="l" t="t" r="r" b="b"/>
            <a:pathLst>
              <a:path w="11430000" h="9525">
                <a:moveTo>
                  <a:pt x="0" y="0"/>
                </a:moveTo>
                <a:lnTo>
                  <a:pt x="11430000" y="0"/>
                </a:lnTo>
              </a:path>
            </a:pathLst>
          </a:custGeom>
          <a:noFill/>
          <a:ln w="9525">
            <a:solidFill>
              <a:srgbClr val="CBD5E1"/>
            </a:solidFill>
          </a:ln>
        </p:spPr>
      </p:sp>
      <p:sp>
        <p:nvSpPr>
          <p:cNvPr id="58" name="TextBox 58"/>
          <p:cNvSpPr txBox="1"/>
          <p:nvPr/>
        </p:nvSpPr>
        <p:spPr>
          <a:xfrm>
            <a:off x="368618" y="6514624"/>
            <a:ext cx="3563374"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panose="020B0704020202020204"/>
                <a:ea typeface="Arial" panose="020B0704020202020204"/>
                <a:cs typeface="Arial" panose="020B0704020202020204"/>
              </a:rPr>
              <a:t>Báo cáo Đồ án Lập trình Di động (MOB402) • Nhóm 10</a:t>
            </a:r>
            <a:endParaRPr lang="zh-CN" sz="975" dirty="0">
              <a:solidFill>
                <a:srgbClr val="64748B"/>
              </a:solidFill>
              <a:latin typeface="Arial" panose="020B0704020202020204"/>
              <a:ea typeface="Arial" panose="020B0704020202020204"/>
              <a:cs typeface="Arial" panose="020B0704020202020204"/>
            </a:endParaRPr>
          </a:p>
        </p:txBody>
      </p:sp>
      <p:sp>
        <p:nvSpPr>
          <p:cNvPr id="59" name="TextBox 59"/>
          <p:cNvSpPr txBox="1"/>
          <p:nvPr/>
        </p:nvSpPr>
        <p:spPr>
          <a:xfrm>
            <a:off x="4912388" y="6514624"/>
            <a:ext cx="2367224" cy="198120"/>
          </a:xfrm>
          <a:prstGeom prst="rect">
            <a:avLst/>
          </a:prstGeom>
          <a:noFill/>
          <a:ln>
            <a:noFill/>
          </a:ln>
        </p:spPr>
        <p:txBody>
          <a:bodyPr wrap="none" lIns="0" tIns="0" rIns="0" bIns="0" anchor="t" anchorCtr="0">
            <a:spAutoFit/>
          </a:bodyPr>
          <a:lstStyle/>
          <a:p>
            <a:pPr algn="ctr"/>
            <a:r>
              <a:rPr lang="zh-CN" sz="975" dirty="0">
                <a:solidFill>
                  <a:srgbClr val="94A3B8"/>
                </a:solidFill>
                <a:latin typeface="Arial" panose="020B0704020202020204"/>
                <a:ea typeface="Arial" panose="020B0704020202020204"/>
                <a:cs typeface="Arial" panose="020B0704020202020204"/>
              </a:rPr>
              <a:t>Thiết kế Data Model &amp; Cơ sở dữ liệu</a:t>
            </a:r>
            <a:endParaRPr lang="zh-CN" sz="975" dirty="0">
              <a:solidFill>
                <a:srgbClr val="94A3B8"/>
              </a:solidFill>
              <a:latin typeface="Arial" panose="020B0704020202020204"/>
              <a:ea typeface="Arial" panose="020B0704020202020204"/>
              <a:cs typeface="Arial" panose="020B0704020202020204"/>
            </a:endParaRPr>
          </a:p>
        </p:txBody>
      </p:sp>
      <p:sp>
        <p:nvSpPr>
          <p:cNvPr id="60" name="TextBox 60"/>
          <p:cNvSpPr txBox="1"/>
          <p:nvPr/>
        </p:nvSpPr>
        <p:spPr>
          <a:xfrm>
            <a:off x="11298503" y="6506528"/>
            <a:ext cx="525832" cy="213360"/>
          </a:xfrm>
          <a:prstGeom prst="rect">
            <a:avLst/>
          </a:prstGeom>
          <a:noFill/>
          <a:ln>
            <a:noFill/>
          </a:ln>
        </p:spPr>
        <p:txBody>
          <a:bodyPr wrap="none" lIns="0" tIns="0" rIns="0" bIns="0" anchor="t" anchorCtr="0">
            <a:spAutoFit/>
          </a:bodyPr>
          <a:lstStyle/>
          <a:p>
            <a:pPr algn="r"/>
            <a:r>
              <a:rPr lang="zh-CN" sz="1050" b="1" dirty="0">
                <a:solidFill>
                  <a:srgbClr val="003366"/>
                </a:solidFill>
                <a:latin typeface="Arial" panose="020B0704020202020204"/>
                <a:ea typeface="Arial" panose="020B0704020202020204"/>
                <a:cs typeface="Arial" panose="020B0704020202020204"/>
              </a:rPr>
              <a:t>09 / 14</a:t>
            </a:r>
            <a:endParaRPr lang="zh-CN" sz="1050" b="1" dirty="0">
              <a:solidFill>
                <a:srgbClr val="003366"/>
              </a:solidFill>
              <a:latin typeface="Arial" panose="020B0704020202020204"/>
              <a:ea typeface="Arial" panose="020B0704020202020204"/>
              <a:cs typeface="Arial" panose="020B070402020202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858000"/>
          </a:xfrm>
          <a:prstGeom prst="rect">
            <a:avLst/>
          </a:prstGeom>
          <a:solidFill>
            <a:srgbClr val="F8FAFC"/>
          </a:solidFill>
          <a:ln>
            <a:noFill/>
          </a:ln>
        </p:spPr>
      </p:sp>
      <p:sp>
        <p:nvSpPr>
          <p:cNvPr id="4" name="Rectangle 4"/>
          <p:cNvSpPr/>
          <p:nvPr/>
        </p:nvSpPr>
        <p:spPr>
          <a:xfrm>
            <a:off x="0" y="0"/>
            <a:ext cx="12192000" cy="666750"/>
          </a:xfrm>
          <a:prstGeom prst="rect">
            <a:avLst/>
          </a:prstGeom>
          <a:solidFill>
            <a:srgbClr val="003366"/>
          </a:solidFill>
          <a:ln>
            <a:noFill/>
          </a:ln>
        </p:spPr>
      </p:sp>
      <p:sp>
        <p:nvSpPr>
          <p:cNvPr id="5" name="Rectangle 5"/>
          <p:cNvSpPr/>
          <p:nvPr/>
        </p:nvSpPr>
        <p:spPr>
          <a:xfrm>
            <a:off x="0" y="0"/>
            <a:ext cx="57150" cy="666750"/>
          </a:xfrm>
          <a:prstGeom prst="rect">
            <a:avLst/>
          </a:prstGeom>
          <a:solidFill>
            <a:srgbClr val="E65100"/>
          </a:solidFill>
          <a:ln>
            <a:noFill/>
          </a:ln>
        </p:spPr>
      </p:sp>
      <p:sp>
        <p:nvSpPr>
          <p:cNvPr id="6" name="TextBox 6"/>
          <p:cNvSpPr txBox="1"/>
          <p:nvPr/>
        </p:nvSpPr>
        <p:spPr>
          <a:xfrm>
            <a:off x="356235" y="227648"/>
            <a:ext cx="7196523" cy="396240"/>
          </a:xfrm>
          <a:prstGeom prst="rect">
            <a:avLst/>
          </a:prstGeom>
          <a:noFill/>
          <a:ln>
            <a:noFill/>
          </a:ln>
        </p:spPr>
        <p:txBody>
          <a:bodyPr wrap="none" lIns="0" tIns="0" rIns="0" bIns="0" anchor="t" anchorCtr="0">
            <a:spAutoFit/>
          </a:bodyPr>
          <a:lstStyle/>
          <a:p>
            <a:pPr algn="l"/>
            <a:r>
              <a:rPr lang="zh-CN" sz="1950" b="1" dirty="0">
                <a:solidFill>
                  <a:srgbClr val="FFFFFF"/>
                </a:solidFill>
                <a:latin typeface="Arial" panose="020B0704020202020204"/>
                <a:ea typeface="Arial" panose="020B0704020202020204"/>
                <a:cs typeface="Arial" panose="020B0704020202020204"/>
              </a:rPr>
              <a:t>05. SCREEN FLOW &amp; LUỒNG MÀN HÌNH THEO 3 VAI TRÒ</a:t>
            </a:r>
            <a:endParaRPr lang="zh-CN" sz="1950" b="1" dirty="0">
              <a:solidFill>
                <a:srgbClr val="FFFFFF"/>
              </a:solidFill>
              <a:latin typeface="Arial" panose="020B0704020202020204"/>
              <a:ea typeface="Arial" panose="020B0704020202020204"/>
              <a:cs typeface="Arial" panose="020B0704020202020204"/>
            </a:endParaRPr>
          </a:p>
        </p:txBody>
      </p:sp>
      <p:sp>
        <p:nvSpPr>
          <p:cNvPr id="7" name="TextBox 7"/>
          <p:cNvSpPr txBox="1"/>
          <p:nvPr/>
        </p:nvSpPr>
        <p:spPr>
          <a:xfrm>
            <a:off x="10295973" y="299085"/>
            <a:ext cx="1530267" cy="243840"/>
          </a:xfrm>
          <a:prstGeom prst="rect">
            <a:avLst/>
          </a:prstGeom>
          <a:noFill/>
          <a:ln>
            <a:noFill/>
          </a:ln>
        </p:spPr>
        <p:txBody>
          <a:bodyPr wrap="none" lIns="0" tIns="0" rIns="0" bIns="0" anchor="t" anchorCtr="0">
            <a:spAutoFit/>
          </a:bodyPr>
          <a:lstStyle/>
          <a:p>
            <a:pPr algn="r"/>
            <a:r>
              <a:rPr lang="zh-CN" sz="1200" b="1" dirty="0">
                <a:solidFill>
                  <a:srgbClr val="93C5FD"/>
                </a:solidFill>
                <a:latin typeface="Arial" panose="020B0704020202020204"/>
                <a:ea typeface="Arial" panose="020B0704020202020204"/>
                <a:cs typeface="Arial" panose="020B0704020202020204"/>
              </a:rPr>
              <a:t>GODROP DELIVERY</a:t>
            </a:r>
            <a:endParaRPr lang="zh-CN" sz="1200" b="1" dirty="0">
              <a:solidFill>
                <a:srgbClr val="93C5FD"/>
              </a:solidFill>
              <a:latin typeface="Arial" panose="020B0704020202020204"/>
              <a:ea typeface="Arial" panose="020B0704020202020204"/>
              <a:cs typeface="Arial" panose="020B0704020202020204"/>
            </a:endParaRPr>
          </a:p>
        </p:txBody>
      </p:sp>
      <p:sp>
        <p:nvSpPr>
          <p:cNvPr id="8" name="Rectangle 8"/>
          <p:cNvSpPr/>
          <p:nvPr/>
        </p:nvSpPr>
        <p:spPr>
          <a:xfrm>
            <a:off x="0" y="666750"/>
            <a:ext cx="12192000" cy="476250"/>
          </a:xfrm>
          <a:prstGeom prst="rect">
            <a:avLst/>
          </a:prstGeom>
          <a:solidFill>
            <a:srgbClr val="E8F4FC"/>
          </a:solidFill>
          <a:ln>
            <a:noFill/>
          </a:ln>
        </p:spPr>
      </p:sp>
      <p:sp>
        <p:nvSpPr>
          <p:cNvPr id="9" name="Rectangle 9"/>
          <p:cNvSpPr/>
          <p:nvPr/>
        </p:nvSpPr>
        <p:spPr>
          <a:xfrm>
            <a:off x="0" y="666750"/>
            <a:ext cx="57150" cy="476250"/>
          </a:xfrm>
          <a:prstGeom prst="rect">
            <a:avLst/>
          </a:prstGeom>
          <a:solidFill>
            <a:srgbClr val="0066CC"/>
          </a:solidFill>
          <a:ln>
            <a:noFill/>
          </a:ln>
        </p:spPr>
      </p:sp>
      <p:sp>
        <p:nvSpPr>
          <p:cNvPr id="10" name="TextBox 10"/>
          <p:cNvSpPr txBox="1"/>
          <p:nvPr/>
        </p:nvSpPr>
        <p:spPr>
          <a:xfrm>
            <a:off x="364808" y="824389"/>
            <a:ext cx="9324451" cy="259080"/>
          </a:xfrm>
          <a:prstGeom prst="rect">
            <a:avLst/>
          </a:prstGeom>
          <a:noFill/>
          <a:ln>
            <a:noFill/>
          </a:ln>
        </p:spPr>
        <p:txBody>
          <a:bodyPr wrap="none" lIns="0" tIns="0" rIns="0" bIns="0" anchor="t" anchorCtr="0">
            <a:spAutoFit/>
          </a:bodyPr>
          <a:lstStyle/>
          <a:p>
            <a:pPr algn="l"/>
            <a:r>
              <a:rPr lang="zh-CN" sz="1275" dirty="0">
                <a:solidFill>
                  <a:srgbClr val="0F172A"/>
                </a:solidFill>
                <a:latin typeface="Arial" panose="020B0704020202020204"/>
                <a:ea typeface="Arial" panose="020B0704020202020204"/>
                <a:cs typeface="Arial" panose="020B0704020202020204"/>
              </a:rPr>
              <a:t>Hệ thống điều hướng linh hoạt và tối ưu theo từng vai trò nghiệp vụ: Khách hàng, Tài xế và Quản trị viên</a:t>
            </a:r>
            <a:endParaRPr lang="zh-CN" sz="1275" dirty="0">
              <a:solidFill>
                <a:srgbClr val="0F172A"/>
              </a:solidFill>
              <a:latin typeface="Arial" panose="020B0704020202020204"/>
              <a:ea typeface="Arial" panose="020B0704020202020204"/>
              <a:cs typeface="Arial" panose="020B0704020202020204"/>
            </a:endParaRPr>
          </a:p>
        </p:txBody>
      </p:sp>
      <p:sp>
        <p:nvSpPr>
          <p:cNvPr id="11" name="Freeform 11"/>
          <p:cNvSpPr/>
          <p:nvPr/>
        </p:nvSpPr>
        <p:spPr>
          <a:xfrm>
            <a:off x="381000" y="1333500"/>
            <a:ext cx="3619500" cy="4810125"/>
          </a:xfrm>
          <a:custGeom>
            <a:avLst/>
            <a:gdLst/>
            <a:ahLst/>
            <a:cxnLst/>
            <a:rect l="l" t="t" r="r" b="b"/>
            <a:pathLst>
              <a:path w="3619500" h="4810125">
                <a:moveTo>
                  <a:pt x="95250" y="0"/>
                </a:moveTo>
                <a:lnTo>
                  <a:pt x="3524250" y="0"/>
                </a:lnTo>
                <a:cubicBezTo>
                  <a:pt x="3576855" y="0"/>
                  <a:pt x="3619500" y="42645"/>
                  <a:pt x="3619500" y="95250"/>
                </a:cubicBezTo>
                <a:lnTo>
                  <a:pt x="3619500" y="4714875"/>
                </a:lnTo>
                <a:cubicBezTo>
                  <a:pt x="3619500" y="4767480"/>
                  <a:pt x="3576855" y="4810125"/>
                  <a:pt x="3524250" y="4810125"/>
                </a:cubicBezTo>
                <a:lnTo>
                  <a:pt x="95250" y="4810125"/>
                </a:lnTo>
                <a:cubicBezTo>
                  <a:pt x="42645" y="4810125"/>
                  <a:pt x="0" y="4767480"/>
                  <a:pt x="0" y="4714875"/>
                </a:cubicBezTo>
                <a:lnTo>
                  <a:pt x="0" y="95250"/>
                </a:lnTo>
                <a:cubicBezTo>
                  <a:pt x="0" y="42645"/>
                  <a:pt x="42645" y="0"/>
                  <a:pt x="95250" y="0"/>
                </a:cubicBezTo>
                <a:close/>
              </a:path>
            </a:pathLst>
          </a:custGeom>
          <a:solidFill>
            <a:srgbClr val="FFFFFF"/>
          </a:solidFill>
          <a:ln w="14288">
            <a:solidFill>
              <a:srgbClr val="E2E8F0"/>
            </a:solidFill>
          </a:ln>
        </p:spPr>
      </p:sp>
      <p:sp>
        <p:nvSpPr>
          <p:cNvPr id="12" name="Freeform 12"/>
          <p:cNvSpPr/>
          <p:nvPr/>
        </p:nvSpPr>
        <p:spPr>
          <a:xfrm>
            <a:off x="381000" y="1333500"/>
            <a:ext cx="3619500" cy="476250"/>
          </a:xfrm>
          <a:custGeom>
            <a:avLst/>
            <a:gdLst/>
            <a:ahLst/>
            <a:cxnLst/>
            <a:rect l="l" t="t" r="r" b="b"/>
            <a:pathLst>
              <a:path w="3619500" h="476250">
                <a:moveTo>
                  <a:pt x="95250" y="0"/>
                </a:moveTo>
                <a:lnTo>
                  <a:pt x="3524250" y="0"/>
                </a:lnTo>
                <a:cubicBezTo>
                  <a:pt x="3576855" y="0"/>
                  <a:pt x="3619500" y="42645"/>
                  <a:pt x="3619500" y="95250"/>
                </a:cubicBezTo>
                <a:lnTo>
                  <a:pt x="3619500" y="381000"/>
                </a:lnTo>
                <a:cubicBezTo>
                  <a:pt x="3619500" y="433605"/>
                  <a:pt x="3576855" y="476250"/>
                  <a:pt x="3524250" y="476250"/>
                </a:cubicBezTo>
                <a:lnTo>
                  <a:pt x="95250" y="476250"/>
                </a:lnTo>
                <a:cubicBezTo>
                  <a:pt x="42645" y="476250"/>
                  <a:pt x="0" y="433605"/>
                  <a:pt x="0" y="381000"/>
                </a:cubicBezTo>
                <a:lnTo>
                  <a:pt x="0" y="95250"/>
                </a:lnTo>
                <a:cubicBezTo>
                  <a:pt x="0" y="42645"/>
                  <a:pt x="42645" y="0"/>
                  <a:pt x="95250" y="0"/>
                </a:cubicBezTo>
                <a:close/>
              </a:path>
            </a:pathLst>
          </a:custGeom>
          <a:solidFill>
            <a:srgbClr val="F1F5F9"/>
          </a:solidFill>
          <a:ln>
            <a:noFill/>
          </a:ln>
        </p:spPr>
      </p:sp>
      <p:sp>
        <p:nvSpPr>
          <p:cNvPr id="13" name="Freeform 13"/>
          <p:cNvSpPr/>
          <p:nvPr/>
        </p:nvSpPr>
        <p:spPr>
          <a:xfrm>
            <a:off x="381000" y="1333500"/>
            <a:ext cx="57150" cy="476250"/>
          </a:xfrm>
          <a:custGeom>
            <a:avLst/>
            <a:gdLst/>
            <a:ahLst/>
            <a:cxnLst/>
            <a:rect l="l" t="t" r="r" b="b"/>
            <a:pathLst>
              <a:path w="57150" h="476250">
                <a:moveTo>
                  <a:pt x="28575" y="0"/>
                </a:moveTo>
                <a:lnTo>
                  <a:pt x="28575" y="0"/>
                </a:lnTo>
                <a:cubicBezTo>
                  <a:pt x="44357" y="0"/>
                  <a:pt x="57150" y="12793"/>
                  <a:pt x="57150" y="28575"/>
                </a:cubicBezTo>
                <a:lnTo>
                  <a:pt x="57150" y="447675"/>
                </a:lnTo>
                <a:cubicBezTo>
                  <a:pt x="57150" y="463457"/>
                  <a:pt x="44357" y="476250"/>
                  <a:pt x="28575" y="476250"/>
                </a:cubicBezTo>
                <a:lnTo>
                  <a:pt x="28575" y="476250"/>
                </a:lnTo>
                <a:cubicBezTo>
                  <a:pt x="12793" y="476250"/>
                  <a:pt x="0" y="463457"/>
                  <a:pt x="0" y="447675"/>
                </a:cubicBezTo>
                <a:lnTo>
                  <a:pt x="0" y="28575"/>
                </a:lnTo>
                <a:cubicBezTo>
                  <a:pt x="0" y="12793"/>
                  <a:pt x="12793" y="0"/>
                  <a:pt x="28575" y="0"/>
                </a:cubicBezTo>
                <a:close/>
              </a:path>
            </a:pathLst>
          </a:custGeom>
          <a:solidFill>
            <a:srgbClr val="0066CC"/>
          </a:solidFill>
          <a:ln>
            <a:noFill/>
          </a:ln>
        </p:spPr>
      </p:sp>
      <p:sp>
        <p:nvSpPr>
          <p:cNvPr id="14" name="Freeform 14"/>
          <p:cNvSpPr/>
          <p:nvPr/>
        </p:nvSpPr>
        <p:spPr>
          <a:xfrm>
            <a:off x="642938" y="1471612"/>
            <a:ext cx="85725" cy="85725"/>
          </a:xfrm>
          <a:custGeom>
            <a:avLst/>
            <a:gdLst/>
            <a:ahLst/>
            <a:cxnLst/>
            <a:rect l="l" t="t" r="r" b="b"/>
            <a:pathLst>
              <a:path w="85725" h="85725">
                <a:moveTo>
                  <a:pt x="42862" y="85725"/>
                </a:moveTo>
                <a:cubicBezTo>
                  <a:pt x="66535" y="85725"/>
                  <a:pt x="85725" y="66535"/>
                  <a:pt x="85725" y="42862"/>
                </a:cubicBezTo>
                <a:cubicBezTo>
                  <a:pt x="85725" y="19190"/>
                  <a:pt x="66535" y="0"/>
                  <a:pt x="42862" y="0"/>
                </a:cubicBezTo>
                <a:cubicBezTo>
                  <a:pt x="19190" y="0"/>
                  <a:pt x="0" y="19190"/>
                  <a:pt x="0" y="42862"/>
                </a:cubicBezTo>
                <a:cubicBezTo>
                  <a:pt x="0" y="66535"/>
                  <a:pt x="19190" y="85725"/>
                  <a:pt x="42862" y="85725"/>
                </a:cubicBezTo>
                <a:close/>
              </a:path>
            </a:pathLst>
          </a:custGeom>
          <a:solidFill>
            <a:srgbClr val="0066CC"/>
          </a:solidFill>
          <a:ln>
            <a:noFill/>
          </a:ln>
        </p:spPr>
      </p:sp>
      <p:sp>
        <p:nvSpPr>
          <p:cNvPr id="15" name="Freeform 15"/>
          <p:cNvSpPr/>
          <p:nvPr/>
        </p:nvSpPr>
        <p:spPr>
          <a:xfrm>
            <a:off x="600075" y="1585912"/>
            <a:ext cx="171450" cy="85725"/>
          </a:xfrm>
          <a:custGeom>
            <a:avLst/>
            <a:gdLst/>
            <a:ahLst/>
            <a:cxnLst/>
            <a:rect l="l" t="t" r="r" b="b"/>
            <a:pathLst>
              <a:path w="171450" h="85725">
                <a:moveTo>
                  <a:pt x="171450" y="42862"/>
                </a:moveTo>
                <a:cubicBezTo>
                  <a:pt x="171450" y="19190"/>
                  <a:pt x="152260" y="0"/>
                  <a:pt x="128588" y="0"/>
                </a:cubicBezTo>
                <a:lnTo>
                  <a:pt x="42862" y="0"/>
                </a:lnTo>
                <a:cubicBezTo>
                  <a:pt x="19190" y="0"/>
                  <a:pt x="0" y="19190"/>
                  <a:pt x="0" y="42862"/>
                </a:cubicBezTo>
                <a:lnTo>
                  <a:pt x="0" y="85725"/>
                </a:lnTo>
                <a:lnTo>
                  <a:pt x="171450" y="85725"/>
                </a:lnTo>
                <a:lnTo>
                  <a:pt x="171450" y="42862"/>
                </a:lnTo>
                <a:close/>
              </a:path>
            </a:pathLst>
          </a:custGeom>
          <a:solidFill>
            <a:srgbClr val="0066CC"/>
          </a:solidFill>
          <a:ln>
            <a:noFill/>
          </a:ln>
        </p:spPr>
      </p:sp>
      <p:sp>
        <p:nvSpPr>
          <p:cNvPr id="16" name="TextBox 16"/>
          <p:cNvSpPr txBox="1"/>
          <p:nvPr/>
        </p:nvSpPr>
        <p:spPr>
          <a:xfrm>
            <a:off x="888682" y="1500664"/>
            <a:ext cx="2701294" cy="259080"/>
          </a:xfrm>
          <a:prstGeom prst="rect">
            <a:avLst/>
          </a:prstGeom>
          <a:noFill/>
          <a:ln>
            <a:noFill/>
          </a:ln>
        </p:spPr>
        <p:txBody>
          <a:bodyPr wrap="none" lIns="0" tIns="0" rIns="0" bIns="0" anchor="t" anchorCtr="0">
            <a:spAutoFit/>
          </a:bodyPr>
          <a:lstStyle/>
          <a:p>
            <a:pPr algn="l"/>
            <a:r>
              <a:rPr lang="zh-CN" sz="1275" b="1" dirty="0">
                <a:solidFill>
                  <a:srgbClr val="003366"/>
                </a:solidFill>
                <a:latin typeface="Arial" panose="020B0704020202020204"/>
                <a:ea typeface="Arial" panose="020B0704020202020204"/>
                <a:cs typeface="Arial" panose="020B0704020202020204"/>
              </a:rPr>
              <a:t>1. Luồng Khách hàng (Client)</a:t>
            </a:r>
            <a:endParaRPr lang="zh-CN" sz="1275" b="1" dirty="0">
              <a:solidFill>
                <a:srgbClr val="003366"/>
              </a:solidFill>
              <a:latin typeface="Arial" panose="020B0704020202020204"/>
              <a:ea typeface="Arial" panose="020B0704020202020204"/>
              <a:cs typeface="Arial" panose="020B0704020202020204"/>
            </a:endParaRPr>
          </a:p>
        </p:txBody>
      </p:sp>
      <p:sp>
        <p:nvSpPr>
          <p:cNvPr id="17" name="Freeform 17"/>
          <p:cNvSpPr/>
          <p:nvPr/>
        </p:nvSpPr>
        <p:spPr>
          <a:xfrm>
            <a:off x="571500" y="1952625"/>
            <a:ext cx="3238500" cy="666750"/>
          </a:xfrm>
          <a:custGeom>
            <a:avLst/>
            <a:gdLst/>
            <a:ahLst/>
            <a:cxnLst/>
            <a:rect l="l" t="t" r="r" b="b"/>
            <a:pathLst>
              <a:path w="3238500" h="666750">
                <a:moveTo>
                  <a:pt x="57150" y="0"/>
                </a:moveTo>
                <a:lnTo>
                  <a:pt x="3181350" y="0"/>
                </a:lnTo>
                <a:cubicBezTo>
                  <a:pt x="3212913" y="0"/>
                  <a:pt x="3238500" y="25587"/>
                  <a:pt x="3238500" y="57150"/>
                </a:cubicBezTo>
                <a:lnTo>
                  <a:pt x="3238500" y="609600"/>
                </a:lnTo>
                <a:cubicBezTo>
                  <a:pt x="3238500" y="641163"/>
                  <a:pt x="3212913" y="666750"/>
                  <a:pt x="3181350" y="666750"/>
                </a:cubicBezTo>
                <a:lnTo>
                  <a:pt x="57150" y="666750"/>
                </a:lnTo>
                <a:cubicBezTo>
                  <a:pt x="25587" y="666750"/>
                  <a:pt x="0" y="641163"/>
                  <a:pt x="0" y="609600"/>
                </a:cubicBezTo>
                <a:lnTo>
                  <a:pt x="0" y="57150"/>
                </a:lnTo>
                <a:cubicBezTo>
                  <a:pt x="0" y="25587"/>
                  <a:pt x="25587" y="0"/>
                  <a:pt x="57150" y="0"/>
                </a:cubicBezTo>
                <a:close/>
              </a:path>
            </a:pathLst>
          </a:custGeom>
          <a:solidFill>
            <a:srgbClr val="F8FAFC"/>
          </a:solidFill>
          <a:ln w="9525">
            <a:solidFill>
              <a:srgbClr val="E2E8F0"/>
            </a:solidFill>
          </a:ln>
        </p:spPr>
      </p:sp>
      <p:sp>
        <p:nvSpPr>
          <p:cNvPr id="18" name="TextBox 18"/>
          <p:cNvSpPr txBox="1"/>
          <p:nvPr/>
        </p:nvSpPr>
        <p:spPr>
          <a:xfrm>
            <a:off x="701040" y="2058352"/>
            <a:ext cx="2675451" cy="213360"/>
          </a:xfrm>
          <a:prstGeom prst="rect">
            <a:avLst/>
          </a:prstGeom>
          <a:noFill/>
          <a:ln>
            <a:noFill/>
          </a:ln>
        </p:spPr>
        <p:txBody>
          <a:bodyPr wrap="none" lIns="0" tIns="0" rIns="0" bIns="0" anchor="t" anchorCtr="0">
            <a:spAutoFit/>
          </a:bodyPr>
          <a:lstStyle/>
          <a:p>
            <a:pPr algn="l"/>
            <a:r>
              <a:rPr lang="zh-CN" sz="1050" b="1" dirty="0">
                <a:solidFill>
                  <a:srgbClr val="0066CC"/>
                </a:solidFill>
                <a:latin typeface="Arial" panose="020B0704020202020204"/>
                <a:ea typeface="Arial" panose="020B0704020202020204"/>
                <a:cs typeface="Arial" panose="020B0704020202020204"/>
              </a:rPr>
              <a:t>Màn hình Trang chủ (HomeScreen)</a:t>
            </a:r>
            <a:endParaRPr lang="zh-CN" sz="1050" b="1" dirty="0">
              <a:solidFill>
                <a:srgbClr val="0066CC"/>
              </a:solidFill>
              <a:latin typeface="Arial" panose="020B0704020202020204"/>
              <a:ea typeface="Arial" panose="020B0704020202020204"/>
              <a:cs typeface="Arial" panose="020B0704020202020204"/>
            </a:endParaRPr>
          </a:p>
        </p:txBody>
      </p:sp>
      <p:sp>
        <p:nvSpPr>
          <p:cNvPr id="19" name="TextBox 19"/>
          <p:cNvSpPr txBox="1"/>
          <p:nvPr/>
        </p:nvSpPr>
        <p:spPr>
          <a:xfrm>
            <a:off x="701992" y="2275999"/>
            <a:ext cx="2758821"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panose="020B0704020202020204"/>
                <a:ea typeface="Arial" panose="020B0704020202020204"/>
                <a:cs typeface="Arial" panose="020B0704020202020204"/>
              </a:rPr>
              <a:t>• Xem danh sách đơn hiện tại và lịch sử.</a:t>
            </a:r>
            <a:endParaRPr lang="zh-CN" sz="975" dirty="0">
              <a:solidFill>
                <a:srgbClr val="475569"/>
              </a:solidFill>
              <a:latin typeface="Arial" panose="020B0704020202020204"/>
              <a:ea typeface="Arial" panose="020B0704020202020204"/>
              <a:cs typeface="Arial" panose="020B0704020202020204"/>
            </a:endParaRPr>
          </a:p>
        </p:txBody>
      </p:sp>
      <p:sp>
        <p:nvSpPr>
          <p:cNvPr id="20" name="TextBox 20"/>
          <p:cNvSpPr txBox="1"/>
          <p:nvPr/>
        </p:nvSpPr>
        <p:spPr>
          <a:xfrm>
            <a:off x="701992" y="2447449"/>
            <a:ext cx="2538103"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panose="020B0704020202020204"/>
                <a:ea typeface="Arial" panose="020B0704020202020204"/>
                <a:cs typeface="Arial" panose="020B0704020202020204"/>
              </a:rPr>
              <a:t>• Nút bấm nhanh [Tạo đơn hàng mới].</a:t>
            </a:r>
            <a:endParaRPr lang="zh-CN" sz="975" dirty="0">
              <a:solidFill>
                <a:srgbClr val="475569"/>
              </a:solidFill>
              <a:latin typeface="Arial" panose="020B0704020202020204"/>
              <a:ea typeface="Arial" panose="020B0704020202020204"/>
              <a:cs typeface="Arial" panose="020B0704020202020204"/>
            </a:endParaRPr>
          </a:p>
        </p:txBody>
      </p:sp>
      <p:sp>
        <p:nvSpPr>
          <p:cNvPr id="21" name="Freeform 21"/>
          <p:cNvSpPr/>
          <p:nvPr/>
        </p:nvSpPr>
        <p:spPr>
          <a:xfrm>
            <a:off x="571500" y="2714625"/>
            <a:ext cx="3238500" cy="904875"/>
          </a:xfrm>
          <a:custGeom>
            <a:avLst/>
            <a:gdLst/>
            <a:ahLst/>
            <a:cxnLst/>
            <a:rect l="l" t="t" r="r" b="b"/>
            <a:pathLst>
              <a:path w="3238500" h="904875">
                <a:moveTo>
                  <a:pt x="57150" y="0"/>
                </a:moveTo>
                <a:lnTo>
                  <a:pt x="3181350" y="0"/>
                </a:lnTo>
                <a:cubicBezTo>
                  <a:pt x="3212913" y="0"/>
                  <a:pt x="3238500" y="25587"/>
                  <a:pt x="3238500" y="57150"/>
                </a:cubicBezTo>
                <a:lnTo>
                  <a:pt x="3238500" y="847725"/>
                </a:lnTo>
                <a:cubicBezTo>
                  <a:pt x="3238500" y="879288"/>
                  <a:pt x="3212913" y="904875"/>
                  <a:pt x="3181350" y="904875"/>
                </a:cubicBezTo>
                <a:lnTo>
                  <a:pt x="57150" y="904875"/>
                </a:lnTo>
                <a:cubicBezTo>
                  <a:pt x="25587" y="904875"/>
                  <a:pt x="0" y="879288"/>
                  <a:pt x="0" y="847725"/>
                </a:cubicBezTo>
                <a:lnTo>
                  <a:pt x="0" y="57150"/>
                </a:lnTo>
                <a:cubicBezTo>
                  <a:pt x="0" y="25587"/>
                  <a:pt x="25587" y="0"/>
                  <a:pt x="57150" y="0"/>
                </a:cubicBezTo>
                <a:close/>
              </a:path>
            </a:pathLst>
          </a:custGeom>
          <a:solidFill>
            <a:srgbClr val="EFF6FF"/>
          </a:solidFill>
          <a:ln w="9525">
            <a:solidFill>
              <a:srgbClr val="BFDBFE"/>
            </a:solidFill>
          </a:ln>
        </p:spPr>
      </p:sp>
      <p:sp>
        <p:nvSpPr>
          <p:cNvPr id="22" name="TextBox 22"/>
          <p:cNvSpPr txBox="1"/>
          <p:nvPr/>
        </p:nvSpPr>
        <p:spPr>
          <a:xfrm>
            <a:off x="701040" y="2820352"/>
            <a:ext cx="2675451" cy="213360"/>
          </a:xfrm>
          <a:prstGeom prst="rect">
            <a:avLst/>
          </a:prstGeom>
          <a:noFill/>
          <a:ln>
            <a:noFill/>
          </a:ln>
        </p:spPr>
        <p:txBody>
          <a:bodyPr wrap="none" lIns="0" tIns="0" rIns="0" bIns="0" anchor="t" anchorCtr="0">
            <a:spAutoFit/>
          </a:bodyPr>
          <a:lstStyle/>
          <a:p>
            <a:pPr algn="l"/>
            <a:r>
              <a:rPr lang="zh-CN" sz="1050" b="1" dirty="0">
                <a:solidFill>
                  <a:srgbClr val="1D4ED8"/>
                </a:solidFill>
                <a:latin typeface="Arial" panose="020B0704020202020204"/>
                <a:ea typeface="Arial" panose="020B0704020202020204"/>
                <a:cs typeface="Arial" panose="020B0704020202020204"/>
              </a:rPr>
              <a:t>Form Tạo đơn hàng (CreateOrder)</a:t>
            </a:r>
            <a:endParaRPr lang="zh-CN" sz="1050" b="1" dirty="0">
              <a:solidFill>
                <a:srgbClr val="1D4ED8"/>
              </a:solidFill>
              <a:latin typeface="Arial" panose="020B0704020202020204"/>
              <a:ea typeface="Arial" panose="020B0704020202020204"/>
              <a:cs typeface="Arial" panose="020B0704020202020204"/>
            </a:endParaRPr>
          </a:p>
        </p:txBody>
      </p:sp>
      <p:sp>
        <p:nvSpPr>
          <p:cNvPr id="23" name="TextBox 23"/>
          <p:cNvSpPr txBox="1"/>
          <p:nvPr/>
        </p:nvSpPr>
        <p:spPr>
          <a:xfrm>
            <a:off x="701992" y="3037999"/>
            <a:ext cx="3314176" cy="198120"/>
          </a:xfrm>
          <a:prstGeom prst="rect">
            <a:avLst/>
          </a:prstGeom>
          <a:noFill/>
          <a:ln>
            <a:noFill/>
          </a:ln>
        </p:spPr>
        <p:txBody>
          <a:bodyPr wrap="none" lIns="0" tIns="0" rIns="0" bIns="0" anchor="t" anchorCtr="0">
            <a:spAutoFit/>
          </a:bodyPr>
          <a:lstStyle/>
          <a:p>
            <a:pPr algn="l"/>
            <a:r>
              <a:rPr lang="zh-CN" sz="975" dirty="0">
                <a:solidFill>
                  <a:srgbClr val="1E40AF"/>
                </a:solidFill>
                <a:latin typeface="Arial" panose="020B0704020202020204"/>
                <a:ea typeface="Arial" panose="020B0704020202020204"/>
                <a:cs typeface="Arial" panose="020B0704020202020204"/>
              </a:rPr>
              <a:t>• Chọn điểm lấy/giao từ danh sách gợi ý địa chỉ.</a:t>
            </a:r>
            <a:endParaRPr lang="zh-CN" sz="975" dirty="0">
              <a:solidFill>
                <a:srgbClr val="1E40AF"/>
              </a:solidFill>
              <a:latin typeface="Arial" panose="020B0704020202020204"/>
              <a:ea typeface="Arial" panose="020B0704020202020204"/>
              <a:cs typeface="Arial" panose="020B0704020202020204"/>
            </a:endParaRPr>
          </a:p>
        </p:txBody>
      </p:sp>
      <p:sp>
        <p:nvSpPr>
          <p:cNvPr id="24" name="TextBox 24"/>
          <p:cNvSpPr txBox="1"/>
          <p:nvPr/>
        </p:nvSpPr>
        <p:spPr>
          <a:xfrm>
            <a:off x="701992" y="3228499"/>
            <a:ext cx="3826812" cy="198120"/>
          </a:xfrm>
          <a:prstGeom prst="rect">
            <a:avLst/>
          </a:prstGeom>
          <a:noFill/>
          <a:ln>
            <a:noFill/>
          </a:ln>
        </p:spPr>
        <p:txBody>
          <a:bodyPr wrap="none" lIns="0" tIns="0" rIns="0" bIns="0" anchor="t" anchorCtr="0">
            <a:spAutoFit/>
          </a:bodyPr>
          <a:lstStyle/>
          <a:p>
            <a:pPr algn="l"/>
            <a:r>
              <a:rPr lang="zh-CN" sz="975" dirty="0">
                <a:solidFill>
                  <a:srgbClr val="1E40AF"/>
                </a:solidFill>
                <a:latin typeface="Arial" panose="020B0704020202020204"/>
                <a:ea typeface="Arial" panose="020B0704020202020204"/>
                <a:cs typeface="Arial" panose="020B0704020202020204"/>
              </a:rPr>
              <a:t>• Nhập thông tin kiện hàng: tên, cân nặng, kích thước.</a:t>
            </a:r>
            <a:endParaRPr lang="zh-CN" sz="975" dirty="0">
              <a:solidFill>
                <a:srgbClr val="1E40AF"/>
              </a:solidFill>
              <a:latin typeface="Arial" panose="020B0704020202020204"/>
              <a:ea typeface="Arial" panose="020B0704020202020204"/>
              <a:cs typeface="Arial" panose="020B0704020202020204"/>
            </a:endParaRPr>
          </a:p>
        </p:txBody>
      </p:sp>
      <p:sp>
        <p:nvSpPr>
          <p:cNvPr id="25" name="TextBox 25"/>
          <p:cNvSpPr txBox="1"/>
          <p:nvPr/>
        </p:nvSpPr>
        <p:spPr>
          <a:xfrm>
            <a:off x="701992" y="3418999"/>
            <a:ext cx="3200257" cy="198120"/>
          </a:xfrm>
          <a:prstGeom prst="rect">
            <a:avLst/>
          </a:prstGeom>
          <a:noFill/>
          <a:ln>
            <a:noFill/>
          </a:ln>
        </p:spPr>
        <p:txBody>
          <a:bodyPr wrap="none" lIns="0" tIns="0" rIns="0" bIns="0" anchor="t" anchorCtr="0">
            <a:spAutoFit/>
          </a:bodyPr>
          <a:lstStyle/>
          <a:p>
            <a:pPr algn="l"/>
            <a:r>
              <a:rPr lang="zh-CN" sz="975" dirty="0">
                <a:solidFill>
                  <a:srgbClr val="1E40AF"/>
                </a:solidFill>
                <a:latin typeface="Arial" panose="020B0704020202020204"/>
                <a:ea typeface="Arial" panose="020B0704020202020204"/>
                <a:cs typeface="Arial" panose="020B0704020202020204"/>
              </a:rPr>
              <a:t>• Nhận báo giá cước tức thì từ PricingService.</a:t>
            </a:r>
            <a:endParaRPr lang="zh-CN" sz="975" dirty="0">
              <a:solidFill>
                <a:srgbClr val="1E40AF"/>
              </a:solidFill>
              <a:latin typeface="Arial" panose="020B0704020202020204"/>
              <a:ea typeface="Arial" panose="020B0704020202020204"/>
              <a:cs typeface="Arial" panose="020B0704020202020204"/>
            </a:endParaRPr>
          </a:p>
        </p:txBody>
      </p:sp>
      <p:sp>
        <p:nvSpPr>
          <p:cNvPr id="26" name="Freeform 26"/>
          <p:cNvSpPr/>
          <p:nvPr/>
        </p:nvSpPr>
        <p:spPr>
          <a:xfrm>
            <a:off x="571500" y="3714750"/>
            <a:ext cx="3238500" cy="762000"/>
          </a:xfrm>
          <a:custGeom>
            <a:avLst/>
            <a:gdLst/>
            <a:ahLst/>
            <a:cxnLst/>
            <a:rect l="l" t="t" r="r" b="b"/>
            <a:pathLst>
              <a:path w="3238500" h="762000">
                <a:moveTo>
                  <a:pt x="57150" y="0"/>
                </a:moveTo>
                <a:lnTo>
                  <a:pt x="3181350" y="0"/>
                </a:lnTo>
                <a:cubicBezTo>
                  <a:pt x="3212913" y="0"/>
                  <a:pt x="3238500" y="25587"/>
                  <a:pt x="3238500" y="57150"/>
                </a:cubicBezTo>
                <a:lnTo>
                  <a:pt x="3238500" y="704850"/>
                </a:lnTo>
                <a:cubicBezTo>
                  <a:pt x="3238500" y="736413"/>
                  <a:pt x="3212913" y="762000"/>
                  <a:pt x="3181350" y="762000"/>
                </a:cubicBezTo>
                <a:lnTo>
                  <a:pt x="57150" y="762000"/>
                </a:lnTo>
                <a:cubicBezTo>
                  <a:pt x="25587" y="762000"/>
                  <a:pt x="0" y="736413"/>
                  <a:pt x="0" y="704850"/>
                </a:cubicBezTo>
                <a:lnTo>
                  <a:pt x="0" y="57150"/>
                </a:lnTo>
                <a:cubicBezTo>
                  <a:pt x="0" y="25587"/>
                  <a:pt x="25587" y="0"/>
                  <a:pt x="57150" y="0"/>
                </a:cubicBezTo>
                <a:close/>
              </a:path>
            </a:pathLst>
          </a:custGeom>
          <a:solidFill>
            <a:srgbClr val="F8FAFC"/>
          </a:solidFill>
          <a:ln w="9525">
            <a:solidFill>
              <a:srgbClr val="E2E8F0"/>
            </a:solidFill>
          </a:ln>
        </p:spPr>
      </p:sp>
      <p:sp>
        <p:nvSpPr>
          <p:cNvPr id="27" name="TextBox 27"/>
          <p:cNvSpPr txBox="1"/>
          <p:nvPr/>
        </p:nvSpPr>
        <p:spPr>
          <a:xfrm>
            <a:off x="701040" y="3820478"/>
            <a:ext cx="2055524" cy="213360"/>
          </a:xfrm>
          <a:prstGeom prst="rect">
            <a:avLst/>
          </a:prstGeom>
          <a:noFill/>
          <a:ln>
            <a:noFill/>
          </a:ln>
        </p:spPr>
        <p:txBody>
          <a:bodyPr wrap="none" lIns="0" tIns="0" rIns="0" bIns="0" anchor="t" anchorCtr="0">
            <a:spAutoFit/>
          </a:bodyPr>
          <a:lstStyle/>
          <a:p>
            <a:pPr algn="l"/>
            <a:r>
              <a:rPr lang="zh-CN" sz="1050" b="1" dirty="0">
                <a:solidFill>
                  <a:srgbClr val="003366"/>
                </a:solidFill>
                <a:latin typeface="Arial" panose="020B0704020202020204"/>
                <a:ea typeface="Arial" panose="020B0704020202020204"/>
                <a:cs typeface="Arial" panose="020B0704020202020204"/>
              </a:rPr>
              <a:t>Theo dõi chi tiết &amp; Hủy đơn</a:t>
            </a:r>
            <a:endParaRPr lang="zh-CN" sz="1050" b="1" dirty="0">
              <a:solidFill>
                <a:srgbClr val="003366"/>
              </a:solidFill>
              <a:latin typeface="Arial" panose="020B0704020202020204"/>
              <a:ea typeface="Arial" panose="020B0704020202020204"/>
              <a:cs typeface="Arial" panose="020B0704020202020204"/>
            </a:endParaRPr>
          </a:p>
        </p:txBody>
      </p:sp>
      <p:sp>
        <p:nvSpPr>
          <p:cNvPr id="28" name="TextBox 28"/>
          <p:cNvSpPr txBox="1"/>
          <p:nvPr/>
        </p:nvSpPr>
        <p:spPr>
          <a:xfrm>
            <a:off x="701992" y="4038124"/>
            <a:ext cx="3271457"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panose="020B0704020202020204"/>
                <a:ea typeface="Arial" panose="020B0704020202020204"/>
                <a:cs typeface="Arial" panose="020B0704020202020204"/>
              </a:rPr>
              <a:t>• Xem tiến trình giao hàng theo thời gian thực.</a:t>
            </a:r>
            <a:endParaRPr lang="zh-CN" sz="975" dirty="0">
              <a:solidFill>
                <a:srgbClr val="475569"/>
              </a:solidFill>
              <a:latin typeface="Arial" panose="020B0704020202020204"/>
              <a:ea typeface="Arial" panose="020B0704020202020204"/>
              <a:cs typeface="Arial" panose="020B0704020202020204"/>
            </a:endParaRPr>
          </a:p>
        </p:txBody>
      </p:sp>
      <p:sp>
        <p:nvSpPr>
          <p:cNvPr id="29" name="TextBox 29"/>
          <p:cNvSpPr txBox="1"/>
          <p:nvPr/>
        </p:nvSpPr>
        <p:spPr>
          <a:xfrm>
            <a:off x="701992" y="4228624"/>
            <a:ext cx="3684413"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panose="020B0704020202020204"/>
                <a:ea typeface="Arial" panose="020B0704020202020204"/>
                <a:cs typeface="Arial" panose="020B0704020202020204"/>
              </a:rPr>
              <a:t>• Nút [Hủy đơn] chỉ hiển thị khi tài xế chưa lấy hàng.</a:t>
            </a:r>
            <a:endParaRPr lang="zh-CN" sz="975" dirty="0">
              <a:solidFill>
                <a:srgbClr val="475569"/>
              </a:solidFill>
              <a:latin typeface="Arial" panose="020B0704020202020204"/>
              <a:ea typeface="Arial" panose="020B0704020202020204"/>
              <a:cs typeface="Arial" panose="020B0704020202020204"/>
            </a:endParaRPr>
          </a:p>
        </p:txBody>
      </p:sp>
      <p:sp>
        <p:nvSpPr>
          <p:cNvPr id="30" name="Freeform 30"/>
          <p:cNvSpPr/>
          <p:nvPr/>
        </p:nvSpPr>
        <p:spPr>
          <a:xfrm>
            <a:off x="571500" y="4572000"/>
            <a:ext cx="3238500" cy="762000"/>
          </a:xfrm>
          <a:custGeom>
            <a:avLst/>
            <a:gdLst/>
            <a:ahLst/>
            <a:cxnLst/>
            <a:rect l="l" t="t" r="r" b="b"/>
            <a:pathLst>
              <a:path w="3238500" h="762000">
                <a:moveTo>
                  <a:pt x="57150" y="0"/>
                </a:moveTo>
                <a:lnTo>
                  <a:pt x="3181350" y="0"/>
                </a:lnTo>
                <a:cubicBezTo>
                  <a:pt x="3212913" y="0"/>
                  <a:pt x="3238500" y="25587"/>
                  <a:pt x="3238500" y="57150"/>
                </a:cubicBezTo>
                <a:lnTo>
                  <a:pt x="3238500" y="704850"/>
                </a:lnTo>
                <a:cubicBezTo>
                  <a:pt x="3238500" y="736413"/>
                  <a:pt x="3212913" y="762000"/>
                  <a:pt x="3181350" y="762000"/>
                </a:cubicBezTo>
                <a:lnTo>
                  <a:pt x="57150" y="762000"/>
                </a:lnTo>
                <a:cubicBezTo>
                  <a:pt x="25587" y="762000"/>
                  <a:pt x="0" y="736413"/>
                  <a:pt x="0" y="704850"/>
                </a:cubicBezTo>
                <a:lnTo>
                  <a:pt x="0" y="57150"/>
                </a:lnTo>
                <a:cubicBezTo>
                  <a:pt x="0" y="25587"/>
                  <a:pt x="25587" y="0"/>
                  <a:pt x="57150" y="0"/>
                </a:cubicBezTo>
                <a:close/>
              </a:path>
            </a:pathLst>
          </a:custGeom>
          <a:solidFill>
            <a:srgbClr val="F8FAFC"/>
          </a:solidFill>
          <a:ln w="9525">
            <a:solidFill>
              <a:srgbClr val="E2E8F0"/>
            </a:solidFill>
          </a:ln>
        </p:spPr>
      </p:sp>
      <p:sp>
        <p:nvSpPr>
          <p:cNvPr id="31" name="TextBox 31"/>
          <p:cNvSpPr txBox="1"/>
          <p:nvPr/>
        </p:nvSpPr>
        <p:spPr>
          <a:xfrm>
            <a:off x="701040" y="4677728"/>
            <a:ext cx="2578839" cy="213360"/>
          </a:xfrm>
          <a:prstGeom prst="rect">
            <a:avLst/>
          </a:prstGeom>
          <a:noFill/>
          <a:ln>
            <a:noFill/>
          </a:ln>
        </p:spPr>
        <p:txBody>
          <a:bodyPr wrap="none" lIns="0" tIns="0" rIns="0" bIns="0" anchor="t" anchorCtr="0">
            <a:spAutoFit/>
          </a:bodyPr>
          <a:lstStyle/>
          <a:p>
            <a:pPr algn="l"/>
            <a:r>
              <a:rPr lang="zh-CN" sz="1050" b="1" dirty="0">
                <a:solidFill>
                  <a:srgbClr val="003366"/>
                </a:solidFill>
                <a:latin typeface="Arial" panose="020B0704020202020204"/>
                <a:ea typeface="Arial" panose="020B0704020202020204"/>
                <a:cs typeface="Arial" panose="020B0704020202020204"/>
              </a:rPr>
              <a:t>Đánh giá tài xế (Rating &amp; Review)</a:t>
            </a:r>
            <a:endParaRPr lang="zh-CN" sz="1050" b="1" dirty="0">
              <a:solidFill>
                <a:srgbClr val="003366"/>
              </a:solidFill>
              <a:latin typeface="Arial" panose="020B0704020202020204"/>
              <a:ea typeface="Arial" panose="020B0704020202020204"/>
              <a:cs typeface="Arial" panose="020B0704020202020204"/>
            </a:endParaRPr>
          </a:p>
        </p:txBody>
      </p:sp>
      <p:sp>
        <p:nvSpPr>
          <p:cNvPr id="32" name="TextBox 32"/>
          <p:cNvSpPr txBox="1"/>
          <p:nvPr/>
        </p:nvSpPr>
        <p:spPr>
          <a:xfrm>
            <a:off x="701992" y="4895374"/>
            <a:ext cx="3221617"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panose="020B0704020202020204"/>
                <a:ea typeface="Arial" panose="020B0704020202020204"/>
                <a:cs typeface="Arial" panose="020B0704020202020204"/>
              </a:rPr>
              <a:t>• Sau khi đơn DA_GIAO, hiển thị form đánh giá.</a:t>
            </a:r>
            <a:endParaRPr lang="zh-CN" sz="975" dirty="0">
              <a:solidFill>
                <a:srgbClr val="475569"/>
              </a:solidFill>
              <a:latin typeface="Arial" panose="020B0704020202020204"/>
              <a:ea typeface="Arial" panose="020B0704020202020204"/>
              <a:cs typeface="Arial" panose="020B0704020202020204"/>
            </a:endParaRPr>
          </a:p>
        </p:txBody>
      </p:sp>
      <p:sp>
        <p:nvSpPr>
          <p:cNvPr id="33" name="TextBox 33"/>
          <p:cNvSpPr txBox="1"/>
          <p:nvPr/>
        </p:nvSpPr>
        <p:spPr>
          <a:xfrm>
            <a:off x="701992" y="5085874"/>
            <a:ext cx="3114818"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panose="020B0704020202020204"/>
                <a:ea typeface="Arial" panose="020B0704020202020204"/>
                <a:cs typeface="Arial" panose="020B0704020202020204"/>
              </a:rPr>
              <a:t>• Chấm điểm từ 1 đến 5 sao và để lại nhận xét.</a:t>
            </a:r>
            <a:endParaRPr lang="zh-CN" sz="975" dirty="0">
              <a:solidFill>
                <a:srgbClr val="475569"/>
              </a:solidFill>
              <a:latin typeface="Arial" panose="020B0704020202020204"/>
              <a:ea typeface="Arial" panose="020B0704020202020204"/>
              <a:cs typeface="Arial" panose="020B0704020202020204"/>
            </a:endParaRPr>
          </a:p>
        </p:txBody>
      </p:sp>
      <p:sp>
        <p:nvSpPr>
          <p:cNvPr id="34" name="Freeform 34"/>
          <p:cNvSpPr/>
          <p:nvPr/>
        </p:nvSpPr>
        <p:spPr>
          <a:xfrm>
            <a:off x="571500" y="5429250"/>
            <a:ext cx="3238500" cy="661035"/>
          </a:xfrm>
          <a:custGeom>
            <a:avLst/>
            <a:gdLst/>
            <a:ahLst/>
            <a:cxnLst/>
            <a:rect l="l" t="t" r="r" b="b"/>
            <a:pathLst>
              <a:path w="3238500" h="571500">
                <a:moveTo>
                  <a:pt x="57150" y="0"/>
                </a:moveTo>
                <a:lnTo>
                  <a:pt x="3181350" y="0"/>
                </a:lnTo>
                <a:cubicBezTo>
                  <a:pt x="3212913" y="0"/>
                  <a:pt x="3238500" y="25587"/>
                  <a:pt x="3238500" y="57150"/>
                </a:cubicBezTo>
                <a:lnTo>
                  <a:pt x="3238500" y="514350"/>
                </a:lnTo>
                <a:cubicBezTo>
                  <a:pt x="3238500" y="545913"/>
                  <a:pt x="3212913" y="571500"/>
                  <a:pt x="3181350" y="571500"/>
                </a:cubicBezTo>
                <a:lnTo>
                  <a:pt x="57150" y="571500"/>
                </a:lnTo>
                <a:cubicBezTo>
                  <a:pt x="25587" y="571500"/>
                  <a:pt x="0" y="545913"/>
                  <a:pt x="0" y="514350"/>
                </a:cubicBezTo>
                <a:lnTo>
                  <a:pt x="0" y="57150"/>
                </a:lnTo>
                <a:cubicBezTo>
                  <a:pt x="0" y="25587"/>
                  <a:pt x="25587" y="0"/>
                  <a:pt x="57150" y="0"/>
                </a:cubicBezTo>
                <a:close/>
              </a:path>
            </a:pathLst>
          </a:custGeom>
          <a:solidFill>
            <a:srgbClr val="F0FDF4"/>
          </a:solidFill>
          <a:ln w="9525">
            <a:solidFill>
              <a:srgbClr val="BBF7D0"/>
            </a:solidFill>
          </a:ln>
        </p:spPr>
      </p:sp>
      <p:sp>
        <p:nvSpPr>
          <p:cNvPr id="35" name="TextBox 35"/>
          <p:cNvSpPr txBox="1"/>
          <p:nvPr/>
        </p:nvSpPr>
        <p:spPr>
          <a:xfrm>
            <a:off x="701992" y="5543074"/>
            <a:ext cx="1841417" cy="198120"/>
          </a:xfrm>
          <a:prstGeom prst="rect">
            <a:avLst/>
          </a:prstGeom>
          <a:noFill/>
          <a:ln>
            <a:noFill/>
          </a:ln>
        </p:spPr>
        <p:txBody>
          <a:bodyPr wrap="none" lIns="0" tIns="0" rIns="0" bIns="0" anchor="t" anchorCtr="0">
            <a:spAutoFit/>
          </a:bodyPr>
          <a:lstStyle/>
          <a:p>
            <a:pPr algn="l"/>
            <a:r>
              <a:rPr lang="zh-CN" sz="975" b="1" dirty="0">
                <a:solidFill>
                  <a:srgbClr val="15803D"/>
                </a:solidFill>
                <a:latin typeface="Arial" panose="020B0704020202020204"/>
                <a:ea typeface="Arial" panose="020B0704020202020204"/>
                <a:cs typeface="Arial" panose="020B0704020202020204"/>
              </a:rPr>
              <a:t>Điểm nổi bật trải nghiệm:</a:t>
            </a:r>
            <a:endParaRPr lang="zh-CN" sz="975" b="1" dirty="0">
              <a:solidFill>
                <a:srgbClr val="15803D"/>
              </a:solidFill>
              <a:latin typeface="Arial" panose="020B0704020202020204"/>
              <a:ea typeface="Arial" panose="020B0704020202020204"/>
              <a:cs typeface="Arial" panose="020B0704020202020204"/>
            </a:endParaRPr>
          </a:p>
        </p:txBody>
      </p:sp>
      <p:sp>
        <p:nvSpPr>
          <p:cNvPr id="36" name="TextBox 36"/>
          <p:cNvSpPr txBox="1"/>
          <p:nvPr/>
        </p:nvSpPr>
        <p:spPr>
          <a:xfrm>
            <a:off x="702469" y="5737622"/>
            <a:ext cx="2712085" cy="288290"/>
          </a:xfrm>
          <a:prstGeom prst="rect">
            <a:avLst/>
          </a:prstGeom>
          <a:noFill/>
          <a:ln>
            <a:noFill/>
          </a:ln>
        </p:spPr>
        <p:txBody>
          <a:bodyPr wrap="none" lIns="0" tIns="0" rIns="0" bIns="0" anchor="t" anchorCtr="0">
            <a:spAutoFit/>
          </a:bodyPr>
          <a:lstStyle/>
          <a:p>
            <a:pPr algn="l"/>
            <a:r>
              <a:rPr lang="vi-VN" altLang="zh-CN" sz="940" dirty="0">
                <a:solidFill>
                  <a:srgbClr val="14532D"/>
                </a:solidFill>
                <a:latin typeface="Arial" panose="020B0704020202020204"/>
                <a:ea typeface="Arial" panose="020B0704020202020204"/>
                <a:cs typeface="Arial" panose="020B0704020202020204"/>
              </a:rPr>
              <a:t> </a:t>
            </a:r>
            <a:r>
              <a:rPr lang="zh-CN" sz="940" dirty="0">
                <a:solidFill>
                  <a:srgbClr val="14532D"/>
                </a:solidFill>
                <a:latin typeface="Arial" panose="020B0704020202020204"/>
                <a:ea typeface="Arial" panose="020B0704020202020204"/>
                <a:cs typeface="Arial" panose="020B0704020202020204"/>
              </a:rPr>
              <a:t>Bản nháp được giữ an toàn dù xoay màn hình hay</a:t>
            </a:r>
            <a:endParaRPr lang="zh-CN" sz="940" dirty="0">
              <a:solidFill>
                <a:srgbClr val="14532D"/>
              </a:solidFill>
              <a:latin typeface="Arial" panose="020B0704020202020204"/>
              <a:ea typeface="Arial" panose="020B0704020202020204"/>
              <a:cs typeface="Arial" panose="020B0704020202020204"/>
            </a:endParaRPr>
          </a:p>
          <a:p>
            <a:pPr algn="l"/>
            <a:r>
              <a:rPr lang="zh-CN" sz="940" dirty="0">
                <a:solidFill>
                  <a:srgbClr val="14532D"/>
                </a:solidFill>
                <a:latin typeface="Arial" panose="020B0704020202020204"/>
                <a:ea typeface="Arial" panose="020B0704020202020204"/>
                <a:cs typeface="Arial" panose="020B0704020202020204"/>
              </a:rPr>
              <a:t> chuyển tab.</a:t>
            </a:r>
            <a:endParaRPr lang="zh-CN" sz="940" dirty="0">
              <a:solidFill>
                <a:srgbClr val="14532D"/>
              </a:solidFill>
              <a:latin typeface="Arial" panose="020B0704020202020204"/>
              <a:ea typeface="Arial" panose="020B0704020202020204"/>
              <a:cs typeface="Arial" panose="020B0704020202020204"/>
            </a:endParaRPr>
          </a:p>
        </p:txBody>
      </p:sp>
      <p:sp>
        <p:nvSpPr>
          <p:cNvPr id="37" name="Freeform 37"/>
          <p:cNvSpPr/>
          <p:nvPr/>
        </p:nvSpPr>
        <p:spPr>
          <a:xfrm>
            <a:off x="4286250" y="1333500"/>
            <a:ext cx="3619500" cy="4810125"/>
          </a:xfrm>
          <a:custGeom>
            <a:avLst/>
            <a:gdLst/>
            <a:ahLst/>
            <a:cxnLst/>
            <a:rect l="l" t="t" r="r" b="b"/>
            <a:pathLst>
              <a:path w="3619500" h="4810125">
                <a:moveTo>
                  <a:pt x="95250" y="0"/>
                </a:moveTo>
                <a:lnTo>
                  <a:pt x="3524250" y="0"/>
                </a:lnTo>
                <a:cubicBezTo>
                  <a:pt x="3576855" y="0"/>
                  <a:pt x="3619500" y="42645"/>
                  <a:pt x="3619500" y="95250"/>
                </a:cubicBezTo>
                <a:lnTo>
                  <a:pt x="3619500" y="4714875"/>
                </a:lnTo>
                <a:cubicBezTo>
                  <a:pt x="3619500" y="4767480"/>
                  <a:pt x="3576855" y="4810125"/>
                  <a:pt x="3524250" y="4810125"/>
                </a:cubicBezTo>
                <a:lnTo>
                  <a:pt x="95250" y="4810125"/>
                </a:lnTo>
                <a:cubicBezTo>
                  <a:pt x="42645" y="4810125"/>
                  <a:pt x="0" y="4767480"/>
                  <a:pt x="0" y="4714875"/>
                </a:cubicBezTo>
                <a:lnTo>
                  <a:pt x="0" y="95250"/>
                </a:lnTo>
                <a:cubicBezTo>
                  <a:pt x="0" y="42645"/>
                  <a:pt x="42645" y="0"/>
                  <a:pt x="95250" y="0"/>
                </a:cubicBezTo>
                <a:close/>
              </a:path>
            </a:pathLst>
          </a:custGeom>
          <a:solidFill>
            <a:srgbClr val="FFFFFF"/>
          </a:solidFill>
          <a:ln w="14288">
            <a:solidFill>
              <a:srgbClr val="E2E8F0"/>
            </a:solidFill>
          </a:ln>
        </p:spPr>
      </p:sp>
      <p:sp>
        <p:nvSpPr>
          <p:cNvPr id="38" name="Freeform 38"/>
          <p:cNvSpPr/>
          <p:nvPr/>
        </p:nvSpPr>
        <p:spPr>
          <a:xfrm>
            <a:off x="4286250" y="1333500"/>
            <a:ext cx="3619500" cy="476250"/>
          </a:xfrm>
          <a:custGeom>
            <a:avLst/>
            <a:gdLst/>
            <a:ahLst/>
            <a:cxnLst/>
            <a:rect l="l" t="t" r="r" b="b"/>
            <a:pathLst>
              <a:path w="3619500" h="476250">
                <a:moveTo>
                  <a:pt x="95250" y="0"/>
                </a:moveTo>
                <a:lnTo>
                  <a:pt x="3524250" y="0"/>
                </a:lnTo>
                <a:cubicBezTo>
                  <a:pt x="3576855" y="0"/>
                  <a:pt x="3619500" y="42645"/>
                  <a:pt x="3619500" y="95250"/>
                </a:cubicBezTo>
                <a:lnTo>
                  <a:pt x="3619500" y="381000"/>
                </a:lnTo>
                <a:cubicBezTo>
                  <a:pt x="3619500" y="433605"/>
                  <a:pt x="3576855" y="476250"/>
                  <a:pt x="3524250" y="476250"/>
                </a:cubicBezTo>
                <a:lnTo>
                  <a:pt x="95250" y="476250"/>
                </a:lnTo>
                <a:cubicBezTo>
                  <a:pt x="42645" y="476250"/>
                  <a:pt x="0" y="433605"/>
                  <a:pt x="0" y="381000"/>
                </a:cubicBezTo>
                <a:lnTo>
                  <a:pt x="0" y="95250"/>
                </a:lnTo>
                <a:cubicBezTo>
                  <a:pt x="0" y="42645"/>
                  <a:pt x="42645" y="0"/>
                  <a:pt x="95250" y="0"/>
                </a:cubicBezTo>
                <a:close/>
              </a:path>
            </a:pathLst>
          </a:custGeom>
          <a:solidFill>
            <a:srgbClr val="F1F5F9"/>
          </a:solidFill>
          <a:ln>
            <a:noFill/>
          </a:ln>
        </p:spPr>
      </p:sp>
      <p:sp>
        <p:nvSpPr>
          <p:cNvPr id="39" name="Freeform 39"/>
          <p:cNvSpPr/>
          <p:nvPr/>
        </p:nvSpPr>
        <p:spPr>
          <a:xfrm>
            <a:off x="4286250" y="1333500"/>
            <a:ext cx="57150" cy="476250"/>
          </a:xfrm>
          <a:custGeom>
            <a:avLst/>
            <a:gdLst/>
            <a:ahLst/>
            <a:cxnLst/>
            <a:rect l="l" t="t" r="r" b="b"/>
            <a:pathLst>
              <a:path w="57150" h="476250">
                <a:moveTo>
                  <a:pt x="28575" y="0"/>
                </a:moveTo>
                <a:lnTo>
                  <a:pt x="28575" y="0"/>
                </a:lnTo>
                <a:cubicBezTo>
                  <a:pt x="44357" y="0"/>
                  <a:pt x="57150" y="12793"/>
                  <a:pt x="57150" y="28575"/>
                </a:cubicBezTo>
                <a:lnTo>
                  <a:pt x="57150" y="447675"/>
                </a:lnTo>
                <a:cubicBezTo>
                  <a:pt x="57150" y="463457"/>
                  <a:pt x="44357" y="476250"/>
                  <a:pt x="28575" y="476250"/>
                </a:cubicBezTo>
                <a:lnTo>
                  <a:pt x="28575" y="476250"/>
                </a:lnTo>
                <a:cubicBezTo>
                  <a:pt x="12793" y="476250"/>
                  <a:pt x="0" y="463457"/>
                  <a:pt x="0" y="447675"/>
                </a:cubicBezTo>
                <a:lnTo>
                  <a:pt x="0" y="28575"/>
                </a:lnTo>
                <a:cubicBezTo>
                  <a:pt x="0" y="12793"/>
                  <a:pt x="12793" y="0"/>
                  <a:pt x="28575" y="0"/>
                </a:cubicBezTo>
                <a:close/>
              </a:path>
            </a:pathLst>
          </a:custGeom>
          <a:solidFill>
            <a:srgbClr val="E65100"/>
          </a:solidFill>
          <a:ln>
            <a:noFill/>
          </a:ln>
        </p:spPr>
      </p:sp>
      <p:sp>
        <p:nvSpPr>
          <p:cNvPr id="40" name="Freeform 40"/>
          <p:cNvSpPr/>
          <p:nvPr/>
        </p:nvSpPr>
        <p:spPr>
          <a:xfrm>
            <a:off x="4476750" y="1485900"/>
            <a:ext cx="228600" cy="185738"/>
          </a:xfrm>
          <a:custGeom>
            <a:avLst/>
            <a:gdLst/>
            <a:ahLst/>
            <a:cxnLst/>
            <a:rect l="l" t="t" r="r" b="b"/>
            <a:pathLst>
              <a:path w="228600" h="185738">
                <a:moveTo>
                  <a:pt x="157162" y="0"/>
                </a:moveTo>
                <a:lnTo>
                  <a:pt x="0" y="0"/>
                </a:lnTo>
                <a:lnTo>
                  <a:pt x="0" y="157162"/>
                </a:lnTo>
                <a:lnTo>
                  <a:pt x="28575" y="157162"/>
                </a:lnTo>
                <a:cubicBezTo>
                  <a:pt x="28575" y="172944"/>
                  <a:pt x="41368" y="185738"/>
                  <a:pt x="57150" y="185738"/>
                </a:cubicBezTo>
                <a:cubicBezTo>
                  <a:pt x="72932" y="185738"/>
                  <a:pt x="85725" y="172944"/>
                  <a:pt x="85725" y="157162"/>
                </a:cubicBezTo>
                <a:lnTo>
                  <a:pt x="142875" y="157162"/>
                </a:lnTo>
                <a:cubicBezTo>
                  <a:pt x="142875" y="172944"/>
                  <a:pt x="155668" y="185738"/>
                  <a:pt x="171450" y="185738"/>
                </a:cubicBezTo>
                <a:cubicBezTo>
                  <a:pt x="187232" y="185738"/>
                  <a:pt x="200025" y="172944"/>
                  <a:pt x="200025" y="157162"/>
                </a:cubicBezTo>
                <a:lnTo>
                  <a:pt x="228600" y="157162"/>
                </a:lnTo>
                <a:lnTo>
                  <a:pt x="228600" y="85725"/>
                </a:lnTo>
                <a:cubicBezTo>
                  <a:pt x="228600" y="62053"/>
                  <a:pt x="209410" y="42862"/>
                  <a:pt x="185738" y="42862"/>
                </a:cubicBezTo>
                <a:lnTo>
                  <a:pt x="157162" y="42862"/>
                </a:lnTo>
                <a:lnTo>
                  <a:pt x="157162" y="0"/>
                </a:lnTo>
                <a:close/>
                <a:moveTo>
                  <a:pt x="157162" y="71438"/>
                </a:moveTo>
                <a:lnTo>
                  <a:pt x="157162" y="100012"/>
                </a:lnTo>
                <a:lnTo>
                  <a:pt x="200025" y="100012"/>
                </a:lnTo>
                <a:lnTo>
                  <a:pt x="200025" y="71438"/>
                </a:lnTo>
                <a:lnTo>
                  <a:pt x="157162" y="71438"/>
                </a:lnTo>
                <a:close/>
              </a:path>
            </a:pathLst>
          </a:custGeom>
          <a:solidFill>
            <a:srgbClr val="E65100"/>
          </a:solidFill>
          <a:ln>
            <a:noFill/>
          </a:ln>
        </p:spPr>
      </p:sp>
      <p:sp>
        <p:nvSpPr>
          <p:cNvPr id="41" name="TextBox 41"/>
          <p:cNvSpPr txBox="1"/>
          <p:nvPr/>
        </p:nvSpPr>
        <p:spPr>
          <a:xfrm>
            <a:off x="4793932" y="1500664"/>
            <a:ext cx="3248762" cy="259080"/>
          </a:xfrm>
          <a:prstGeom prst="rect">
            <a:avLst/>
          </a:prstGeom>
          <a:noFill/>
          <a:ln>
            <a:noFill/>
          </a:ln>
        </p:spPr>
        <p:txBody>
          <a:bodyPr wrap="none" lIns="0" tIns="0" rIns="0" bIns="0" anchor="t" anchorCtr="0">
            <a:spAutoFit/>
          </a:bodyPr>
          <a:lstStyle/>
          <a:p>
            <a:pPr algn="l"/>
            <a:r>
              <a:rPr lang="zh-CN" sz="1275" b="1" dirty="0">
                <a:solidFill>
                  <a:srgbClr val="003366"/>
                </a:solidFill>
                <a:latin typeface="Arial" panose="020B0704020202020204"/>
                <a:ea typeface="Arial" panose="020B0704020202020204"/>
                <a:cs typeface="Arial" panose="020B0704020202020204"/>
              </a:rPr>
              <a:t>2. Luồng Tài xế (Driver / Shipper)</a:t>
            </a:r>
            <a:endParaRPr lang="zh-CN" sz="1275" b="1" dirty="0">
              <a:solidFill>
                <a:srgbClr val="003366"/>
              </a:solidFill>
              <a:latin typeface="Arial" panose="020B0704020202020204"/>
              <a:ea typeface="Arial" panose="020B0704020202020204"/>
              <a:cs typeface="Arial" panose="020B0704020202020204"/>
            </a:endParaRPr>
          </a:p>
        </p:txBody>
      </p:sp>
      <p:sp>
        <p:nvSpPr>
          <p:cNvPr id="42" name="Freeform 42"/>
          <p:cNvSpPr/>
          <p:nvPr/>
        </p:nvSpPr>
        <p:spPr>
          <a:xfrm>
            <a:off x="4476750" y="1952625"/>
            <a:ext cx="3238500" cy="666750"/>
          </a:xfrm>
          <a:custGeom>
            <a:avLst/>
            <a:gdLst/>
            <a:ahLst/>
            <a:cxnLst/>
            <a:rect l="l" t="t" r="r" b="b"/>
            <a:pathLst>
              <a:path w="3238500" h="666750">
                <a:moveTo>
                  <a:pt x="57150" y="0"/>
                </a:moveTo>
                <a:lnTo>
                  <a:pt x="3181350" y="0"/>
                </a:lnTo>
                <a:cubicBezTo>
                  <a:pt x="3212913" y="0"/>
                  <a:pt x="3238500" y="25587"/>
                  <a:pt x="3238500" y="57150"/>
                </a:cubicBezTo>
                <a:lnTo>
                  <a:pt x="3238500" y="609600"/>
                </a:lnTo>
                <a:cubicBezTo>
                  <a:pt x="3238500" y="641163"/>
                  <a:pt x="3212913" y="666750"/>
                  <a:pt x="3181350" y="666750"/>
                </a:cubicBezTo>
                <a:lnTo>
                  <a:pt x="57150" y="666750"/>
                </a:lnTo>
                <a:cubicBezTo>
                  <a:pt x="25587" y="666750"/>
                  <a:pt x="0" y="641163"/>
                  <a:pt x="0" y="609600"/>
                </a:cubicBezTo>
                <a:lnTo>
                  <a:pt x="0" y="57150"/>
                </a:lnTo>
                <a:cubicBezTo>
                  <a:pt x="0" y="25587"/>
                  <a:pt x="25587" y="0"/>
                  <a:pt x="57150" y="0"/>
                </a:cubicBezTo>
                <a:close/>
              </a:path>
            </a:pathLst>
          </a:custGeom>
          <a:solidFill>
            <a:srgbClr val="F8FAFC"/>
          </a:solidFill>
          <a:ln w="9525">
            <a:solidFill>
              <a:srgbClr val="E2E8F0"/>
            </a:solidFill>
          </a:ln>
        </p:spPr>
      </p:sp>
      <p:sp>
        <p:nvSpPr>
          <p:cNvPr id="43" name="TextBox 43"/>
          <p:cNvSpPr txBox="1"/>
          <p:nvPr/>
        </p:nvSpPr>
        <p:spPr>
          <a:xfrm>
            <a:off x="4606290" y="2058352"/>
            <a:ext cx="2796216" cy="213360"/>
          </a:xfrm>
          <a:prstGeom prst="rect">
            <a:avLst/>
          </a:prstGeom>
          <a:noFill/>
          <a:ln>
            <a:noFill/>
          </a:ln>
        </p:spPr>
        <p:txBody>
          <a:bodyPr wrap="none" lIns="0" tIns="0" rIns="0" bIns="0" anchor="t" anchorCtr="0">
            <a:spAutoFit/>
          </a:bodyPr>
          <a:lstStyle/>
          <a:p>
            <a:pPr algn="l"/>
            <a:r>
              <a:rPr lang="zh-CN" sz="1050" b="1" dirty="0">
                <a:solidFill>
                  <a:srgbClr val="C2410C"/>
                </a:solidFill>
                <a:latin typeface="Arial" panose="020B0704020202020204"/>
                <a:ea typeface="Arial" panose="020B0704020202020204"/>
                <a:cs typeface="Arial" panose="020B0704020202020204"/>
              </a:rPr>
              <a:t>Bảng điều khiển tài xế (DriverHome)</a:t>
            </a:r>
            <a:endParaRPr lang="zh-CN" sz="1050" b="1" dirty="0">
              <a:solidFill>
                <a:srgbClr val="C2410C"/>
              </a:solidFill>
              <a:latin typeface="Arial" panose="020B0704020202020204"/>
              <a:ea typeface="Arial" panose="020B0704020202020204"/>
              <a:cs typeface="Arial" panose="020B0704020202020204"/>
            </a:endParaRPr>
          </a:p>
        </p:txBody>
      </p:sp>
      <p:sp>
        <p:nvSpPr>
          <p:cNvPr id="44" name="TextBox 44"/>
          <p:cNvSpPr txBox="1"/>
          <p:nvPr/>
        </p:nvSpPr>
        <p:spPr>
          <a:xfrm>
            <a:off x="4607242" y="2275999"/>
            <a:ext cx="3506414"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panose="020B0704020202020204"/>
                <a:ea typeface="Arial" panose="020B0704020202020204"/>
                <a:cs typeface="Arial" panose="020B0704020202020204"/>
              </a:rPr>
              <a:t>• Bật/tắt trạng thái Sẵn sàng (AVAILABLE / BUSY).</a:t>
            </a:r>
            <a:endParaRPr lang="zh-CN" sz="975" dirty="0">
              <a:solidFill>
                <a:srgbClr val="475569"/>
              </a:solidFill>
              <a:latin typeface="Arial" panose="020B0704020202020204"/>
              <a:ea typeface="Arial" panose="020B0704020202020204"/>
              <a:cs typeface="Arial" panose="020B0704020202020204"/>
            </a:endParaRPr>
          </a:p>
        </p:txBody>
      </p:sp>
      <p:sp>
        <p:nvSpPr>
          <p:cNvPr id="45" name="TextBox 45"/>
          <p:cNvSpPr txBox="1"/>
          <p:nvPr/>
        </p:nvSpPr>
        <p:spPr>
          <a:xfrm>
            <a:off x="4607242" y="2447449"/>
            <a:ext cx="3200257"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panose="020B0704020202020204"/>
                <a:ea typeface="Arial" panose="020B0704020202020204"/>
                <a:cs typeface="Arial" panose="020B0704020202020204"/>
              </a:rPr>
              <a:t>• Thẻ hiển thị chuyến đang phụ trách hiện tại.</a:t>
            </a:r>
            <a:endParaRPr lang="zh-CN" sz="975" dirty="0">
              <a:solidFill>
                <a:srgbClr val="475569"/>
              </a:solidFill>
              <a:latin typeface="Arial" panose="020B0704020202020204"/>
              <a:ea typeface="Arial" panose="020B0704020202020204"/>
              <a:cs typeface="Arial" panose="020B0704020202020204"/>
            </a:endParaRPr>
          </a:p>
        </p:txBody>
      </p:sp>
      <p:sp>
        <p:nvSpPr>
          <p:cNvPr id="46" name="Freeform 46"/>
          <p:cNvSpPr/>
          <p:nvPr/>
        </p:nvSpPr>
        <p:spPr>
          <a:xfrm>
            <a:off x="4476750" y="2714625"/>
            <a:ext cx="3238500" cy="904875"/>
          </a:xfrm>
          <a:custGeom>
            <a:avLst/>
            <a:gdLst/>
            <a:ahLst/>
            <a:cxnLst/>
            <a:rect l="l" t="t" r="r" b="b"/>
            <a:pathLst>
              <a:path w="3238500" h="904875">
                <a:moveTo>
                  <a:pt x="57150" y="0"/>
                </a:moveTo>
                <a:lnTo>
                  <a:pt x="3181350" y="0"/>
                </a:lnTo>
                <a:cubicBezTo>
                  <a:pt x="3212913" y="0"/>
                  <a:pt x="3238500" y="25587"/>
                  <a:pt x="3238500" y="57150"/>
                </a:cubicBezTo>
                <a:lnTo>
                  <a:pt x="3238500" y="847725"/>
                </a:lnTo>
                <a:cubicBezTo>
                  <a:pt x="3238500" y="879288"/>
                  <a:pt x="3212913" y="904875"/>
                  <a:pt x="3181350" y="904875"/>
                </a:cubicBezTo>
                <a:lnTo>
                  <a:pt x="57150" y="904875"/>
                </a:lnTo>
                <a:cubicBezTo>
                  <a:pt x="25587" y="904875"/>
                  <a:pt x="0" y="879288"/>
                  <a:pt x="0" y="847725"/>
                </a:cubicBezTo>
                <a:lnTo>
                  <a:pt x="0" y="57150"/>
                </a:lnTo>
                <a:cubicBezTo>
                  <a:pt x="0" y="25587"/>
                  <a:pt x="25587" y="0"/>
                  <a:pt x="57150" y="0"/>
                </a:cubicBezTo>
                <a:close/>
              </a:path>
            </a:pathLst>
          </a:custGeom>
          <a:solidFill>
            <a:srgbClr val="FFF7ED"/>
          </a:solidFill>
          <a:ln w="9525">
            <a:solidFill>
              <a:srgbClr val="FED7AA"/>
            </a:solidFill>
          </a:ln>
        </p:spPr>
      </p:sp>
      <p:sp>
        <p:nvSpPr>
          <p:cNvPr id="47" name="TextBox 47"/>
          <p:cNvSpPr txBox="1"/>
          <p:nvPr/>
        </p:nvSpPr>
        <p:spPr>
          <a:xfrm>
            <a:off x="4606290" y="2820352"/>
            <a:ext cx="2264850" cy="213360"/>
          </a:xfrm>
          <a:prstGeom prst="rect">
            <a:avLst/>
          </a:prstGeom>
          <a:noFill/>
          <a:ln>
            <a:noFill/>
          </a:ln>
        </p:spPr>
        <p:txBody>
          <a:bodyPr wrap="none" lIns="0" tIns="0" rIns="0" bIns="0" anchor="t" anchorCtr="0">
            <a:spAutoFit/>
          </a:bodyPr>
          <a:lstStyle/>
          <a:p>
            <a:pPr algn="l"/>
            <a:r>
              <a:rPr lang="zh-CN" sz="1050" b="1" dirty="0">
                <a:solidFill>
                  <a:srgbClr val="C2410C"/>
                </a:solidFill>
                <a:latin typeface="Arial" panose="020B0704020202020204"/>
                <a:ea typeface="Arial" panose="020B0704020202020204"/>
                <a:cs typeface="Arial" panose="020B0704020202020204"/>
              </a:rPr>
              <a:t>Danh sách đơn chờ &amp; Nhận đơn</a:t>
            </a:r>
            <a:endParaRPr lang="zh-CN" sz="1050" b="1" dirty="0">
              <a:solidFill>
                <a:srgbClr val="C2410C"/>
              </a:solidFill>
              <a:latin typeface="Arial" panose="020B0704020202020204"/>
              <a:ea typeface="Arial" panose="020B0704020202020204"/>
              <a:cs typeface="Arial" panose="020B0704020202020204"/>
            </a:endParaRPr>
          </a:p>
        </p:txBody>
      </p:sp>
      <p:sp>
        <p:nvSpPr>
          <p:cNvPr id="48" name="TextBox 48"/>
          <p:cNvSpPr txBox="1"/>
          <p:nvPr/>
        </p:nvSpPr>
        <p:spPr>
          <a:xfrm>
            <a:off x="4607242" y="3037999"/>
            <a:ext cx="3577614" cy="198120"/>
          </a:xfrm>
          <a:prstGeom prst="rect">
            <a:avLst/>
          </a:prstGeom>
          <a:noFill/>
          <a:ln>
            <a:noFill/>
          </a:ln>
        </p:spPr>
        <p:txBody>
          <a:bodyPr wrap="none" lIns="0" tIns="0" rIns="0" bIns="0" anchor="t" anchorCtr="0">
            <a:spAutoFit/>
          </a:bodyPr>
          <a:lstStyle/>
          <a:p>
            <a:pPr algn="l"/>
            <a:r>
              <a:rPr lang="zh-CN" sz="975" dirty="0">
                <a:solidFill>
                  <a:srgbClr val="7C2D12"/>
                </a:solidFill>
                <a:latin typeface="Arial" panose="020B0704020202020204"/>
                <a:ea typeface="Arial" panose="020B0704020202020204"/>
                <a:cs typeface="Arial" panose="020B0704020202020204"/>
              </a:rPr>
              <a:t>• Lọc các đơn CHO_TIEP_NHAN trong khu vực lân cận.</a:t>
            </a:r>
            <a:endParaRPr lang="zh-CN" sz="975" dirty="0">
              <a:solidFill>
                <a:srgbClr val="7C2D12"/>
              </a:solidFill>
              <a:latin typeface="Arial" panose="020B0704020202020204"/>
              <a:ea typeface="Arial" panose="020B0704020202020204"/>
              <a:cs typeface="Arial" panose="020B0704020202020204"/>
            </a:endParaRPr>
          </a:p>
        </p:txBody>
      </p:sp>
      <p:sp>
        <p:nvSpPr>
          <p:cNvPr id="49" name="TextBox 49"/>
          <p:cNvSpPr txBox="1"/>
          <p:nvPr/>
        </p:nvSpPr>
        <p:spPr>
          <a:xfrm>
            <a:off x="4607242" y="3228499"/>
            <a:ext cx="3150418" cy="198120"/>
          </a:xfrm>
          <a:prstGeom prst="rect">
            <a:avLst/>
          </a:prstGeom>
          <a:noFill/>
          <a:ln>
            <a:noFill/>
          </a:ln>
        </p:spPr>
        <p:txBody>
          <a:bodyPr wrap="none" lIns="0" tIns="0" rIns="0" bIns="0" anchor="t" anchorCtr="0">
            <a:spAutoFit/>
          </a:bodyPr>
          <a:lstStyle/>
          <a:p>
            <a:pPr algn="l"/>
            <a:r>
              <a:rPr lang="zh-CN" sz="975" dirty="0">
                <a:solidFill>
                  <a:srgbClr val="7C2D12"/>
                </a:solidFill>
                <a:latin typeface="Arial" panose="020B0704020202020204"/>
                <a:ea typeface="Arial" panose="020B0704020202020204"/>
                <a:cs typeface="Arial" panose="020B0704020202020204"/>
              </a:rPr>
              <a:t>• Bấm [Nhận đơn]: Gọi API khóa đơn đồng thời.</a:t>
            </a:r>
            <a:endParaRPr lang="zh-CN" sz="975" dirty="0">
              <a:solidFill>
                <a:srgbClr val="7C2D12"/>
              </a:solidFill>
              <a:latin typeface="Arial" panose="020B0704020202020204"/>
              <a:ea typeface="Arial" panose="020B0704020202020204"/>
              <a:cs typeface="Arial" panose="020B0704020202020204"/>
            </a:endParaRPr>
          </a:p>
        </p:txBody>
      </p:sp>
      <p:sp>
        <p:nvSpPr>
          <p:cNvPr id="50" name="TextBox 50"/>
          <p:cNvSpPr txBox="1"/>
          <p:nvPr/>
        </p:nvSpPr>
        <p:spPr>
          <a:xfrm>
            <a:off x="4607242" y="3418999"/>
            <a:ext cx="3200257" cy="198120"/>
          </a:xfrm>
          <a:prstGeom prst="rect">
            <a:avLst/>
          </a:prstGeom>
          <a:noFill/>
          <a:ln>
            <a:noFill/>
          </a:ln>
        </p:spPr>
        <p:txBody>
          <a:bodyPr wrap="none" lIns="0" tIns="0" rIns="0" bIns="0" anchor="t" anchorCtr="0">
            <a:spAutoFit/>
          </a:bodyPr>
          <a:lstStyle/>
          <a:p>
            <a:pPr algn="l"/>
            <a:r>
              <a:rPr lang="zh-CN" sz="975" dirty="0">
                <a:solidFill>
                  <a:srgbClr val="7C2D12"/>
                </a:solidFill>
                <a:latin typeface="Arial" panose="020B0704020202020204"/>
                <a:ea typeface="Arial" panose="020B0704020202020204"/>
                <a:cs typeface="Arial" panose="020B0704020202020204"/>
              </a:rPr>
              <a:t>• Đơn gán cho tài xế, tài xế chuyển sang BUSY.</a:t>
            </a:r>
            <a:endParaRPr lang="zh-CN" sz="975" dirty="0">
              <a:solidFill>
                <a:srgbClr val="7C2D12"/>
              </a:solidFill>
              <a:latin typeface="Arial" panose="020B0704020202020204"/>
              <a:ea typeface="Arial" panose="020B0704020202020204"/>
              <a:cs typeface="Arial" panose="020B0704020202020204"/>
            </a:endParaRPr>
          </a:p>
        </p:txBody>
      </p:sp>
      <p:sp>
        <p:nvSpPr>
          <p:cNvPr id="51" name="Freeform 51"/>
          <p:cNvSpPr/>
          <p:nvPr/>
        </p:nvSpPr>
        <p:spPr>
          <a:xfrm>
            <a:off x="4476750" y="3714750"/>
            <a:ext cx="3238500" cy="762000"/>
          </a:xfrm>
          <a:custGeom>
            <a:avLst/>
            <a:gdLst/>
            <a:ahLst/>
            <a:cxnLst/>
            <a:rect l="l" t="t" r="r" b="b"/>
            <a:pathLst>
              <a:path w="3238500" h="762000">
                <a:moveTo>
                  <a:pt x="57150" y="0"/>
                </a:moveTo>
                <a:lnTo>
                  <a:pt x="3181350" y="0"/>
                </a:lnTo>
                <a:cubicBezTo>
                  <a:pt x="3212913" y="0"/>
                  <a:pt x="3238500" y="25587"/>
                  <a:pt x="3238500" y="57150"/>
                </a:cubicBezTo>
                <a:lnTo>
                  <a:pt x="3238500" y="704850"/>
                </a:lnTo>
                <a:cubicBezTo>
                  <a:pt x="3238500" y="736413"/>
                  <a:pt x="3212913" y="762000"/>
                  <a:pt x="3181350" y="762000"/>
                </a:cubicBezTo>
                <a:lnTo>
                  <a:pt x="57150" y="762000"/>
                </a:lnTo>
                <a:cubicBezTo>
                  <a:pt x="25587" y="762000"/>
                  <a:pt x="0" y="736413"/>
                  <a:pt x="0" y="704850"/>
                </a:cubicBezTo>
                <a:lnTo>
                  <a:pt x="0" y="57150"/>
                </a:lnTo>
                <a:cubicBezTo>
                  <a:pt x="0" y="25587"/>
                  <a:pt x="25587" y="0"/>
                  <a:pt x="57150" y="0"/>
                </a:cubicBezTo>
                <a:close/>
              </a:path>
            </a:pathLst>
          </a:custGeom>
          <a:solidFill>
            <a:srgbClr val="F8FAFC"/>
          </a:solidFill>
          <a:ln w="9525">
            <a:solidFill>
              <a:srgbClr val="E2E8F0"/>
            </a:solidFill>
          </a:ln>
        </p:spPr>
      </p:sp>
      <p:sp>
        <p:nvSpPr>
          <p:cNvPr id="52" name="TextBox 52"/>
          <p:cNvSpPr txBox="1"/>
          <p:nvPr/>
        </p:nvSpPr>
        <p:spPr>
          <a:xfrm>
            <a:off x="4606290" y="3820478"/>
            <a:ext cx="2401717" cy="213360"/>
          </a:xfrm>
          <a:prstGeom prst="rect">
            <a:avLst/>
          </a:prstGeom>
          <a:noFill/>
          <a:ln>
            <a:noFill/>
          </a:ln>
        </p:spPr>
        <p:txBody>
          <a:bodyPr wrap="none" lIns="0" tIns="0" rIns="0" bIns="0" anchor="t" anchorCtr="0">
            <a:spAutoFit/>
          </a:bodyPr>
          <a:lstStyle/>
          <a:p>
            <a:pPr algn="l"/>
            <a:r>
              <a:rPr lang="zh-CN" sz="1050" b="1" dirty="0">
                <a:solidFill>
                  <a:srgbClr val="003366"/>
                </a:solidFill>
                <a:latin typeface="Arial" panose="020B0704020202020204"/>
                <a:ea typeface="Arial" panose="020B0704020202020204"/>
                <a:cs typeface="Arial" panose="020B0704020202020204"/>
              </a:rPr>
              <a:t>Dẫn đường &amp; Liên hệ khách hàng</a:t>
            </a:r>
            <a:endParaRPr lang="zh-CN" sz="1050" b="1" dirty="0">
              <a:solidFill>
                <a:srgbClr val="003366"/>
              </a:solidFill>
              <a:latin typeface="Arial" panose="020B0704020202020204"/>
              <a:ea typeface="Arial" panose="020B0704020202020204"/>
              <a:cs typeface="Arial" panose="020B0704020202020204"/>
            </a:endParaRPr>
          </a:p>
        </p:txBody>
      </p:sp>
      <p:sp>
        <p:nvSpPr>
          <p:cNvPr id="53" name="TextBox 53"/>
          <p:cNvSpPr txBox="1"/>
          <p:nvPr/>
        </p:nvSpPr>
        <p:spPr>
          <a:xfrm>
            <a:off x="4607242" y="4038124"/>
            <a:ext cx="3250097"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panose="020B0704020202020204"/>
                <a:ea typeface="Arial" panose="020B0704020202020204"/>
                <a:cs typeface="Arial" panose="020B0704020202020204"/>
              </a:rPr>
              <a:t>• Nút [Chỉ đường]: Mở Google Maps qua Intent.</a:t>
            </a:r>
            <a:endParaRPr lang="zh-CN" sz="975" dirty="0">
              <a:solidFill>
                <a:srgbClr val="475569"/>
              </a:solidFill>
              <a:latin typeface="Arial" panose="020B0704020202020204"/>
              <a:ea typeface="Arial" panose="020B0704020202020204"/>
              <a:cs typeface="Arial" panose="020B0704020202020204"/>
            </a:endParaRPr>
          </a:p>
        </p:txBody>
      </p:sp>
      <p:sp>
        <p:nvSpPr>
          <p:cNvPr id="54" name="TextBox 54"/>
          <p:cNvSpPr txBox="1"/>
          <p:nvPr/>
        </p:nvSpPr>
        <p:spPr>
          <a:xfrm>
            <a:off x="4607242" y="4228624"/>
            <a:ext cx="3342656"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panose="020B0704020202020204"/>
                <a:ea typeface="Arial" panose="020B0704020202020204"/>
                <a:cs typeface="Arial" panose="020B0704020202020204"/>
              </a:rPr>
              <a:t>• Nút [Gọi điện]: Mở trình gọi điện ACTION_DIAL.</a:t>
            </a:r>
            <a:endParaRPr lang="zh-CN" sz="975" dirty="0">
              <a:solidFill>
                <a:srgbClr val="475569"/>
              </a:solidFill>
              <a:latin typeface="Arial" panose="020B0704020202020204"/>
              <a:ea typeface="Arial" panose="020B0704020202020204"/>
              <a:cs typeface="Arial" panose="020B0704020202020204"/>
            </a:endParaRPr>
          </a:p>
        </p:txBody>
      </p:sp>
      <p:sp>
        <p:nvSpPr>
          <p:cNvPr id="55" name="Freeform 55"/>
          <p:cNvSpPr/>
          <p:nvPr/>
        </p:nvSpPr>
        <p:spPr>
          <a:xfrm>
            <a:off x="4476750" y="4572000"/>
            <a:ext cx="3238500" cy="762000"/>
          </a:xfrm>
          <a:custGeom>
            <a:avLst/>
            <a:gdLst/>
            <a:ahLst/>
            <a:cxnLst/>
            <a:rect l="l" t="t" r="r" b="b"/>
            <a:pathLst>
              <a:path w="3238500" h="762000">
                <a:moveTo>
                  <a:pt x="57150" y="0"/>
                </a:moveTo>
                <a:lnTo>
                  <a:pt x="3181350" y="0"/>
                </a:lnTo>
                <a:cubicBezTo>
                  <a:pt x="3212913" y="0"/>
                  <a:pt x="3238500" y="25587"/>
                  <a:pt x="3238500" y="57150"/>
                </a:cubicBezTo>
                <a:lnTo>
                  <a:pt x="3238500" y="704850"/>
                </a:lnTo>
                <a:cubicBezTo>
                  <a:pt x="3238500" y="736413"/>
                  <a:pt x="3212913" y="762000"/>
                  <a:pt x="3181350" y="762000"/>
                </a:cubicBezTo>
                <a:lnTo>
                  <a:pt x="57150" y="762000"/>
                </a:lnTo>
                <a:cubicBezTo>
                  <a:pt x="25587" y="762000"/>
                  <a:pt x="0" y="736413"/>
                  <a:pt x="0" y="704850"/>
                </a:cubicBezTo>
                <a:lnTo>
                  <a:pt x="0" y="57150"/>
                </a:lnTo>
                <a:cubicBezTo>
                  <a:pt x="0" y="25587"/>
                  <a:pt x="25587" y="0"/>
                  <a:pt x="57150" y="0"/>
                </a:cubicBezTo>
                <a:close/>
              </a:path>
            </a:pathLst>
          </a:custGeom>
          <a:solidFill>
            <a:srgbClr val="F8FAFC"/>
          </a:solidFill>
          <a:ln w="9525">
            <a:solidFill>
              <a:srgbClr val="E2E8F0"/>
            </a:solidFill>
          </a:ln>
        </p:spPr>
      </p:sp>
      <p:sp>
        <p:nvSpPr>
          <p:cNvPr id="56" name="TextBox 56"/>
          <p:cNvSpPr txBox="1"/>
          <p:nvPr/>
        </p:nvSpPr>
        <p:spPr>
          <a:xfrm>
            <a:off x="4606290" y="4677728"/>
            <a:ext cx="2764012" cy="213360"/>
          </a:xfrm>
          <a:prstGeom prst="rect">
            <a:avLst/>
          </a:prstGeom>
          <a:noFill/>
          <a:ln>
            <a:noFill/>
          </a:ln>
        </p:spPr>
        <p:txBody>
          <a:bodyPr wrap="none" lIns="0" tIns="0" rIns="0" bIns="0" anchor="t" anchorCtr="0">
            <a:spAutoFit/>
          </a:bodyPr>
          <a:lstStyle/>
          <a:p>
            <a:pPr algn="l"/>
            <a:r>
              <a:rPr lang="zh-CN" sz="1050" b="1" dirty="0">
                <a:solidFill>
                  <a:srgbClr val="003366"/>
                </a:solidFill>
                <a:latin typeface="Arial" panose="020B0704020202020204"/>
                <a:ea typeface="Arial" panose="020B0704020202020204"/>
                <a:cs typeface="Arial" panose="020B0704020202020204"/>
              </a:rPr>
              <a:t>Cập nhật trạng thái &amp; Chụp ảnh giao</a:t>
            </a:r>
            <a:endParaRPr lang="zh-CN" sz="1050" b="1" dirty="0">
              <a:solidFill>
                <a:srgbClr val="003366"/>
              </a:solidFill>
              <a:latin typeface="Arial" panose="020B0704020202020204"/>
              <a:ea typeface="Arial" panose="020B0704020202020204"/>
              <a:cs typeface="Arial" panose="020B0704020202020204"/>
            </a:endParaRPr>
          </a:p>
        </p:txBody>
      </p:sp>
      <p:sp>
        <p:nvSpPr>
          <p:cNvPr id="57" name="TextBox 57"/>
          <p:cNvSpPr txBox="1"/>
          <p:nvPr/>
        </p:nvSpPr>
        <p:spPr>
          <a:xfrm>
            <a:off x="4607242" y="4895374"/>
            <a:ext cx="2844260"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panose="020B0704020202020204"/>
                <a:ea typeface="Arial" panose="020B0704020202020204"/>
                <a:cs typeface="Arial" panose="020B0704020202020204"/>
              </a:rPr>
              <a:t>• Cập nhật tuần tự: Đang lấy ➔ Đang giao.</a:t>
            </a:r>
            <a:endParaRPr lang="zh-CN" sz="975" dirty="0">
              <a:solidFill>
                <a:srgbClr val="475569"/>
              </a:solidFill>
              <a:latin typeface="Arial" panose="020B0704020202020204"/>
              <a:ea typeface="Arial" panose="020B0704020202020204"/>
              <a:cs typeface="Arial" panose="020B0704020202020204"/>
            </a:endParaRPr>
          </a:p>
        </p:txBody>
      </p:sp>
      <p:sp>
        <p:nvSpPr>
          <p:cNvPr id="58" name="TextBox 58"/>
          <p:cNvSpPr txBox="1"/>
          <p:nvPr/>
        </p:nvSpPr>
        <p:spPr>
          <a:xfrm>
            <a:off x="4607242" y="5085874"/>
            <a:ext cx="3435215"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panose="020B0704020202020204"/>
                <a:ea typeface="Arial" panose="020B0704020202020204"/>
                <a:cs typeface="Arial" panose="020B0704020202020204"/>
              </a:rPr>
              <a:t>• Chụp ảnh xác nhận đã giao kiện hàng thành công.</a:t>
            </a:r>
            <a:endParaRPr lang="zh-CN" sz="975" dirty="0">
              <a:solidFill>
                <a:srgbClr val="475569"/>
              </a:solidFill>
              <a:latin typeface="Arial" panose="020B0704020202020204"/>
              <a:ea typeface="Arial" panose="020B0704020202020204"/>
              <a:cs typeface="Arial" panose="020B0704020202020204"/>
            </a:endParaRPr>
          </a:p>
        </p:txBody>
      </p:sp>
      <p:sp>
        <p:nvSpPr>
          <p:cNvPr id="59" name="Freeform 59"/>
          <p:cNvSpPr/>
          <p:nvPr/>
        </p:nvSpPr>
        <p:spPr>
          <a:xfrm>
            <a:off x="4476750" y="5429250"/>
            <a:ext cx="3238500" cy="666750"/>
          </a:xfrm>
          <a:custGeom>
            <a:avLst/>
            <a:gdLst/>
            <a:ahLst/>
            <a:cxnLst/>
            <a:rect l="l" t="t" r="r" b="b"/>
            <a:pathLst>
              <a:path w="3238500" h="571500">
                <a:moveTo>
                  <a:pt x="57150" y="0"/>
                </a:moveTo>
                <a:lnTo>
                  <a:pt x="3181350" y="0"/>
                </a:lnTo>
                <a:cubicBezTo>
                  <a:pt x="3212913" y="0"/>
                  <a:pt x="3238500" y="25587"/>
                  <a:pt x="3238500" y="57150"/>
                </a:cubicBezTo>
                <a:lnTo>
                  <a:pt x="3238500" y="514350"/>
                </a:lnTo>
                <a:cubicBezTo>
                  <a:pt x="3238500" y="545913"/>
                  <a:pt x="3212913" y="571500"/>
                  <a:pt x="3181350" y="571500"/>
                </a:cubicBezTo>
                <a:lnTo>
                  <a:pt x="57150" y="571500"/>
                </a:lnTo>
                <a:cubicBezTo>
                  <a:pt x="25587" y="571500"/>
                  <a:pt x="0" y="545913"/>
                  <a:pt x="0" y="514350"/>
                </a:cubicBezTo>
                <a:lnTo>
                  <a:pt x="0" y="57150"/>
                </a:lnTo>
                <a:cubicBezTo>
                  <a:pt x="0" y="25587"/>
                  <a:pt x="25587" y="0"/>
                  <a:pt x="57150" y="0"/>
                </a:cubicBezTo>
                <a:close/>
              </a:path>
            </a:pathLst>
          </a:custGeom>
          <a:solidFill>
            <a:srgbClr val="F0FDF4"/>
          </a:solidFill>
          <a:ln w="9525">
            <a:solidFill>
              <a:srgbClr val="BBF7D0"/>
            </a:solidFill>
          </a:ln>
        </p:spPr>
      </p:sp>
      <p:sp>
        <p:nvSpPr>
          <p:cNvPr id="60" name="TextBox 60"/>
          <p:cNvSpPr txBox="1"/>
          <p:nvPr/>
        </p:nvSpPr>
        <p:spPr>
          <a:xfrm>
            <a:off x="4606607" y="5429409"/>
            <a:ext cx="1841417" cy="198120"/>
          </a:xfrm>
          <a:prstGeom prst="rect">
            <a:avLst/>
          </a:prstGeom>
          <a:noFill/>
          <a:ln>
            <a:noFill/>
          </a:ln>
        </p:spPr>
        <p:txBody>
          <a:bodyPr wrap="none" lIns="0" tIns="0" rIns="0" bIns="0" anchor="t" anchorCtr="0">
            <a:spAutoFit/>
          </a:bodyPr>
          <a:lstStyle/>
          <a:p>
            <a:pPr algn="l"/>
            <a:r>
              <a:rPr lang="zh-CN" sz="975" b="1" dirty="0">
                <a:solidFill>
                  <a:srgbClr val="15803D"/>
                </a:solidFill>
                <a:latin typeface="Arial" panose="020B0704020202020204"/>
                <a:ea typeface="Arial" panose="020B0704020202020204"/>
                <a:cs typeface="Arial" panose="020B0704020202020204"/>
              </a:rPr>
              <a:t>Điểm nổi bật trải nghiệm:</a:t>
            </a:r>
            <a:endParaRPr lang="zh-CN" sz="975" b="1" dirty="0">
              <a:solidFill>
                <a:srgbClr val="15803D"/>
              </a:solidFill>
              <a:latin typeface="Arial" panose="020B0704020202020204"/>
              <a:ea typeface="Arial" panose="020B0704020202020204"/>
              <a:cs typeface="Arial" panose="020B0704020202020204"/>
            </a:endParaRPr>
          </a:p>
        </p:txBody>
      </p:sp>
      <p:sp>
        <p:nvSpPr>
          <p:cNvPr id="61" name="TextBox 61"/>
          <p:cNvSpPr txBox="1"/>
          <p:nvPr/>
        </p:nvSpPr>
        <p:spPr>
          <a:xfrm>
            <a:off x="4606449" y="5704602"/>
            <a:ext cx="2699385" cy="288290"/>
          </a:xfrm>
          <a:prstGeom prst="rect">
            <a:avLst/>
          </a:prstGeom>
          <a:noFill/>
          <a:ln>
            <a:noFill/>
          </a:ln>
        </p:spPr>
        <p:txBody>
          <a:bodyPr wrap="none" lIns="0" tIns="0" rIns="0" bIns="0" anchor="t" anchorCtr="0">
            <a:spAutoFit/>
          </a:bodyPr>
          <a:lstStyle/>
          <a:p>
            <a:pPr algn="l"/>
            <a:r>
              <a:rPr lang="vi-VN" altLang="zh-CN" sz="940" dirty="0">
                <a:solidFill>
                  <a:srgbClr val="14532D"/>
                </a:solidFill>
                <a:latin typeface="Arial" panose="020B0704020202020204"/>
                <a:ea typeface="Arial" panose="020B0704020202020204"/>
                <a:cs typeface="Arial" panose="020B0704020202020204"/>
              </a:rPr>
              <a:t> </a:t>
            </a:r>
            <a:r>
              <a:rPr lang="zh-CN" sz="940" dirty="0">
                <a:solidFill>
                  <a:srgbClr val="14532D"/>
                </a:solidFill>
                <a:latin typeface="Arial" panose="020B0704020202020204"/>
                <a:ea typeface="Arial" panose="020B0704020202020204"/>
                <a:cs typeface="Arial" panose="020B0704020202020204"/>
              </a:rPr>
              <a:t>Trực quan, dễ thao tác một tay khi đang di chuyển</a:t>
            </a:r>
            <a:endParaRPr lang="zh-CN" sz="940" dirty="0">
              <a:solidFill>
                <a:srgbClr val="14532D"/>
              </a:solidFill>
              <a:latin typeface="Arial" panose="020B0704020202020204"/>
              <a:ea typeface="Arial" panose="020B0704020202020204"/>
              <a:cs typeface="Arial" panose="020B0704020202020204"/>
            </a:endParaRPr>
          </a:p>
          <a:p>
            <a:pPr algn="l"/>
            <a:r>
              <a:rPr lang="zh-CN" sz="940" dirty="0">
                <a:solidFill>
                  <a:srgbClr val="14532D"/>
                </a:solidFill>
                <a:latin typeface="Arial" panose="020B0704020202020204"/>
                <a:ea typeface="Arial" panose="020B0704020202020204"/>
                <a:cs typeface="Arial" panose="020B0704020202020204"/>
              </a:rPr>
              <a:t> ngoài đường.</a:t>
            </a:r>
            <a:endParaRPr lang="zh-CN" sz="940" dirty="0">
              <a:solidFill>
                <a:srgbClr val="14532D"/>
              </a:solidFill>
              <a:latin typeface="Arial" panose="020B0704020202020204"/>
              <a:ea typeface="Arial" panose="020B0704020202020204"/>
              <a:cs typeface="Arial" panose="020B0704020202020204"/>
            </a:endParaRPr>
          </a:p>
        </p:txBody>
      </p:sp>
      <p:sp>
        <p:nvSpPr>
          <p:cNvPr id="62" name="Freeform 62"/>
          <p:cNvSpPr/>
          <p:nvPr/>
        </p:nvSpPr>
        <p:spPr>
          <a:xfrm>
            <a:off x="8191500" y="1333500"/>
            <a:ext cx="3619500" cy="4810125"/>
          </a:xfrm>
          <a:custGeom>
            <a:avLst/>
            <a:gdLst/>
            <a:ahLst/>
            <a:cxnLst/>
            <a:rect l="l" t="t" r="r" b="b"/>
            <a:pathLst>
              <a:path w="3619500" h="4810125">
                <a:moveTo>
                  <a:pt x="95250" y="0"/>
                </a:moveTo>
                <a:lnTo>
                  <a:pt x="3524250" y="0"/>
                </a:lnTo>
                <a:cubicBezTo>
                  <a:pt x="3576855" y="0"/>
                  <a:pt x="3619500" y="42645"/>
                  <a:pt x="3619500" y="95250"/>
                </a:cubicBezTo>
                <a:lnTo>
                  <a:pt x="3619500" y="4714875"/>
                </a:lnTo>
                <a:cubicBezTo>
                  <a:pt x="3619500" y="4767480"/>
                  <a:pt x="3576855" y="4810125"/>
                  <a:pt x="3524250" y="4810125"/>
                </a:cubicBezTo>
                <a:lnTo>
                  <a:pt x="95250" y="4810125"/>
                </a:lnTo>
                <a:cubicBezTo>
                  <a:pt x="42645" y="4810125"/>
                  <a:pt x="0" y="4767480"/>
                  <a:pt x="0" y="4714875"/>
                </a:cubicBezTo>
                <a:lnTo>
                  <a:pt x="0" y="95250"/>
                </a:lnTo>
                <a:cubicBezTo>
                  <a:pt x="0" y="42645"/>
                  <a:pt x="42645" y="0"/>
                  <a:pt x="95250" y="0"/>
                </a:cubicBezTo>
                <a:close/>
              </a:path>
            </a:pathLst>
          </a:custGeom>
          <a:solidFill>
            <a:srgbClr val="FFFFFF"/>
          </a:solidFill>
          <a:ln w="14288">
            <a:solidFill>
              <a:srgbClr val="E2E8F0"/>
            </a:solidFill>
          </a:ln>
        </p:spPr>
      </p:sp>
      <p:sp>
        <p:nvSpPr>
          <p:cNvPr id="63" name="Freeform 63"/>
          <p:cNvSpPr/>
          <p:nvPr/>
        </p:nvSpPr>
        <p:spPr>
          <a:xfrm>
            <a:off x="8191500" y="1333500"/>
            <a:ext cx="3619500" cy="476250"/>
          </a:xfrm>
          <a:custGeom>
            <a:avLst/>
            <a:gdLst/>
            <a:ahLst/>
            <a:cxnLst/>
            <a:rect l="l" t="t" r="r" b="b"/>
            <a:pathLst>
              <a:path w="3619500" h="476250">
                <a:moveTo>
                  <a:pt x="95250" y="0"/>
                </a:moveTo>
                <a:lnTo>
                  <a:pt x="3524250" y="0"/>
                </a:lnTo>
                <a:cubicBezTo>
                  <a:pt x="3576855" y="0"/>
                  <a:pt x="3619500" y="42645"/>
                  <a:pt x="3619500" y="95250"/>
                </a:cubicBezTo>
                <a:lnTo>
                  <a:pt x="3619500" y="381000"/>
                </a:lnTo>
                <a:cubicBezTo>
                  <a:pt x="3619500" y="433605"/>
                  <a:pt x="3576855" y="476250"/>
                  <a:pt x="3524250" y="476250"/>
                </a:cubicBezTo>
                <a:lnTo>
                  <a:pt x="95250" y="476250"/>
                </a:lnTo>
                <a:cubicBezTo>
                  <a:pt x="42645" y="476250"/>
                  <a:pt x="0" y="433605"/>
                  <a:pt x="0" y="381000"/>
                </a:cubicBezTo>
                <a:lnTo>
                  <a:pt x="0" y="95250"/>
                </a:lnTo>
                <a:cubicBezTo>
                  <a:pt x="0" y="42645"/>
                  <a:pt x="42645" y="0"/>
                  <a:pt x="95250" y="0"/>
                </a:cubicBezTo>
                <a:close/>
              </a:path>
            </a:pathLst>
          </a:custGeom>
          <a:solidFill>
            <a:srgbClr val="F1F5F9"/>
          </a:solidFill>
          <a:ln>
            <a:noFill/>
          </a:ln>
        </p:spPr>
      </p:sp>
      <p:sp>
        <p:nvSpPr>
          <p:cNvPr id="64" name="Freeform 64"/>
          <p:cNvSpPr/>
          <p:nvPr/>
        </p:nvSpPr>
        <p:spPr>
          <a:xfrm>
            <a:off x="8191500" y="1333500"/>
            <a:ext cx="57150" cy="476250"/>
          </a:xfrm>
          <a:custGeom>
            <a:avLst/>
            <a:gdLst/>
            <a:ahLst/>
            <a:cxnLst/>
            <a:rect l="l" t="t" r="r" b="b"/>
            <a:pathLst>
              <a:path w="57150" h="476250">
                <a:moveTo>
                  <a:pt x="28575" y="0"/>
                </a:moveTo>
                <a:lnTo>
                  <a:pt x="28575" y="0"/>
                </a:lnTo>
                <a:cubicBezTo>
                  <a:pt x="44357" y="0"/>
                  <a:pt x="57150" y="12793"/>
                  <a:pt x="57150" y="28575"/>
                </a:cubicBezTo>
                <a:lnTo>
                  <a:pt x="57150" y="447675"/>
                </a:lnTo>
                <a:cubicBezTo>
                  <a:pt x="57150" y="463457"/>
                  <a:pt x="44357" y="476250"/>
                  <a:pt x="28575" y="476250"/>
                </a:cubicBezTo>
                <a:lnTo>
                  <a:pt x="28575" y="476250"/>
                </a:lnTo>
                <a:cubicBezTo>
                  <a:pt x="12793" y="476250"/>
                  <a:pt x="0" y="463457"/>
                  <a:pt x="0" y="447675"/>
                </a:cubicBezTo>
                <a:lnTo>
                  <a:pt x="0" y="28575"/>
                </a:lnTo>
                <a:cubicBezTo>
                  <a:pt x="0" y="12793"/>
                  <a:pt x="12793" y="0"/>
                  <a:pt x="28575" y="0"/>
                </a:cubicBezTo>
                <a:close/>
              </a:path>
            </a:pathLst>
          </a:custGeom>
          <a:solidFill>
            <a:srgbClr val="7C3AED"/>
          </a:solidFill>
          <a:ln>
            <a:noFill/>
          </a:ln>
        </p:spPr>
      </p:sp>
      <p:sp>
        <p:nvSpPr>
          <p:cNvPr id="65" name="Freeform 65"/>
          <p:cNvSpPr/>
          <p:nvPr/>
        </p:nvSpPr>
        <p:spPr>
          <a:xfrm>
            <a:off x="8424862" y="1471612"/>
            <a:ext cx="71438" cy="71438"/>
          </a:xfrm>
          <a:custGeom>
            <a:avLst/>
            <a:gdLst/>
            <a:ahLst/>
            <a:cxnLst/>
            <a:rect l="l" t="t" r="r" b="b"/>
            <a:pathLst>
              <a:path w="71438" h="71438">
                <a:moveTo>
                  <a:pt x="71438" y="35719"/>
                </a:moveTo>
                <a:cubicBezTo>
                  <a:pt x="71438" y="55446"/>
                  <a:pt x="55446" y="71438"/>
                  <a:pt x="35719" y="71438"/>
                </a:cubicBezTo>
                <a:cubicBezTo>
                  <a:pt x="15992" y="71438"/>
                  <a:pt x="0" y="55446"/>
                  <a:pt x="0" y="35719"/>
                </a:cubicBezTo>
                <a:cubicBezTo>
                  <a:pt x="0" y="15992"/>
                  <a:pt x="15992" y="0"/>
                  <a:pt x="35719" y="0"/>
                </a:cubicBezTo>
                <a:cubicBezTo>
                  <a:pt x="55446" y="0"/>
                  <a:pt x="71438" y="15992"/>
                  <a:pt x="71438" y="35719"/>
                </a:cubicBezTo>
                <a:close/>
              </a:path>
            </a:pathLst>
          </a:custGeom>
          <a:solidFill>
            <a:srgbClr val="7C3AED"/>
          </a:solidFill>
          <a:ln>
            <a:noFill/>
          </a:ln>
        </p:spPr>
      </p:sp>
      <p:sp>
        <p:nvSpPr>
          <p:cNvPr id="66" name="Freeform 66"/>
          <p:cNvSpPr/>
          <p:nvPr/>
        </p:nvSpPr>
        <p:spPr>
          <a:xfrm>
            <a:off x="8382000" y="1571625"/>
            <a:ext cx="114300" cy="100012"/>
          </a:xfrm>
          <a:custGeom>
            <a:avLst/>
            <a:gdLst/>
            <a:ahLst/>
            <a:cxnLst/>
            <a:rect l="l" t="t" r="r" b="b"/>
            <a:pathLst>
              <a:path w="114300" h="100012">
                <a:moveTo>
                  <a:pt x="42862" y="0"/>
                </a:moveTo>
                <a:cubicBezTo>
                  <a:pt x="19190" y="0"/>
                  <a:pt x="0" y="19190"/>
                  <a:pt x="0" y="42862"/>
                </a:cubicBezTo>
                <a:lnTo>
                  <a:pt x="0" y="100012"/>
                </a:lnTo>
                <a:lnTo>
                  <a:pt x="114300" y="100012"/>
                </a:lnTo>
                <a:lnTo>
                  <a:pt x="114300" y="0"/>
                </a:lnTo>
                <a:lnTo>
                  <a:pt x="42862" y="0"/>
                </a:lnTo>
                <a:close/>
              </a:path>
            </a:pathLst>
          </a:custGeom>
          <a:solidFill>
            <a:srgbClr val="7C3AED"/>
          </a:solidFill>
          <a:ln>
            <a:noFill/>
          </a:ln>
        </p:spPr>
      </p:sp>
      <p:sp>
        <p:nvSpPr>
          <p:cNvPr id="67" name="Freeform 67"/>
          <p:cNvSpPr/>
          <p:nvPr/>
        </p:nvSpPr>
        <p:spPr>
          <a:xfrm>
            <a:off x="8524875" y="1571625"/>
            <a:ext cx="85725" cy="100012"/>
          </a:xfrm>
          <a:custGeom>
            <a:avLst/>
            <a:gdLst/>
            <a:ahLst/>
            <a:cxnLst/>
            <a:rect l="l" t="t" r="r" b="b"/>
            <a:pathLst>
              <a:path w="85725" h="100012">
                <a:moveTo>
                  <a:pt x="42862" y="0"/>
                </a:moveTo>
                <a:lnTo>
                  <a:pt x="0" y="0"/>
                </a:lnTo>
                <a:lnTo>
                  <a:pt x="0" y="100012"/>
                </a:lnTo>
                <a:lnTo>
                  <a:pt x="85725" y="100012"/>
                </a:lnTo>
                <a:lnTo>
                  <a:pt x="85725" y="42862"/>
                </a:lnTo>
                <a:cubicBezTo>
                  <a:pt x="85725" y="19190"/>
                  <a:pt x="66535" y="0"/>
                  <a:pt x="42862" y="0"/>
                </a:cubicBezTo>
                <a:close/>
              </a:path>
            </a:pathLst>
          </a:custGeom>
          <a:solidFill>
            <a:srgbClr val="7C3AED"/>
          </a:solidFill>
          <a:ln>
            <a:noFill/>
          </a:ln>
        </p:spPr>
      </p:sp>
      <p:sp>
        <p:nvSpPr>
          <p:cNvPr id="68" name="Freeform 68"/>
          <p:cNvSpPr/>
          <p:nvPr/>
        </p:nvSpPr>
        <p:spPr>
          <a:xfrm>
            <a:off x="8524875" y="1485900"/>
            <a:ext cx="57150" cy="57150"/>
          </a:xfrm>
          <a:custGeom>
            <a:avLst/>
            <a:gdLst/>
            <a:ahLst/>
            <a:cxnLst/>
            <a:rect l="l" t="t" r="r" b="b"/>
            <a:pathLst>
              <a:path w="57150" h="57150">
                <a:moveTo>
                  <a:pt x="28575" y="57150"/>
                </a:moveTo>
                <a:cubicBezTo>
                  <a:pt x="44357" y="57150"/>
                  <a:pt x="57150" y="44357"/>
                  <a:pt x="57150" y="28575"/>
                </a:cubicBezTo>
                <a:cubicBezTo>
                  <a:pt x="57150" y="12793"/>
                  <a:pt x="44357" y="0"/>
                  <a:pt x="28575" y="0"/>
                </a:cubicBezTo>
                <a:cubicBezTo>
                  <a:pt x="12793" y="0"/>
                  <a:pt x="0" y="12793"/>
                  <a:pt x="0" y="28575"/>
                </a:cubicBezTo>
                <a:cubicBezTo>
                  <a:pt x="0" y="44357"/>
                  <a:pt x="12793" y="57150"/>
                  <a:pt x="28575" y="57150"/>
                </a:cubicBezTo>
                <a:close/>
              </a:path>
            </a:pathLst>
          </a:custGeom>
          <a:solidFill>
            <a:srgbClr val="7C3AED"/>
          </a:solidFill>
          <a:ln>
            <a:noFill/>
          </a:ln>
        </p:spPr>
      </p:sp>
      <p:sp>
        <p:nvSpPr>
          <p:cNvPr id="69" name="TextBox 69"/>
          <p:cNvSpPr txBox="1"/>
          <p:nvPr/>
        </p:nvSpPr>
        <p:spPr>
          <a:xfrm>
            <a:off x="8699182" y="1500664"/>
            <a:ext cx="2994580" cy="259080"/>
          </a:xfrm>
          <a:prstGeom prst="rect">
            <a:avLst/>
          </a:prstGeom>
          <a:noFill/>
          <a:ln>
            <a:noFill/>
          </a:ln>
        </p:spPr>
        <p:txBody>
          <a:bodyPr wrap="none" lIns="0" tIns="0" rIns="0" bIns="0" anchor="t" anchorCtr="0">
            <a:spAutoFit/>
          </a:bodyPr>
          <a:lstStyle/>
          <a:p>
            <a:pPr algn="l"/>
            <a:r>
              <a:rPr lang="zh-CN" sz="1275" b="1" dirty="0">
                <a:solidFill>
                  <a:srgbClr val="003366"/>
                </a:solidFill>
                <a:latin typeface="Arial" panose="020B0704020202020204"/>
                <a:ea typeface="Arial" panose="020B0704020202020204"/>
                <a:cs typeface="Arial" panose="020B0704020202020204"/>
              </a:rPr>
              <a:t>3. Luồng Quản trị viên (Admin)</a:t>
            </a:r>
            <a:endParaRPr lang="zh-CN" sz="1275" b="1" dirty="0">
              <a:solidFill>
                <a:srgbClr val="003366"/>
              </a:solidFill>
              <a:latin typeface="Arial" panose="020B0704020202020204"/>
              <a:ea typeface="Arial" panose="020B0704020202020204"/>
              <a:cs typeface="Arial" panose="020B0704020202020204"/>
            </a:endParaRPr>
          </a:p>
        </p:txBody>
      </p:sp>
      <p:sp>
        <p:nvSpPr>
          <p:cNvPr id="70" name="Freeform 70"/>
          <p:cNvSpPr/>
          <p:nvPr/>
        </p:nvSpPr>
        <p:spPr>
          <a:xfrm>
            <a:off x="8382000" y="1952625"/>
            <a:ext cx="3238500" cy="666750"/>
          </a:xfrm>
          <a:custGeom>
            <a:avLst/>
            <a:gdLst/>
            <a:ahLst/>
            <a:cxnLst/>
            <a:rect l="l" t="t" r="r" b="b"/>
            <a:pathLst>
              <a:path w="3238500" h="666750">
                <a:moveTo>
                  <a:pt x="57150" y="0"/>
                </a:moveTo>
                <a:lnTo>
                  <a:pt x="3181350" y="0"/>
                </a:lnTo>
                <a:cubicBezTo>
                  <a:pt x="3212913" y="0"/>
                  <a:pt x="3238500" y="25587"/>
                  <a:pt x="3238500" y="57150"/>
                </a:cubicBezTo>
                <a:lnTo>
                  <a:pt x="3238500" y="609600"/>
                </a:lnTo>
                <a:cubicBezTo>
                  <a:pt x="3238500" y="641163"/>
                  <a:pt x="3212913" y="666750"/>
                  <a:pt x="3181350" y="666750"/>
                </a:cubicBezTo>
                <a:lnTo>
                  <a:pt x="57150" y="666750"/>
                </a:lnTo>
                <a:cubicBezTo>
                  <a:pt x="25587" y="666750"/>
                  <a:pt x="0" y="641163"/>
                  <a:pt x="0" y="609600"/>
                </a:cubicBezTo>
                <a:lnTo>
                  <a:pt x="0" y="57150"/>
                </a:lnTo>
                <a:cubicBezTo>
                  <a:pt x="0" y="25587"/>
                  <a:pt x="25587" y="0"/>
                  <a:pt x="57150" y="0"/>
                </a:cubicBezTo>
                <a:close/>
              </a:path>
            </a:pathLst>
          </a:custGeom>
          <a:solidFill>
            <a:srgbClr val="F8FAFC"/>
          </a:solidFill>
          <a:ln w="9525">
            <a:solidFill>
              <a:srgbClr val="E2E8F0"/>
            </a:solidFill>
          </a:ln>
        </p:spPr>
      </p:sp>
      <p:sp>
        <p:nvSpPr>
          <p:cNvPr id="71" name="TextBox 71"/>
          <p:cNvSpPr txBox="1"/>
          <p:nvPr/>
        </p:nvSpPr>
        <p:spPr>
          <a:xfrm>
            <a:off x="8511540" y="2058352"/>
            <a:ext cx="2240697" cy="213360"/>
          </a:xfrm>
          <a:prstGeom prst="rect">
            <a:avLst/>
          </a:prstGeom>
          <a:noFill/>
          <a:ln>
            <a:noFill/>
          </a:ln>
        </p:spPr>
        <p:txBody>
          <a:bodyPr wrap="none" lIns="0" tIns="0" rIns="0" bIns="0" anchor="t" anchorCtr="0">
            <a:spAutoFit/>
          </a:bodyPr>
          <a:lstStyle/>
          <a:p>
            <a:pPr algn="l"/>
            <a:r>
              <a:rPr lang="zh-CN" sz="1050" b="1" dirty="0">
                <a:solidFill>
                  <a:srgbClr val="6D28D9"/>
                </a:solidFill>
                <a:latin typeface="Arial" panose="020B0704020202020204"/>
                <a:ea typeface="Arial" panose="020B0704020202020204"/>
                <a:cs typeface="Arial" panose="020B0704020202020204"/>
              </a:rPr>
              <a:t>Tab 1: Tổng quan (Overview)</a:t>
            </a:r>
            <a:endParaRPr lang="zh-CN" sz="1050" b="1" dirty="0">
              <a:solidFill>
                <a:srgbClr val="6D28D9"/>
              </a:solidFill>
              <a:latin typeface="Arial" panose="020B0704020202020204"/>
              <a:ea typeface="Arial" panose="020B0704020202020204"/>
              <a:cs typeface="Arial" panose="020B0704020202020204"/>
            </a:endParaRPr>
          </a:p>
        </p:txBody>
      </p:sp>
      <p:sp>
        <p:nvSpPr>
          <p:cNvPr id="72" name="TextBox 72"/>
          <p:cNvSpPr txBox="1"/>
          <p:nvPr/>
        </p:nvSpPr>
        <p:spPr>
          <a:xfrm>
            <a:off x="8512492" y="2275999"/>
            <a:ext cx="2751701"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panose="020B0704020202020204"/>
                <a:ea typeface="Arial" panose="020B0704020202020204"/>
                <a:cs typeface="Arial" panose="020B0704020202020204"/>
              </a:rPr>
              <a:t>• Thống kê tổng số đơn theo ngày/tuần.</a:t>
            </a:r>
            <a:endParaRPr lang="zh-CN" sz="975" dirty="0">
              <a:solidFill>
                <a:srgbClr val="475569"/>
              </a:solidFill>
              <a:latin typeface="Arial" panose="020B0704020202020204"/>
              <a:ea typeface="Arial" panose="020B0704020202020204"/>
              <a:cs typeface="Arial" panose="020B0704020202020204"/>
            </a:endParaRPr>
          </a:p>
        </p:txBody>
      </p:sp>
      <p:sp>
        <p:nvSpPr>
          <p:cNvPr id="73" name="TextBox 73"/>
          <p:cNvSpPr txBox="1"/>
          <p:nvPr/>
        </p:nvSpPr>
        <p:spPr>
          <a:xfrm>
            <a:off x="8512492" y="2447449"/>
            <a:ext cx="3008019"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panose="020B0704020202020204"/>
                <a:ea typeface="Arial" panose="020B0704020202020204"/>
                <a:cs typeface="Arial" panose="020B0704020202020204"/>
              </a:rPr>
              <a:t>• Biểu đồ phân bổ tỷ lệ trạng thái đơn hàng.</a:t>
            </a:r>
            <a:endParaRPr lang="zh-CN" sz="975" dirty="0">
              <a:solidFill>
                <a:srgbClr val="475569"/>
              </a:solidFill>
              <a:latin typeface="Arial" panose="020B0704020202020204"/>
              <a:ea typeface="Arial" panose="020B0704020202020204"/>
              <a:cs typeface="Arial" panose="020B0704020202020204"/>
            </a:endParaRPr>
          </a:p>
        </p:txBody>
      </p:sp>
      <p:sp>
        <p:nvSpPr>
          <p:cNvPr id="74" name="Freeform 74"/>
          <p:cNvSpPr/>
          <p:nvPr/>
        </p:nvSpPr>
        <p:spPr>
          <a:xfrm>
            <a:off x="8382000" y="2714625"/>
            <a:ext cx="3238500" cy="666750"/>
          </a:xfrm>
          <a:custGeom>
            <a:avLst/>
            <a:gdLst/>
            <a:ahLst/>
            <a:cxnLst/>
            <a:rect l="l" t="t" r="r" b="b"/>
            <a:pathLst>
              <a:path w="3238500" h="666750">
                <a:moveTo>
                  <a:pt x="57150" y="0"/>
                </a:moveTo>
                <a:lnTo>
                  <a:pt x="3181350" y="0"/>
                </a:lnTo>
                <a:cubicBezTo>
                  <a:pt x="3212913" y="0"/>
                  <a:pt x="3238500" y="25587"/>
                  <a:pt x="3238500" y="57150"/>
                </a:cubicBezTo>
                <a:lnTo>
                  <a:pt x="3238500" y="609600"/>
                </a:lnTo>
                <a:cubicBezTo>
                  <a:pt x="3238500" y="641163"/>
                  <a:pt x="3212913" y="666750"/>
                  <a:pt x="3181350" y="666750"/>
                </a:cubicBezTo>
                <a:lnTo>
                  <a:pt x="57150" y="666750"/>
                </a:lnTo>
                <a:cubicBezTo>
                  <a:pt x="25587" y="666750"/>
                  <a:pt x="0" y="641163"/>
                  <a:pt x="0" y="609600"/>
                </a:cubicBezTo>
                <a:lnTo>
                  <a:pt x="0" y="57150"/>
                </a:lnTo>
                <a:cubicBezTo>
                  <a:pt x="0" y="25587"/>
                  <a:pt x="25587" y="0"/>
                  <a:pt x="57150" y="0"/>
                </a:cubicBezTo>
                <a:close/>
              </a:path>
            </a:pathLst>
          </a:custGeom>
          <a:solidFill>
            <a:srgbClr val="F8FAFC"/>
          </a:solidFill>
          <a:ln w="9525">
            <a:solidFill>
              <a:srgbClr val="E2E8F0"/>
            </a:solidFill>
          </a:ln>
        </p:spPr>
      </p:sp>
      <p:sp>
        <p:nvSpPr>
          <p:cNvPr id="75" name="TextBox 75"/>
          <p:cNvSpPr txBox="1"/>
          <p:nvPr/>
        </p:nvSpPr>
        <p:spPr>
          <a:xfrm>
            <a:off x="8511540" y="2820352"/>
            <a:ext cx="2643247" cy="213360"/>
          </a:xfrm>
          <a:prstGeom prst="rect">
            <a:avLst/>
          </a:prstGeom>
          <a:noFill/>
          <a:ln>
            <a:noFill/>
          </a:ln>
        </p:spPr>
        <p:txBody>
          <a:bodyPr wrap="none" lIns="0" tIns="0" rIns="0" bIns="0" anchor="t" anchorCtr="0">
            <a:spAutoFit/>
          </a:bodyPr>
          <a:lstStyle/>
          <a:p>
            <a:pPr algn="l"/>
            <a:r>
              <a:rPr lang="zh-CN" sz="1050" b="1" dirty="0">
                <a:solidFill>
                  <a:srgbClr val="6D28D9"/>
                </a:solidFill>
                <a:latin typeface="Arial" panose="020B0704020202020204"/>
                <a:ea typeface="Arial" panose="020B0704020202020204"/>
                <a:cs typeface="Arial" panose="020B0704020202020204"/>
              </a:rPr>
              <a:t>Tab 2: Quản lý Đơn hàng (Orders)</a:t>
            </a:r>
            <a:endParaRPr lang="zh-CN" sz="1050" b="1" dirty="0">
              <a:solidFill>
                <a:srgbClr val="6D28D9"/>
              </a:solidFill>
              <a:latin typeface="Arial" panose="020B0704020202020204"/>
              <a:ea typeface="Arial" panose="020B0704020202020204"/>
              <a:cs typeface="Arial" panose="020B0704020202020204"/>
            </a:endParaRPr>
          </a:p>
        </p:txBody>
      </p:sp>
      <p:sp>
        <p:nvSpPr>
          <p:cNvPr id="76" name="TextBox 76"/>
          <p:cNvSpPr txBox="1"/>
          <p:nvPr/>
        </p:nvSpPr>
        <p:spPr>
          <a:xfrm>
            <a:off x="8512492" y="3037999"/>
            <a:ext cx="3150418"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panose="020B0704020202020204"/>
                <a:ea typeface="Arial" panose="020B0704020202020204"/>
                <a:cs typeface="Arial" panose="020B0704020202020204"/>
              </a:rPr>
              <a:t>• Danh sách toàn bộ đơn hàng trong hệ thống.</a:t>
            </a:r>
            <a:endParaRPr lang="zh-CN" sz="975" dirty="0">
              <a:solidFill>
                <a:srgbClr val="475569"/>
              </a:solidFill>
              <a:latin typeface="Arial" panose="020B0704020202020204"/>
              <a:ea typeface="Arial" panose="020B0704020202020204"/>
              <a:cs typeface="Arial" panose="020B0704020202020204"/>
            </a:endParaRPr>
          </a:p>
        </p:txBody>
      </p:sp>
      <p:sp>
        <p:nvSpPr>
          <p:cNvPr id="77" name="TextBox 77"/>
          <p:cNvSpPr txBox="1"/>
          <p:nvPr/>
        </p:nvSpPr>
        <p:spPr>
          <a:xfrm>
            <a:off x="8512492" y="3209449"/>
            <a:ext cx="3299936"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panose="020B0704020202020204"/>
                <a:ea typeface="Arial" panose="020B0704020202020204"/>
                <a:cs typeface="Arial" panose="020B0704020202020204"/>
              </a:rPr>
              <a:t>• Bộ lọc thông minh theo mã đơn, khách, tài xế.</a:t>
            </a:r>
            <a:endParaRPr lang="zh-CN" sz="975" dirty="0">
              <a:solidFill>
                <a:srgbClr val="475569"/>
              </a:solidFill>
              <a:latin typeface="Arial" panose="020B0704020202020204"/>
              <a:ea typeface="Arial" panose="020B0704020202020204"/>
              <a:cs typeface="Arial" panose="020B0704020202020204"/>
            </a:endParaRPr>
          </a:p>
        </p:txBody>
      </p:sp>
      <p:sp>
        <p:nvSpPr>
          <p:cNvPr id="78" name="Freeform 78"/>
          <p:cNvSpPr/>
          <p:nvPr/>
        </p:nvSpPr>
        <p:spPr>
          <a:xfrm>
            <a:off x="8382000" y="3476625"/>
            <a:ext cx="3238500" cy="666750"/>
          </a:xfrm>
          <a:custGeom>
            <a:avLst/>
            <a:gdLst/>
            <a:ahLst/>
            <a:cxnLst/>
            <a:rect l="l" t="t" r="r" b="b"/>
            <a:pathLst>
              <a:path w="3238500" h="666750">
                <a:moveTo>
                  <a:pt x="57150" y="0"/>
                </a:moveTo>
                <a:lnTo>
                  <a:pt x="3181350" y="0"/>
                </a:lnTo>
                <a:cubicBezTo>
                  <a:pt x="3212913" y="0"/>
                  <a:pt x="3238500" y="25587"/>
                  <a:pt x="3238500" y="57150"/>
                </a:cubicBezTo>
                <a:lnTo>
                  <a:pt x="3238500" y="609600"/>
                </a:lnTo>
                <a:cubicBezTo>
                  <a:pt x="3238500" y="641163"/>
                  <a:pt x="3212913" y="666750"/>
                  <a:pt x="3181350" y="666750"/>
                </a:cubicBezTo>
                <a:lnTo>
                  <a:pt x="57150" y="666750"/>
                </a:lnTo>
                <a:cubicBezTo>
                  <a:pt x="25587" y="666750"/>
                  <a:pt x="0" y="641163"/>
                  <a:pt x="0" y="609600"/>
                </a:cubicBezTo>
                <a:lnTo>
                  <a:pt x="0" y="57150"/>
                </a:lnTo>
                <a:cubicBezTo>
                  <a:pt x="0" y="25587"/>
                  <a:pt x="25587" y="0"/>
                  <a:pt x="57150" y="0"/>
                </a:cubicBezTo>
                <a:close/>
              </a:path>
            </a:pathLst>
          </a:custGeom>
          <a:solidFill>
            <a:srgbClr val="F8FAFC"/>
          </a:solidFill>
          <a:ln w="9525">
            <a:solidFill>
              <a:srgbClr val="E2E8F0"/>
            </a:solidFill>
          </a:ln>
        </p:spPr>
      </p:sp>
      <p:sp>
        <p:nvSpPr>
          <p:cNvPr id="79" name="TextBox 79"/>
          <p:cNvSpPr txBox="1"/>
          <p:nvPr/>
        </p:nvSpPr>
        <p:spPr>
          <a:xfrm>
            <a:off x="8511540" y="3582352"/>
            <a:ext cx="2659349" cy="213360"/>
          </a:xfrm>
          <a:prstGeom prst="rect">
            <a:avLst/>
          </a:prstGeom>
          <a:noFill/>
          <a:ln>
            <a:noFill/>
          </a:ln>
        </p:spPr>
        <p:txBody>
          <a:bodyPr wrap="none" lIns="0" tIns="0" rIns="0" bIns="0" anchor="t" anchorCtr="0">
            <a:spAutoFit/>
          </a:bodyPr>
          <a:lstStyle/>
          <a:p>
            <a:pPr algn="l"/>
            <a:r>
              <a:rPr lang="zh-CN" sz="1050" b="1" dirty="0">
                <a:solidFill>
                  <a:srgbClr val="6D28D9"/>
                </a:solidFill>
                <a:latin typeface="Arial" panose="020B0704020202020204"/>
                <a:ea typeface="Arial" panose="020B0704020202020204"/>
                <a:cs typeface="Arial" panose="020B0704020202020204"/>
              </a:rPr>
              <a:t>Tab 3: Quản lý Người dùng (Users)</a:t>
            </a:r>
            <a:endParaRPr lang="zh-CN" sz="1050" b="1" dirty="0">
              <a:solidFill>
                <a:srgbClr val="6D28D9"/>
              </a:solidFill>
              <a:latin typeface="Arial" panose="020B0704020202020204"/>
              <a:ea typeface="Arial" panose="020B0704020202020204"/>
              <a:cs typeface="Arial" panose="020B0704020202020204"/>
            </a:endParaRPr>
          </a:p>
        </p:txBody>
      </p:sp>
      <p:sp>
        <p:nvSpPr>
          <p:cNvPr id="80" name="TextBox 80"/>
          <p:cNvSpPr txBox="1"/>
          <p:nvPr/>
        </p:nvSpPr>
        <p:spPr>
          <a:xfrm>
            <a:off x="8512492" y="3799999"/>
            <a:ext cx="2915460"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panose="020B0704020202020204"/>
                <a:ea typeface="Arial" panose="020B0704020202020204"/>
                <a:cs typeface="Arial" panose="020B0704020202020204"/>
              </a:rPr>
              <a:t>• Danh sách tài khoản khách hàng đăng ký.</a:t>
            </a:r>
            <a:endParaRPr lang="zh-CN" sz="975" dirty="0">
              <a:solidFill>
                <a:srgbClr val="475569"/>
              </a:solidFill>
              <a:latin typeface="Arial" panose="020B0704020202020204"/>
              <a:ea typeface="Arial" panose="020B0704020202020204"/>
              <a:cs typeface="Arial" panose="020B0704020202020204"/>
            </a:endParaRPr>
          </a:p>
        </p:txBody>
      </p:sp>
      <p:sp>
        <p:nvSpPr>
          <p:cNvPr id="81" name="TextBox 81"/>
          <p:cNvSpPr txBox="1"/>
          <p:nvPr/>
        </p:nvSpPr>
        <p:spPr>
          <a:xfrm>
            <a:off x="8512492" y="3971449"/>
            <a:ext cx="3043619"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panose="020B0704020202020204"/>
                <a:ea typeface="Arial" panose="020B0704020202020204"/>
                <a:cs typeface="Arial" panose="020B0704020202020204"/>
              </a:rPr>
              <a:t>• Xem thông tin liên hệ và lịch sử giao dịch.</a:t>
            </a:r>
            <a:endParaRPr lang="zh-CN" sz="975" dirty="0">
              <a:solidFill>
                <a:srgbClr val="475569"/>
              </a:solidFill>
              <a:latin typeface="Arial" panose="020B0704020202020204"/>
              <a:ea typeface="Arial" panose="020B0704020202020204"/>
              <a:cs typeface="Arial" panose="020B0704020202020204"/>
            </a:endParaRPr>
          </a:p>
        </p:txBody>
      </p:sp>
      <p:sp>
        <p:nvSpPr>
          <p:cNvPr id="82" name="Freeform 82"/>
          <p:cNvSpPr/>
          <p:nvPr/>
        </p:nvSpPr>
        <p:spPr>
          <a:xfrm>
            <a:off x="8382000" y="4238625"/>
            <a:ext cx="3238500" cy="666750"/>
          </a:xfrm>
          <a:custGeom>
            <a:avLst/>
            <a:gdLst/>
            <a:ahLst/>
            <a:cxnLst/>
            <a:rect l="l" t="t" r="r" b="b"/>
            <a:pathLst>
              <a:path w="3238500" h="666750">
                <a:moveTo>
                  <a:pt x="57150" y="0"/>
                </a:moveTo>
                <a:lnTo>
                  <a:pt x="3181350" y="0"/>
                </a:lnTo>
                <a:cubicBezTo>
                  <a:pt x="3212913" y="0"/>
                  <a:pt x="3238500" y="25587"/>
                  <a:pt x="3238500" y="57150"/>
                </a:cubicBezTo>
                <a:lnTo>
                  <a:pt x="3238500" y="609600"/>
                </a:lnTo>
                <a:cubicBezTo>
                  <a:pt x="3238500" y="641163"/>
                  <a:pt x="3212913" y="666750"/>
                  <a:pt x="3181350" y="666750"/>
                </a:cubicBezTo>
                <a:lnTo>
                  <a:pt x="57150" y="666750"/>
                </a:lnTo>
                <a:cubicBezTo>
                  <a:pt x="25587" y="666750"/>
                  <a:pt x="0" y="641163"/>
                  <a:pt x="0" y="609600"/>
                </a:cubicBezTo>
                <a:lnTo>
                  <a:pt x="0" y="57150"/>
                </a:lnTo>
                <a:cubicBezTo>
                  <a:pt x="0" y="25587"/>
                  <a:pt x="25587" y="0"/>
                  <a:pt x="57150" y="0"/>
                </a:cubicBezTo>
                <a:close/>
              </a:path>
            </a:pathLst>
          </a:custGeom>
          <a:solidFill>
            <a:srgbClr val="F8FAFC"/>
          </a:solidFill>
          <a:ln w="9525">
            <a:solidFill>
              <a:srgbClr val="E2E8F0"/>
            </a:solidFill>
          </a:ln>
        </p:spPr>
      </p:sp>
      <p:sp>
        <p:nvSpPr>
          <p:cNvPr id="83" name="TextBox 83"/>
          <p:cNvSpPr txBox="1"/>
          <p:nvPr/>
        </p:nvSpPr>
        <p:spPr>
          <a:xfrm>
            <a:off x="8511540" y="4344352"/>
            <a:ext cx="2627145" cy="213360"/>
          </a:xfrm>
          <a:prstGeom prst="rect">
            <a:avLst/>
          </a:prstGeom>
          <a:noFill/>
          <a:ln>
            <a:noFill/>
          </a:ln>
        </p:spPr>
        <p:txBody>
          <a:bodyPr wrap="none" lIns="0" tIns="0" rIns="0" bIns="0" anchor="t" anchorCtr="0">
            <a:spAutoFit/>
          </a:bodyPr>
          <a:lstStyle/>
          <a:p>
            <a:pPr algn="l"/>
            <a:r>
              <a:rPr lang="zh-CN" sz="1050" b="1" dirty="0">
                <a:solidFill>
                  <a:srgbClr val="6D28D9"/>
                </a:solidFill>
                <a:latin typeface="Arial" panose="020B0704020202020204"/>
                <a:ea typeface="Arial" panose="020B0704020202020204"/>
                <a:cs typeface="Arial" panose="020B0704020202020204"/>
              </a:rPr>
              <a:t>Tab 4: Danh sách Tài xế (Drivers)</a:t>
            </a:r>
            <a:endParaRPr lang="zh-CN" sz="1050" b="1" dirty="0">
              <a:solidFill>
                <a:srgbClr val="6D28D9"/>
              </a:solidFill>
              <a:latin typeface="Arial" panose="020B0704020202020204"/>
              <a:ea typeface="Arial" panose="020B0704020202020204"/>
              <a:cs typeface="Arial" panose="020B0704020202020204"/>
            </a:endParaRPr>
          </a:p>
        </p:txBody>
      </p:sp>
      <p:sp>
        <p:nvSpPr>
          <p:cNvPr id="84" name="TextBox 84"/>
          <p:cNvSpPr txBox="1"/>
          <p:nvPr/>
        </p:nvSpPr>
        <p:spPr>
          <a:xfrm>
            <a:off x="8512492" y="4561999"/>
            <a:ext cx="3435215"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panose="020B0704020202020204"/>
                <a:ea typeface="Arial" panose="020B0704020202020204"/>
                <a:cs typeface="Arial" panose="020B0704020202020204"/>
              </a:rPr>
              <a:t>• Xem trạng thái làm việc (Online/Offline/Busy).</a:t>
            </a:r>
            <a:endParaRPr lang="zh-CN" sz="975" dirty="0">
              <a:solidFill>
                <a:srgbClr val="475569"/>
              </a:solidFill>
              <a:latin typeface="Arial" panose="020B0704020202020204"/>
              <a:ea typeface="Arial" panose="020B0704020202020204"/>
              <a:cs typeface="Arial" panose="020B0704020202020204"/>
            </a:endParaRPr>
          </a:p>
        </p:txBody>
      </p:sp>
      <p:sp>
        <p:nvSpPr>
          <p:cNvPr id="85" name="TextBox 85"/>
          <p:cNvSpPr txBox="1"/>
          <p:nvPr/>
        </p:nvSpPr>
        <p:spPr>
          <a:xfrm>
            <a:off x="8512492" y="4733449"/>
            <a:ext cx="3271457"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panose="020B0704020202020204"/>
                <a:ea typeface="Arial" panose="020B0704020202020204"/>
                <a:cs typeface="Arial" panose="020B0704020202020204"/>
              </a:rPr>
              <a:t>• Điểm đánh giá trung bình (Rating) của tài xế.</a:t>
            </a:r>
            <a:endParaRPr lang="zh-CN" sz="975" dirty="0">
              <a:solidFill>
                <a:srgbClr val="475569"/>
              </a:solidFill>
              <a:latin typeface="Arial" panose="020B0704020202020204"/>
              <a:ea typeface="Arial" panose="020B0704020202020204"/>
              <a:cs typeface="Arial" panose="020B0704020202020204"/>
            </a:endParaRPr>
          </a:p>
        </p:txBody>
      </p:sp>
      <p:sp>
        <p:nvSpPr>
          <p:cNvPr id="86" name="Freeform 86"/>
          <p:cNvSpPr/>
          <p:nvPr/>
        </p:nvSpPr>
        <p:spPr>
          <a:xfrm>
            <a:off x="8382000" y="5000625"/>
            <a:ext cx="3238500" cy="1000125"/>
          </a:xfrm>
          <a:custGeom>
            <a:avLst/>
            <a:gdLst/>
            <a:ahLst/>
            <a:cxnLst/>
            <a:rect l="l" t="t" r="r" b="b"/>
            <a:pathLst>
              <a:path w="3238500" h="1000125">
                <a:moveTo>
                  <a:pt x="57150" y="0"/>
                </a:moveTo>
                <a:lnTo>
                  <a:pt x="3181350" y="0"/>
                </a:lnTo>
                <a:cubicBezTo>
                  <a:pt x="3212913" y="0"/>
                  <a:pt x="3238500" y="25587"/>
                  <a:pt x="3238500" y="57150"/>
                </a:cubicBezTo>
                <a:lnTo>
                  <a:pt x="3238500" y="942975"/>
                </a:lnTo>
                <a:cubicBezTo>
                  <a:pt x="3238500" y="974538"/>
                  <a:pt x="3212913" y="1000125"/>
                  <a:pt x="3181350" y="1000125"/>
                </a:cubicBezTo>
                <a:lnTo>
                  <a:pt x="57150" y="1000125"/>
                </a:lnTo>
                <a:cubicBezTo>
                  <a:pt x="25587" y="1000125"/>
                  <a:pt x="0" y="974538"/>
                  <a:pt x="0" y="942975"/>
                </a:cubicBezTo>
                <a:lnTo>
                  <a:pt x="0" y="57150"/>
                </a:lnTo>
                <a:cubicBezTo>
                  <a:pt x="0" y="25587"/>
                  <a:pt x="25587" y="0"/>
                  <a:pt x="57150" y="0"/>
                </a:cubicBezTo>
                <a:close/>
              </a:path>
            </a:pathLst>
          </a:custGeom>
          <a:solidFill>
            <a:srgbClr val="FEF2F2"/>
          </a:solidFill>
          <a:ln w="9525">
            <a:solidFill>
              <a:srgbClr val="FECACA"/>
            </a:solidFill>
          </a:ln>
        </p:spPr>
      </p:sp>
      <p:sp>
        <p:nvSpPr>
          <p:cNvPr id="87" name="TextBox 87"/>
          <p:cNvSpPr txBox="1"/>
          <p:nvPr/>
        </p:nvSpPr>
        <p:spPr>
          <a:xfrm>
            <a:off x="8511540" y="5106352"/>
            <a:ext cx="2675451" cy="213360"/>
          </a:xfrm>
          <a:prstGeom prst="rect">
            <a:avLst/>
          </a:prstGeom>
          <a:noFill/>
          <a:ln>
            <a:noFill/>
          </a:ln>
        </p:spPr>
        <p:txBody>
          <a:bodyPr wrap="none" lIns="0" tIns="0" rIns="0" bIns="0" anchor="t" anchorCtr="0">
            <a:spAutoFit/>
          </a:bodyPr>
          <a:lstStyle/>
          <a:p>
            <a:pPr algn="l"/>
            <a:r>
              <a:rPr lang="zh-CN" sz="1050" b="1" dirty="0">
                <a:solidFill>
                  <a:srgbClr val="B91C1C"/>
                </a:solidFill>
                <a:latin typeface="Arial" panose="020B0704020202020204"/>
                <a:ea typeface="Arial" panose="020B0704020202020204"/>
                <a:cs typeface="Arial" panose="020B0704020202020204"/>
              </a:rPr>
              <a:t>Tab 5: Cảnh báo &amp; Từ chối (Alerts)</a:t>
            </a:r>
            <a:endParaRPr lang="zh-CN" sz="1050" b="1" dirty="0">
              <a:solidFill>
                <a:srgbClr val="B91C1C"/>
              </a:solidFill>
              <a:latin typeface="Arial" panose="020B0704020202020204"/>
              <a:ea typeface="Arial" panose="020B0704020202020204"/>
              <a:cs typeface="Arial" panose="020B0704020202020204"/>
            </a:endParaRPr>
          </a:p>
        </p:txBody>
      </p:sp>
      <p:sp>
        <p:nvSpPr>
          <p:cNvPr id="88" name="TextBox 88"/>
          <p:cNvSpPr txBox="1"/>
          <p:nvPr/>
        </p:nvSpPr>
        <p:spPr>
          <a:xfrm>
            <a:off x="8512492" y="5323999"/>
            <a:ext cx="3556254" cy="198120"/>
          </a:xfrm>
          <a:prstGeom prst="rect">
            <a:avLst/>
          </a:prstGeom>
          <a:noFill/>
          <a:ln>
            <a:noFill/>
          </a:ln>
        </p:spPr>
        <p:txBody>
          <a:bodyPr wrap="none" lIns="0" tIns="0" rIns="0" bIns="0" anchor="t" anchorCtr="0">
            <a:spAutoFit/>
          </a:bodyPr>
          <a:lstStyle/>
          <a:p>
            <a:pPr algn="l"/>
            <a:r>
              <a:rPr lang="zh-CN" sz="975" dirty="0">
                <a:solidFill>
                  <a:srgbClr val="7F1D1D"/>
                </a:solidFill>
                <a:latin typeface="Arial" panose="020B0704020202020204"/>
                <a:ea typeface="Arial" panose="020B0704020202020204"/>
                <a:cs typeface="Arial" panose="020B0704020202020204"/>
              </a:rPr>
              <a:t>• Danh sách các đơn chờ quá lâu chưa có người nhận.</a:t>
            </a:r>
            <a:endParaRPr lang="zh-CN" sz="975" dirty="0">
              <a:solidFill>
                <a:srgbClr val="7F1D1D"/>
              </a:solidFill>
              <a:latin typeface="Arial" panose="020B0704020202020204"/>
              <a:ea typeface="Arial" panose="020B0704020202020204"/>
              <a:cs typeface="Arial" panose="020B0704020202020204"/>
            </a:endParaRPr>
          </a:p>
        </p:txBody>
      </p:sp>
      <p:sp>
        <p:nvSpPr>
          <p:cNvPr id="89" name="TextBox 89"/>
          <p:cNvSpPr txBox="1"/>
          <p:nvPr/>
        </p:nvSpPr>
        <p:spPr>
          <a:xfrm>
            <a:off x="8512492" y="5514499"/>
            <a:ext cx="3136178" cy="198120"/>
          </a:xfrm>
          <a:prstGeom prst="rect">
            <a:avLst/>
          </a:prstGeom>
          <a:noFill/>
          <a:ln>
            <a:noFill/>
          </a:ln>
        </p:spPr>
        <p:txBody>
          <a:bodyPr wrap="none" lIns="0" tIns="0" rIns="0" bIns="0" anchor="t" anchorCtr="0">
            <a:spAutoFit/>
          </a:bodyPr>
          <a:lstStyle/>
          <a:p>
            <a:pPr algn="l"/>
            <a:r>
              <a:rPr lang="zh-CN" sz="975" dirty="0">
                <a:solidFill>
                  <a:srgbClr val="7F1D1D"/>
                </a:solidFill>
                <a:latin typeface="Arial" panose="020B0704020202020204"/>
                <a:ea typeface="Arial" panose="020B0704020202020204"/>
                <a:cs typeface="Arial" panose="020B0704020202020204"/>
              </a:rPr>
              <a:t>• Ghi nhận các đơn bị tài xế từ chối nhiều lần.</a:t>
            </a:r>
            <a:endParaRPr lang="zh-CN" sz="975" dirty="0">
              <a:solidFill>
                <a:srgbClr val="7F1D1D"/>
              </a:solidFill>
              <a:latin typeface="Arial" panose="020B0704020202020204"/>
              <a:ea typeface="Arial" panose="020B0704020202020204"/>
              <a:cs typeface="Arial" panose="020B0704020202020204"/>
            </a:endParaRPr>
          </a:p>
        </p:txBody>
      </p:sp>
      <p:sp>
        <p:nvSpPr>
          <p:cNvPr id="90" name="TextBox 90"/>
          <p:cNvSpPr txBox="1"/>
          <p:nvPr/>
        </p:nvSpPr>
        <p:spPr>
          <a:xfrm>
            <a:off x="8512492" y="5704999"/>
            <a:ext cx="3563374" cy="198120"/>
          </a:xfrm>
          <a:prstGeom prst="rect">
            <a:avLst/>
          </a:prstGeom>
          <a:noFill/>
          <a:ln>
            <a:noFill/>
          </a:ln>
        </p:spPr>
        <p:txBody>
          <a:bodyPr wrap="none" lIns="0" tIns="0" rIns="0" bIns="0" anchor="t" anchorCtr="0">
            <a:spAutoFit/>
          </a:bodyPr>
          <a:lstStyle/>
          <a:p>
            <a:pPr algn="l"/>
            <a:r>
              <a:rPr lang="zh-CN" sz="975" dirty="0">
                <a:solidFill>
                  <a:srgbClr val="7F1D1D"/>
                </a:solidFill>
                <a:latin typeface="Arial" panose="020B0704020202020204"/>
                <a:ea typeface="Arial" panose="020B0704020202020204"/>
                <a:cs typeface="Arial" panose="020B0704020202020204"/>
              </a:rPr>
              <a:t>• Giúp ban vận hành phát hiện và can thiệp kịp thời.</a:t>
            </a:r>
            <a:endParaRPr lang="zh-CN" sz="975" dirty="0">
              <a:solidFill>
                <a:srgbClr val="7F1D1D"/>
              </a:solidFill>
              <a:latin typeface="Arial" panose="020B0704020202020204"/>
              <a:ea typeface="Arial" panose="020B0704020202020204"/>
              <a:cs typeface="Arial" panose="020B0704020202020204"/>
            </a:endParaRPr>
          </a:p>
        </p:txBody>
      </p:sp>
      <p:sp>
        <p:nvSpPr>
          <p:cNvPr id="91" name="Line 91"/>
          <p:cNvSpPr/>
          <p:nvPr/>
        </p:nvSpPr>
        <p:spPr>
          <a:xfrm>
            <a:off x="381000" y="6334125"/>
            <a:ext cx="11430000" cy="9525"/>
          </a:xfrm>
          <a:custGeom>
            <a:avLst/>
            <a:gdLst/>
            <a:ahLst/>
            <a:cxnLst/>
            <a:rect l="l" t="t" r="r" b="b"/>
            <a:pathLst>
              <a:path w="11430000" h="9525">
                <a:moveTo>
                  <a:pt x="0" y="0"/>
                </a:moveTo>
                <a:lnTo>
                  <a:pt x="11430000" y="0"/>
                </a:lnTo>
              </a:path>
            </a:pathLst>
          </a:custGeom>
          <a:noFill/>
          <a:ln w="9525">
            <a:solidFill>
              <a:srgbClr val="CBD5E1"/>
            </a:solidFill>
          </a:ln>
        </p:spPr>
      </p:sp>
      <p:sp>
        <p:nvSpPr>
          <p:cNvPr id="92" name="TextBox 92"/>
          <p:cNvSpPr txBox="1"/>
          <p:nvPr/>
        </p:nvSpPr>
        <p:spPr>
          <a:xfrm>
            <a:off x="368618" y="6514624"/>
            <a:ext cx="3563374"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panose="020B0704020202020204"/>
                <a:ea typeface="Arial" panose="020B0704020202020204"/>
                <a:cs typeface="Arial" panose="020B0704020202020204"/>
              </a:rPr>
              <a:t>Báo cáo Đồ án Lập trình Di động (MOB402) • Nhóm 10</a:t>
            </a:r>
            <a:endParaRPr lang="zh-CN" sz="975" dirty="0">
              <a:solidFill>
                <a:srgbClr val="64748B"/>
              </a:solidFill>
              <a:latin typeface="Arial" panose="020B0704020202020204"/>
              <a:ea typeface="Arial" panose="020B0704020202020204"/>
              <a:cs typeface="Arial" panose="020B0704020202020204"/>
            </a:endParaRPr>
          </a:p>
        </p:txBody>
      </p:sp>
      <p:sp>
        <p:nvSpPr>
          <p:cNvPr id="93" name="TextBox 93"/>
          <p:cNvSpPr txBox="1"/>
          <p:nvPr/>
        </p:nvSpPr>
        <p:spPr>
          <a:xfrm>
            <a:off x="4737949" y="6514624"/>
            <a:ext cx="2716101" cy="198120"/>
          </a:xfrm>
          <a:prstGeom prst="rect">
            <a:avLst/>
          </a:prstGeom>
          <a:noFill/>
          <a:ln>
            <a:noFill/>
          </a:ln>
        </p:spPr>
        <p:txBody>
          <a:bodyPr wrap="none" lIns="0" tIns="0" rIns="0" bIns="0" anchor="t" anchorCtr="0">
            <a:spAutoFit/>
          </a:bodyPr>
          <a:lstStyle/>
          <a:p>
            <a:pPr algn="ctr"/>
            <a:r>
              <a:rPr lang="zh-CN" sz="975" dirty="0">
                <a:solidFill>
                  <a:srgbClr val="94A3B8"/>
                </a:solidFill>
                <a:latin typeface="Arial" panose="020B0704020202020204"/>
                <a:ea typeface="Arial" panose="020B0704020202020204"/>
                <a:cs typeface="Arial" panose="020B0704020202020204"/>
              </a:rPr>
              <a:t>Screen Flow &amp; Điều hướng theo 3 vai trò</a:t>
            </a:r>
            <a:endParaRPr lang="zh-CN" sz="975" dirty="0">
              <a:solidFill>
                <a:srgbClr val="94A3B8"/>
              </a:solidFill>
              <a:latin typeface="Arial" panose="020B0704020202020204"/>
              <a:ea typeface="Arial" panose="020B0704020202020204"/>
              <a:cs typeface="Arial" panose="020B0704020202020204"/>
            </a:endParaRPr>
          </a:p>
        </p:txBody>
      </p:sp>
      <p:sp>
        <p:nvSpPr>
          <p:cNvPr id="94" name="TextBox 94"/>
          <p:cNvSpPr txBox="1"/>
          <p:nvPr/>
        </p:nvSpPr>
        <p:spPr>
          <a:xfrm>
            <a:off x="11338758" y="6506528"/>
            <a:ext cx="485577" cy="213360"/>
          </a:xfrm>
          <a:prstGeom prst="rect">
            <a:avLst/>
          </a:prstGeom>
          <a:noFill/>
          <a:ln>
            <a:noFill/>
          </a:ln>
        </p:spPr>
        <p:txBody>
          <a:bodyPr wrap="none" lIns="0" tIns="0" rIns="0" bIns="0" anchor="t" anchorCtr="0">
            <a:spAutoFit/>
          </a:bodyPr>
          <a:lstStyle/>
          <a:p>
            <a:pPr algn="r"/>
            <a:r>
              <a:rPr lang="zh-CN" sz="1050" b="1" dirty="0">
                <a:solidFill>
                  <a:srgbClr val="003366"/>
                </a:solidFill>
                <a:latin typeface="Arial" panose="020B0704020202020204"/>
                <a:ea typeface="Arial" panose="020B0704020202020204"/>
                <a:cs typeface="Arial" panose="020B0704020202020204"/>
              </a:rPr>
              <a:t>10 / 14</a:t>
            </a:r>
            <a:endParaRPr lang="zh-CN" sz="1050" b="1" dirty="0">
              <a:solidFill>
                <a:srgbClr val="003366"/>
              </a:solidFill>
              <a:latin typeface="Arial" panose="020B0704020202020204"/>
              <a:ea typeface="Arial" panose="020B0704020202020204"/>
              <a:cs typeface="Arial" panose="020B07040202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858000"/>
          </a:xfrm>
          <a:prstGeom prst="rect">
            <a:avLst/>
          </a:prstGeom>
          <a:solidFill>
            <a:srgbClr val="F8FAFC"/>
          </a:solidFill>
          <a:ln>
            <a:noFill/>
          </a:ln>
        </p:spPr>
      </p:sp>
      <p:sp>
        <p:nvSpPr>
          <p:cNvPr id="4" name="Rectangle 4"/>
          <p:cNvSpPr/>
          <p:nvPr/>
        </p:nvSpPr>
        <p:spPr>
          <a:xfrm>
            <a:off x="0" y="0"/>
            <a:ext cx="12192000" cy="666750"/>
          </a:xfrm>
          <a:prstGeom prst="rect">
            <a:avLst/>
          </a:prstGeom>
          <a:solidFill>
            <a:srgbClr val="003366"/>
          </a:solidFill>
          <a:ln>
            <a:noFill/>
          </a:ln>
        </p:spPr>
      </p:sp>
      <p:sp>
        <p:nvSpPr>
          <p:cNvPr id="5" name="Rectangle 5"/>
          <p:cNvSpPr/>
          <p:nvPr/>
        </p:nvSpPr>
        <p:spPr>
          <a:xfrm>
            <a:off x="0" y="0"/>
            <a:ext cx="57150" cy="666750"/>
          </a:xfrm>
          <a:prstGeom prst="rect">
            <a:avLst/>
          </a:prstGeom>
          <a:solidFill>
            <a:srgbClr val="E65100"/>
          </a:solidFill>
          <a:ln>
            <a:noFill/>
          </a:ln>
        </p:spPr>
      </p:sp>
      <p:sp>
        <p:nvSpPr>
          <p:cNvPr id="6" name="TextBox 6"/>
          <p:cNvSpPr txBox="1"/>
          <p:nvPr/>
        </p:nvSpPr>
        <p:spPr>
          <a:xfrm>
            <a:off x="356235" y="227648"/>
            <a:ext cx="7435753" cy="396240"/>
          </a:xfrm>
          <a:prstGeom prst="rect">
            <a:avLst/>
          </a:prstGeom>
          <a:noFill/>
          <a:ln>
            <a:noFill/>
          </a:ln>
        </p:spPr>
        <p:txBody>
          <a:bodyPr wrap="none" lIns="0" tIns="0" rIns="0" bIns="0" anchor="t" anchorCtr="0">
            <a:spAutoFit/>
          </a:bodyPr>
          <a:lstStyle/>
          <a:p>
            <a:pPr algn="l"/>
            <a:r>
              <a:rPr lang="zh-CN" sz="1950" b="1" dirty="0">
                <a:solidFill>
                  <a:srgbClr val="FFFFFF"/>
                </a:solidFill>
                <a:latin typeface="Arial" panose="020B0704020202020204"/>
                <a:ea typeface="Arial" panose="020B0704020202020204"/>
                <a:cs typeface="Arial" panose="020B0704020202020204"/>
              </a:rPr>
              <a:t>05. THÀNH PHẦN ANDROID CỐT LÕI &amp; TÍCH HỢP HỆ THỐNG</a:t>
            </a:r>
            <a:endParaRPr lang="zh-CN" sz="1950" b="1" dirty="0">
              <a:solidFill>
                <a:srgbClr val="FFFFFF"/>
              </a:solidFill>
              <a:latin typeface="Arial" panose="020B0704020202020204"/>
              <a:ea typeface="Arial" panose="020B0704020202020204"/>
              <a:cs typeface="Arial" panose="020B0704020202020204"/>
            </a:endParaRPr>
          </a:p>
        </p:txBody>
      </p:sp>
      <p:sp>
        <p:nvSpPr>
          <p:cNvPr id="7" name="TextBox 7"/>
          <p:cNvSpPr txBox="1"/>
          <p:nvPr/>
        </p:nvSpPr>
        <p:spPr>
          <a:xfrm>
            <a:off x="10295973" y="299085"/>
            <a:ext cx="1530267" cy="243840"/>
          </a:xfrm>
          <a:prstGeom prst="rect">
            <a:avLst/>
          </a:prstGeom>
          <a:noFill/>
          <a:ln>
            <a:noFill/>
          </a:ln>
        </p:spPr>
        <p:txBody>
          <a:bodyPr wrap="none" lIns="0" tIns="0" rIns="0" bIns="0" anchor="t" anchorCtr="0">
            <a:spAutoFit/>
          </a:bodyPr>
          <a:lstStyle/>
          <a:p>
            <a:pPr algn="r"/>
            <a:r>
              <a:rPr lang="zh-CN" sz="1200" b="1" dirty="0">
                <a:solidFill>
                  <a:srgbClr val="93C5FD"/>
                </a:solidFill>
                <a:latin typeface="Arial" panose="020B0704020202020204"/>
                <a:ea typeface="Arial" panose="020B0704020202020204"/>
                <a:cs typeface="Arial" panose="020B0704020202020204"/>
              </a:rPr>
              <a:t>GODROP DELIVERY</a:t>
            </a:r>
            <a:endParaRPr lang="zh-CN" sz="1200" b="1" dirty="0">
              <a:solidFill>
                <a:srgbClr val="93C5FD"/>
              </a:solidFill>
              <a:latin typeface="Arial" panose="020B0704020202020204"/>
              <a:ea typeface="Arial" panose="020B0704020202020204"/>
              <a:cs typeface="Arial" panose="020B0704020202020204"/>
            </a:endParaRPr>
          </a:p>
        </p:txBody>
      </p:sp>
      <p:sp>
        <p:nvSpPr>
          <p:cNvPr id="8" name="Rectangle 8"/>
          <p:cNvSpPr/>
          <p:nvPr/>
        </p:nvSpPr>
        <p:spPr>
          <a:xfrm>
            <a:off x="0" y="666750"/>
            <a:ext cx="12192000" cy="476250"/>
          </a:xfrm>
          <a:prstGeom prst="rect">
            <a:avLst/>
          </a:prstGeom>
          <a:solidFill>
            <a:srgbClr val="E8F4FC"/>
          </a:solidFill>
          <a:ln>
            <a:noFill/>
          </a:ln>
        </p:spPr>
      </p:sp>
      <p:sp>
        <p:nvSpPr>
          <p:cNvPr id="9" name="Rectangle 9"/>
          <p:cNvSpPr/>
          <p:nvPr/>
        </p:nvSpPr>
        <p:spPr>
          <a:xfrm>
            <a:off x="0" y="666750"/>
            <a:ext cx="57150" cy="476250"/>
          </a:xfrm>
          <a:prstGeom prst="rect">
            <a:avLst/>
          </a:prstGeom>
          <a:solidFill>
            <a:srgbClr val="0066CC"/>
          </a:solidFill>
          <a:ln>
            <a:noFill/>
          </a:ln>
        </p:spPr>
      </p:sp>
      <p:sp>
        <p:nvSpPr>
          <p:cNvPr id="10" name="TextBox 10"/>
          <p:cNvSpPr txBox="1"/>
          <p:nvPr/>
        </p:nvSpPr>
        <p:spPr>
          <a:xfrm>
            <a:off x="364808" y="824389"/>
            <a:ext cx="10199656" cy="259080"/>
          </a:xfrm>
          <a:prstGeom prst="rect">
            <a:avLst/>
          </a:prstGeom>
          <a:noFill/>
          <a:ln>
            <a:noFill/>
          </a:ln>
        </p:spPr>
        <p:txBody>
          <a:bodyPr wrap="none" lIns="0" tIns="0" rIns="0" bIns="0" anchor="t" anchorCtr="0">
            <a:spAutoFit/>
          </a:bodyPr>
          <a:lstStyle/>
          <a:p>
            <a:pPr algn="l"/>
            <a:r>
              <a:rPr lang="zh-CN" sz="1275" dirty="0">
                <a:solidFill>
                  <a:srgbClr val="0F172A"/>
                </a:solidFill>
                <a:latin typeface="Arial" panose="020B0704020202020204"/>
                <a:ea typeface="Arial" panose="020B0704020202020204"/>
                <a:cs typeface="Arial" panose="020B0704020202020204"/>
              </a:rPr>
              <a:t>Khai thác tối đa các API hệ thống Android Native: Phân quyền, Implicit Intent gọi điện &amp; Dẫn đường qua Google Maps</a:t>
            </a:r>
            <a:endParaRPr lang="zh-CN" sz="1275" dirty="0">
              <a:solidFill>
                <a:srgbClr val="0F172A"/>
              </a:solidFill>
              <a:latin typeface="Arial" panose="020B0704020202020204"/>
              <a:ea typeface="Arial" panose="020B0704020202020204"/>
              <a:cs typeface="Arial" panose="020B0704020202020204"/>
            </a:endParaRPr>
          </a:p>
        </p:txBody>
      </p:sp>
      <p:sp>
        <p:nvSpPr>
          <p:cNvPr id="11" name="Freeform 11"/>
          <p:cNvSpPr/>
          <p:nvPr/>
        </p:nvSpPr>
        <p:spPr>
          <a:xfrm>
            <a:off x="381000" y="1333500"/>
            <a:ext cx="3728085" cy="4810125"/>
          </a:xfrm>
          <a:custGeom>
            <a:avLst/>
            <a:gdLst/>
            <a:ahLst/>
            <a:cxnLst/>
            <a:rect l="l" t="t" r="r" b="b"/>
            <a:pathLst>
              <a:path w="3619500" h="4810125">
                <a:moveTo>
                  <a:pt x="95250" y="0"/>
                </a:moveTo>
                <a:lnTo>
                  <a:pt x="3524250" y="0"/>
                </a:lnTo>
                <a:cubicBezTo>
                  <a:pt x="3576855" y="0"/>
                  <a:pt x="3619500" y="42645"/>
                  <a:pt x="3619500" y="95250"/>
                </a:cubicBezTo>
                <a:lnTo>
                  <a:pt x="3619500" y="4714875"/>
                </a:lnTo>
                <a:cubicBezTo>
                  <a:pt x="3619500" y="4767480"/>
                  <a:pt x="3576855" y="4810125"/>
                  <a:pt x="3524250" y="4810125"/>
                </a:cubicBezTo>
                <a:lnTo>
                  <a:pt x="95250" y="4810125"/>
                </a:lnTo>
                <a:cubicBezTo>
                  <a:pt x="42645" y="4810125"/>
                  <a:pt x="0" y="4767480"/>
                  <a:pt x="0" y="4714875"/>
                </a:cubicBezTo>
                <a:lnTo>
                  <a:pt x="0" y="95250"/>
                </a:lnTo>
                <a:cubicBezTo>
                  <a:pt x="0" y="42645"/>
                  <a:pt x="42645" y="0"/>
                  <a:pt x="95250" y="0"/>
                </a:cubicBezTo>
                <a:close/>
              </a:path>
            </a:pathLst>
          </a:custGeom>
          <a:solidFill>
            <a:srgbClr val="FFFFFF"/>
          </a:solidFill>
          <a:ln w="14288">
            <a:solidFill>
              <a:srgbClr val="E2E8F0"/>
            </a:solidFill>
          </a:ln>
        </p:spPr>
      </p:sp>
      <p:sp>
        <p:nvSpPr>
          <p:cNvPr id="12" name="Freeform 12"/>
          <p:cNvSpPr/>
          <p:nvPr/>
        </p:nvSpPr>
        <p:spPr>
          <a:xfrm>
            <a:off x="381000" y="1333500"/>
            <a:ext cx="3723005" cy="476250"/>
          </a:xfrm>
          <a:custGeom>
            <a:avLst/>
            <a:gdLst/>
            <a:ahLst/>
            <a:cxnLst/>
            <a:rect l="l" t="t" r="r" b="b"/>
            <a:pathLst>
              <a:path w="3619500" h="476250">
                <a:moveTo>
                  <a:pt x="95250" y="0"/>
                </a:moveTo>
                <a:lnTo>
                  <a:pt x="3524250" y="0"/>
                </a:lnTo>
                <a:cubicBezTo>
                  <a:pt x="3576855" y="0"/>
                  <a:pt x="3619500" y="42645"/>
                  <a:pt x="3619500" y="95250"/>
                </a:cubicBezTo>
                <a:lnTo>
                  <a:pt x="3619500" y="381000"/>
                </a:lnTo>
                <a:cubicBezTo>
                  <a:pt x="3619500" y="433605"/>
                  <a:pt x="3576855" y="476250"/>
                  <a:pt x="3524250" y="476250"/>
                </a:cubicBezTo>
                <a:lnTo>
                  <a:pt x="95250" y="476250"/>
                </a:lnTo>
                <a:cubicBezTo>
                  <a:pt x="42645" y="476250"/>
                  <a:pt x="0" y="433605"/>
                  <a:pt x="0" y="381000"/>
                </a:cubicBezTo>
                <a:lnTo>
                  <a:pt x="0" y="95250"/>
                </a:lnTo>
                <a:cubicBezTo>
                  <a:pt x="0" y="42645"/>
                  <a:pt x="42645" y="0"/>
                  <a:pt x="95250" y="0"/>
                </a:cubicBezTo>
                <a:close/>
              </a:path>
            </a:pathLst>
          </a:custGeom>
          <a:solidFill>
            <a:srgbClr val="F1F5F9"/>
          </a:solidFill>
          <a:ln>
            <a:noFill/>
          </a:ln>
        </p:spPr>
      </p:sp>
      <p:sp>
        <p:nvSpPr>
          <p:cNvPr id="13" name="Freeform 13"/>
          <p:cNvSpPr/>
          <p:nvPr/>
        </p:nvSpPr>
        <p:spPr>
          <a:xfrm>
            <a:off x="600075" y="1457325"/>
            <a:ext cx="171450" cy="228600"/>
          </a:xfrm>
          <a:custGeom>
            <a:avLst/>
            <a:gdLst/>
            <a:ahLst/>
            <a:cxnLst/>
            <a:rect l="l" t="t" r="r" b="b"/>
            <a:pathLst>
              <a:path w="171450" h="228600">
                <a:moveTo>
                  <a:pt x="28575" y="0"/>
                </a:moveTo>
                <a:cubicBezTo>
                  <a:pt x="12793" y="0"/>
                  <a:pt x="0" y="12793"/>
                  <a:pt x="0" y="28575"/>
                </a:cubicBezTo>
                <a:lnTo>
                  <a:pt x="0" y="200025"/>
                </a:lnTo>
                <a:cubicBezTo>
                  <a:pt x="0" y="215807"/>
                  <a:pt x="12793" y="228600"/>
                  <a:pt x="28575" y="228600"/>
                </a:cubicBezTo>
                <a:lnTo>
                  <a:pt x="142875" y="228600"/>
                </a:lnTo>
                <a:cubicBezTo>
                  <a:pt x="158657" y="228600"/>
                  <a:pt x="171450" y="215807"/>
                  <a:pt x="171450" y="200025"/>
                </a:cubicBezTo>
                <a:lnTo>
                  <a:pt x="171450" y="28575"/>
                </a:lnTo>
                <a:cubicBezTo>
                  <a:pt x="171450" y="12793"/>
                  <a:pt x="158657" y="0"/>
                  <a:pt x="142875" y="0"/>
                </a:cubicBezTo>
                <a:lnTo>
                  <a:pt x="28575" y="0"/>
                </a:lnTo>
                <a:close/>
                <a:moveTo>
                  <a:pt x="142875" y="42862"/>
                </a:moveTo>
                <a:lnTo>
                  <a:pt x="28575" y="42862"/>
                </a:lnTo>
                <a:lnTo>
                  <a:pt x="28575" y="185738"/>
                </a:lnTo>
                <a:lnTo>
                  <a:pt x="142875" y="185738"/>
                </a:lnTo>
                <a:lnTo>
                  <a:pt x="142875" y="42862"/>
                </a:lnTo>
                <a:close/>
              </a:path>
            </a:pathLst>
          </a:custGeom>
          <a:solidFill>
            <a:srgbClr val="003366"/>
          </a:solidFill>
          <a:ln>
            <a:noFill/>
          </a:ln>
        </p:spPr>
      </p:sp>
      <p:sp>
        <p:nvSpPr>
          <p:cNvPr id="14" name="TextBox 14"/>
          <p:cNvSpPr txBox="1"/>
          <p:nvPr/>
        </p:nvSpPr>
        <p:spPr>
          <a:xfrm>
            <a:off x="888682" y="1500664"/>
            <a:ext cx="2994580" cy="259080"/>
          </a:xfrm>
          <a:prstGeom prst="rect">
            <a:avLst/>
          </a:prstGeom>
          <a:noFill/>
          <a:ln>
            <a:noFill/>
          </a:ln>
        </p:spPr>
        <p:txBody>
          <a:bodyPr wrap="none" lIns="0" tIns="0" rIns="0" bIns="0" anchor="t" anchorCtr="0">
            <a:spAutoFit/>
          </a:bodyPr>
          <a:lstStyle/>
          <a:p>
            <a:pPr algn="l"/>
            <a:r>
              <a:rPr lang="zh-CN" sz="1275" b="1" dirty="0">
                <a:solidFill>
                  <a:srgbClr val="003366"/>
                </a:solidFill>
                <a:latin typeface="Arial" panose="020B0704020202020204"/>
                <a:ea typeface="Arial" panose="020B0704020202020204"/>
                <a:cs typeface="Arial" panose="020B0704020202020204"/>
              </a:rPr>
              <a:t>1. AndroidManifest &amp; Quyền hạn</a:t>
            </a:r>
            <a:endParaRPr lang="zh-CN" sz="1275" b="1" dirty="0">
              <a:solidFill>
                <a:srgbClr val="003366"/>
              </a:solidFill>
              <a:latin typeface="Arial" panose="020B0704020202020204"/>
              <a:ea typeface="Arial" panose="020B0704020202020204"/>
              <a:cs typeface="Arial" panose="020B0704020202020204"/>
            </a:endParaRPr>
          </a:p>
        </p:txBody>
      </p:sp>
      <p:sp>
        <p:nvSpPr>
          <p:cNvPr id="15" name="Freeform 15"/>
          <p:cNvSpPr/>
          <p:nvPr/>
        </p:nvSpPr>
        <p:spPr>
          <a:xfrm>
            <a:off x="571500" y="1952625"/>
            <a:ext cx="3365500" cy="1137285"/>
          </a:xfrm>
          <a:custGeom>
            <a:avLst/>
            <a:gdLst/>
            <a:ahLst/>
            <a:cxnLst/>
            <a:rect l="l" t="t" r="r" b="b"/>
            <a:pathLst>
              <a:path w="3238500" h="1047750">
                <a:moveTo>
                  <a:pt x="76200" y="0"/>
                </a:moveTo>
                <a:lnTo>
                  <a:pt x="3162300" y="0"/>
                </a:lnTo>
                <a:cubicBezTo>
                  <a:pt x="3204384" y="0"/>
                  <a:pt x="3238500" y="34116"/>
                  <a:pt x="3238500" y="76200"/>
                </a:cubicBezTo>
                <a:lnTo>
                  <a:pt x="3238500" y="971550"/>
                </a:lnTo>
                <a:cubicBezTo>
                  <a:pt x="3238500" y="1013634"/>
                  <a:pt x="3204384" y="1047750"/>
                  <a:pt x="3162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8FAFC"/>
          </a:solidFill>
          <a:ln w="9525">
            <a:solidFill>
              <a:srgbClr val="E2E8F0"/>
            </a:solidFill>
          </a:ln>
        </p:spPr>
      </p:sp>
      <p:sp>
        <p:nvSpPr>
          <p:cNvPr id="16" name="TextBox 16"/>
          <p:cNvSpPr txBox="1"/>
          <p:nvPr/>
        </p:nvSpPr>
        <p:spPr>
          <a:xfrm>
            <a:off x="700088" y="2050256"/>
            <a:ext cx="1865930" cy="228600"/>
          </a:xfrm>
          <a:prstGeom prst="rect">
            <a:avLst/>
          </a:prstGeom>
          <a:noFill/>
          <a:ln>
            <a:noFill/>
          </a:ln>
        </p:spPr>
        <p:txBody>
          <a:bodyPr wrap="none" lIns="0" tIns="0" rIns="0" bIns="0" anchor="t" anchorCtr="0">
            <a:spAutoFit/>
          </a:bodyPr>
          <a:lstStyle/>
          <a:p>
            <a:pPr algn="l"/>
            <a:r>
              <a:rPr lang="zh-CN" sz="1125" b="1" dirty="0">
                <a:solidFill>
                  <a:srgbClr val="0066CC"/>
                </a:solidFill>
                <a:latin typeface="Arial" panose="020B0704020202020204"/>
                <a:ea typeface="Arial" panose="020B0704020202020204"/>
                <a:cs typeface="Arial" panose="020B0704020202020204"/>
              </a:rPr>
              <a:t>Quyền truy cập mạng:</a:t>
            </a:r>
            <a:endParaRPr lang="zh-CN" sz="1125" b="1" dirty="0">
              <a:solidFill>
                <a:srgbClr val="0066CC"/>
              </a:solidFill>
              <a:latin typeface="Arial" panose="020B0704020202020204"/>
              <a:ea typeface="Arial" panose="020B0704020202020204"/>
              <a:cs typeface="Arial" panose="020B0704020202020204"/>
            </a:endParaRPr>
          </a:p>
        </p:txBody>
      </p:sp>
      <p:sp>
        <p:nvSpPr>
          <p:cNvPr id="17" name="TextBox 17"/>
          <p:cNvSpPr txBox="1"/>
          <p:nvPr/>
        </p:nvSpPr>
        <p:spPr>
          <a:xfrm>
            <a:off x="701992" y="2295049"/>
            <a:ext cx="2252593" cy="198120"/>
          </a:xfrm>
          <a:prstGeom prst="rect">
            <a:avLst/>
          </a:prstGeom>
          <a:noFill/>
          <a:ln>
            <a:noFill/>
          </a:ln>
        </p:spPr>
        <p:txBody>
          <a:bodyPr wrap="none" lIns="0" tIns="0" rIns="0" bIns="0" anchor="t" anchorCtr="0">
            <a:spAutoFit/>
          </a:bodyPr>
          <a:lstStyle/>
          <a:p>
            <a:pPr algn="l"/>
            <a:r>
              <a:rPr lang="zh-CN" sz="975" b="1" dirty="0">
                <a:solidFill>
                  <a:srgbClr val="0F172A"/>
                </a:solidFill>
                <a:latin typeface="Arial" panose="020B0704020202020204"/>
                <a:ea typeface="Arial" panose="020B0704020202020204"/>
                <a:cs typeface="Arial" panose="020B0704020202020204"/>
              </a:rPr>
              <a:t>• android.permission.INTERNET</a:t>
            </a:r>
            <a:endParaRPr lang="zh-CN" sz="975" b="1" dirty="0">
              <a:solidFill>
                <a:srgbClr val="0F172A"/>
              </a:solidFill>
              <a:latin typeface="Arial" panose="020B0704020202020204"/>
              <a:ea typeface="Arial" panose="020B0704020202020204"/>
              <a:cs typeface="Arial" panose="020B0704020202020204"/>
            </a:endParaRPr>
          </a:p>
        </p:txBody>
      </p:sp>
      <p:sp>
        <p:nvSpPr>
          <p:cNvPr id="18" name="TextBox 18"/>
          <p:cNvSpPr txBox="1"/>
          <p:nvPr/>
        </p:nvSpPr>
        <p:spPr>
          <a:xfrm>
            <a:off x="797719" y="2489597"/>
            <a:ext cx="3036094" cy="190500"/>
          </a:xfrm>
          <a:prstGeom prst="rect">
            <a:avLst/>
          </a:prstGeom>
          <a:noFill/>
          <a:ln>
            <a:noFill/>
          </a:ln>
        </p:spPr>
        <p:txBody>
          <a:bodyPr wrap="none" lIns="0" tIns="0" rIns="0" bIns="0" anchor="t" anchorCtr="0">
            <a:spAutoFit/>
          </a:bodyPr>
          <a:lstStyle/>
          <a:p>
            <a:pPr algn="l"/>
            <a:r>
              <a:rPr lang="zh-CN" sz="940" dirty="0">
                <a:solidFill>
                  <a:srgbClr val="475569"/>
                </a:solidFill>
                <a:latin typeface="Arial" panose="020B0704020202020204"/>
                <a:ea typeface="Arial" panose="020B0704020202020204"/>
                <a:cs typeface="Arial" panose="020B0704020202020204"/>
              </a:rPr>
              <a:t>Thực thi gọi API REST tới máy chủ Spring Boot.</a:t>
            </a:r>
            <a:endParaRPr lang="zh-CN" sz="940" dirty="0">
              <a:solidFill>
                <a:srgbClr val="475569"/>
              </a:solidFill>
              <a:latin typeface="Arial" panose="020B0704020202020204"/>
              <a:ea typeface="Arial" panose="020B0704020202020204"/>
              <a:cs typeface="Arial" panose="020B0704020202020204"/>
            </a:endParaRPr>
          </a:p>
        </p:txBody>
      </p:sp>
      <p:sp>
        <p:nvSpPr>
          <p:cNvPr id="19" name="TextBox 19"/>
          <p:cNvSpPr txBox="1"/>
          <p:nvPr/>
        </p:nvSpPr>
        <p:spPr>
          <a:xfrm>
            <a:off x="701992" y="2704624"/>
            <a:ext cx="1856369" cy="198120"/>
          </a:xfrm>
          <a:prstGeom prst="rect">
            <a:avLst/>
          </a:prstGeom>
          <a:noFill/>
          <a:ln>
            <a:noFill/>
          </a:ln>
        </p:spPr>
        <p:txBody>
          <a:bodyPr wrap="none" lIns="0" tIns="0" rIns="0" bIns="0" anchor="t" anchorCtr="0">
            <a:spAutoFit/>
          </a:bodyPr>
          <a:lstStyle/>
          <a:p>
            <a:pPr algn="l"/>
            <a:r>
              <a:rPr lang="zh-CN" sz="975" b="1" dirty="0">
                <a:solidFill>
                  <a:srgbClr val="0F172A"/>
                </a:solidFill>
                <a:latin typeface="Arial" panose="020B0704020202020204"/>
                <a:ea typeface="Arial" panose="020B0704020202020204"/>
                <a:cs typeface="Arial" panose="020B0704020202020204"/>
              </a:rPr>
              <a:t>• ACCESS_NETWORK_STATE</a:t>
            </a:r>
            <a:endParaRPr lang="zh-CN" sz="975" b="1" dirty="0">
              <a:solidFill>
                <a:srgbClr val="0F172A"/>
              </a:solidFill>
              <a:latin typeface="Arial" panose="020B0704020202020204"/>
              <a:ea typeface="Arial" panose="020B0704020202020204"/>
              <a:cs typeface="Arial" panose="020B0704020202020204"/>
            </a:endParaRPr>
          </a:p>
        </p:txBody>
      </p:sp>
      <p:sp>
        <p:nvSpPr>
          <p:cNvPr id="20" name="TextBox 20"/>
          <p:cNvSpPr txBox="1"/>
          <p:nvPr/>
        </p:nvSpPr>
        <p:spPr>
          <a:xfrm>
            <a:off x="797719" y="2899172"/>
            <a:ext cx="3138785" cy="190500"/>
          </a:xfrm>
          <a:prstGeom prst="rect">
            <a:avLst/>
          </a:prstGeom>
          <a:noFill/>
          <a:ln>
            <a:noFill/>
          </a:ln>
        </p:spPr>
        <p:txBody>
          <a:bodyPr wrap="none" lIns="0" tIns="0" rIns="0" bIns="0" anchor="t" anchorCtr="0">
            <a:spAutoFit/>
          </a:bodyPr>
          <a:lstStyle/>
          <a:p>
            <a:pPr algn="l"/>
            <a:r>
              <a:rPr lang="zh-CN" sz="940" dirty="0">
                <a:solidFill>
                  <a:srgbClr val="475569"/>
                </a:solidFill>
                <a:latin typeface="Arial" panose="020B0704020202020204"/>
                <a:ea typeface="Arial" panose="020B0704020202020204"/>
                <a:cs typeface="Arial" panose="020B0704020202020204"/>
              </a:rPr>
              <a:t>Kiểm tra kết nối Wifi/4G trước khi gửi request.</a:t>
            </a:r>
            <a:endParaRPr lang="zh-CN" sz="940" dirty="0">
              <a:solidFill>
                <a:srgbClr val="475569"/>
              </a:solidFill>
              <a:latin typeface="Arial" panose="020B0704020202020204"/>
              <a:ea typeface="Arial" panose="020B0704020202020204"/>
              <a:cs typeface="Arial" panose="020B0704020202020204"/>
            </a:endParaRPr>
          </a:p>
        </p:txBody>
      </p:sp>
      <p:sp>
        <p:nvSpPr>
          <p:cNvPr id="21" name="Freeform 21"/>
          <p:cNvSpPr/>
          <p:nvPr/>
        </p:nvSpPr>
        <p:spPr>
          <a:xfrm>
            <a:off x="571500" y="3176270"/>
            <a:ext cx="3365500" cy="1285875"/>
          </a:xfrm>
          <a:custGeom>
            <a:avLst/>
            <a:gdLst/>
            <a:ahLst/>
            <a:cxnLst/>
            <a:rect l="l" t="t" r="r" b="b"/>
            <a:pathLst>
              <a:path w="3238500" h="1285875">
                <a:moveTo>
                  <a:pt x="76200" y="0"/>
                </a:moveTo>
                <a:lnTo>
                  <a:pt x="3162300" y="0"/>
                </a:lnTo>
                <a:cubicBezTo>
                  <a:pt x="3204384" y="0"/>
                  <a:pt x="3238500" y="34116"/>
                  <a:pt x="3238500" y="76200"/>
                </a:cubicBezTo>
                <a:lnTo>
                  <a:pt x="3238500" y="1209675"/>
                </a:lnTo>
                <a:cubicBezTo>
                  <a:pt x="3238500" y="1251759"/>
                  <a:pt x="3204384" y="1285875"/>
                  <a:pt x="3162300" y="1285875"/>
                </a:cubicBezTo>
                <a:lnTo>
                  <a:pt x="76200" y="1285875"/>
                </a:lnTo>
                <a:cubicBezTo>
                  <a:pt x="34116" y="1285875"/>
                  <a:pt x="0" y="1251759"/>
                  <a:pt x="0" y="1209675"/>
                </a:cubicBezTo>
                <a:lnTo>
                  <a:pt x="0" y="76200"/>
                </a:lnTo>
                <a:cubicBezTo>
                  <a:pt x="0" y="34116"/>
                  <a:pt x="34116" y="0"/>
                  <a:pt x="76200" y="0"/>
                </a:cubicBezTo>
                <a:close/>
              </a:path>
            </a:pathLst>
          </a:custGeom>
          <a:solidFill>
            <a:srgbClr val="F8FAFC"/>
          </a:solidFill>
          <a:ln w="9525">
            <a:solidFill>
              <a:srgbClr val="E2E8F0"/>
            </a:solidFill>
          </a:ln>
        </p:spPr>
      </p:sp>
      <p:sp>
        <p:nvSpPr>
          <p:cNvPr id="22" name="TextBox 22"/>
          <p:cNvSpPr txBox="1"/>
          <p:nvPr/>
        </p:nvSpPr>
        <p:spPr>
          <a:xfrm>
            <a:off x="700088" y="3240881"/>
            <a:ext cx="2176468" cy="228600"/>
          </a:xfrm>
          <a:prstGeom prst="rect">
            <a:avLst/>
          </a:prstGeom>
          <a:noFill/>
          <a:ln>
            <a:noFill/>
          </a:ln>
        </p:spPr>
        <p:txBody>
          <a:bodyPr wrap="none" lIns="0" tIns="0" rIns="0" bIns="0" anchor="t" anchorCtr="0">
            <a:spAutoFit/>
          </a:bodyPr>
          <a:lstStyle/>
          <a:p>
            <a:pPr algn="l"/>
            <a:r>
              <a:rPr lang="zh-CN" sz="1125" b="1" dirty="0">
                <a:solidFill>
                  <a:srgbClr val="0066CC"/>
                </a:solidFill>
                <a:latin typeface="Arial" panose="020B0704020202020204"/>
                <a:ea typeface="Arial" panose="020B0704020202020204"/>
                <a:cs typeface="Arial" panose="020B0704020202020204"/>
              </a:rPr>
              <a:t>Cấu hình bảo mật kết nối:</a:t>
            </a:r>
            <a:endParaRPr lang="zh-CN" sz="1125" b="1" dirty="0">
              <a:solidFill>
                <a:srgbClr val="0066CC"/>
              </a:solidFill>
              <a:latin typeface="Arial" panose="020B0704020202020204"/>
              <a:ea typeface="Arial" panose="020B0704020202020204"/>
              <a:cs typeface="Arial" panose="020B0704020202020204"/>
            </a:endParaRPr>
          </a:p>
        </p:txBody>
      </p:sp>
      <p:sp>
        <p:nvSpPr>
          <p:cNvPr id="23" name="TextBox 23"/>
          <p:cNvSpPr txBox="1"/>
          <p:nvPr/>
        </p:nvSpPr>
        <p:spPr>
          <a:xfrm>
            <a:off x="701516" y="3583226"/>
            <a:ext cx="3020060" cy="309880"/>
          </a:xfrm>
          <a:prstGeom prst="rect">
            <a:avLst/>
          </a:prstGeom>
          <a:noFill/>
          <a:ln>
            <a:noFill/>
          </a:ln>
        </p:spPr>
        <p:txBody>
          <a:bodyPr wrap="none" lIns="0" tIns="0" rIns="0" bIns="0" anchor="t" anchorCtr="0">
            <a:spAutoFit/>
          </a:bodyPr>
          <a:lstStyle/>
          <a:p>
            <a:pPr algn="l"/>
            <a:r>
              <a:rPr lang="zh-CN" sz="1010" dirty="0">
                <a:solidFill>
                  <a:srgbClr val="334155"/>
                </a:solidFill>
                <a:latin typeface="Arial" panose="020B0704020202020204"/>
                <a:ea typeface="Arial" panose="020B0704020202020204"/>
                <a:cs typeface="Arial" panose="020B0704020202020204"/>
              </a:rPr>
              <a:t>• Cấu hình Network Security Config cho phép kết nối </a:t>
            </a:r>
            <a:endParaRPr lang="zh-CN" sz="1010" dirty="0">
              <a:solidFill>
                <a:srgbClr val="334155"/>
              </a:solidFill>
              <a:latin typeface="Arial" panose="020B0704020202020204"/>
              <a:ea typeface="Arial" panose="020B0704020202020204"/>
              <a:cs typeface="Arial" panose="020B0704020202020204"/>
            </a:endParaRPr>
          </a:p>
          <a:p>
            <a:pPr algn="l"/>
            <a:r>
              <a:rPr lang="zh-CN" sz="1010" dirty="0">
                <a:solidFill>
                  <a:srgbClr val="334155"/>
                </a:solidFill>
                <a:latin typeface="Arial" panose="020B0704020202020204"/>
                <a:ea typeface="Arial" panose="020B0704020202020204"/>
                <a:cs typeface="Arial" panose="020B0704020202020204"/>
              </a:rPr>
              <a:t> </a:t>
            </a:r>
            <a:r>
              <a:rPr lang="vi-VN" altLang="zh-CN" sz="1010" dirty="0">
                <a:solidFill>
                  <a:srgbClr val="334155"/>
                </a:solidFill>
                <a:latin typeface="Arial" panose="020B0704020202020204"/>
                <a:ea typeface="Arial" panose="020B0704020202020204"/>
                <a:cs typeface="Arial" panose="020B0704020202020204"/>
              </a:rPr>
              <a:t> </a:t>
            </a:r>
            <a:r>
              <a:rPr lang="zh-CN" sz="1010" dirty="0">
                <a:solidFill>
                  <a:srgbClr val="334155"/>
                </a:solidFill>
                <a:latin typeface="Arial" panose="020B0704020202020204"/>
                <a:ea typeface="Arial" panose="020B0704020202020204"/>
                <a:cs typeface="Arial" panose="020B0704020202020204"/>
              </a:rPr>
              <a:t>máy chủ phát triển cục bộ.</a:t>
            </a:r>
            <a:endParaRPr lang="zh-CN" sz="1010" dirty="0">
              <a:solidFill>
                <a:srgbClr val="334155"/>
              </a:solidFill>
              <a:latin typeface="Arial" panose="020B0704020202020204"/>
              <a:ea typeface="Arial" panose="020B0704020202020204"/>
              <a:cs typeface="Arial" panose="020B0704020202020204"/>
            </a:endParaRPr>
          </a:p>
        </p:txBody>
      </p:sp>
      <p:sp>
        <p:nvSpPr>
          <p:cNvPr id="24" name="TextBox 24"/>
          <p:cNvSpPr txBox="1"/>
          <p:nvPr/>
        </p:nvSpPr>
        <p:spPr>
          <a:xfrm>
            <a:off x="700246" y="4034076"/>
            <a:ext cx="2998470" cy="309880"/>
          </a:xfrm>
          <a:prstGeom prst="rect">
            <a:avLst/>
          </a:prstGeom>
          <a:noFill/>
          <a:ln>
            <a:noFill/>
          </a:ln>
        </p:spPr>
        <p:txBody>
          <a:bodyPr wrap="none" lIns="0" tIns="0" rIns="0" bIns="0" anchor="t" anchorCtr="0">
            <a:spAutoFit/>
          </a:bodyPr>
          <a:lstStyle/>
          <a:p>
            <a:pPr algn="l"/>
            <a:r>
              <a:rPr lang="zh-CN" sz="1010" dirty="0">
                <a:solidFill>
                  <a:srgbClr val="334155"/>
                </a:solidFill>
                <a:latin typeface="Arial" panose="020B0704020202020204"/>
                <a:ea typeface="Arial" panose="020B0704020202020204"/>
                <a:cs typeface="Arial" panose="020B0704020202020204"/>
              </a:rPr>
              <a:t>• Tách bạch URL backend qua BuildConfig, dễ dàng </a:t>
            </a:r>
            <a:endParaRPr lang="zh-CN" sz="1010" dirty="0">
              <a:solidFill>
                <a:srgbClr val="334155"/>
              </a:solidFill>
              <a:latin typeface="Arial" panose="020B0704020202020204"/>
              <a:ea typeface="Arial" panose="020B0704020202020204"/>
              <a:cs typeface="Arial" panose="020B0704020202020204"/>
            </a:endParaRPr>
          </a:p>
          <a:p>
            <a:pPr algn="l"/>
            <a:r>
              <a:rPr lang="zh-CN" sz="1010" dirty="0">
                <a:solidFill>
                  <a:srgbClr val="334155"/>
                </a:solidFill>
                <a:latin typeface="Arial" panose="020B0704020202020204"/>
                <a:ea typeface="Arial" panose="020B0704020202020204"/>
                <a:cs typeface="Arial" panose="020B0704020202020204"/>
              </a:rPr>
              <a:t> </a:t>
            </a:r>
            <a:r>
              <a:rPr lang="vi-VN" altLang="zh-CN" sz="1010" dirty="0">
                <a:solidFill>
                  <a:srgbClr val="334155"/>
                </a:solidFill>
                <a:latin typeface="Arial" panose="020B0704020202020204"/>
                <a:ea typeface="Arial" panose="020B0704020202020204"/>
                <a:cs typeface="Arial" panose="020B0704020202020204"/>
              </a:rPr>
              <a:t>  </a:t>
            </a:r>
            <a:r>
              <a:rPr lang="zh-CN" sz="1010" dirty="0">
                <a:solidFill>
                  <a:srgbClr val="334155"/>
                </a:solidFill>
                <a:latin typeface="Arial" panose="020B0704020202020204"/>
                <a:ea typeface="Arial" panose="020B0704020202020204"/>
                <a:cs typeface="Arial" panose="020B0704020202020204"/>
              </a:rPr>
              <a:t>chuyển đổi môi trường Dev/Staging/Prod.</a:t>
            </a:r>
            <a:endParaRPr lang="zh-CN" sz="1010" dirty="0">
              <a:solidFill>
                <a:srgbClr val="334155"/>
              </a:solidFill>
              <a:latin typeface="Arial" panose="020B0704020202020204"/>
              <a:ea typeface="Arial" panose="020B0704020202020204"/>
              <a:cs typeface="Arial" panose="020B0704020202020204"/>
            </a:endParaRPr>
          </a:p>
        </p:txBody>
      </p:sp>
      <p:sp>
        <p:nvSpPr>
          <p:cNvPr id="25" name="Freeform 25"/>
          <p:cNvSpPr/>
          <p:nvPr/>
        </p:nvSpPr>
        <p:spPr>
          <a:xfrm>
            <a:off x="571500" y="4572000"/>
            <a:ext cx="3361055" cy="1381125"/>
          </a:xfrm>
          <a:custGeom>
            <a:avLst/>
            <a:gdLst/>
            <a:ahLst/>
            <a:cxnLst/>
            <a:rect l="l" t="t" r="r" b="b"/>
            <a:pathLst>
              <a:path w="3238500" h="1381125">
                <a:moveTo>
                  <a:pt x="76200" y="0"/>
                </a:moveTo>
                <a:lnTo>
                  <a:pt x="3162300" y="0"/>
                </a:lnTo>
                <a:cubicBezTo>
                  <a:pt x="3204384" y="0"/>
                  <a:pt x="3238500" y="34116"/>
                  <a:pt x="3238500" y="76200"/>
                </a:cubicBezTo>
                <a:lnTo>
                  <a:pt x="3238500" y="1304925"/>
                </a:lnTo>
                <a:cubicBezTo>
                  <a:pt x="3238500" y="1347009"/>
                  <a:pt x="3204384" y="1381125"/>
                  <a:pt x="3162300" y="1381125"/>
                </a:cubicBezTo>
                <a:lnTo>
                  <a:pt x="76200" y="1381125"/>
                </a:lnTo>
                <a:cubicBezTo>
                  <a:pt x="34116" y="1381125"/>
                  <a:pt x="0" y="1347009"/>
                  <a:pt x="0" y="1304925"/>
                </a:cubicBezTo>
                <a:lnTo>
                  <a:pt x="0" y="76200"/>
                </a:lnTo>
                <a:cubicBezTo>
                  <a:pt x="0" y="34116"/>
                  <a:pt x="34116" y="0"/>
                  <a:pt x="76200" y="0"/>
                </a:cubicBezTo>
                <a:close/>
              </a:path>
            </a:pathLst>
          </a:custGeom>
          <a:solidFill>
            <a:srgbClr val="EFF6FF"/>
          </a:solidFill>
          <a:ln w="9525">
            <a:solidFill>
              <a:srgbClr val="BFDBFE"/>
            </a:solidFill>
          </a:ln>
        </p:spPr>
      </p:sp>
      <p:sp>
        <p:nvSpPr>
          <p:cNvPr id="26" name="TextBox 26"/>
          <p:cNvSpPr txBox="1"/>
          <p:nvPr/>
        </p:nvSpPr>
        <p:spPr>
          <a:xfrm>
            <a:off x="700088" y="4688681"/>
            <a:ext cx="2141964" cy="228600"/>
          </a:xfrm>
          <a:prstGeom prst="rect">
            <a:avLst/>
          </a:prstGeom>
          <a:noFill/>
          <a:ln>
            <a:noFill/>
          </a:ln>
        </p:spPr>
        <p:txBody>
          <a:bodyPr wrap="none" lIns="0" tIns="0" rIns="0" bIns="0" anchor="t" anchorCtr="0">
            <a:spAutoFit/>
          </a:bodyPr>
          <a:lstStyle/>
          <a:p>
            <a:pPr algn="l"/>
            <a:r>
              <a:rPr lang="zh-CN" sz="1125" b="1" dirty="0">
                <a:solidFill>
                  <a:srgbClr val="1D4ED8"/>
                </a:solidFill>
                <a:latin typeface="Arial" panose="020B0704020202020204"/>
                <a:ea typeface="Arial" panose="020B0704020202020204"/>
                <a:cs typeface="Arial" panose="020B0704020202020204"/>
              </a:rPr>
              <a:t>Cấu trúc Single-Activity:</a:t>
            </a:r>
            <a:endParaRPr lang="zh-CN" sz="1125" b="1" dirty="0">
              <a:solidFill>
                <a:srgbClr val="1D4ED8"/>
              </a:solidFill>
              <a:latin typeface="Arial" panose="020B0704020202020204"/>
              <a:ea typeface="Arial" panose="020B0704020202020204"/>
              <a:cs typeface="Arial" panose="020B0704020202020204"/>
            </a:endParaRPr>
          </a:p>
        </p:txBody>
      </p:sp>
      <p:sp>
        <p:nvSpPr>
          <p:cNvPr id="27" name="TextBox 27"/>
          <p:cNvSpPr txBox="1"/>
          <p:nvPr/>
        </p:nvSpPr>
        <p:spPr>
          <a:xfrm>
            <a:off x="701516" y="4986576"/>
            <a:ext cx="3559945" cy="205740"/>
          </a:xfrm>
          <a:prstGeom prst="rect">
            <a:avLst/>
          </a:prstGeom>
          <a:noFill/>
          <a:ln>
            <a:noFill/>
          </a:ln>
        </p:spPr>
        <p:txBody>
          <a:bodyPr wrap="none" lIns="0" tIns="0" rIns="0" bIns="0" anchor="t" anchorCtr="0">
            <a:spAutoFit/>
          </a:bodyPr>
          <a:lstStyle/>
          <a:p>
            <a:pPr algn="l"/>
            <a:r>
              <a:rPr lang="zh-CN" sz="1010" dirty="0">
                <a:solidFill>
                  <a:srgbClr val="1E40AF"/>
                </a:solidFill>
                <a:latin typeface="Arial" panose="020B0704020202020204"/>
                <a:ea typeface="Arial" panose="020B0704020202020204"/>
                <a:cs typeface="Arial" panose="020B0704020202020204"/>
              </a:rPr>
              <a:t>• MainActivity đóng vai trò Entry Point duy nhất.</a:t>
            </a:r>
            <a:endParaRPr lang="zh-CN" sz="1010" dirty="0">
              <a:solidFill>
                <a:srgbClr val="1E40AF"/>
              </a:solidFill>
              <a:latin typeface="Arial" panose="020B0704020202020204"/>
              <a:ea typeface="Arial" panose="020B0704020202020204"/>
              <a:cs typeface="Arial" panose="020B0704020202020204"/>
            </a:endParaRPr>
          </a:p>
        </p:txBody>
      </p:sp>
      <p:sp>
        <p:nvSpPr>
          <p:cNvPr id="28" name="TextBox 28"/>
          <p:cNvSpPr txBox="1"/>
          <p:nvPr/>
        </p:nvSpPr>
        <p:spPr>
          <a:xfrm>
            <a:off x="701516" y="5272326"/>
            <a:ext cx="3231515" cy="309880"/>
          </a:xfrm>
          <a:prstGeom prst="rect">
            <a:avLst/>
          </a:prstGeom>
          <a:noFill/>
          <a:ln>
            <a:noFill/>
          </a:ln>
        </p:spPr>
        <p:txBody>
          <a:bodyPr wrap="none" lIns="0" tIns="0" rIns="0" bIns="0" anchor="t" anchorCtr="0">
            <a:spAutoFit/>
          </a:bodyPr>
          <a:lstStyle/>
          <a:p>
            <a:pPr algn="l"/>
            <a:r>
              <a:rPr lang="zh-CN" sz="1010" dirty="0">
                <a:solidFill>
                  <a:srgbClr val="1E40AF"/>
                </a:solidFill>
                <a:latin typeface="Arial" panose="020B0704020202020204"/>
                <a:ea typeface="Arial" panose="020B0704020202020204"/>
                <a:cs typeface="Arial" panose="020B0704020202020204"/>
              </a:rPr>
              <a:t>• Quản lý toàn bộ điều hướng giao diện bằng Navigation </a:t>
            </a:r>
            <a:endParaRPr lang="zh-CN" sz="1010" dirty="0">
              <a:solidFill>
                <a:srgbClr val="1E40AF"/>
              </a:solidFill>
              <a:latin typeface="Arial" panose="020B0704020202020204"/>
              <a:ea typeface="Arial" panose="020B0704020202020204"/>
              <a:cs typeface="Arial" panose="020B0704020202020204"/>
            </a:endParaRPr>
          </a:p>
          <a:p>
            <a:pPr algn="l"/>
            <a:r>
              <a:rPr lang="zh-CN" sz="1010" dirty="0">
                <a:solidFill>
                  <a:srgbClr val="1E40AF"/>
                </a:solidFill>
                <a:latin typeface="Arial" panose="020B0704020202020204"/>
                <a:ea typeface="Arial" panose="020B0704020202020204"/>
                <a:cs typeface="Arial" panose="020B0704020202020204"/>
              </a:rPr>
              <a:t> </a:t>
            </a:r>
            <a:r>
              <a:rPr lang="vi-VN" altLang="zh-CN" sz="1010" dirty="0">
                <a:solidFill>
                  <a:srgbClr val="1E40AF"/>
                </a:solidFill>
                <a:latin typeface="Arial" panose="020B0704020202020204"/>
                <a:ea typeface="Arial" panose="020B0704020202020204"/>
                <a:cs typeface="Arial" panose="020B0704020202020204"/>
              </a:rPr>
              <a:t> </a:t>
            </a:r>
            <a:r>
              <a:rPr lang="zh-CN" sz="1010" dirty="0">
                <a:solidFill>
                  <a:srgbClr val="1E40AF"/>
                </a:solidFill>
                <a:latin typeface="Arial" panose="020B0704020202020204"/>
                <a:ea typeface="Arial" panose="020B0704020202020204"/>
                <a:cs typeface="Arial" panose="020B0704020202020204"/>
              </a:rPr>
              <a:t>Compose (không dùng nhiều Activity rời rạc).</a:t>
            </a:r>
            <a:endParaRPr lang="zh-CN" sz="1010" dirty="0">
              <a:solidFill>
                <a:srgbClr val="1E40AF"/>
              </a:solidFill>
              <a:latin typeface="Arial" panose="020B0704020202020204"/>
              <a:ea typeface="Arial" panose="020B0704020202020204"/>
              <a:cs typeface="Arial" panose="020B0704020202020204"/>
            </a:endParaRPr>
          </a:p>
        </p:txBody>
      </p:sp>
      <p:sp>
        <p:nvSpPr>
          <p:cNvPr id="29" name="TextBox 29"/>
          <p:cNvSpPr txBox="1"/>
          <p:nvPr/>
        </p:nvSpPr>
        <p:spPr>
          <a:xfrm>
            <a:off x="700722" y="5633244"/>
            <a:ext cx="3115310" cy="150495"/>
          </a:xfrm>
          <a:prstGeom prst="rect">
            <a:avLst/>
          </a:prstGeom>
          <a:noFill/>
          <a:ln>
            <a:noFill/>
          </a:ln>
        </p:spPr>
        <p:txBody>
          <a:bodyPr wrap="none" lIns="0" tIns="0" rIns="0" bIns="0" anchor="t" anchorCtr="0">
            <a:spAutoFit/>
          </a:bodyPr>
          <a:lstStyle/>
          <a:p>
            <a:pPr indent="0" algn="l">
              <a:buFont typeface="Arial" panose="020B0704020202020204" pitchFamily="34" charset="0"/>
              <a:buNone/>
            </a:pPr>
            <a:r>
              <a:rPr lang="zh-CN" sz="975" dirty="0">
                <a:solidFill>
                  <a:srgbClr val="1E3A8A"/>
                </a:solidFill>
                <a:latin typeface="Arial" panose="020B0704020202020204"/>
                <a:ea typeface="Arial" panose="020B0704020202020204"/>
                <a:cs typeface="Arial" panose="020B0704020202020204"/>
              </a:rPr>
              <a:t>Giảm thiểu tiêu hao RAM và mượt mà hóa chuyển cảnh.</a:t>
            </a:r>
            <a:endParaRPr lang="zh-CN" sz="975" dirty="0">
              <a:solidFill>
                <a:srgbClr val="1E3A8A"/>
              </a:solidFill>
              <a:latin typeface="Arial" panose="020B0704020202020204"/>
              <a:ea typeface="Arial" panose="020B0704020202020204"/>
              <a:cs typeface="Arial" panose="020B0704020202020204"/>
            </a:endParaRPr>
          </a:p>
        </p:txBody>
      </p:sp>
      <p:sp>
        <p:nvSpPr>
          <p:cNvPr id="30" name="Freeform 30"/>
          <p:cNvSpPr/>
          <p:nvPr/>
        </p:nvSpPr>
        <p:spPr>
          <a:xfrm>
            <a:off x="4286250" y="1333500"/>
            <a:ext cx="3619500" cy="4810125"/>
          </a:xfrm>
          <a:custGeom>
            <a:avLst/>
            <a:gdLst/>
            <a:ahLst/>
            <a:cxnLst/>
            <a:rect l="l" t="t" r="r" b="b"/>
            <a:pathLst>
              <a:path w="3619500" h="4810125">
                <a:moveTo>
                  <a:pt x="95250" y="0"/>
                </a:moveTo>
                <a:lnTo>
                  <a:pt x="3524250" y="0"/>
                </a:lnTo>
                <a:cubicBezTo>
                  <a:pt x="3576855" y="0"/>
                  <a:pt x="3619500" y="42645"/>
                  <a:pt x="3619500" y="95250"/>
                </a:cubicBezTo>
                <a:lnTo>
                  <a:pt x="3619500" y="4714875"/>
                </a:lnTo>
                <a:cubicBezTo>
                  <a:pt x="3619500" y="4767480"/>
                  <a:pt x="3576855" y="4810125"/>
                  <a:pt x="3524250" y="4810125"/>
                </a:cubicBezTo>
                <a:lnTo>
                  <a:pt x="95250" y="4810125"/>
                </a:lnTo>
                <a:cubicBezTo>
                  <a:pt x="42645" y="4810125"/>
                  <a:pt x="0" y="4767480"/>
                  <a:pt x="0" y="4714875"/>
                </a:cubicBezTo>
                <a:lnTo>
                  <a:pt x="0" y="95250"/>
                </a:lnTo>
                <a:cubicBezTo>
                  <a:pt x="0" y="42645"/>
                  <a:pt x="42645" y="0"/>
                  <a:pt x="95250" y="0"/>
                </a:cubicBezTo>
                <a:close/>
              </a:path>
            </a:pathLst>
          </a:custGeom>
          <a:solidFill>
            <a:srgbClr val="FFFFFF"/>
          </a:solidFill>
          <a:ln w="14288">
            <a:solidFill>
              <a:srgbClr val="E2E8F0"/>
            </a:solidFill>
          </a:ln>
        </p:spPr>
      </p:sp>
      <p:sp>
        <p:nvSpPr>
          <p:cNvPr id="31" name="Freeform 31"/>
          <p:cNvSpPr/>
          <p:nvPr/>
        </p:nvSpPr>
        <p:spPr>
          <a:xfrm>
            <a:off x="4286250" y="1333500"/>
            <a:ext cx="3619500" cy="476250"/>
          </a:xfrm>
          <a:custGeom>
            <a:avLst/>
            <a:gdLst/>
            <a:ahLst/>
            <a:cxnLst/>
            <a:rect l="l" t="t" r="r" b="b"/>
            <a:pathLst>
              <a:path w="3619500" h="476250">
                <a:moveTo>
                  <a:pt x="95250" y="0"/>
                </a:moveTo>
                <a:lnTo>
                  <a:pt x="3524250" y="0"/>
                </a:lnTo>
                <a:cubicBezTo>
                  <a:pt x="3576855" y="0"/>
                  <a:pt x="3619500" y="42645"/>
                  <a:pt x="3619500" y="95250"/>
                </a:cubicBezTo>
                <a:lnTo>
                  <a:pt x="3619500" y="381000"/>
                </a:lnTo>
                <a:cubicBezTo>
                  <a:pt x="3619500" y="433605"/>
                  <a:pt x="3576855" y="476250"/>
                  <a:pt x="3524250" y="476250"/>
                </a:cubicBezTo>
                <a:lnTo>
                  <a:pt x="95250" y="476250"/>
                </a:lnTo>
                <a:cubicBezTo>
                  <a:pt x="42645" y="476250"/>
                  <a:pt x="0" y="433605"/>
                  <a:pt x="0" y="381000"/>
                </a:cubicBezTo>
                <a:lnTo>
                  <a:pt x="0" y="95250"/>
                </a:lnTo>
                <a:cubicBezTo>
                  <a:pt x="0" y="42645"/>
                  <a:pt x="42645" y="0"/>
                  <a:pt x="95250" y="0"/>
                </a:cubicBezTo>
                <a:close/>
              </a:path>
            </a:pathLst>
          </a:custGeom>
          <a:solidFill>
            <a:srgbClr val="F1F5F9"/>
          </a:solidFill>
          <a:ln>
            <a:noFill/>
          </a:ln>
        </p:spPr>
      </p:sp>
      <p:sp>
        <p:nvSpPr>
          <p:cNvPr id="32" name="Freeform 32"/>
          <p:cNvSpPr/>
          <p:nvPr/>
        </p:nvSpPr>
        <p:spPr>
          <a:xfrm>
            <a:off x="4491038" y="1471612"/>
            <a:ext cx="200025" cy="200025"/>
          </a:xfrm>
          <a:custGeom>
            <a:avLst/>
            <a:gdLst/>
            <a:ahLst/>
            <a:cxnLst/>
            <a:rect l="l" t="t" r="r" b="b"/>
            <a:pathLst>
              <a:path w="200025" h="200025">
                <a:moveTo>
                  <a:pt x="0" y="57150"/>
                </a:moveTo>
                <a:lnTo>
                  <a:pt x="0" y="0"/>
                </a:lnTo>
                <a:lnTo>
                  <a:pt x="85725" y="0"/>
                </a:lnTo>
                <a:lnTo>
                  <a:pt x="85725" y="57150"/>
                </a:lnTo>
                <a:lnTo>
                  <a:pt x="50006" y="92869"/>
                </a:lnTo>
                <a:lnTo>
                  <a:pt x="107156" y="150019"/>
                </a:lnTo>
                <a:lnTo>
                  <a:pt x="142875" y="114300"/>
                </a:lnTo>
                <a:lnTo>
                  <a:pt x="200025" y="114300"/>
                </a:lnTo>
                <a:lnTo>
                  <a:pt x="200025" y="200025"/>
                </a:lnTo>
                <a:lnTo>
                  <a:pt x="142875" y="200025"/>
                </a:lnTo>
                <a:cubicBezTo>
                  <a:pt x="63967" y="200025"/>
                  <a:pt x="0" y="136057"/>
                  <a:pt x="0" y="57150"/>
                </a:cubicBezTo>
                <a:close/>
              </a:path>
            </a:pathLst>
          </a:custGeom>
          <a:solidFill>
            <a:srgbClr val="003366"/>
          </a:solidFill>
          <a:ln>
            <a:noFill/>
          </a:ln>
        </p:spPr>
      </p:sp>
      <p:sp>
        <p:nvSpPr>
          <p:cNvPr id="33" name="TextBox 33"/>
          <p:cNvSpPr txBox="1"/>
          <p:nvPr/>
        </p:nvSpPr>
        <p:spPr>
          <a:xfrm>
            <a:off x="4793932" y="1500664"/>
            <a:ext cx="2535098" cy="259080"/>
          </a:xfrm>
          <a:prstGeom prst="rect">
            <a:avLst/>
          </a:prstGeom>
          <a:noFill/>
          <a:ln>
            <a:noFill/>
          </a:ln>
        </p:spPr>
        <p:txBody>
          <a:bodyPr wrap="none" lIns="0" tIns="0" rIns="0" bIns="0" anchor="t" anchorCtr="0">
            <a:spAutoFit/>
          </a:bodyPr>
          <a:lstStyle/>
          <a:p>
            <a:pPr algn="l"/>
            <a:r>
              <a:rPr lang="zh-CN" sz="1275" b="1" dirty="0">
                <a:solidFill>
                  <a:srgbClr val="003366"/>
                </a:solidFill>
                <a:latin typeface="Arial" panose="020B0704020202020204"/>
                <a:ea typeface="Arial" panose="020B0704020202020204"/>
                <a:cs typeface="Arial" panose="020B0704020202020204"/>
              </a:rPr>
              <a:t>2. Tích hợp Implicit Intent</a:t>
            </a:r>
            <a:endParaRPr lang="zh-CN" sz="1275" b="1" dirty="0">
              <a:solidFill>
                <a:srgbClr val="003366"/>
              </a:solidFill>
              <a:latin typeface="Arial" panose="020B0704020202020204"/>
              <a:ea typeface="Arial" panose="020B0704020202020204"/>
              <a:cs typeface="Arial" panose="020B0704020202020204"/>
            </a:endParaRPr>
          </a:p>
        </p:txBody>
      </p:sp>
      <p:sp>
        <p:nvSpPr>
          <p:cNvPr id="34" name="Freeform 34"/>
          <p:cNvSpPr/>
          <p:nvPr/>
        </p:nvSpPr>
        <p:spPr>
          <a:xfrm>
            <a:off x="4476750" y="1952625"/>
            <a:ext cx="3315335" cy="1857375"/>
          </a:xfrm>
          <a:custGeom>
            <a:avLst/>
            <a:gdLst/>
            <a:ahLst/>
            <a:cxnLst/>
            <a:rect l="l" t="t" r="r" b="b"/>
            <a:pathLst>
              <a:path w="3238500" h="1857375">
                <a:moveTo>
                  <a:pt x="76200" y="0"/>
                </a:moveTo>
                <a:lnTo>
                  <a:pt x="3162300" y="0"/>
                </a:lnTo>
                <a:cubicBezTo>
                  <a:pt x="3204384" y="0"/>
                  <a:pt x="3238500" y="34116"/>
                  <a:pt x="3238500" y="76200"/>
                </a:cubicBezTo>
                <a:lnTo>
                  <a:pt x="3238500" y="1781175"/>
                </a:lnTo>
                <a:cubicBezTo>
                  <a:pt x="3238500" y="1823259"/>
                  <a:pt x="3204384" y="1857375"/>
                  <a:pt x="3162300" y="1857375"/>
                </a:cubicBezTo>
                <a:lnTo>
                  <a:pt x="76200" y="1857375"/>
                </a:lnTo>
                <a:cubicBezTo>
                  <a:pt x="34116" y="1857375"/>
                  <a:pt x="0" y="1823259"/>
                  <a:pt x="0" y="1781175"/>
                </a:cubicBezTo>
                <a:lnTo>
                  <a:pt x="0" y="76200"/>
                </a:lnTo>
                <a:cubicBezTo>
                  <a:pt x="0" y="34116"/>
                  <a:pt x="34116" y="0"/>
                  <a:pt x="76200" y="0"/>
                </a:cubicBezTo>
                <a:close/>
              </a:path>
            </a:pathLst>
          </a:custGeom>
          <a:solidFill>
            <a:srgbClr val="FFF7ED"/>
          </a:solidFill>
          <a:ln w="9525">
            <a:solidFill>
              <a:srgbClr val="FED7AA"/>
            </a:solidFill>
          </a:ln>
        </p:spPr>
      </p:sp>
      <p:sp>
        <p:nvSpPr>
          <p:cNvPr id="35" name="TextBox 35"/>
          <p:cNvSpPr txBox="1"/>
          <p:nvPr/>
        </p:nvSpPr>
        <p:spPr>
          <a:xfrm>
            <a:off x="4605338" y="2069306"/>
            <a:ext cx="3047702" cy="228600"/>
          </a:xfrm>
          <a:prstGeom prst="rect">
            <a:avLst/>
          </a:prstGeom>
          <a:noFill/>
          <a:ln>
            <a:noFill/>
          </a:ln>
        </p:spPr>
        <p:txBody>
          <a:bodyPr wrap="none" lIns="0" tIns="0" rIns="0" bIns="0" anchor="t" anchorCtr="0">
            <a:spAutoFit/>
          </a:bodyPr>
          <a:lstStyle/>
          <a:p>
            <a:pPr algn="l"/>
            <a:r>
              <a:rPr lang="zh-CN" sz="1125" b="1" dirty="0">
                <a:solidFill>
                  <a:srgbClr val="C2410C"/>
                </a:solidFill>
                <a:latin typeface="Arial" panose="020B0704020202020204"/>
                <a:ea typeface="Arial" panose="020B0704020202020204"/>
                <a:cs typeface="Arial" panose="020B0704020202020204"/>
              </a:rPr>
              <a:t>Ý định Gọi điện thoại (ACTION_DIAL):</a:t>
            </a:r>
            <a:endParaRPr lang="zh-CN" sz="1125" b="1" dirty="0">
              <a:solidFill>
                <a:srgbClr val="C2410C"/>
              </a:solidFill>
              <a:latin typeface="Arial" panose="020B0704020202020204"/>
              <a:ea typeface="Arial" panose="020B0704020202020204"/>
              <a:cs typeface="Arial" panose="020B0704020202020204"/>
            </a:endParaRPr>
          </a:p>
        </p:txBody>
      </p:sp>
      <p:sp>
        <p:nvSpPr>
          <p:cNvPr id="36" name="TextBox 36"/>
          <p:cNvSpPr txBox="1"/>
          <p:nvPr/>
        </p:nvSpPr>
        <p:spPr>
          <a:xfrm>
            <a:off x="4607242" y="2352199"/>
            <a:ext cx="3556254" cy="198120"/>
          </a:xfrm>
          <a:prstGeom prst="rect">
            <a:avLst/>
          </a:prstGeom>
          <a:noFill/>
          <a:ln>
            <a:noFill/>
          </a:ln>
        </p:spPr>
        <p:txBody>
          <a:bodyPr wrap="none" lIns="0" tIns="0" rIns="0" bIns="0" anchor="t" anchorCtr="0">
            <a:spAutoFit/>
          </a:bodyPr>
          <a:lstStyle/>
          <a:p>
            <a:pPr algn="l"/>
            <a:r>
              <a:rPr lang="zh-CN" sz="975" dirty="0">
                <a:solidFill>
                  <a:srgbClr val="7C2D12"/>
                </a:solidFill>
                <a:latin typeface="Arial" panose="020B0704020202020204"/>
                <a:ea typeface="Arial" panose="020B0704020202020204"/>
                <a:cs typeface="Arial" panose="020B0704020202020204"/>
              </a:rPr>
              <a:t>• Dùng ACTION_DIAL thay vì ACTION_CALL nguy hiểm:</a:t>
            </a:r>
            <a:endParaRPr lang="zh-CN" sz="975" dirty="0">
              <a:solidFill>
                <a:srgbClr val="7C2D12"/>
              </a:solidFill>
              <a:latin typeface="Arial" panose="020B0704020202020204"/>
              <a:ea typeface="Arial" panose="020B0704020202020204"/>
              <a:cs typeface="Arial" panose="020B0704020202020204"/>
            </a:endParaRPr>
          </a:p>
        </p:txBody>
      </p:sp>
      <p:sp>
        <p:nvSpPr>
          <p:cNvPr id="37" name="Freeform 37"/>
          <p:cNvSpPr/>
          <p:nvPr/>
        </p:nvSpPr>
        <p:spPr>
          <a:xfrm>
            <a:off x="4619625" y="2590800"/>
            <a:ext cx="2952750" cy="361950"/>
          </a:xfrm>
          <a:custGeom>
            <a:avLst/>
            <a:gdLst/>
            <a:ahLst/>
            <a:cxnLst/>
            <a:rect l="l" t="t" r="r" b="b"/>
            <a:pathLst>
              <a:path w="2952750" h="361950">
                <a:moveTo>
                  <a:pt x="57150" y="0"/>
                </a:moveTo>
                <a:lnTo>
                  <a:pt x="2895600" y="0"/>
                </a:lnTo>
                <a:cubicBezTo>
                  <a:pt x="2927163" y="0"/>
                  <a:pt x="2952750" y="25587"/>
                  <a:pt x="2952750" y="57150"/>
                </a:cubicBezTo>
                <a:lnTo>
                  <a:pt x="2952750" y="304800"/>
                </a:lnTo>
                <a:cubicBezTo>
                  <a:pt x="2952750" y="336363"/>
                  <a:pt x="2927163" y="361950"/>
                  <a:pt x="2895600" y="361950"/>
                </a:cubicBezTo>
                <a:lnTo>
                  <a:pt x="57150" y="361950"/>
                </a:lnTo>
                <a:cubicBezTo>
                  <a:pt x="25587" y="361950"/>
                  <a:pt x="0" y="336363"/>
                  <a:pt x="0" y="304800"/>
                </a:cubicBezTo>
                <a:lnTo>
                  <a:pt x="0" y="57150"/>
                </a:lnTo>
                <a:cubicBezTo>
                  <a:pt x="0" y="25587"/>
                  <a:pt x="25587" y="0"/>
                  <a:pt x="57150" y="0"/>
                </a:cubicBezTo>
                <a:close/>
              </a:path>
            </a:pathLst>
          </a:custGeom>
          <a:solidFill>
            <a:srgbClr val="FFFFFF"/>
          </a:solidFill>
          <a:ln w="9525">
            <a:solidFill>
              <a:srgbClr val="FDBA74"/>
            </a:solidFill>
          </a:ln>
        </p:spPr>
      </p:sp>
      <p:sp>
        <p:nvSpPr>
          <p:cNvPr id="38" name="TextBox 38"/>
          <p:cNvSpPr txBox="1"/>
          <p:nvPr/>
        </p:nvSpPr>
        <p:spPr>
          <a:xfrm>
            <a:off x="4703921" y="2726293"/>
            <a:ext cx="2587878" cy="175260"/>
          </a:xfrm>
          <a:prstGeom prst="rect">
            <a:avLst/>
          </a:prstGeom>
          <a:noFill/>
          <a:ln>
            <a:noFill/>
          </a:ln>
        </p:spPr>
        <p:txBody>
          <a:bodyPr wrap="none" lIns="0" tIns="0" rIns="0" bIns="0" anchor="t" anchorCtr="0">
            <a:spAutoFit/>
          </a:bodyPr>
          <a:lstStyle/>
          <a:p>
            <a:pPr algn="l"/>
            <a:r>
              <a:rPr lang="zh-CN" sz="860" b="1" dirty="0">
                <a:solidFill>
                  <a:srgbClr val="EA580C"/>
                </a:solidFill>
                <a:latin typeface="Arial" panose="020B0704020202020204"/>
                <a:ea typeface="Arial" panose="020B0704020202020204"/>
                <a:cs typeface="Arial" panose="020B0704020202020204"/>
              </a:rPr>
              <a:t>val intent = Intent(Intent.ACTION_DIAL)</a:t>
            </a:r>
            <a:endParaRPr lang="zh-CN" sz="860" b="1" dirty="0">
              <a:solidFill>
                <a:srgbClr val="EA580C"/>
              </a:solidFill>
              <a:latin typeface="Arial" panose="020B0704020202020204"/>
              <a:ea typeface="Arial" panose="020B0704020202020204"/>
              <a:cs typeface="Arial" panose="020B0704020202020204"/>
            </a:endParaRPr>
          </a:p>
        </p:txBody>
      </p:sp>
      <p:sp>
        <p:nvSpPr>
          <p:cNvPr id="39" name="TextBox 39"/>
          <p:cNvSpPr txBox="1"/>
          <p:nvPr/>
        </p:nvSpPr>
        <p:spPr>
          <a:xfrm>
            <a:off x="4607242" y="3057049"/>
            <a:ext cx="3584734" cy="198120"/>
          </a:xfrm>
          <a:prstGeom prst="rect">
            <a:avLst/>
          </a:prstGeom>
          <a:noFill/>
          <a:ln>
            <a:noFill/>
          </a:ln>
        </p:spPr>
        <p:txBody>
          <a:bodyPr wrap="none" lIns="0" tIns="0" rIns="0" bIns="0" anchor="t" anchorCtr="0">
            <a:spAutoFit/>
          </a:bodyPr>
          <a:lstStyle/>
          <a:p>
            <a:pPr algn="l"/>
            <a:r>
              <a:rPr lang="zh-CN" sz="975" dirty="0">
                <a:solidFill>
                  <a:srgbClr val="7C2D12"/>
                </a:solidFill>
                <a:latin typeface="Arial" panose="020B0704020202020204"/>
                <a:ea typeface="Arial" panose="020B0704020202020204"/>
                <a:cs typeface="Arial" panose="020B0704020202020204"/>
              </a:rPr>
              <a:t>• Mở màn hình quay số với số điện thoại đã điền sẵn.</a:t>
            </a:r>
            <a:endParaRPr lang="zh-CN" sz="975" dirty="0">
              <a:solidFill>
                <a:srgbClr val="7C2D12"/>
              </a:solidFill>
              <a:latin typeface="Arial" panose="020B0704020202020204"/>
              <a:ea typeface="Arial" panose="020B0704020202020204"/>
              <a:cs typeface="Arial" panose="020B0704020202020204"/>
            </a:endParaRPr>
          </a:p>
        </p:txBody>
      </p:sp>
      <p:sp>
        <p:nvSpPr>
          <p:cNvPr id="40" name="TextBox 40"/>
          <p:cNvSpPr txBox="1"/>
          <p:nvPr/>
        </p:nvSpPr>
        <p:spPr>
          <a:xfrm>
            <a:off x="4607242" y="3295174"/>
            <a:ext cx="2966720" cy="300990"/>
          </a:xfrm>
          <a:prstGeom prst="rect">
            <a:avLst/>
          </a:prstGeom>
          <a:noFill/>
          <a:ln>
            <a:noFill/>
          </a:ln>
        </p:spPr>
        <p:txBody>
          <a:bodyPr wrap="none" lIns="0" tIns="0" rIns="0" bIns="0" anchor="t" anchorCtr="0">
            <a:spAutoFit/>
          </a:bodyPr>
          <a:lstStyle/>
          <a:p>
            <a:pPr algn="l"/>
            <a:r>
              <a:rPr lang="zh-CN" sz="975" dirty="0">
                <a:solidFill>
                  <a:srgbClr val="7C2D12"/>
                </a:solidFill>
                <a:latin typeface="Arial" panose="020B0704020202020204"/>
                <a:ea typeface="Arial" panose="020B0704020202020204"/>
                <a:cs typeface="Arial" panose="020B0704020202020204"/>
              </a:rPr>
              <a:t>• Người dùng tự bấm nút gọi ➔ Không cần xin quyền </a:t>
            </a:r>
            <a:endParaRPr lang="zh-CN" sz="975" dirty="0">
              <a:solidFill>
                <a:srgbClr val="7C2D12"/>
              </a:solidFill>
              <a:latin typeface="Arial" panose="020B0704020202020204"/>
              <a:ea typeface="Arial" panose="020B0704020202020204"/>
              <a:cs typeface="Arial" panose="020B0704020202020204"/>
            </a:endParaRPr>
          </a:p>
          <a:p>
            <a:pPr algn="l"/>
            <a:r>
              <a:rPr lang="zh-CN" sz="975" dirty="0">
                <a:solidFill>
                  <a:srgbClr val="7C2D12"/>
                </a:solidFill>
                <a:latin typeface="Arial" panose="020B0704020202020204"/>
                <a:ea typeface="Arial" panose="020B0704020202020204"/>
                <a:cs typeface="Arial" panose="020B0704020202020204"/>
              </a:rPr>
              <a:t> </a:t>
            </a:r>
            <a:r>
              <a:rPr lang="vi-VN" altLang="zh-CN" sz="975" dirty="0">
                <a:solidFill>
                  <a:srgbClr val="7C2D12"/>
                </a:solidFill>
                <a:latin typeface="Arial" panose="020B0704020202020204"/>
                <a:ea typeface="Arial" panose="020B0704020202020204"/>
                <a:cs typeface="Arial" panose="020B0704020202020204"/>
              </a:rPr>
              <a:t>  </a:t>
            </a:r>
            <a:r>
              <a:rPr lang="zh-CN" sz="975" dirty="0">
                <a:solidFill>
                  <a:srgbClr val="7C2D12"/>
                </a:solidFill>
                <a:latin typeface="Arial" panose="020B0704020202020204"/>
                <a:ea typeface="Arial" panose="020B0704020202020204"/>
                <a:cs typeface="Arial" panose="020B0704020202020204"/>
              </a:rPr>
              <a:t>nguy hiểm, tuân thủ tiêu chuẩn Google Play.</a:t>
            </a:r>
            <a:endParaRPr lang="zh-CN" sz="975" dirty="0">
              <a:solidFill>
                <a:srgbClr val="7C2D12"/>
              </a:solidFill>
              <a:latin typeface="Arial" panose="020B0704020202020204"/>
              <a:ea typeface="Arial" panose="020B0704020202020204"/>
              <a:cs typeface="Arial" panose="020B0704020202020204"/>
            </a:endParaRPr>
          </a:p>
        </p:txBody>
      </p:sp>
      <p:sp>
        <p:nvSpPr>
          <p:cNvPr id="41" name="Freeform 41"/>
          <p:cNvSpPr/>
          <p:nvPr/>
        </p:nvSpPr>
        <p:spPr>
          <a:xfrm>
            <a:off x="4476750" y="3952875"/>
            <a:ext cx="3238500" cy="2000250"/>
          </a:xfrm>
          <a:custGeom>
            <a:avLst/>
            <a:gdLst/>
            <a:ahLst/>
            <a:cxnLst/>
            <a:rect l="l" t="t" r="r" b="b"/>
            <a:pathLst>
              <a:path w="3238500" h="2000250">
                <a:moveTo>
                  <a:pt x="76200" y="0"/>
                </a:moveTo>
                <a:lnTo>
                  <a:pt x="3162300" y="0"/>
                </a:lnTo>
                <a:cubicBezTo>
                  <a:pt x="3204384" y="0"/>
                  <a:pt x="3238500" y="34116"/>
                  <a:pt x="3238500" y="76200"/>
                </a:cubicBezTo>
                <a:lnTo>
                  <a:pt x="3238500" y="1924050"/>
                </a:lnTo>
                <a:cubicBezTo>
                  <a:pt x="3238500" y="1966134"/>
                  <a:pt x="3204384" y="2000250"/>
                  <a:pt x="3162300" y="2000250"/>
                </a:cubicBezTo>
                <a:lnTo>
                  <a:pt x="76200" y="2000250"/>
                </a:lnTo>
                <a:cubicBezTo>
                  <a:pt x="34116" y="2000250"/>
                  <a:pt x="0" y="1966134"/>
                  <a:pt x="0" y="1924050"/>
                </a:cubicBezTo>
                <a:lnTo>
                  <a:pt x="0" y="76200"/>
                </a:lnTo>
                <a:cubicBezTo>
                  <a:pt x="0" y="34116"/>
                  <a:pt x="34116" y="0"/>
                  <a:pt x="76200" y="0"/>
                </a:cubicBezTo>
                <a:close/>
              </a:path>
            </a:pathLst>
          </a:custGeom>
          <a:solidFill>
            <a:srgbClr val="F0FDF4"/>
          </a:solidFill>
          <a:ln w="9525">
            <a:solidFill>
              <a:srgbClr val="BBF7D0"/>
            </a:solidFill>
          </a:ln>
        </p:spPr>
      </p:sp>
      <p:sp>
        <p:nvSpPr>
          <p:cNvPr id="42" name="TextBox 42"/>
          <p:cNvSpPr txBox="1"/>
          <p:nvPr/>
        </p:nvSpPr>
        <p:spPr>
          <a:xfrm>
            <a:off x="4605338" y="4069556"/>
            <a:ext cx="2745790" cy="228600"/>
          </a:xfrm>
          <a:prstGeom prst="rect">
            <a:avLst/>
          </a:prstGeom>
          <a:noFill/>
          <a:ln>
            <a:noFill/>
          </a:ln>
        </p:spPr>
        <p:txBody>
          <a:bodyPr wrap="none" lIns="0" tIns="0" rIns="0" bIns="0" anchor="t" anchorCtr="0">
            <a:spAutoFit/>
          </a:bodyPr>
          <a:lstStyle/>
          <a:p>
            <a:pPr algn="l"/>
            <a:r>
              <a:rPr lang="zh-CN" sz="1125" b="1" dirty="0">
                <a:solidFill>
                  <a:srgbClr val="15803D"/>
                </a:solidFill>
                <a:latin typeface="Arial" panose="020B0704020202020204"/>
                <a:ea typeface="Arial" panose="020B0704020202020204"/>
                <a:cs typeface="Arial" panose="020B0704020202020204"/>
              </a:rPr>
              <a:t>Ý định Dẫn đường (Google Maps):</a:t>
            </a:r>
            <a:endParaRPr lang="zh-CN" sz="1125" b="1" dirty="0">
              <a:solidFill>
                <a:srgbClr val="15803D"/>
              </a:solidFill>
              <a:latin typeface="Arial" panose="020B0704020202020204"/>
              <a:ea typeface="Arial" panose="020B0704020202020204"/>
              <a:cs typeface="Arial" panose="020B0704020202020204"/>
            </a:endParaRPr>
          </a:p>
        </p:txBody>
      </p:sp>
      <p:sp>
        <p:nvSpPr>
          <p:cNvPr id="43" name="TextBox 43"/>
          <p:cNvSpPr txBox="1"/>
          <p:nvPr/>
        </p:nvSpPr>
        <p:spPr>
          <a:xfrm>
            <a:off x="4607242" y="4352449"/>
            <a:ext cx="3406735" cy="198120"/>
          </a:xfrm>
          <a:prstGeom prst="rect">
            <a:avLst/>
          </a:prstGeom>
          <a:noFill/>
          <a:ln>
            <a:noFill/>
          </a:ln>
        </p:spPr>
        <p:txBody>
          <a:bodyPr wrap="none" lIns="0" tIns="0" rIns="0" bIns="0" anchor="t" anchorCtr="0">
            <a:spAutoFit/>
          </a:bodyPr>
          <a:lstStyle/>
          <a:p>
            <a:pPr algn="l"/>
            <a:r>
              <a:rPr lang="zh-CN" sz="975" dirty="0">
                <a:solidFill>
                  <a:srgbClr val="14532D"/>
                </a:solidFill>
                <a:latin typeface="Arial" panose="020B0704020202020204"/>
                <a:ea typeface="Arial" panose="020B0704020202020204"/>
                <a:cs typeface="Arial" panose="020B0704020202020204"/>
              </a:rPr>
              <a:t>• Nút [Chỉ đường] kích hoạt Intent mở app Maps:</a:t>
            </a:r>
            <a:endParaRPr lang="zh-CN" sz="975" dirty="0">
              <a:solidFill>
                <a:srgbClr val="14532D"/>
              </a:solidFill>
              <a:latin typeface="Arial" panose="020B0704020202020204"/>
              <a:ea typeface="Arial" panose="020B0704020202020204"/>
              <a:cs typeface="Arial" panose="020B0704020202020204"/>
            </a:endParaRPr>
          </a:p>
        </p:txBody>
      </p:sp>
      <p:sp>
        <p:nvSpPr>
          <p:cNvPr id="44" name="Freeform 44"/>
          <p:cNvSpPr/>
          <p:nvPr/>
        </p:nvSpPr>
        <p:spPr>
          <a:xfrm>
            <a:off x="4619625" y="4591050"/>
            <a:ext cx="2952750" cy="361950"/>
          </a:xfrm>
          <a:custGeom>
            <a:avLst/>
            <a:gdLst/>
            <a:ahLst/>
            <a:cxnLst/>
            <a:rect l="l" t="t" r="r" b="b"/>
            <a:pathLst>
              <a:path w="2952750" h="361950">
                <a:moveTo>
                  <a:pt x="57150" y="0"/>
                </a:moveTo>
                <a:lnTo>
                  <a:pt x="2895600" y="0"/>
                </a:lnTo>
                <a:cubicBezTo>
                  <a:pt x="2927163" y="0"/>
                  <a:pt x="2952750" y="25587"/>
                  <a:pt x="2952750" y="57150"/>
                </a:cubicBezTo>
                <a:lnTo>
                  <a:pt x="2952750" y="304800"/>
                </a:lnTo>
                <a:cubicBezTo>
                  <a:pt x="2952750" y="336363"/>
                  <a:pt x="2927163" y="361950"/>
                  <a:pt x="2895600" y="361950"/>
                </a:cubicBezTo>
                <a:lnTo>
                  <a:pt x="57150" y="361950"/>
                </a:lnTo>
                <a:cubicBezTo>
                  <a:pt x="25587" y="361950"/>
                  <a:pt x="0" y="336363"/>
                  <a:pt x="0" y="304800"/>
                </a:cubicBezTo>
                <a:lnTo>
                  <a:pt x="0" y="57150"/>
                </a:lnTo>
                <a:cubicBezTo>
                  <a:pt x="0" y="25587"/>
                  <a:pt x="25587" y="0"/>
                  <a:pt x="57150" y="0"/>
                </a:cubicBezTo>
                <a:close/>
              </a:path>
            </a:pathLst>
          </a:custGeom>
          <a:solidFill>
            <a:srgbClr val="FFFFFF"/>
          </a:solidFill>
          <a:ln w="9525">
            <a:solidFill>
              <a:srgbClr val="86EFAC"/>
            </a:solidFill>
          </a:ln>
        </p:spPr>
      </p:sp>
      <p:sp>
        <p:nvSpPr>
          <p:cNvPr id="45" name="TextBox 45"/>
          <p:cNvSpPr txBox="1"/>
          <p:nvPr/>
        </p:nvSpPr>
        <p:spPr>
          <a:xfrm>
            <a:off x="4703921" y="4726543"/>
            <a:ext cx="2733371" cy="175260"/>
          </a:xfrm>
          <a:prstGeom prst="rect">
            <a:avLst/>
          </a:prstGeom>
          <a:noFill/>
          <a:ln>
            <a:noFill/>
          </a:ln>
        </p:spPr>
        <p:txBody>
          <a:bodyPr wrap="none" lIns="0" tIns="0" rIns="0" bIns="0" anchor="t" anchorCtr="0">
            <a:spAutoFit/>
          </a:bodyPr>
          <a:lstStyle/>
          <a:p>
            <a:pPr algn="l"/>
            <a:r>
              <a:rPr lang="zh-CN" sz="860" b="1" dirty="0">
                <a:solidFill>
                  <a:srgbClr val="16A34A"/>
                </a:solidFill>
                <a:latin typeface="Arial" panose="020B0704020202020204"/>
                <a:ea typeface="Arial" panose="020B0704020202020204"/>
                <a:cs typeface="Arial" panose="020B0704020202020204"/>
              </a:rPr>
              <a:t>Uri.parse("google.navigation:q=lat,lng")</a:t>
            </a:r>
            <a:endParaRPr lang="zh-CN" sz="860" b="1" dirty="0">
              <a:solidFill>
                <a:srgbClr val="16A34A"/>
              </a:solidFill>
              <a:latin typeface="Arial" panose="020B0704020202020204"/>
              <a:ea typeface="Arial" panose="020B0704020202020204"/>
              <a:cs typeface="Arial" panose="020B0704020202020204"/>
            </a:endParaRPr>
          </a:p>
        </p:txBody>
      </p:sp>
      <p:sp>
        <p:nvSpPr>
          <p:cNvPr id="46" name="TextBox 46"/>
          <p:cNvSpPr txBox="1"/>
          <p:nvPr/>
        </p:nvSpPr>
        <p:spPr>
          <a:xfrm>
            <a:off x="4607242" y="5057299"/>
            <a:ext cx="2894100" cy="198120"/>
          </a:xfrm>
          <a:prstGeom prst="rect">
            <a:avLst/>
          </a:prstGeom>
          <a:noFill/>
          <a:ln>
            <a:noFill/>
          </a:ln>
        </p:spPr>
        <p:txBody>
          <a:bodyPr wrap="none" lIns="0" tIns="0" rIns="0" bIns="0" anchor="t" anchorCtr="0">
            <a:spAutoFit/>
          </a:bodyPr>
          <a:lstStyle/>
          <a:p>
            <a:pPr algn="l"/>
            <a:r>
              <a:rPr lang="zh-CN" sz="975" dirty="0">
                <a:solidFill>
                  <a:srgbClr val="14532D"/>
                </a:solidFill>
                <a:latin typeface="Arial" panose="020B0704020202020204"/>
                <a:ea typeface="Arial" panose="020B0704020202020204"/>
                <a:cs typeface="Arial" panose="020B0704020202020204"/>
              </a:rPr>
              <a:t>• Tận dụng toàn bộ sức mạnh Google Maps:</a:t>
            </a:r>
            <a:endParaRPr lang="zh-CN" sz="975" dirty="0">
              <a:solidFill>
                <a:srgbClr val="14532D"/>
              </a:solidFill>
              <a:latin typeface="Arial" panose="020B0704020202020204"/>
              <a:ea typeface="Arial" panose="020B0704020202020204"/>
              <a:cs typeface="Arial" panose="020B0704020202020204"/>
            </a:endParaRPr>
          </a:p>
        </p:txBody>
      </p:sp>
      <p:sp>
        <p:nvSpPr>
          <p:cNvPr id="47" name="TextBox 47"/>
          <p:cNvSpPr txBox="1"/>
          <p:nvPr/>
        </p:nvSpPr>
        <p:spPr>
          <a:xfrm>
            <a:off x="4702969" y="5280422"/>
            <a:ext cx="3125093" cy="190500"/>
          </a:xfrm>
          <a:prstGeom prst="rect">
            <a:avLst/>
          </a:prstGeom>
          <a:noFill/>
          <a:ln>
            <a:noFill/>
          </a:ln>
        </p:spPr>
        <p:txBody>
          <a:bodyPr wrap="none" lIns="0" tIns="0" rIns="0" bIns="0" anchor="t" anchorCtr="0">
            <a:spAutoFit/>
          </a:bodyPr>
          <a:lstStyle/>
          <a:p>
            <a:pPr algn="l"/>
            <a:r>
              <a:rPr lang="zh-CN" sz="940" dirty="0">
                <a:solidFill>
                  <a:srgbClr val="14532D"/>
                </a:solidFill>
                <a:latin typeface="Arial" panose="020B0704020202020204"/>
                <a:ea typeface="Arial" panose="020B0704020202020204"/>
                <a:cs typeface="Arial" panose="020B0704020202020204"/>
              </a:rPr>
              <a:t>✔ Chỉ đường bằng giọng nói tiếng Việt cho tài xế</a:t>
            </a:r>
            <a:endParaRPr lang="zh-CN" sz="940" dirty="0">
              <a:solidFill>
                <a:srgbClr val="14532D"/>
              </a:solidFill>
              <a:latin typeface="Arial" panose="020B0704020202020204"/>
              <a:ea typeface="Arial" panose="020B0704020202020204"/>
              <a:cs typeface="Arial" panose="020B0704020202020204"/>
            </a:endParaRPr>
          </a:p>
        </p:txBody>
      </p:sp>
      <p:sp>
        <p:nvSpPr>
          <p:cNvPr id="48" name="TextBox 48"/>
          <p:cNvSpPr txBox="1"/>
          <p:nvPr/>
        </p:nvSpPr>
        <p:spPr>
          <a:xfrm>
            <a:off x="4702969" y="5499497"/>
            <a:ext cx="3220938" cy="190500"/>
          </a:xfrm>
          <a:prstGeom prst="rect">
            <a:avLst/>
          </a:prstGeom>
          <a:noFill/>
          <a:ln>
            <a:noFill/>
          </a:ln>
        </p:spPr>
        <p:txBody>
          <a:bodyPr wrap="none" lIns="0" tIns="0" rIns="0" bIns="0" anchor="t" anchorCtr="0">
            <a:spAutoFit/>
          </a:bodyPr>
          <a:lstStyle/>
          <a:p>
            <a:pPr algn="l"/>
            <a:r>
              <a:rPr lang="zh-CN" sz="940" dirty="0">
                <a:solidFill>
                  <a:srgbClr val="14532D"/>
                </a:solidFill>
                <a:latin typeface="Arial" panose="020B0704020202020204"/>
                <a:ea typeface="Arial" panose="020B0704020202020204"/>
                <a:cs typeface="Arial" panose="020B0704020202020204"/>
              </a:rPr>
              <a:t>✔ Tự động né các tuyến đường kẹt xe giờ cao điểm</a:t>
            </a:r>
            <a:endParaRPr lang="zh-CN" sz="940" dirty="0">
              <a:solidFill>
                <a:srgbClr val="14532D"/>
              </a:solidFill>
              <a:latin typeface="Arial" panose="020B0704020202020204"/>
              <a:ea typeface="Arial" panose="020B0704020202020204"/>
              <a:cs typeface="Arial" panose="020B0704020202020204"/>
            </a:endParaRPr>
          </a:p>
        </p:txBody>
      </p:sp>
      <p:sp>
        <p:nvSpPr>
          <p:cNvPr id="49" name="TextBox 49"/>
          <p:cNvSpPr txBox="1"/>
          <p:nvPr/>
        </p:nvSpPr>
        <p:spPr>
          <a:xfrm>
            <a:off x="4608195" y="5732145"/>
            <a:ext cx="3611309" cy="182880"/>
          </a:xfrm>
          <a:prstGeom prst="rect">
            <a:avLst/>
          </a:prstGeom>
          <a:noFill/>
          <a:ln>
            <a:noFill/>
          </a:ln>
        </p:spPr>
        <p:txBody>
          <a:bodyPr wrap="none" lIns="0" tIns="0" rIns="0" bIns="0" anchor="t" anchorCtr="0">
            <a:spAutoFit/>
          </a:bodyPr>
          <a:lstStyle/>
          <a:p>
            <a:pPr algn="l"/>
            <a:r>
              <a:rPr lang="zh-CN" sz="900" dirty="0">
                <a:solidFill>
                  <a:srgbClr val="166534"/>
                </a:solidFill>
                <a:latin typeface="Arial" panose="020B0704020202020204"/>
                <a:ea typeface="Arial" panose="020B0704020202020204"/>
                <a:cs typeface="Arial" panose="020B0704020202020204"/>
              </a:rPr>
              <a:t>Nếu máy không có Google Maps ➔ Tự động mở trình duyệt.</a:t>
            </a:r>
            <a:endParaRPr lang="zh-CN" sz="900" dirty="0">
              <a:solidFill>
                <a:srgbClr val="166534"/>
              </a:solidFill>
              <a:latin typeface="Arial" panose="020B0704020202020204"/>
              <a:ea typeface="Arial" panose="020B0704020202020204"/>
              <a:cs typeface="Arial" panose="020B0704020202020204"/>
            </a:endParaRPr>
          </a:p>
        </p:txBody>
      </p:sp>
      <p:sp>
        <p:nvSpPr>
          <p:cNvPr id="50" name="Freeform 50"/>
          <p:cNvSpPr/>
          <p:nvPr/>
        </p:nvSpPr>
        <p:spPr>
          <a:xfrm>
            <a:off x="8191500" y="1333500"/>
            <a:ext cx="3619500" cy="4810125"/>
          </a:xfrm>
          <a:custGeom>
            <a:avLst/>
            <a:gdLst/>
            <a:ahLst/>
            <a:cxnLst/>
            <a:rect l="l" t="t" r="r" b="b"/>
            <a:pathLst>
              <a:path w="3619500" h="4810125">
                <a:moveTo>
                  <a:pt x="95250" y="0"/>
                </a:moveTo>
                <a:lnTo>
                  <a:pt x="3524250" y="0"/>
                </a:lnTo>
                <a:cubicBezTo>
                  <a:pt x="3576855" y="0"/>
                  <a:pt x="3619500" y="42645"/>
                  <a:pt x="3619500" y="95250"/>
                </a:cubicBezTo>
                <a:lnTo>
                  <a:pt x="3619500" y="4714875"/>
                </a:lnTo>
                <a:cubicBezTo>
                  <a:pt x="3619500" y="4767480"/>
                  <a:pt x="3576855" y="4810125"/>
                  <a:pt x="3524250" y="4810125"/>
                </a:cubicBezTo>
                <a:lnTo>
                  <a:pt x="95250" y="4810125"/>
                </a:lnTo>
                <a:cubicBezTo>
                  <a:pt x="42645" y="4810125"/>
                  <a:pt x="0" y="4767480"/>
                  <a:pt x="0" y="4714875"/>
                </a:cubicBezTo>
                <a:lnTo>
                  <a:pt x="0" y="95250"/>
                </a:lnTo>
                <a:cubicBezTo>
                  <a:pt x="0" y="42645"/>
                  <a:pt x="42645" y="0"/>
                  <a:pt x="95250" y="0"/>
                </a:cubicBezTo>
                <a:close/>
              </a:path>
            </a:pathLst>
          </a:custGeom>
          <a:solidFill>
            <a:srgbClr val="FFFFFF"/>
          </a:solidFill>
          <a:ln w="14288">
            <a:solidFill>
              <a:srgbClr val="E2E8F0"/>
            </a:solidFill>
          </a:ln>
        </p:spPr>
      </p:sp>
      <p:sp>
        <p:nvSpPr>
          <p:cNvPr id="51" name="Freeform 51"/>
          <p:cNvSpPr/>
          <p:nvPr/>
        </p:nvSpPr>
        <p:spPr>
          <a:xfrm>
            <a:off x="8191500" y="1333500"/>
            <a:ext cx="3619500" cy="476250"/>
          </a:xfrm>
          <a:custGeom>
            <a:avLst/>
            <a:gdLst/>
            <a:ahLst/>
            <a:cxnLst/>
            <a:rect l="l" t="t" r="r" b="b"/>
            <a:pathLst>
              <a:path w="3619500" h="476250">
                <a:moveTo>
                  <a:pt x="95250" y="0"/>
                </a:moveTo>
                <a:lnTo>
                  <a:pt x="3524250" y="0"/>
                </a:lnTo>
                <a:cubicBezTo>
                  <a:pt x="3576855" y="0"/>
                  <a:pt x="3619500" y="42645"/>
                  <a:pt x="3619500" y="95250"/>
                </a:cubicBezTo>
                <a:lnTo>
                  <a:pt x="3619500" y="381000"/>
                </a:lnTo>
                <a:cubicBezTo>
                  <a:pt x="3619500" y="433605"/>
                  <a:pt x="3576855" y="476250"/>
                  <a:pt x="3524250" y="476250"/>
                </a:cubicBezTo>
                <a:lnTo>
                  <a:pt x="95250" y="476250"/>
                </a:lnTo>
                <a:cubicBezTo>
                  <a:pt x="42645" y="476250"/>
                  <a:pt x="0" y="433605"/>
                  <a:pt x="0" y="381000"/>
                </a:cubicBezTo>
                <a:lnTo>
                  <a:pt x="0" y="95250"/>
                </a:lnTo>
                <a:cubicBezTo>
                  <a:pt x="0" y="42645"/>
                  <a:pt x="42645" y="0"/>
                  <a:pt x="95250" y="0"/>
                </a:cubicBezTo>
                <a:close/>
              </a:path>
            </a:pathLst>
          </a:custGeom>
          <a:solidFill>
            <a:srgbClr val="F1F5F9"/>
          </a:solidFill>
          <a:ln>
            <a:noFill/>
          </a:ln>
        </p:spPr>
      </p:sp>
      <p:sp>
        <p:nvSpPr>
          <p:cNvPr id="52" name="Freeform 52"/>
          <p:cNvSpPr/>
          <p:nvPr/>
        </p:nvSpPr>
        <p:spPr>
          <a:xfrm>
            <a:off x="8467869" y="1469592"/>
            <a:ext cx="56863" cy="204066"/>
          </a:xfrm>
          <a:custGeom>
            <a:avLst/>
            <a:gdLst/>
            <a:ahLst/>
            <a:cxnLst/>
            <a:rect l="l" t="t" r="r" b="b"/>
            <a:pathLst>
              <a:path w="56863" h="204066">
                <a:moveTo>
                  <a:pt x="28575" y="0"/>
                </a:moveTo>
                <a:lnTo>
                  <a:pt x="0" y="200025"/>
                </a:lnTo>
                <a:lnTo>
                  <a:pt x="28288" y="204066"/>
                </a:lnTo>
                <a:lnTo>
                  <a:pt x="56863" y="4041"/>
                </a:lnTo>
                <a:lnTo>
                  <a:pt x="28575" y="0"/>
                </a:lnTo>
                <a:close/>
              </a:path>
            </a:pathLst>
          </a:custGeom>
          <a:solidFill>
            <a:srgbClr val="003366"/>
          </a:solidFill>
          <a:ln>
            <a:noFill/>
          </a:ln>
        </p:spPr>
      </p:sp>
      <p:sp>
        <p:nvSpPr>
          <p:cNvPr id="53" name="Freeform 53"/>
          <p:cNvSpPr/>
          <p:nvPr/>
        </p:nvSpPr>
        <p:spPr>
          <a:xfrm>
            <a:off x="8540388" y="1521619"/>
            <a:ext cx="70212" cy="100012"/>
          </a:xfrm>
          <a:custGeom>
            <a:avLst/>
            <a:gdLst/>
            <a:ahLst/>
            <a:cxnLst/>
            <a:rect l="l" t="t" r="r" b="b"/>
            <a:pathLst>
              <a:path w="70212" h="100012">
                <a:moveTo>
                  <a:pt x="20205" y="100012"/>
                </a:moveTo>
                <a:lnTo>
                  <a:pt x="0" y="79807"/>
                </a:lnTo>
                <a:lnTo>
                  <a:pt x="29801" y="50006"/>
                </a:lnTo>
                <a:lnTo>
                  <a:pt x="0" y="20206"/>
                </a:lnTo>
                <a:lnTo>
                  <a:pt x="20205" y="0"/>
                </a:lnTo>
                <a:lnTo>
                  <a:pt x="70212" y="50006"/>
                </a:lnTo>
                <a:lnTo>
                  <a:pt x="20205" y="100012"/>
                </a:lnTo>
                <a:close/>
              </a:path>
            </a:pathLst>
          </a:custGeom>
          <a:solidFill>
            <a:srgbClr val="003366"/>
          </a:solidFill>
          <a:ln>
            <a:noFill/>
          </a:ln>
        </p:spPr>
      </p:sp>
      <p:sp>
        <p:nvSpPr>
          <p:cNvPr id="54" name="Freeform 54"/>
          <p:cNvSpPr/>
          <p:nvPr/>
        </p:nvSpPr>
        <p:spPr>
          <a:xfrm>
            <a:off x="8382000" y="1521619"/>
            <a:ext cx="70212" cy="100012"/>
          </a:xfrm>
          <a:custGeom>
            <a:avLst/>
            <a:gdLst/>
            <a:ahLst/>
            <a:cxnLst/>
            <a:rect l="l" t="t" r="r" b="b"/>
            <a:pathLst>
              <a:path w="70212" h="100012">
                <a:moveTo>
                  <a:pt x="40411" y="50006"/>
                </a:moveTo>
                <a:lnTo>
                  <a:pt x="70212" y="79807"/>
                </a:lnTo>
                <a:lnTo>
                  <a:pt x="50006" y="100012"/>
                </a:lnTo>
                <a:lnTo>
                  <a:pt x="0" y="50006"/>
                </a:lnTo>
                <a:lnTo>
                  <a:pt x="50006" y="0"/>
                </a:lnTo>
                <a:lnTo>
                  <a:pt x="70212" y="20206"/>
                </a:lnTo>
                <a:lnTo>
                  <a:pt x="40411" y="50006"/>
                </a:lnTo>
                <a:close/>
              </a:path>
            </a:pathLst>
          </a:custGeom>
          <a:solidFill>
            <a:srgbClr val="003366"/>
          </a:solidFill>
          <a:ln>
            <a:noFill/>
          </a:ln>
        </p:spPr>
      </p:sp>
      <p:sp>
        <p:nvSpPr>
          <p:cNvPr id="55" name="TextBox 55"/>
          <p:cNvSpPr txBox="1"/>
          <p:nvPr/>
        </p:nvSpPr>
        <p:spPr>
          <a:xfrm>
            <a:off x="8699182" y="1500664"/>
            <a:ext cx="2593755" cy="259080"/>
          </a:xfrm>
          <a:prstGeom prst="rect">
            <a:avLst/>
          </a:prstGeom>
          <a:noFill/>
          <a:ln>
            <a:noFill/>
          </a:ln>
        </p:spPr>
        <p:txBody>
          <a:bodyPr wrap="none" lIns="0" tIns="0" rIns="0" bIns="0" anchor="t" anchorCtr="0">
            <a:spAutoFit/>
          </a:bodyPr>
          <a:lstStyle/>
          <a:p>
            <a:pPr algn="l"/>
            <a:r>
              <a:rPr lang="zh-CN" sz="1275" b="1" dirty="0">
                <a:solidFill>
                  <a:srgbClr val="003366"/>
                </a:solidFill>
                <a:latin typeface="Arial" panose="020B0704020202020204"/>
                <a:ea typeface="Arial" panose="020B0704020202020204"/>
                <a:cs typeface="Arial" panose="020B0704020202020204"/>
              </a:rPr>
              <a:t>3. Trạng thái &amp; Bất đồng bộ</a:t>
            </a:r>
            <a:endParaRPr lang="zh-CN" sz="1275" b="1" dirty="0">
              <a:solidFill>
                <a:srgbClr val="003366"/>
              </a:solidFill>
              <a:latin typeface="Arial" panose="020B0704020202020204"/>
              <a:ea typeface="Arial" panose="020B0704020202020204"/>
              <a:cs typeface="Arial" panose="020B0704020202020204"/>
            </a:endParaRPr>
          </a:p>
        </p:txBody>
      </p:sp>
      <p:sp>
        <p:nvSpPr>
          <p:cNvPr id="56" name="Freeform 56"/>
          <p:cNvSpPr/>
          <p:nvPr/>
        </p:nvSpPr>
        <p:spPr>
          <a:xfrm>
            <a:off x="8382000" y="1952625"/>
            <a:ext cx="3315335" cy="1285875"/>
          </a:xfrm>
          <a:custGeom>
            <a:avLst/>
            <a:gdLst/>
            <a:ahLst/>
            <a:cxnLst/>
            <a:rect l="l" t="t" r="r" b="b"/>
            <a:pathLst>
              <a:path w="3238500" h="1285875">
                <a:moveTo>
                  <a:pt x="76200" y="0"/>
                </a:moveTo>
                <a:lnTo>
                  <a:pt x="3162300" y="0"/>
                </a:lnTo>
                <a:cubicBezTo>
                  <a:pt x="3204384" y="0"/>
                  <a:pt x="3238500" y="34116"/>
                  <a:pt x="3238500" y="76200"/>
                </a:cubicBezTo>
                <a:lnTo>
                  <a:pt x="3238500" y="1209675"/>
                </a:lnTo>
                <a:cubicBezTo>
                  <a:pt x="3238500" y="1251759"/>
                  <a:pt x="3204384" y="1285875"/>
                  <a:pt x="3162300" y="1285875"/>
                </a:cubicBezTo>
                <a:lnTo>
                  <a:pt x="76200" y="1285875"/>
                </a:lnTo>
                <a:cubicBezTo>
                  <a:pt x="34116" y="1285875"/>
                  <a:pt x="0" y="1251759"/>
                  <a:pt x="0" y="1209675"/>
                </a:cubicBezTo>
                <a:lnTo>
                  <a:pt x="0" y="76200"/>
                </a:lnTo>
                <a:cubicBezTo>
                  <a:pt x="0" y="34116"/>
                  <a:pt x="34116" y="0"/>
                  <a:pt x="76200" y="0"/>
                </a:cubicBezTo>
                <a:close/>
              </a:path>
            </a:pathLst>
          </a:custGeom>
          <a:solidFill>
            <a:srgbClr val="F8FAFC"/>
          </a:solidFill>
          <a:ln w="9525">
            <a:solidFill>
              <a:srgbClr val="E2E8F0"/>
            </a:solidFill>
          </a:ln>
        </p:spPr>
      </p:sp>
      <p:sp>
        <p:nvSpPr>
          <p:cNvPr id="57" name="TextBox 57"/>
          <p:cNvSpPr txBox="1"/>
          <p:nvPr/>
        </p:nvSpPr>
        <p:spPr>
          <a:xfrm>
            <a:off x="8510588" y="2050256"/>
            <a:ext cx="2763042" cy="228600"/>
          </a:xfrm>
          <a:prstGeom prst="rect">
            <a:avLst/>
          </a:prstGeom>
          <a:noFill/>
          <a:ln>
            <a:noFill/>
          </a:ln>
        </p:spPr>
        <p:txBody>
          <a:bodyPr wrap="none" lIns="0" tIns="0" rIns="0" bIns="0" anchor="t" anchorCtr="0">
            <a:spAutoFit/>
          </a:bodyPr>
          <a:lstStyle/>
          <a:p>
            <a:pPr algn="l"/>
            <a:r>
              <a:rPr lang="zh-CN" sz="1125" b="1" dirty="0">
                <a:solidFill>
                  <a:srgbClr val="003366"/>
                </a:solidFill>
                <a:latin typeface="Arial" panose="020B0704020202020204"/>
                <a:ea typeface="Arial" panose="020B0704020202020204"/>
                <a:cs typeface="Arial" panose="020B0704020202020204"/>
              </a:rPr>
              <a:t>Kotlin Coroutines &amp; Dispatchers:</a:t>
            </a:r>
            <a:endParaRPr lang="zh-CN" sz="1125" b="1" dirty="0">
              <a:solidFill>
                <a:srgbClr val="003366"/>
              </a:solidFill>
              <a:latin typeface="Arial" panose="020B0704020202020204"/>
              <a:ea typeface="Arial" panose="020B0704020202020204"/>
              <a:cs typeface="Arial" panose="020B0704020202020204"/>
            </a:endParaRPr>
          </a:p>
        </p:txBody>
      </p:sp>
      <p:sp>
        <p:nvSpPr>
          <p:cNvPr id="58" name="TextBox 58"/>
          <p:cNvSpPr txBox="1"/>
          <p:nvPr/>
        </p:nvSpPr>
        <p:spPr>
          <a:xfrm>
            <a:off x="8512016" y="2319576"/>
            <a:ext cx="3145893" cy="205740"/>
          </a:xfrm>
          <a:prstGeom prst="rect">
            <a:avLst/>
          </a:prstGeom>
          <a:noFill/>
          <a:ln>
            <a:noFill/>
          </a:ln>
        </p:spPr>
        <p:txBody>
          <a:bodyPr wrap="none" lIns="0" tIns="0" rIns="0" bIns="0" anchor="t" anchorCtr="0">
            <a:spAutoFit/>
          </a:bodyPr>
          <a:lstStyle/>
          <a:p>
            <a:pPr algn="l"/>
            <a:r>
              <a:rPr lang="zh-CN" sz="1010" dirty="0">
                <a:solidFill>
                  <a:srgbClr val="334155"/>
                </a:solidFill>
                <a:latin typeface="Arial" panose="020B0704020202020204"/>
                <a:ea typeface="Arial" panose="020B0704020202020204"/>
                <a:cs typeface="Arial" panose="020B0704020202020204"/>
              </a:rPr>
              <a:t>• viewModelScope.launch(Dispatchers.IO):</a:t>
            </a:r>
            <a:endParaRPr lang="zh-CN" sz="1010" dirty="0">
              <a:solidFill>
                <a:srgbClr val="334155"/>
              </a:solidFill>
              <a:latin typeface="Arial" panose="020B0704020202020204"/>
              <a:ea typeface="Arial" panose="020B0704020202020204"/>
              <a:cs typeface="Arial" panose="020B0704020202020204"/>
            </a:endParaRPr>
          </a:p>
        </p:txBody>
      </p:sp>
      <p:sp>
        <p:nvSpPr>
          <p:cNvPr id="59" name="TextBox 59"/>
          <p:cNvSpPr txBox="1"/>
          <p:nvPr/>
        </p:nvSpPr>
        <p:spPr>
          <a:xfrm>
            <a:off x="8607742" y="2561749"/>
            <a:ext cx="3013075" cy="300990"/>
          </a:xfrm>
          <a:prstGeom prst="rect">
            <a:avLst/>
          </a:prstGeom>
          <a:noFill/>
          <a:ln>
            <a:noFill/>
          </a:ln>
        </p:spPr>
        <p:txBody>
          <a:bodyPr wrap="none" lIns="0" tIns="0" rIns="0" bIns="0" anchor="t" anchorCtr="0">
            <a:spAutoFit/>
          </a:bodyPr>
          <a:lstStyle/>
          <a:p>
            <a:pPr algn="l"/>
            <a:r>
              <a:rPr lang="zh-CN" sz="975" dirty="0">
                <a:solidFill>
                  <a:srgbClr val="475569"/>
                </a:solidFill>
                <a:latin typeface="Arial" panose="020B0704020202020204"/>
                <a:ea typeface="Arial" panose="020B0704020202020204"/>
                <a:cs typeface="Arial" panose="020B0704020202020204"/>
              </a:rPr>
              <a:t>Đẩy toàn bộ tác vụ gọi HTTP và truy vấn Room ra khỏi</a:t>
            </a:r>
            <a:endParaRPr lang="zh-CN" sz="975" dirty="0">
              <a:solidFill>
                <a:srgbClr val="475569"/>
              </a:solidFill>
              <a:latin typeface="Arial" panose="020B0704020202020204"/>
              <a:ea typeface="Arial" panose="020B0704020202020204"/>
              <a:cs typeface="Arial" panose="020B0704020202020204"/>
            </a:endParaRPr>
          </a:p>
          <a:p>
            <a:pPr algn="l"/>
            <a:r>
              <a:rPr lang="zh-CN" sz="975" dirty="0">
                <a:solidFill>
                  <a:srgbClr val="475569"/>
                </a:solidFill>
                <a:latin typeface="Arial" panose="020B0704020202020204"/>
                <a:ea typeface="Arial" panose="020B0704020202020204"/>
                <a:cs typeface="Arial" panose="020B0704020202020204"/>
              </a:rPr>
              <a:t>luồng giao diện chính.</a:t>
            </a:r>
            <a:endParaRPr lang="zh-CN" sz="975" dirty="0">
              <a:solidFill>
                <a:srgbClr val="475569"/>
              </a:solidFill>
              <a:latin typeface="Arial" panose="020B0704020202020204"/>
              <a:ea typeface="Arial" panose="020B0704020202020204"/>
              <a:cs typeface="Arial" panose="020B0704020202020204"/>
            </a:endParaRPr>
          </a:p>
        </p:txBody>
      </p:sp>
      <p:sp>
        <p:nvSpPr>
          <p:cNvPr id="60" name="TextBox 60"/>
          <p:cNvSpPr txBox="1"/>
          <p:nvPr/>
        </p:nvSpPr>
        <p:spPr>
          <a:xfrm>
            <a:off x="8512492" y="3040539"/>
            <a:ext cx="3411363" cy="198120"/>
          </a:xfrm>
          <a:prstGeom prst="rect">
            <a:avLst/>
          </a:prstGeom>
          <a:noFill/>
          <a:ln>
            <a:noFill/>
          </a:ln>
        </p:spPr>
        <p:txBody>
          <a:bodyPr wrap="none" lIns="0" tIns="0" rIns="0" bIns="0" anchor="t" anchorCtr="0">
            <a:spAutoFit/>
          </a:bodyPr>
          <a:lstStyle/>
          <a:p>
            <a:pPr algn="l"/>
            <a:r>
              <a:rPr lang="zh-CN" sz="975" b="1" dirty="0">
                <a:solidFill>
                  <a:srgbClr val="16A34A"/>
                </a:solidFill>
                <a:latin typeface="Arial" panose="020B0704020202020204"/>
                <a:ea typeface="Arial" panose="020B0704020202020204"/>
                <a:cs typeface="Arial" panose="020B0704020202020204"/>
              </a:rPr>
              <a:t>✔ Triệt tiêu tuyệt đối hiện tượng đơ giật / ANR.</a:t>
            </a:r>
            <a:endParaRPr lang="zh-CN" sz="975" b="1" dirty="0">
              <a:solidFill>
                <a:srgbClr val="16A34A"/>
              </a:solidFill>
              <a:latin typeface="Arial" panose="020B0704020202020204"/>
              <a:ea typeface="Arial" panose="020B0704020202020204"/>
              <a:cs typeface="Arial" panose="020B0704020202020204"/>
            </a:endParaRPr>
          </a:p>
        </p:txBody>
      </p:sp>
      <p:sp>
        <p:nvSpPr>
          <p:cNvPr id="61" name="Freeform 61"/>
          <p:cNvSpPr/>
          <p:nvPr/>
        </p:nvSpPr>
        <p:spPr>
          <a:xfrm>
            <a:off x="8382000" y="3381375"/>
            <a:ext cx="3238500" cy="1285875"/>
          </a:xfrm>
          <a:custGeom>
            <a:avLst/>
            <a:gdLst/>
            <a:ahLst/>
            <a:cxnLst/>
            <a:rect l="l" t="t" r="r" b="b"/>
            <a:pathLst>
              <a:path w="3238500" h="1285875">
                <a:moveTo>
                  <a:pt x="76200" y="0"/>
                </a:moveTo>
                <a:lnTo>
                  <a:pt x="3162300" y="0"/>
                </a:lnTo>
                <a:cubicBezTo>
                  <a:pt x="3204384" y="0"/>
                  <a:pt x="3238500" y="34116"/>
                  <a:pt x="3238500" y="76200"/>
                </a:cubicBezTo>
                <a:lnTo>
                  <a:pt x="3238500" y="1209675"/>
                </a:lnTo>
                <a:cubicBezTo>
                  <a:pt x="3238500" y="1251759"/>
                  <a:pt x="3204384" y="1285875"/>
                  <a:pt x="3162300" y="1285875"/>
                </a:cubicBezTo>
                <a:lnTo>
                  <a:pt x="76200" y="1285875"/>
                </a:lnTo>
                <a:cubicBezTo>
                  <a:pt x="34116" y="1285875"/>
                  <a:pt x="0" y="1251759"/>
                  <a:pt x="0" y="1209675"/>
                </a:cubicBezTo>
                <a:lnTo>
                  <a:pt x="0" y="76200"/>
                </a:lnTo>
                <a:cubicBezTo>
                  <a:pt x="0" y="34116"/>
                  <a:pt x="34116" y="0"/>
                  <a:pt x="76200" y="0"/>
                </a:cubicBezTo>
                <a:close/>
              </a:path>
            </a:pathLst>
          </a:custGeom>
          <a:solidFill>
            <a:srgbClr val="F8FAFC"/>
          </a:solidFill>
          <a:ln w="9525">
            <a:solidFill>
              <a:srgbClr val="E2E8F0"/>
            </a:solidFill>
          </a:ln>
        </p:spPr>
      </p:sp>
      <p:sp>
        <p:nvSpPr>
          <p:cNvPr id="62" name="TextBox 62"/>
          <p:cNvSpPr txBox="1"/>
          <p:nvPr/>
        </p:nvSpPr>
        <p:spPr>
          <a:xfrm>
            <a:off x="8510588" y="3479006"/>
            <a:ext cx="2538764" cy="228600"/>
          </a:xfrm>
          <a:prstGeom prst="rect">
            <a:avLst/>
          </a:prstGeom>
          <a:noFill/>
          <a:ln>
            <a:noFill/>
          </a:ln>
        </p:spPr>
        <p:txBody>
          <a:bodyPr wrap="none" lIns="0" tIns="0" rIns="0" bIns="0" anchor="t" anchorCtr="0">
            <a:spAutoFit/>
          </a:bodyPr>
          <a:lstStyle/>
          <a:p>
            <a:pPr algn="l"/>
            <a:r>
              <a:rPr lang="zh-CN" sz="1125" b="1" dirty="0">
                <a:solidFill>
                  <a:srgbClr val="003366"/>
                </a:solidFill>
                <a:latin typeface="Arial" panose="020B0704020202020204"/>
                <a:ea typeface="Arial" panose="020B0704020202020204"/>
                <a:cs typeface="Arial" panose="020B0704020202020204"/>
              </a:rPr>
              <a:t>StateFlow &amp; Lifecycle-Aware:</a:t>
            </a:r>
            <a:endParaRPr lang="zh-CN" sz="1125" b="1" dirty="0">
              <a:solidFill>
                <a:srgbClr val="003366"/>
              </a:solidFill>
              <a:latin typeface="Arial" panose="020B0704020202020204"/>
              <a:ea typeface="Arial" panose="020B0704020202020204"/>
              <a:cs typeface="Arial" panose="020B0704020202020204"/>
            </a:endParaRPr>
          </a:p>
        </p:txBody>
      </p:sp>
      <p:sp>
        <p:nvSpPr>
          <p:cNvPr id="63" name="TextBox 63"/>
          <p:cNvSpPr txBox="1"/>
          <p:nvPr/>
        </p:nvSpPr>
        <p:spPr>
          <a:xfrm>
            <a:off x="8512016" y="3748326"/>
            <a:ext cx="3840909" cy="205740"/>
          </a:xfrm>
          <a:prstGeom prst="rect">
            <a:avLst/>
          </a:prstGeom>
          <a:noFill/>
          <a:ln>
            <a:noFill/>
          </a:ln>
        </p:spPr>
        <p:txBody>
          <a:bodyPr wrap="none" lIns="0" tIns="0" rIns="0" bIns="0" anchor="t" anchorCtr="0">
            <a:spAutoFit/>
          </a:bodyPr>
          <a:lstStyle/>
          <a:p>
            <a:pPr algn="l"/>
            <a:r>
              <a:rPr lang="zh-CN" sz="1010" dirty="0">
                <a:solidFill>
                  <a:srgbClr val="334155"/>
                </a:solidFill>
                <a:latin typeface="Arial" panose="020B0704020202020204"/>
                <a:ea typeface="Arial" panose="020B0704020202020204"/>
                <a:cs typeface="Arial" panose="020B0704020202020204"/>
              </a:rPr>
              <a:t>• UI thu thập state qua collectAsStateWithLifecycle.</a:t>
            </a:r>
            <a:endParaRPr lang="zh-CN" sz="1010" dirty="0">
              <a:solidFill>
                <a:srgbClr val="334155"/>
              </a:solidFill>
              <a:latin typeface="Arial" panose="020B0704020202020204"/>
              <a:ea typeface="Arial" panose="020B0704020202020204"/>
              <a:cs typeface="Arial" panose="020B0704020202020204"/>
            </a:endParaRPr>
          </a:p>
        </p:txBody>
      </p:sp>
      <p:sp>
        <p:nvSpPr>
          <p:cNvPr id="64" name="TextBox 64"/>
          <p:cNvSpPr txBox="1"/>
          <p:nvPr/>
        </p:nvSpPr>
        <p:spPr>
          <a:xfrm>
            <a:off x="8512016" y="4034076"/>
            <a:ext cx="3060065" cy="309880"/>
          </a:xfrm>
          <a:prstGeom prst="rect">
            <a:avLst/>
          </a:prstGeom>
          <a:noFill/>
          <a:ln>
            <a:noFill/>
          </a:ln>
        </p:spPr>
        <p:txBody>
          <a:bodyPr wrap="none" lIns="0" tIns="0" rIns="0" bIns="0" anchor="t" anchorCtr="0">
            <a:spAutoFit/>
          </a:bodyPr>
          <a:lstStyle/>
          <a:p>
            <a:pPr algn="l"/>
            <a:r>
              <a:rPr lang="zh-CN" sz="1010" dirty="0">
                <a:solidFill>
                  <a:srgbClr val="334155"/>
                </a:solidFill>
                <a:latin typeface="Arial" panose="020B0704020202020204"/>
                <a:ea typeface="Arial" panose="020B0704020202020204"/>
                <a:cs typeface="Arial" panose="020B0704020202020204"/>
              </a:rPr>
              <a:t>• Khi màn hình ở chế độ nền (Background), coroutine </a:t>
            </a:r>
            <a:endParaRPr lang="zh-CN" sz="1010" dirty="0">
              <a:solidFill>
                <a:srgbClr val="334155"/>
              </a:solidFill>
              <a:latin typeface="Arial" panose="020B0704020202020204"/>
              <a:ea typeface="Arial" panose="020B0704020202020204"/>
              <a:cs typeface="Arial" panose="020B0704020202020204"/>
            </a:endParaRPr>
          </a:p>
          <a:p>
            <a:pPr algn="l"/>
            <a:r>
              <a:rPr lang="zh-CN" sz="1010" dirty="0">
                <a:solidFill>
                  <a:srgbClr val="334155"/>
                </a:solidFill>
                <a:latin typeface="Arial" panose="020B0704020202020204"/>
                <a:ea typeface="Arial" panose="020B0704020202020204"/>
                <a:cs typeface="Arial" panose="020B0704020202020204"/>
              </a:rPr>
              <a:t>tự động tạm ngưng để tiết kiệm pin và băng thông.</a:t>
            </a:r>
            <a:endParaRPr lang="zh-CN" sz="1010" dirty="0">
              <a:solidFill>
                <a:srgbClr val="334155"/>
              </a:solidFill>
              <a:latin typeface="Arial" panose="020B0704020202020204"/>
              <a:ea typeface="Arial" panose="020B0704020202020204"/>
              <a:cs typeface="Arial" panose="020B0704020202020204"/>
            </a:endParaRPr>
          </a:p>
        </p:txBody>
      </p:sp>
      <p:sp>
        <p:nvSpPr>
          <p:cNvPr id="65" name="Freeform 65"/>
          <p:cNvSpPr/>
          <p:nvPr/>
        </p:nvSpPr>
        <p:spPr>
          <a:xfrm>
            <a:off x="8382000" y="4810125"/>
            <a:ext cx="3238500" cy="1143000"/>
          </a:xfrm>
          <a:custGeom>
            <a:avLst/>
            <a:gdLst/>
            <a:ahLst/>
            <a:cxnLst/>
            <a:rect l="l" t="t" r="r" b="b"/>
            <a:pathLst>
              <a:path w="3238500" h="1143000">
                <a:moveTo>
                  <a:pt x="76200" y="0"/>
                </a:moveTo>
                <a:lnTo>
                  <a:pt x="3162300" y="0"/>
                </a:lnTo>
                <a:cubicBezTo>
                  <a:pt x="3204384" y="0"/>
                  <a:pt x="3238500" y="34116"/>
                  <a:pt x="3238500" y="76200"/>
                </a:cubicBezTo>
                <a:lnTo>
                  <a:pt x="3238500" y="1066800"/>
                </a:lnTo>
                <a:cubicBezTo>
                  <a:pt x="3238500" y="1108884"/>
                  <a:pt x="3204384" y="1143000"/>
                  <a:pt x="3162300" y="1143000"/>
                </a:cubicBezTo>
                <a:lnTo>
                  <a:pt x="76200" y="1143000"/>
                </a:lnTo>
                <a:cubicBezTo>
                  <a:pt x="34116" y="1143000"/>
                  <a:pt x="0" y="1108884"/>
                  <a:pt x="0" y="1066800"/>
                </a:cubicBezTo>
                <a:lnTo>
                  <a:pt x="0" y="76200"/>
                </a:lnTo>
                <a:cubicBezTo>
                  <a:pt x="0" y="34116"/>
                  <a:pt x="34116" y="0"/>
                  <a:pt x="76200" y="0"/>
                </a:cubicBezTo>
                <a:close/>
              </a:path>
            </a:pathLst>
          </a:custGeom>
          <a:solidFill>
            <a:srgbClr val="EFF6FF"/>
          </a:solidFill>
          <a:ln w="9525">
            <a:solidFill>
              <a:srgbClr val="BFDBFE"/>
            </a:solidFill>
          </a:ln>
        </p:spPr>
      </p:sp>
      <p:sp>
        <p:nvSpPr>
          <p:cNvPr id="66" name="TextBox 66"/>
          <p:cNvSpPr txBox="1"/>
          <p:nvPr/>
        </p:nvSpPr>
        <p:spPr>
          <a:xfrm>
            <a:off x="8510588" y="4926806"/>
            <a:ext cx="1952190" cy="228600"/>
          </a:xfrm>
          <a:prstGeom prst="rect">
            <a:avLst/>
          </a:prstGeom>
          <a:noFill/>
          <a:ln>
            <a:noFill/>
          </a:ln>
        </p:spPr>
        <p:txBody>
          <a:bodyPr wrap="none" lIns="0" tIns="0" rIns="0" bIns="0" anchor="t" anchorCtr="0">
            <a:spAutoFit/>
          </a:bodyPr>
          <a:lstStyle/>
          <a:p>
            <a:pPr algn="l"/>
            <a:r>
              <a:rPr lang="zh-CN" sz="1125" b="1" dirty="0">
                <a:solidFill>
                  <a:srgbClr val="1D4ED8"/>
                </a:solidFill>
                <a:latin typeface="Arial" panose="020B0704020202020204"/>
                <a:ea typeface="Arial" panose="020B0704020202020204"/>
                <a:cs typeface="Arial" panose="020B0704020202020204"/>
              </a:rPr>
              <a:t>Bảo toàn trạng thái UI:</a:t>
            </a:r>
            <a:endParaRPr lang="zh-CN" sz="1125" b="1" dirty="0">
              <a:solidFill>
                <a:srgbClr val="1D4ED8"/>
              </a:solidFill>
              <a:latin typeface="Arial" panose="020B0704020202020204"/>
              <a:ea typeface="Arial" panose="020B0704020202020204"/>
              <a:cs typeface="Arial" panose="020B0704020202020204"/>
            </a:endParaRPr>
          </a:p>
        </p:txBody>
      </p:sp>
      <p:sp>
        <p:nvSpPr>
          <p:cNvPr id="67" name="TextBox 67"/>
          <p:cNvSpPr txBox="1"/>
          <p:nvPr/>
        </p:nvSpPr>
        <p:spPr>
          <a:xfrm>
            <a:off x="8512016" y="5205651"/>
            <a:ext cx="3685639" cy="205740"/>
          </a:xfrm>
          <a:prstGeom prst="rect">
            <a:avLst/>
          </a:prstGeom>
          <a:noFill/>
          <a:ln>
            <a:noFill/>
          </a:ln>
        </p:spPr>
        <p:txBody>
          <a:bodyPr wrap="none" lIns="0" tIns="0" rIns="0" bIns="0" anchor="t" anchorCtr="0">
            <a:spAutoFit/>
          </a:bodyPr>
          <a:lstStyle/>
          <a:p>
            <a:pPr algn="l"/>
            <a:r>
              <a:rPr lang="zh-CN" sz="1010" dirty="0">
                <a:solidFill>
                  <a:srgbClr val="1E40AF"/>
                </a:solidFill>
                <a:latin typeface="Arial" panose="020B0704020202020204"/>
                <a:ea typeface="Arial" panose="020B0704020202020204"/>
                <a:cs typeface="Arial" panose="020B0704020202020204"/>
              </a:rPr>
              <a:t>• rememberSaveable lưu các giá trị form tạm thời.</a:t>
            </a:r>
            <a:endParaRPr lang="zh-CN" sz="1010" dirty="0">
              <a:solidFill>
                <a:srgbClr val="1E40AF"/>
              </a:solidFill>
              <a:latin typeface="Arial" panose="020B0704020202020204"/>
              <a:ea typeface="Arial" panose="020B0704020202020204"/>
              <a:cs typeface="Arial" panose="020B0704020202020204"/>
            </a:endParaRPr>
          </a:p>
        </p:txBody>
      </p:sp>
      <p:sp>
        <p:nvSpPr>
          <p:cNvPr id="68" name="TextBox 68"/>
          <p:cNvSpPr txBox="1"/>
          <p:nvPr/>
        </p:nvSpPr>
        <p:spPr>
          <a:xfrm>
            <a:off x="8512016" y="5491401"/>
            <a:ext cx="3047365" cy="309880"/>
          </a:xfrm>
          <a:prstGeom prst="rect">
            <a:avLst/>
          </a:prstGeom>
          <a:noFill/>
          <a:ln>
            <a:noFill/>
          </a:ln>
        </p:spPr>
        <p:txBody>
          <a:bodyPr wrap="none" lIns="0" tIns="0" rIns="0" bIns="0" anchor="t" anchorCtr="0">
            <a:spAutoFit/>
          </a:bodyPr>
          <a:lstStyle/>
          <a:p>
            <a:pPr algn="l"/>
            <a:r>
              <a:rPr lang="zh-CN" sz="1010" dirty="0">
                <a:solidFill>
                  <a:srgbClr val="1E40AF"/>
                </a:solidFill>
                <a:latin typeface="Arial" panose="020B0704020202020204"/>
                <a:ea typeface="Arial" panose="020B0704020202020204"/>
                <a:cs typeface="Arial" panose="020B0704020202020204"/>
              </a:rPr>
              <a:t>• SavedStateHandle giữ đối tượng nháp khi hệ thống </a:t>
            </a:r>
            <a:endParaRPr lang="zh-CN" sz="1010" dirty="0">
              <a:solidFill>
                <a:srgbClr val="1E40AF"/>
              </a:solidFill>
              <a:latin typeface="Arial" panose="020B0704020202020204"/>
              <a:ea typeface="Arial" panose="020B0704020202020204"/>
              <a:cs typeface="Arial" panose="020B0704020202020204"/>
            </a:endParaRPr>
          </a:p>
          <a:p>
            <a:pPr algn="l"/>
            <a:r>
              <a:rPr lang="zh-CN" sz="1010" dirty="0">
                <a:solidFill>
                  <a:srgbClr val="1E40AF"/>
                </a:solidFill>
                <a:latin typeface="Arial" panose="020B0704020202020204"/>
                <a:ea typeface="Arial" panose="020B0704020202020204"/>
                <a:cs typeface="Arial" panose="020B0704020202020204"/>
              </a:rPr>
              <a:t>hủy Process (Process Death).</a:t>
            </a:r>
            <a:endParaRPr lang="zh-CN" sz="1010" dirty="0">
              <a:solidFill>
                <a:srgbClr val="1E40AF"/>
              </a:solidFill>
              <a:latin typeface="Arial" panose="020B0704020202020204"/>
              <a:ea typeface="Arial" panose="020B0704020202020204"/>
              <a:cs typeface="Arial" panose="020B0704020202020204"/>
            </a:endParaRPr>
          </a:p>
        </p:txBody>
      </p:sp>
      <p:sp>
        <p:nvSpPr>
          <p:cNvPr id="69" name="Line 69"/>
          <p:cNvSpPr/>
          <p:nvPr/>
        </p:nvSpPr>
        <p:spPr>
          <a:xfrm>
            <a:off x="381000" y="6334125"/>
            <a:ext cx="11430000" cy="9525"/>
          </a:xfrm>
          <a:custGeom>
            <a:avLst/>
            <a:gdLst/>
            <a:ahLst/>
            <a:cxnLst/>
            <a:rect l="l" t="t" r="r" b="b"/>
            <a:pathLst>
              <a:path w="11430000" h="9525">
                <a:moveTo>
                  <a:pt x="0" y="0"/>
                </a:moveTo>
                <a:lnTo>
                  <a:pt x="11430000" y="0"/>
                </a:lnTo>
              </a:path>
            </a:pathLst>
          </a:custGeom>
          <a:noFill/>
          <a:ln w="9525">
            <a:solidFill>
              <a:srgbClr val="CBD5E1"/>
            </a:solidFill>
          </a:ln>
        </p:spPr>
      </p:sp>
      <p:sp>
        <p:nvSpPr>
          <p:cNvPr id="70" name="TextBox 70"/>
          <p:cNvSpPr txBox="1"/>
          <p:nvPr/>
        </p:nvSpPr>
        <p:spPr>
          <a:xfrm>
            <a:off x="368618" y="6514624"/>
            <a:ext cx="3563374"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panose="020B0704020202020204"/>
                <a:ea typeface="Arial" panose="020B0704020202020204"/>
                <a:cs typeface="Arial" panose="020B0704020202020204"/>
              </a:rPr>
              <a:t>Báo cáo Đồ án Lập trình Di động (MOB402) • Nhóm 10</a:t>
            </a:r>
            <a:endParaRPr lang="zh-CN" sz="975" dirty="0">
              <a:solidFill>
                <a:srgbClr val="64748B"/>
              </a:solidFill>
              <a:latin typeface="Arial" panose="020B0704020202020204"/>
              <a:ea typeface="Arial" panose="020B0704020202020204"/>
              <a:cs typeface="Arial" panose="020B0704020202020204"/>
            </a:endParaRPr>
          </a:p>
        </p:txBody>
      </p:sp>
      <p:sp>
        <p:nvSpPr>
          <p:cNvPr id="71" name="TextBox 71"/>
          <p:cNvSpPr txBox="1"/>
          <p:nvPr/>
        </p:nvSpPr>
        <p:spPr>
          <a:xfrm>
            <a:off x="4495871" y="6514624"/>
            <a:ext cx="3200257" cy="198120"/>
          </a:xfrm>
          <a:prstGeom prst="rect">
            <a:avLst/>
          </a:prstGeom>
          <a:noFill/>
          <a:ln>
            <a:noFill/>
          </a:ln>
        </p:spPr>
        <p:txBody>
          <a:bodyPr wrap="none" lIns="0" tIns="0" rIns="0" bIns="0" anchor="t" anchorCtr="0">
            <a:spAutoFit/>
          </a:bodyPr>
          <a:lstStyle/>
          <a:p>
            <a:pPr algn="ctr"/>
            <a:r>
              <a:rPr lang="zh-CN" sz="975" dirty="0">
                <a:solidFill>
                  <a:srgbClr val="94A3B8"/>
                </a:solidFill>
                <a:latin typeface="Arial" panose="020B0704020202020204"/>
                <a:ea typeface="Arial" panose="020B0704020202020204"/>
                <a:cs typeface="Arial" panose="020B0704020202020204"/>
              </a:rPr>
              <a:t>Thành phần Android cốt lõi &amp; Tích hợp hệ thống</a:t>
            </a:r>
            <a:endParaRPr lang="zh-CN" sz="975" dirty="0">
              <a:solidFill>
                <a:srgbClr val="94A3B8"/>
              </a:solidFill>
              <a:latin typeface="Arial" panose="020B0704020202020204"/>
              <a:ea typeface="Arial" panose="020B0704020202020204"/>
              <a:cs typeface="Arial" panose="020B0704020202020204"/>
            </a:endParaRPr>
          </a:p>
        </p:txBody>
      </p:sp>
      <p:sp>
        <p:nvSpPr>
          <p:cNvPr id="72" name="TextBox 72"/>
          <p:cNvSpPr txBox="1"/>
          <p:nvPr/>
        </p:nvSpPr>
        <p:spPr>
          <a:xfrm>
            <a:off x="11379013" y="6506528"/>
            <a:ext cx="445322" cy="213360"/>
          </a:xfrm>
          <a:prstGeom prst="rect">
            <a:avLst/>
          </a:prstGeom>
          <a:noFill/>
          <a:ln>
            <a:noFill/>
          </a:ln>
        </p:spPr>
        <p:txBody>
          <a:bodyPr wrap="none" lIns="0" tIns="0" rIns="0" bIns="0" anchor="t" anchorCtr="0">
            <a:spAutoFit/>
          </a:bodyPr>
          <a:lstStyle/>
          <a:p>
            <a:pPr algn="r"/>
            <a:r>
              <a:rPr lang="zh-CN" sz="1050" b="1" dirty="0">
                <a:solidFill>
                  <a:srgbClr val="003366"/>
                </a:solidFill>
                <a:latin typeface="Arial" panose="020B0704020202020204"/>
                <a:ea typeface="Arial" panose="020B0704020202020204"/>
                <a:cs typeface="Arial" panose="020B0704020202020204"/>
              </a:rPr>
              <a:t>11 / 14</a:t>
            </a:r>
            <a:endParaRPr lang="zh-CN" sz="1050" b="1" dirty="0">
              <a:solidFill>
                <a:srgbClr val="003366"/>
              </a:solidFill>
              <a:latin typeface="Arial" panose="020B0704020202020204"/>
              <a:ea typeface="Arial" panose="020B0704020202020204"/>
              <a:cs typeface="Arial" panose="020B070402020202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858000"/>
          </a:xfrm>
          <a:prstGeom prst="rect">
            <a:avLst/>
          </a:prstGeom>
          <a:solidFill>
            <a:srgbClr val="F8FAFC"/>
          </a:solidFill>
          <a:ln>
            <a:noFill/>
          </a:ln>
        </p:spPr>
      </p:sp>
      <p:sp>
        <p:nvSpPr>
          <p:cNvPr id="4" name="Rectangle 4"/>
          <p:cNvSpPr/>
          <p:nvPr/>
        </p:nvSpPr>
        <p:spPr>
          <a:xfrm>
            <a:off x="0" y="0"/>
            <a:ext cx="12192000" cy="666750"/>
          </a:xfrm>
          <a:prstGeom prst="rect">
            <a:avLst/>
          </a:prstGeom>
          <a:solidFill>
            <a:srgbClr val="003366"/>
          </a:solidFill>
          <a:ln>
            <a:noFill/>
          </a:ln>
        </p:spPr>
      </p:sp>
      <p:sp>
        <p:nvSpPr>
          <p:cNvPr id="5" name="Rectangle 5"/>
          <p:cNvSpPr/>
          <p:nvPr/>
        </p:nvSpPr>
        <p:spPr>
          <a:xfrm>
            <a:off x="0" y="0"/>
            <a:ext cx="57150" cy="666750"/>
          </a:xfrm>
          <a:prstGeom prst="rect">
            <a:avLst/>
          </a:prstGeom>
          <a:solidFill>
            <a:srgbClr val="E65100"/>
          </a:solidFill>
          <a:ln>
            <a:noFill/>
          </a:ln>
        </p:spPr>
      </p:sp>
      <p:sp>
        <p:nvSpPr>
          <p:cNvPr id="6" name="TextBox 6"/>
          <p:cNvSpPr txBox="1"/>
          <p:nvPr/>
        </p:nvSpPr>
        <p:spPr>
          <a:xfrm>
            <a:off x="356235" y="227648"/>
            <a:ext cx="6508737" cy="396240"/>
          </a:xfrm>
          <a:prstGeom prst="rect">
            <a:avLst/>
          </a:prstGeom>
          <a:noFill/>
          <a:ln>
            <a:noFill/>
          </a:ln>
        </p:spPr>
        <p:txBody>
          <a:bodyPr wrap="none" lIns="0" tIns="0" rIns="0" bIns="0" anchor="t" anchorCtr="0">
            <a:spAutoFit/>
          </a:bodyPr>
          <a:lstStyle/>
          <a:p>
            <a:pPr algn="l"/>
            <a:r>
              <a:rPr lang="zh-CN" sz="1950" b="1" dirty="0">
                <a:solidFill>
                  <a:srgbClr val="FFFFFF"/>
                </a:solidFill>
                <a:latin typeface="Arial" panose="020B0704020202020204"/>
                <a:ea typeface="Arial" panose="020B0704020202020204"/>
                <a:cs typeface="Arial" panose="020B0704020202020204"/>
              </a:rPr>
              <a:t>05. KẾT QUẢ KIỂM THỬ &amp; XỬ LÝ TÌNH HUỐNG BIÊN</a:t>
            </a:r>
            <a:endParaRPr lang="zh-CN" sz="1950" b="1" dirty="0">
              <a:solidFill>
                <a:srgbClr val="FFFFFF"/>
              </a:solidFill>
              <a:latin typeface="Arial" panose="020B0704020202020204"/>
              <a:ea typeface="Arial" panose="020B0704020202020204"/>
              <a:cs typeface="Arial" panose="020B0704020202020204"/>
            </a:endParaRPr>
          </a:p>
        </p:txBody>
      </p:sp>
      <p:sp>
        <p:nvSpPr>
          <p:cNvPr id="7" name="TextBox 7"/>
          <p:cNvSpPr txBox="1"/>
          <p:nvPr/>
        </p:nvSpPr>
        <p:spPr>
          <a:xfrm>
            <a:off x="10295973" y="299085"/>
            <a:ext cx="1530267" cy="243840"/>
          </a:xfrm>
          <a:prstGeom prst="rect">
            <a:avLst/>
          </a:prstGeom>
          <a:noFill/>
          <a:ln>
            <a:noFill/>
          </a:ln>
        </p:spPr>
        <p:txBody>
          <a:bodyPr wrap="none" lIns="0" tIns="0" rIns="0" bIns="0" anchor="t" anchorCtr="0">
            <a:spAutoFit/>
          </a:bodyPr>
          <a:lstStyle/>
          <a:p>
            <a:pPr algn="r"/>
            <a:r>
              <a:rPr lang="zh-CN" sz="1200" b="1" dirty="0">
                <a:solidFill>
                  <a:srgbClr val="93C5FD"/>
                </a:solidFill>
                <a:latin typeface="Arial" panose="020B0704020202020204"/>
                <a:ea typeface="Arial" panose="020B0704020202020204"/>
                <a:cs typeface="Arial" panose="020B0704020202020204"/>
              </a:rPr>
              <a:t>GODROP DELIVERY</a:t>
            </a:r>
            <a:endParaRPr lang="zh-CN" sz="1200" b="1" dirty="0">
              <a:solidFill>
                <a:srgbClr val="93C5FD"/>
              </a:solidFill>
              <a:latin typeface="Arial" panose="020B0704020202020204"/>
              <a:ea typeface="Arial" panose="020B0704020202020204"/>
              <a:cs typeface="Arial" panose="020B0704020202020204"/>
            </a:endParaRPr>
          </a:p>
        </p:txBody>
      </p:sp>
      <p:sp>
        <p:nvSpPr>
          <p:cNvPr id="8" name="Rectangle 8"/>
          <p:cNvSpPr/>
          <p:nvPr/>
        </p:nvSpPr>
        <p:spPr>
          <a:xfrm>
            <a:off x="0" y="666750"/>
            <a:ext cx="12192000" cy="476250"/>
          </a:xfrm>
          <a:prstGeom prst="rect">
            <a:avLst/>
          </a:prstGeom>
          <a:solidFill>
            <a:srgbClr val="E8F4FC"/>
          </a:solidFill>
          <a:ln>
            <a:noFill/>
          </a:ln>
        </p:spPr>
      </p:sp>
      <p:sp>
        <p:nvSpPr>
          <p:cNvPr id="9" name="Rectangle 9"/>
          <p:cNvSpPr/>
          <p:nvPr/>
        </p:nvSpPr>
        <p:spPr>
          <a:xfrm>
            <a:off x="0" y="666750"/>
            <a:ext cx="57150" cy="476250"/>
          </a:xfrm>
          <a:prstGeom prst="rect">
            <a:avLst/>
          </a:prstGeom>
          <a:solidFill>
            <a:srgbClr val="0066CC"/>
          </a:solidFill>
          <a:ln>
            <a:noFill/>
          </a:ln>
        </p:spPr>
      </p:sp>
      <p:sp>
        <p:nvSpPr>
          <p:cNvPr id="10" name="TextBox 10"/>
          <p:cNvSpPr txBox="1"/>
          <p:nvPr/>
        </p:nvSpPr>
        <p:spPr>
          <a:xfrm>
            <a:off x="364808" y="824389"/>
            <a:ext cx="10627947" cy="259080"/>
          </a:xfrm>
          <a:prstGeom prst="rect">
            <a:avLst/>
          </a:prstGeom>
          <a:noFill/>
          <a:ln>
            <a:noFill/>
          </a:ln>
        </p:spPr>
        <p:txBody>
          <a:bodyPr wrap="none" lIns="0" tIns="0" rIns="0" bIns="0" anchor="t" anchorCtr="0">
            <a:spAutoFit/>
          </a:bodyPr>
          <a:lstStyle/>
          <a:p>
            <a:pPr algn="l"/>
            <a:r>
              <a:rPr lang="zh-CN" sz="1275" dirty="0">
                <a:solidFill>
                  <a:srgbClr val="0F172A"/>
                </a:solidFill>
                <a:latin typeface="Arial" panose="020B0704020202020204"/>
                <a:ea typeface="Arial" panose="020B0704020202020204"/>
                <a:cs typeface="Arial" panose="020B0704020202020204"/>
              </a:rPr>
              <a:t>12/12 Test Case giao diện chính đạt tỷ lệ thành công 100%; chủ động xử lý các tình huống lỗi mạng và xung đột đồng thời</a:t>
            </a:r>
            <a:endParaRPr lang="zh-CN" sz="1275" dirty="0">
              <a:solidFill>
                <a:srgbClr val="0F172A"/>
              </a:solidFill>
              <a:latin typeface="Arial" panose="020B0704020202020204"/>
              <a:ea typeface="Arial" panose="020B0704020202020204"/>
              <a:cs typeface="Arial" panose="020B0704020202020204"/>
            </a:endParaRPr>
          </a:p>
        </p:txBody>
      </p:sp>
      <p:sp>
        <p:nvSpPr>
          <p:cNvPr id="11" name="Freeform 11"/>
          <p:cNvSpPr/>
          <p:nvPr/>
        </p:nvSpPr>
        <p:spPr>
          <a:xfrm>
            <a:off x="381000" y="1285875"/>
            <a:ext cx="3619500" cy="1000125"/>
          </a:xfrm>
          <a:custGeom>
            <a:avLst/>
            <a:gdLst/>
            <a:ahLst/>
            <a:cxnLst/>
            <a:rect l="l" t="t" r="r" b="b"/>
            <a:pathLst>
              <a:path w="3619500" h="1000125">
                <a:moveTo>
                  <a:pt x="76200" y="0"/>
                </a:moveTo>
                <a:lnTo>
                  <a:pt x="3543300" y="0"/>
                </a:lnTo>
                <a:cubicBezTo>
                  <a:pt x="3585384" y="0"/>
                  <a:pt x="3619500" y="34116"/>
                  <a:pt x="3619500" y="76200"/>
                </a:cubicBezTo>
                <a:lnTo>
                  <a:pt x="3619500" y="923925"/>
                </a:lnTo>
                <a:cubicBezTo>
                  <a:pt x="3619500" y="966009"/>
                  <a:pt x="3585384" y="1000125"/>
                  <a:pt x="3543300" y="1000125"/>
                </a:cubicBezTo>
                <a:lnTo>
                  <a:pt x="76200" y="1000125"/>
                </a:lnTo>
                <a:cubicBezTo>
                  <a:pt x="34116" y="1000125"/>
                  <a:pt x="0" y="966009"/>
                  <a:pt x="0" y="923925"/>
                </a:cubicBezTo>
                <a:lnTo>
                  <a:pt x="0" y="76200"/>
                </a:lnTo>
                <a:cubicBezTo>
                  <a:pt x="0" y="34116"/>
                  <a:pt x="34116" y="0"/>
                  <a:pt x="76200" y="0"/>
                </a:cubicBezTo>
                <a:close/>
              </a:path>
            </a:pathLst>
          </a:custGeom>
          <a:solidFill>
            <a:srgbClr val="FFFFFF"/>
          </a:solidFill>
          <a:ln w="14288">
            <a:solidFill>
              <a:srgbClr val="E2E8F0"/>
            </a:solidFill>
          </a:ln>
        </p:spPr>
      </p:sp>
      <p:sp>
        <p:nvSpPr>
          <p:cNvPr id="12" name="Freeform 12"/>
          <p:cNvSpPr/>
          <p:nvPr/>
        </p:nvSpPr>
        <p:spPr>
          <a:xfrm>
            <a:off x="381000" y="1285875"/>
            <a:ext cx="57150" cy="1000125"/>
          </a:xfrm>
          <a:custGeom>
            <a:avLst/>
            <a:gdLst/>
            <a:ahLst/>
            <a:cxnLst/>
            <a:rect l="l" t="t" r="r" b="b"/>
            <a:pathLst>
              <a:path w="57150" h="1000125">
                <a:moveTo>
                  <a:pt x="28575" y="0"/>
                </a:moveTo>
                <a:lnTo>
                  <a:pt x="28575" y="0"/>
                </a:lnTo>
                <a:cubicBezTo>
                  <a:pt x="44357" y="0"/>
                  <a:pt x="57150" y="12793"/>
                  <a:pt x="57150" y="28575"/>
                </a:cubicBezTo>
                <a:lnTo>
                  <a:pt x="57150" y="971550"/>
                </a:lnTo>
                <a:cubicBezTo>
                  <a:pt x="57150" y="987332"/>
                  <a:pt x="44357" y="1000125"/>
                  <a:pt x="28575" y="1000125"/>
                </a:cubicBezTo>
                <a:lnTo>
                  <a:pt x="28575" y="1000125"/>
                </a:lnTo>
                <a:cubicBezTo>
                  <a:pt x="12793" y="1000125"/>
                  <a:pt x="0" y="987332"/>
                  <a:pt x="0" y="971550"/>
                </a:cubicBezTo>
                <a:lnTo>
                  <a:pt x="0" y="28575"/>
                </a:lnTo>
                <a:cubicBezTo>
                  <a:pt x="0" y="12793"/>
                  <a:pt x="12793" y="0"/>
                  <a:pt x="28575" y="0"/>
                </a:cubicBezTo>
                <a:close/>
              </a:path>
            </a:pathLst>
          </a:custGeom>
          <a:solidFill>
            <a:srgbClr val="16A34A"/>
          </a:solidFill>
          <a:ln>
            <a:noFill/>
          </a:ln>
        </p:spPr>
      </p:sp>
      <p:sp>
        <p:nvSpPr>
          <p:cNvPr id="13" name="TextBox 13"/>
          <p:cNvSpPr txBox="1"/>
          <p:nvPr/>
        </p:nvSpPr>
        <p:spPr>
          <a:xfrm>
            <a:off x="558165" y="1458278"/>
            <a:ext cx="2297054" cy="213360"/>
          </a:xfrm>
          <a:prstGeom prst="rect">
            <a:avLst/>
          </a:prstGeom>
          <a:noFill/>
          <a:ln>
            <a:noFill/>
          </a:ln>
        </p:spPr>
        <p:txBody>
          <a:bodyPr wrap="none" lIns="0" tIns="0" rIns="0" bIns="0" anchor="t" anchorCtr="0">
            <a:spAutoFit/>
          </a:bodyPr>
          <a:lstStyle/>
          <a:p>
            <a:pPr algn="l"/>
            <a:r>
              <a:rPr lang="zh-CN" sz="1050" b="1" dirty="0">
                <a:solidFill>
                  <a:srgbClr val="64748B"/>
                </a:solidFill>
                <a:latin typeface="Arial" panose="020B0704020202020204"/>
                <a:ea typeface="Arial" panose="020B0704020202020204"/>
                <a:cs typeface="Arial" panose="020B0704020202020204"/>
              </a:rPr>
              <a:t>KIỂM THỬ GIAO DIỆN (UI TESTS)</a:t>
            </a:r>
            <a:endParaRPr lang="zh-CN" sz="1050" b="1" dirty="0">
              <a:solidFill>
                <a:srgbClr val="64748B"/>
              </a:solidFill>
              <a:latin typeface="Arial" panose="020B0704020202020204"/>
              <a:ea typeface="Arial" panose="020B0704020202020204"/>
              <a:cs typeface="Arial" panose="020B0704020202020204"/>
            </a:endParaRPr>
          </a:p>
        </p:txBody>
      </p:sp>
      <p:sp>
        <p:nvSpPr>
          <p:cNvPr id="14" name="TextBox 14"/>
          <p:cNvSpPr txBox="1"/>
          <p:nvPr/>
        </p:nvSpPr>
        <p:spPr>
          <a:xfrm>
            <a:off x="535305" y="1692592"/>
            <a:ext cx="1317996" cy="579120"/>
          </a:xfrm>
          <a:prstGeom prst="rect">
            <a:avLst/>
          </a:prstGeom>
          <a:noFill/>
          <a:ln>
            <a:noFill/>
          </a:ln>
        </p:spPr>
        <p:txBody>
          <a:bodyPr wrap="none" lIns="0" tIns="0" rIns="0" bIns="0" anchor="t" anchorCtr="0">
            <a:spAutoFit/>
          </a:bodyPr>
          <a:lstStyle/>
          <a:p>
            <a:pPr algn="l"/>
            <a:r>
              <a:rPr lang="zh-CN" sz="2850" b="1" dirty="0">
                <a:solidFill>
                  <a:srgbClr val="16A34A"/>
                </a:solidFill>
                <a:latin typeface="Arial" panose="020B0704020202020204"/>
                <a:ea typeface="Arial" panose="020B0704020202020204"/>
                <a:cs typeface="Arial" panose="020B0704020202020204"/>
              </a:rPr>
              <a:t>12 / 12</a:t>
            </a:r>
            <a:endParaRPr lang="zh-CN" sz="2850" b="1" dirty="0">
              <a:solidFill>
                <a:srgbClr val="16A34A"/>
              </a:solidFill>
              <a:latin typeface="Arial" panose="020B0704020202020204"/>
              <a:ea typeface="Arial" panose="020B0704020202020204"/>
              <a:cs typeface="Arial" panose="020B0704020202020204"/>
            </a:endParaRPr>
          </a:p>
        </p:txBody>
      </p:sp>
      <p:sp>
        <p:nvSpPr>
          <p:cNvPr id="15" name="TextBox 15"/>
          <p:cNvSpPr txBox="1"/>
          <p:nvPr/>
        </p:nvSpPr>
        <p:spPr>
          <a:xfrm>
            <a:off x="1985962" y="1878806"/>
            <a:ext cx="891183" cy="228600"/>
          </a:xfrm>
          <a:prstGeom prst="rect">
            <a:avLst/>
          </a:prstGeom>
          <a:noFill/>
          <a:ln>
            <a:noFill/>
          </a:ln>
        </p:spPr>
        <p:txBody>
          <a:bodyPr wrap="none" lIns="0" tIns="0" rIns="0" bIns="0" anchor="t" anchorCtr="0">
            <a:spAutoFit/>
          </a:bodyPr>
          <a:lstStyle/>
          <a:p>
            <a:pPr algn="l"/>
            <a:r>
              <a:rPr lang="zh-CN" sz="1125" b="1" dirty="0">
                <a:solidFill>
                  <a:srgbClr val="15803D"/>
                </a:solidFill>
                <a:latin typeface="Arial" panose="020B0704020202020204"/>
                <a:ea typeface="Arial" panose="020B0704020202020204"/>
                <a:cs typeface="Arial" panose="020B0704020202020204"/>
              </a:rPr>
              <a:t>(100% ĐẠT)</a:t>
            </a:r>
            <a:endParaRPr lang="zh-CN" sz="1125" b="1" dirty="0">
              <a:solidFill>
                <a:srgbClr val="15803D"/>
              </a:solidFill>
              <a:latin typeface="Arial" panose="020B0704020202020204"/>
              <a:ea typeface="Arial" panose="020B0704020202020204"/>
              <a:cs typeface="Arial" panose="020B0704020202020204"/>
            </a:endParaRPr>
          </a:p>
        </p:txBody>
      </p:sp>
      <p:sp>
        <p:nvSpPr>
          <p:cNvPr id="16" name="TextBox 16"/>
          <p:cNvSpPr txBox="1"/>
          <p:nvPr/>
        </p:nvSpPr>
        <p:spPr>
          <a:xfrm>
            <a:off x="560070" y="2093595"/>
            <a:ext cx="2310003" cy="182880"/>
          </a:xfrm>
          <a:prstGeom prst="rect">
            <a:avLst/>
          </a:prstGeom>
          <a:noFill/>
          <a:ln>
            <a:noFill/>
          </a:ln>
        </p:spPr>
        <p:txBody>
          <a:bodyPr wrap="none" lIns="0" tIns="0" rIns="0" bIns="0" anchor="t" anchorCtr="0">
            <a:spAutoFit/>
          </a:bodyPr>
          <a:lstStyle/>
          <a:p>
            <a:pPr algn="l"/>
            <a:r>
              <a:rPr lang="zh-CN" sz="900" dirty="0">
                <a:solidFill>
                  <a:srgbClr val="475569"/>
                </a:solidFill>
                <a:latin typeface="Arial" panose="020B0704020202020204"/>
                <a:ea typeface="Arial" panose="020B0704020202020204"/>
                <a:cs typeface="Arial" panose="020B0704020202020204"/>
              </a:rPr>
              <a:t>Ghi nhận trong BaoCao_KiemThu.xlsx</a:t>
            </a:r>
            <a:endParaRPr lang="zh-CN" sz="900" dirty="0">
              <a:solidFill>
                <a:srgbClr val="475569"/>
              </a:solidFill>
              <a:latin typeface="Arial" panose="020B0704020202020204"/>
              <a:ea typeface="Arial" panose="020B0704020202020204"/>
              <a:cs typeface="Arial" panose="020B0704020202020204"/>
            </a:endParaRPr>
          </a:p>
        </p:txBody>
      </p:sp>
      <p:sp>
        <p:nvSpPr>
          <p:cNvPr id="17" name="Freeform 17"/>
          <p:cNvSpPr/>
          <p:nvPr/>
        </p:nvSpPr>
        <p:spPr>
          <a:xfrm>
            <a:off x="4286250" y="1285875"/>
            <a:ext cx="3619500" cy="1000125"/>
          </a:xfrm>
          <a:custGeom>
            <a:avLst/>
            <a:gdLst/>
            <a:ahLst/>
            <a:cxnLst/>
            <a:rect l="l" t="t" r="r" b="b"/>
            <a:pathLst>
              <a:path w="3619500" h="1000125">
                <a:moveTo>
                  <a:pt x="76200" y="0"/>
                </a:moveTo>
                <a:lnTo>
                  <a:pt x="3543300" y="0"/>
                </a:lnTo>
                <a:cubicBezTo>
                  <a:pt x="3585384" y="0"/>
                  <a:pt x="3619500" y="34116"/>
                  <a:pt x="3619500" y="76200"/>
                </a:cubicBezTo>
                <a:lnTo>
                  <a:pt x="3619500" y="923925"/>
                </a:lnTo>
                <a:cubicBezTo>
                  <a:pt x="3619500" y="966009"/>
                  <a:pt x="3585384" y="1000125"/>
                  <a:pt x="3543300" y="1000125"/>
                </a:cubicBezTo>
                <a:lnTo>
                  <a:pt x="76200" y="1000125"/>
                </a:lnTo>
                <a:cubicBezTo>
                  <a:pt x="34116" y="1000125"/>
                  <a:pt x="0" y="966009"/>
                  <a:pt x="0" y="923925"/>
                </a:cubicBezTo>
                <a:lnTo>
                  <a:pt x="0" y="76200"/>
                </a:lnTo>
                <a:cubicBezTo>
                  <a:pt x="0" y="34116"/>
                  <a:pt x="34116" y="0"/>
                  <a:pt x="76200" y="0"/>
                </a:cubicBezTo>
                <a:close/>
              </a:path>
            </a:pathLst>
          </a:custGeom>
          <a:solidFill>
            <a:srgbClr val="FFFFFF"/>
          </a:solidFill>
          <a:ln w="14288">
            <a:solidFill>
              <a:srgbClr val="E2E8F0"/>
            </a:solidFill>
          </a:ln>
        </p:spPr>
      </p:sp>
      <p:sp>
        <p:nvSpPr>
          <p:cNvPr id="18" name="Freeform 18"/>
          <p:cNvSpPr/>
          <p:nvPr/>
        </p:nvSpPr>
        <p:spPr>
          <a:xfrm>
            <a:off x="4286250" y="1285875"/>
            <a:ext cx="57150" cy="1000125"/>
          </a:xfrm>
          <a:custGeom>
            <a:avLst/>
            <a:gdLst/>
            <a:ahLst/>
            <a:cxnLst/>
            <a:rect l="l" t="t" r="r" b="b"/>
            <a:pathLst>
              <a:path w="57150" h="1000125">
                <a:moveTo>
                  <a:pt x="28575" y="0"/>
                </a:moveTo>
                <a:lnTo>
                  <a:pt x="28575" y="0"/>
                </a:lnTo>
                <a:cubicBezTo>
                  <a:pt x="44357" y="0"/>
                  <a:pt x="57150" y="12793"/>
                  <a:pt x="57150" y="28575"/>
                </a:cubicBezTo>
                <a:lnTo>
                  <a:pt x="57150" y="971550"/>
                </a:lnTo>
                <a:cubicBezTo>
                  <a:pt x="57150" y="987332"/>
                  <a:pt x="44357" y="1000125"/>
                  <a:pt x="28575" y="1000125"/>
                </a:cubicBezTo>
                <a:lnTo>
                  <a:pt x="28575" y="1000125"/>
                </a:lnTo>
                <a:cubicBezTo>
                  <a:pt x="12793" y="1000125"/>
                  <a:pt x="0" y="987332"/>
                  <a:pt x="0" y="971550"/>
                </a:cubicBezTo>
                <a:lnTo>
                  <a:pt x="0" y="28575"/>
                </a:lnTo>
                <a:cubicBezTo>
                  <a:pt x="0" y="12793"/>
                  <a:pt x="12793" y="0"/>
                  <a:pt x="28575" y="0"/>
                </a:cubicBezTo>
                <a:close/>
              </a:path>
            </a:pathLst>
          </a:custGeom>
          <a:solidFill>
            <a:srgbClr val="0066CC"/>
          </a:solidFill>
          <a:ln>
            <a:noFill/>
          </a:ln>
        </p:spPr>
      </p:sp>
      <p:sp>
        <p:nvSpPr>
          <p:cNvPr id="19" name="TextBox 19"/>
          <p:cNvSpPr txBox="1"/>
          <p:nvPr/>
        </p:nvSpPr>
        <p:spPr>
          <a:xfrm>
            <a:off x="4463415" y="1458278"/>
            <a:ext cx="1870350" cy="213360"/>
          </a:xfrm>
          <a:prstGeom prst="rect">
            <a:avLst/>
          </a:prstGeom>
          <a:noFill/>
          <a:ln>
            <a:noFill/>
          </a:ln>
        </p:spPr>
        <p:txBody>
          <a:bodyPr wrap="none" lIns="0" tIns="0" rIns="0" bIns="0" anchor="t" anchorCtr="0">
            <a:spAutoFit/>
          </a:bodyPr>
          <a:lstStyle/>
          <a:p>
            <a:pPr algn="l"/>
            <a:r>
              <a:rPr lang="zh-CN" sz="1050" b="1" dirty="0">
                <a:solidFill>
                  <a:srgbClr val="64748B"/>
                </a:solidFill>
                <a:latin typeface="Arial" panose="020B0704020202020204"/>
                <a:ea typeface="Arial" panose="020B0704020202020204"/>
                <a:cs typeface="Arial" panose="020B0704020202020204"/>
              </a:rPr>
              <a:t>ĐỘ PHỦ VAI TRÒ NGHIỆP VỤ</a:t>
            </a:r>
            <a:endParaRPr lang="zh-CN" sz="1050" b="1" dirty="0">
              <a:solidFill>
                <a:srgbClr val="64748B"/>
              </a:solidFill>
              <a:latin typeface="Arial" panose="020B0704020202020204"/>
              <a:ea typeface="Arial" panose="020B0704020202020204"/>
              <a:cs typeface="Arial" panose="020B0704020202020204"/>
            </a:endParaRPr>
          </a:p>
        </p:txBody>
      </p:sp>
      <p:sp>
        <p:nvSpPr>
          <p:cNvPr id="20" name="TextBox 20"/>
          <p:cNvSpPr txBox="1"/>
          <p:nvPr/>
        </p:nvSpPr>
        <p:spPr>
          <a:xfrm>
            <a:off x="4440555" y="1692592"/>
            <a:ext cx="1055763" cy="579120"/>
          </a:xfrm>
          <a:prstGeom prst="rect">
            <a:avLst/>
          </a:prstGeom>
          <a:noFill/>
          <a:ln>
            <a:noFill/>
          </a:ln>
        </p:spPr>
        <p:txBody>
          <a:bodyPr wrap="none" lIns="0" tIns="0" rIns="0" bIns="0" anchor="t" anchorCtr="0">
            <a:spAutoFit/>
          </a:bodyPr>
          <a:lstStyle/>
          <a:p>
            <a:pPr algn="l"/>
            <a:r>
              <a:rPr lang="zh-CN" sz="2850" b="1" dirty="0">
                <a:solidFill>
                  <a:srgbClr val="0066CC"/>
                </a:solidFill>
                <a:latin typeface="Arial" panose="020B0704020202020204"/>
                <a:ea typeface="Arial" panose="020B0704020202020204"/>
                <a:cs typeface="Arial" panose="020B0704020202020204"/>
              </a:rPr>
              <a:t>3 / 3</a:t>
            </a:r>
            <a:endParaRPr lang="zh-CN" sz="2850" b="1" dirty="0">
              <a:solidFill>
                <a:srgbClr val="0066CC"/>
              </a:solidFill>
              <a:latin typeface="Arial" panose="020B0704020202020204"/>
              <a:ea typeface="Arial" panose="020B0704020202020204"/>
              <a:cs typeface="Arial" panose="020B0704020202020204"/>
            </a:endParaRPr>
          </a:p>
        </p:txBody>
      </p:sp>
      <p:sp>
        <p:nvSpPr>
          <p:cNvPr id="21" name="TextBox 21"/>
          <p:cNvSpPr txBox="1"/>
          <p:nvPr/>
        </p:nvSpPr>
        <p:spPr>
          <a:xfrm>
            <a:off x="5605462" y="1878806"/>
            <a:ext cx="606522" cy="228600"/>
          </a:xfrm>
          <a:prstGeom prst="rect">
            <a:avLst/>
          </a:prstGeom>
          <a:noFill/>
          <a:ln>
            <a:noFill/>
          </a:ln>
        </p:spPr>
        <p:txBody>
          <a:bodyPr wrap="none" lIns="0" tIns="0" rIns="0" bIns="0" anchor="t" anchorCtr="0">
            <a:spAutoFit/>
          </a:bodyPr>
          <a:lstStyle/>
          <a:p>
            <a:pPr algn="l"/>
            <a:r>
              <a:rPr lang="zh-CN" sz="1125" b="1" dirty="0">
                <a:solidFill>
                  <a:srgbClr val="1D4ED8"/>
                </a:solidFill>
                <a:latin typeface="Arial" panose="020B0704020202020204"/>
                <a:ea typeface="Arial" panose="020B0704020202020204"/>
                <a:cs typeface="Arial" panose="020B0704020202020204"/>
              </a:rPr>
              <a:t>VAI TRÒ</a:t>
            </a:r>
            <a:endParaRPr lang="zh-CN" sz="1125" b="1" dirty="0">
              <a:solidFill>
                <a:srgbClr val="1D4ED8"/>
              </a:solidFill>
              <a:latin typeface="Arial" panose="020B0704020202020204"/>
              <a:ea typeface="Arial" panose="020B0704020202020204"/>
              <a:cs typeface="Arial" panose="020B0704020202020204"/>
            </a:endParaRPr>
          </a:p>
        </p:txBody>
      </p:sp>
      <p:sp>
        <p:nvSpPr>
          <p:cNvPr id="22" name="TextBox 22"/>
          <p:cNvSpPr txBox="1"/>
          <p:nvPr/>
        </p:nvSpPr>
        <p:spPr>
          <a:xfrm>
            <a:off x="4465320" y="2093595"/>
            <a:ext cx="2171986" cy="182880"/>
          </a:xfrm>
          <a:prstGeom prst="rect">
            <a:avLst/>
          </a:prstGeom>
          <a:noFill/>
          <a:ln>
            <a:noFill/>
          </a:ln>
        </p:spPr>
        <p:txBody>
          <a:bodyPr wrap="none" lIns="0" tIns="0" rIns="0" bIns="0" anchor="t" anchorCtr="0">
            <a:spAutoFit/>
          </a:bodyPr>
          <a:lstStyle/>
          <a:p>
            <a:pPr algn="l"/>
            <a:r>
              <a:rPr lang="zh-CN" sz="900" dirty="0">
                <a:solidFill>
                  <a:srgbClr val="475569"/>
                </a:solidFill>
                <a:latin typeface="Arial" panose="020B0704020202020204"/>
                <a:ea typeface="Arial" panose="020B0704020202020204"/>
                <a:cs typeface="Arial" panose="020B0704020202020204"/>
              </a:rPr>
              <a:t>Khách hàng, Tài xế, Quản trị viên</a:t>
            </a:r>
            <a:endParaRPr lang="zh-CN" sz="900" dirty="0">
              <a:solidFill>
                <a:srgbClr val="475569"/>
              </a:solidFill>
              <a:latin typeface="Arial" panose="020B0704020202020204"/>
              <a:ea typeface="Arial" panose="020B0704020202020204"/>
              <a:cs typeface="Arial" panose="020B0704020202020204"/>
            </a:endParaRPr>
          </a:p>
        </p:txBody>
      </p:sp>
      <p:sp>
        <p:nvSpPr>
          <p:cNvPr id="23" name="Freeform 23"/>
          <p:cNvSpPr/>
          <p:nvPr/>
        </p:nvSpPr>
        <p:spPr>
          <a:xfrm>
            <a:off x="8191500" y="1285875"/>
            <a:ext cx="3619500" cy="1000125"/>
          </a:xfrm>
          <a:custGeom>
            <a:avLst/>
            <a:gdLst/>
            <a:ahLst/>
            <a:cxnLst/>
            <a:rect l="l" t="t" r="r" b="b"/>
            <a:pathLst>
              <a:path w="3619500" h="1000125">
                <a:moveTo>
                  <a:pt x="76200" y="0"/>
                </a:moveTo>
                <a:lnTo>
                  <a:pt x="3543300" y="0"/>
                </a:lnTo>
                <a:cubicBezTo>
                  <a:pt x="3585384" y="0"/>
                  <a:pt x="3619500" y="34116"/>
                  <a:pt x="3619500" y="76200"/>
                </a:cubicBezTo>
                <a:lnTo>
                  <a:pt x="3619500" y="923925"/>
                </a:lnTo>
                <a:cubicBezTo>
                  <a:pt x="3619500" y="966009"/>
                  <a:pt x="3585384" y="1000125"/>
                  <a:pt x="3543300" y="1000125"/>
                </a:cubicBezTo>
                <a:lnTo>
                  <a:pt x="76200" y="1000125"/>
                </a:lnTo>
                <a:cubicBezTo>
                  <a:pt x="34116" y="1000125"/>
                  <a:pt x="0" y="966009"/>
                  <a:pt x="0" y="923925"/>
                </a:cubicBezTo>
                <a:lnTo>
                  <a:pt x="0" y="76200"/>
                </a:lnTo>
                <a:cubicBezTo>
                  <a:pt x="0" y="34116"/>
                  <a:pt x="34116" y="0"/>
                  <a:pt x="76200" y="0"/>
                </a:cubicBezTo>
                <a:close/>
              </a:path>
            </a:pathLst>
          </a:custGeom>
          <a:solidFill>
            <a:srgbClr val="FFFFFF"/>
          </a:solidFill>
          <a:ln w="14288">
            <a:solidFill>
              <a:srgbClr val="E2E8F0"/>
            </a:solidFill>
          </a:ln>
        </p:spPr>
      </p:sp>
      <p:sp>
        <p:nvSpPr>
          <p:cNvPr id="24" name="Freeform 24"/>
          <p:cNvSpPr/>
          <p:nvPr/>
        </p:nvSpPr>
        <p:spPr>
          <a:xfrm>
            <a:off x="8191500" y="1285875"/>
            <a:ext cx="57150" cy="1000125"/>
          </a:xfrm>
          <a:custGeom>
            <a:avLst/>
            <a:gdLst/>
            <a:ahLst/>
            <a:cxnLst/>
            <a:rect l="l" t="t" r="r" b="b"/>
            <a:pathLst>
              <a:path w="57150" h="1000125">
                <a:moveTo>
                  <a:pt x="28575" y="0"/>
                </a:moveTo>
                <a:lnTo>
                  <a:pt x="28575" y="0"/>
                </a:lnTo>
                <a:cubicBezTo>
                  <a:pt x="44357" y="0"/>
                  <a:pt x="57150" y="12793"/>
                  <a:pt x="57150" y="28575"/>
                </a:cubicBezTo>
                <a:lnTo>
                  <a:pt x="57150" y="971550"/>
                </a:lnTo>
                <a:cubicBezTo>
                  <a:pt x="57150" y="987332"/>
                  <a:pt x="44357" y="1000125"/>
                  <a:pt x="28575" y="1000125"/>
                </a:cubicBezTo>
                <a:lnTo>
                  <a:pt x="28575" y="1000125"/>
                </a:lnTo>
                <a:cubicBezTo>
                  <a:pt x="12793" y="1000125"/>
                  <a:pt x="0" y="987332"/>
                  <a:pt x="0" y="971550"/>
                </a:cubicBezTo>
                <a:lnTo>
                  <a:pt x="0" y="28575"/>
                </a:lnTo>
                <a:cubicBezTo>
                  <a:pt x="0" y="12793"/>
                  <a:pt x="12793" y="0"/>
                  <a:pt x="28575" y="0"/>
                </a:cubicBezTo>
                <a:close/>
              </a:path>
            </a:pathLst>
          </a:custGeom>
          <a:solidFill>
            <a:srgbClr val="E65100"/>
          </a:solidFill>
          <a:ln>
            <a:noFill/>
          </a:ln>
        </p:spPr>
      </p:sp>
      <p:sp>
        <p:nvSpPr>
          <p:cNvPr id="25" name="TextBox 25"/>
          <p:cNvSpPr txBox="1"/>
          <p:nvPr/>
        </p:nvSpPr>
        <p:spPr>
          <a:xfrm>
            <a:off x="8368665" y="1458278"/>
            <a:ext cx="2055524" cy="213360"/>
          </a:xfrm>
          <a:prstGeom prst="rect">
            <a:avLst/>
          </a:prstGeom>
          <a:noFill/>
          <a:ln>
            <a:noFill/>
          </a:ln>
        </p:spPr>
        <p:txBody>
          <a:bodyPr wrap="none" lIns="0" tIns="0" rIns="0" bIns="0" anchor="t" anchorCtr="0">
            <a:spAutoFit/>
          </a:bodyPr>
          <a:lstStyle/>
          <a:p>
            <a:pPr algn="l"/>
            <a:r>
              <a:rPr lang="zh-CN" sz="1050" b="1" dirty="0">
                <a:solidFill>
                  <a:srgbClr val="64748B"/>
                </a:solidFill>
                <a:latin typeface="Arial" panose="020B0704020202020204"/>
                <a:ea typeface="Arial" panose="020B0704020202020204"/>
                <a:cs typeface="Arial" panose="020B0704020202020204"/>
              </a:rPr>
              <a:t>LỖI XUNG ĐỘT GHI ĐÈ DỮ LIỆU</a:t>
            </a:r>
            <a:endParaRPr lang="zh-CN" sz="1050" b="1" dirty="0">
              <a:solidFill>
                <a:srgbClr val="64748B"/>
              </a:solidFill>
              <a:latin typeface="Arial" panose="020B0704020202020204"/>
              <a:ea typeface="Arial" panose="020B0704020202020204"/>
              <a:cs typeface="Arial" panose="020B0704020202020204"/>
            </a:endParaRPr>
          </a:p>
        </p:txBody>
      </p:sp>
      <p:sp>
        <p:nvSpPr>
          <p:cNvPr id="26" name="TextBox 26"/>
          <p:cNvSpPr txBox="1"/>
          <p:nvPr/>
        </p:nvSpPr>
        <p:spPr>
          <a:xfrm>
            <a:off x="8345805" y="1692592"/>
            <a:ext cx="1055763" cy="579120"/>
          </a:xfrm>
          <a:prstGeom prst="rect">
            <a:avLst/>
          </a:prstGeom>
          <a:noFill/>
          <a:ln>
            <a:noFill/>
          </a:ln>
        </p:spPr>
        <p:txBody>
          <a:bodyPr wrap="none" lIns="0" tIns="0" rIns="0" bIns="0" anchor="t" anchorCtr="0">
            <a:spAutoFit/>
          </a:bodyPr>
          <a:lstStyle/>
          <a:p>
            <a:pPr algn="l"/>
            <a:r>
              <a:rPr lang="zh-CN" sz="2850" b="1" dirty="0">
                <a:solidFill>
                  <a:srgbClr val="E65100"/>
                </a:solidFill>
                <a:latin typeface="Arial" panose="020B0704020202020204"/>
                <a:ea typeface="Arial" panose="020B0704020202020204"/>
                <a:cs typeface="Arial" panose="020B0704020202020204"/>
              </a:rPr>
              <a:t>0 LỖI</a:t>
            </a:r>
            <a:endParaRPr lang="zh-CN" sz="2850" b="1" dirty="0">
              <a:solidFill>
                <a:srgbClr val="E65100"/>
              </a:solidFill>
              <a:latin typeface="Arial" panose="020B0704020202020204"/>
              <a:ea typeface="Arial" panose="020B0704020202020204"/>
              <a:cs typeface="Arial" panose="020B0704020202020204"/>
            </a:endParaRPr>
          </a:p>
        </p:txBody>
      </p:sp>
      <p:sp>
        <p:nvSpPr>
          <p:cNvPr id="27" name="TextBox 27"/>
          <p:cNvSpPr txBox="1"/>
          <p:nvPr/>
        </p:nvSpPr>
        <p:spPr>
          <a:xfrm>
            <a:off x="9605962" y="1878806"/>
            <a:ext cx="873931" cy="228600"/>
          </a:xfrm>
          <a:prstGeom prst="rect">
            <a:avLst/>
          </a:prstGeom>
          <a:noFill/>
          <a:ln>
            <a:noFill/>
          </a:ln>
        </p:spPr>
        <p:txBody>
          <a:bodyPr wrap="none" lIns="0" tIns="0" rIns="0" bIns="0" anchor="t" anchorCtr="0">
            <a:spAutoFit/>
          </a:bodyPr>
          <a:lstStyle/>
          <a:p>
            <a:pPr algn="l"/>
            <a:r>
              <a:rPr lang="zh-CN" sz="1125" b="1" dirty="0">
                <a:solidFill>
                  <a:srgbClr val="C2410C"/>
                </a:solidFill>
                <a:latin typeface="Arial" panose="020B0704020202020204"/>
                <a:ea typeface="Arial" panose="020B0704020202020204"/>
                <a:cs typeface="Arial" panose="020B0704020202020204"/>
              </a:rPr>
              <a:t>ZERO RACE</a:t>
            </a:r>
            <a:endParaRPr lang="zh-CN" sz="1125" b="1" dirty="0">
              <a:solidFill>
                <a:srgbClr val="C2410C"/>
              </a:solidFill>
              <a:latin typeface="Arial" panose="020B0704020202020204"/>
              <a:ea typeface="Arial" panose="020B0704020202020204"/>
              <a:cs typeface="Arial" panose="020B0704020202020204"/>
            </a:endParaRPr>
          </a:p>
        </p:txBody>
      </p:sp>
      <p:sp>
        <p:nvSpPr>
          <p:cNvPr id="28" name="TextBox 28"/>
          <p:cNvSpPr txBox="1"/>
          <p:nvPr/>
        </p:nvSpPr>
        <p:spPr>
          <a:xfrm>
            <a:off x="8370570" y="2093595"/>
            <a:ext cx="1909096" cy="182880"/>
          </a:xfrm>
          <a:prstGeom prst="rect">
            <a:avLst/>
          </a:prstGeom>
          <a:noFill/>
          <a:ln>
            <a:noFill/>
          </a:ln>
        </p:spPr>
        <p:txBody>
          <a:bodyPr wrap="none" lIns="0" tIns="0" rIns="0" bIns="0" anchor="t" anchorCtr="0">
            <a:spAutoFit/>
          </a:bodyPr>
          <a:lstStyle/>
          <a:p>
            <a:pPr algn="l"/>
            <a:r>
              <a:rPr lang="zh-CN" sz="900" dirty="0">
                <a:solidFill>
                  <a:srgbClr val="475569"/>
                </a:solidFill>
                <a:latin typeface="Arial" panose="020B0704020202020204"/>
                <a:ea typeface="Arial" panose="020B0704020202020204"/>
                <a:cs typeface="Arial" panose="020B0704020202020204"/>
              </a:rPr>
              <a:t>Bảo vệ qua Optimistic Locking</a:t>
            </a:r>
            <a:endParaRPr lang="zh-CN" sz="900" dirty="0">
              <a:solidFill>
                <a:srgbClr val="475569"/>
              </a:solidFill>
              <a:latin typeface="Arial" panose="020B0704020202020204"/>
              <a:ea typeface="Arial" panose="020B0704020202020204"/>
              <a:cs typeface="Arial" panose="020B0704020202020204"/>
            </a:endParaRPr>
          </a:p>
        </p:txBody>
      </p:sp>
      <p:sp>
        <p:nvSpPr>
          <p:cNvPr id="29" name="Freeform 29"/>
          <p:cNvSpPr/>
          <p:nvPr/>
        </p:nvSpPr>
        <p:spPr>
          <a:xfrm>
            <a:off x="381000" y="2428875"/>
            <a:ext cx="5572125" cy="3714750"/>
          </a:xfrm>
          <a:custGeom>
            <a:avLst/>
            <a:gdLst/>
            <a:ahLst/>
            <a:cxnLst/>
            <a:rect l="l" t="t" r="r" b="b"/>
            <a:pathLst>
              <a:path w="5572125" h="3714750">
                <a:moveTo>
                  <a:pt x="95250" y="0"/>
                </a:moveTo>
                <a:lnTo>
                  <a:pt x="5476875" y="0"/>
                </a:lnTo>
                <a:cubicBezTo>
                  <a:pt x="5529480" y="0"/>
                  <a:pt x="5572125" y="42645"/>
                  <a:pt x="5572125" y="95250"/>
                </a:cubicBezTo>
                <a:lnTo>
                  <a:pt x="5572125" y="3619500"/>
                </a:lnTo>
                <a:cubicBezTo>
                  <a:pt x="5572125" y="3672105"/>
                  <a:pt x="5529480" y="3714750"/>
                  <a:pt x="5476875" y="3714750"/>
                </a:cubicBezTo>
                <a:lnTo>
                  <a:pt x="95250" y="3714750"/>
                </a:lnTo>
                <a:cubicBezTo>
                  <a:pt x="42645" y="3714750"/>
                  <a:pt x="0" y="3672105"/>
                  <a:pt x="0" y="3619500"/>
                </a:cubicBezTo>
                <a:lnTo>
                  <a:pt x="0" y="95250"/>
                </a:lnTo>
                <a:cubicBezTo>
                  <a:pt x="0" y="42645"/>
                  <a:pt x="42645" y="0"/>
                  <a:pt x="95250" y="0"/>
                </a:cubicBezTo>
                <a:close/>
              </a:path>
            </a:pathLst>
          </a:custGeom>
          <a:solidFill>
            <a:srgbClr val="FFFFFF"/>
          </a:solidFill>
          <a:ln w="14288">
            <a:solidFill>
              <a:srgbClr val="E2E8F0"/>
            </a:solidFill>
          </a:ln>
        </p:spPr>
      </p:sp>
      <p:sp>
        <p:nvSpPr>
          <p:cNvPr id="30" name="Freeform 30"/>
          <p:cNvSpPr/>
          <p:nvPr/>
        </p:nvSpPr>
        <p:spPr>
          <a:xfrm>
            <a:off x="381000" y="2428875"/>
            <a:ext cx="5572125" cy="400050"/>
          </a:xfrm>
          <a:custGeom>
            <a:avLst/>
            <a:gdLst/>
            <a:ahLst/>
            <a:cxnLst/>
            <a:rect l="l" t="t" r="r" b="b"/>
            <a:pathLst>
              <a:path w="5572125" h="400050">
                <a:moveTo>
                  <a:pt x="95250" y="0"/>
                </a:moveTo>
                <a:lnTo>
                  <a:pt x="5476875" y="0"/>
                </a:lnTo>
                <a:cubicBezTo>
                  <a:pt x="5529480" y="0"/>
                  <a:pt x="5572125" y="42645"/>
                  <a:pt x="5572125" y="95250"/>
                </a:cubicBezTo>
                <a:lnTo>
                  <a:pt x="5572125" y="304800"/>
                </a:lnTo>
                <a:cubicBezTo>
                  <a:pt x="5572125" y="357405"/>
                  <a:pt x="5529480" y="400050"/>
                  <a:pt x="5476875" y="400050"/>
                </a:cubicBezTo>
                <a:lnTo>
                  <a:pt x="95250" y="400050"/>
                </a:lnTo>
                <a:cubicBezTo>
                  <a:pt x="42645" y="400050"/>
                  <a:pt x="0" y="357405"/>
                  <a:pt x="0" y="304800"/>
                </a:cubicBezTo>
                <a:lnTo>
                  <a:pt x="0" y="95250"/>
                </a:lnTo>
                <a:cubicBezTo>
                  <a:pt x="0" y="42645"/>
                  <a:pt x="42645" y="0"/>
                  <a:pt x="95250" y="0"/>
                </a:cubicBezTo>
                <a:close/>
              </a:path>
            </a:pathLst>
          </a:custGeom>
          <a:solidFill>
            <a:srgbClr val="F1F5F9"/>
          </a:solidFill>
          <a:ln>
            <a:noFill/>
          </a:ln>
        </p:spPr>
      </p:sp>
      <p:sp>
        <p:nvSpPr>
          <p:cNvPr id="31" name="Freeform 31"/>
          <p:cNvSpPr/>
          <p:nvPr/>
        </p:nvSpPr>
        <p:spPr>
          <a:xfrm>
            <a:off x="571500" y="2533650"/>
            <a:ext cx="190500" cy="190500"/>
          </a:xfrm>
          <a:custGeom>
            <a:avLst/>
            <a:gdLst/>
            <a:ahLst/>
            <a:cxnLst/>
            <a:rect l="l" t="t" r="r" b="b"/>
            <a:pathLst>
              <a:path w="190500" h="190500">
                <a:moveTo>
                  <a:pt x="95250" y="190500"/>
                </a:moveTo>
                <a:cubicBezTo>
                  <a:pt x="147855" y="190500"/>
                  <a:pt x="190500" y="147855"/>
                  <a:pt x="190500" y="95250"/>
                </a:cubicBezTo>
                <a:cubicBezTo>
                  <a:pt x="190500" y="42645"/>
                  <a:pt x="147855" y="0"/>
                  <a:pt x="95250" y="0"/>
                </a:cubicBezTo>
                <a:cubicBezTo>
                  <a:pt x="42645" y="0"/>
                  <a:pt x="0" y="42645"/>
                  <a:pt x="0" y="95250"/>
                </a:cubicBezTo>
                <a:cubicBezTo>
                  <a:pt x="0" y="147855"/>
                  <a:pt x="42645" y="190500"/>
                  <a:pt x="95250" y="190500"/>
                </a:cubicBezTo>
                <a:close/>
                <a:moveTo>
                  <a:pt x="151294" y="67950"/>
                </a:moveTo>
                <a:lnTo>
                  <a:pt x="134456" y="51112"/>
                </a:lnTo>
                <a:lnTo>
                  <a:pt x="77391" y="108178"/>
                </a:lnTo>
                <a:lnTo>
                  <a:pt x="56044" y="86831"/>
                </a:lnTo>
                <a:lnTo>
                  <a:pt x="39206" y="103669"/>
                </a:lnTo>
                <a:lnTo>
                  <a:pt x="77391" y="141853"/>
                </a:lnTo>
                <a:lnTo>
                  <a:pt x="151294" y="67950"/>
                </a:lnTo>
                <a:close/>
              </a:path>
            </a:pathLst>
          </a:custGeom>
          <a:solidFill>
            <a:srgbClr val="16A34A"/>
          </a:solidFill>
          <a:ln>
            <a:noFill/>
          </a:ln>
        </p:spPr>
      </p:sp>
      <p:sp>
        <p:nvSpPr>
          <p:cNvPr id="32" name="TextBox 32"/>
          <p:cNvSpPr txBox="1"/>
          <p:nvPr/>
        </p:nvSpPr>
        <p:spPr>
          <a:xfrm>
            <a:off x="842010" y="2556510"/>
            <a:ext cx="4502239" cy="243840"/>
          </a:xfrm>
          <a:prstGeom prst="rect">
            <a:avLst/>
          </a:prstGeom>
          <a:noFill/>
          <a:ln>
            <a:noFill/>
          </a:ln>
        </p:spPr>
        <p:txBody>
          <a:bodyPr wrap="none" lIns="0" tIns="0" rIns="0" bIns="0" anchor="t" anchorCtr="0">
            <a:spAutoFit/>
          </a:bodyPr>
          <a:lstStyle/>
          <a:p>
            <a:pPr algn="l"/>
            <a:r>
              <a:rPr lang="zh-CN" sz="1200" b="1" dirty="0">
                <a:solidFill>
                  <a:srgbClr val="003366"/>
                </a:solidFill>
                <a:latin typeface="Arial" panose="020B0704020202020204"/>
                <a:ea typeface="Arial" panose="020B0704020202020204"/>
                <a:cs typeface="Arial" panose="020B0704020202020204"/>
              </a:rPr>
              <a:t>Bảng tổng hợp 12 Test Cases giao diện (TC01 – TC12)</a:t>
            </a:r>
            <a:endParaRPr lang="zh-CN" sz="1200" b="1" dirty="0">
              <a:solidFill>
                <a:srgbClr val="003366"/>
              </a:solidFill>
              <a:latin typeface="Arial" panose="020B0704020202020204"/>
              <a:ea typeface="Arial" panose="020B0704020202020204"/>
              <a:cs typeface="Arial" panose="020B0704020202020204"/>
            </a:endParaRPr>
          </a:p>
        </p:txBody>
      </p:sp>
      <p:sp>
        <p:nvSpPr>
          <p:cNvPr id="33" name="Freeform 33"/>
          <p:cNvSpPr/>
          <p:nvPr/>
        </p:nvSpPr>
        <p:spPr>
          <a:xfrm>
            <a:off x="571500" y="2952750"/>
            <a:ext cx="5191125" cy="619125"/>
          </a:xfrm>
          <a:custGeom>
            <a:avLst/>
            <a:gdLst/>
            <a:ahLst/>
            <a:cxnLst/>
            <a:rect l="l" t="t" r="r" b="b"/>
            <a:pathLst>
              <a:path w="5191125" h="619125">
                <a:moveTo>
                  <a:pt x="57150" y="0"/>
                </a:moveTo>
                <a:lnTo>
                  <a:pt x="5133975" y="0"/>
                </a:lnTo>
                <a:cubicBezTo>
                  <a:pt x="5165538" y="0"/>
                  <a:pt x="5191125" y="25587"/>
                  <a:pt x="5191125" y="57150"/>
                </a:cubicBezTo>
                <a:lnTo>
                  <a:pt x="5191125" y="561975"/>
                </a:lnTo>
                <a:cubicBezTo>
                  <a:pt x="5191125" y="593538"/>
                  <a:pt x="5165538" y="619125"/>
                  <a:pt x="5133975" y="619125"/>
                </a:cubicBezTo>
                <a:lnTo>
                  <a:pt x="57150" y="619125"/>
                </a:lnTo>
                <a:cubicBezTo>
                  <a:pt x="25587" y="619125"/>
                  <a:pt x="0" y="593538"/>
                  <a:pt x="0" y="561975"/>
                </a:cubicBezTo>
                <a:lnTo>
                  <a:pt x="0" y="57150"/>
                </a:lnTo>
                <a:cubicBezTo>
                  <a:pt x="0" y="25587"/>
                  <a:pt x="25587" y="0"/>
                  <a:pt x="57150" y="0"/>
                </a:cubicBezTo>
                <a:close/>
              </a:path>
            </a:pathLst>
          </a:custGeom>
          <a:solidFill>
            <a:srgbClr val="F8FAFC"/>
          </a:solidFill>
          <a:ln w="9525">
            <a:solidFill>
              <a:srgbClr val="E2E8F0"/>
            </a:solidFill>
          </a:ln>
        </p:spPr>
      </p:sp>
      <p:sp>
        <p:nvSpPr>
          <p:cNvPr id="34" name="TextBox 34"/>
          <p:cNvSpPr txBox="1"/>
          <p:nvPr/>
        </p:nvSpPr>
        <p:spPr>
          <a:xfrm>
            <a:off x="701040" y="3058478"/>
            <a:ext cx="2892828" cy="213360"/>
          </a:xfrm>
          <a:prstGeom prst="rect">
            <a:avLst/>
          </a:prstGeom>
          <a:noFill/>
          <a:ln>
            <a:noFill/>
          </a:ln>
        </p:spPr>
        <p:txBody>
          <a:bodyPr wrap="none" lIns="0" tIns="0" rIns="0" bIns="0" anchor="t" anchorCtr="0">
            <a:spAutoFit/>
          </a:bodyPr>
          <a:lstStyle/>
          <a:p>
            <a:pPr algn="l"/>
            <a:r>
              <a:rPr lang="zh-CN" sz="1050" b="1" dirty="0">
                <a:solidFill>
                  <a:srgbClr val="003366"/>
                </a:solidFill>
                <a:latin typeface="Arial" panose="020B0704020202020204"/>
                <a:ea typeface="Arial" panose="020B0704020202020204"/>
                <a:cs typeface="Arial" panose="020B0704020202020204"/>
              </a:rPr>
              <a:t>TC01 - TC03: Xác thực &amp; Quản lý phiên</a:t>
            </a:r>
            <a:endParaRPr lang="zh-CN" sz="1050" b="1" dirty="0">
              <a:solidFill>
                <a:srgbClr val="003366"/>
              </a:solidFill>
              <a:latin typeface="Arial" panose="020B0704020202020204"/>
              <a:ea typeface="Arial" panose="020B0704020202020204"/>
              <a:cs typeface="Arial" panose="020B0704020202020204"/>
            </a:endParaRPr>
          </a:p>
        </p:txBody>
      </p:sp>
      <p:sp>
        <p:nvSpPr>
          <p:cNvPr id="35" name="Freeform 35"/>
          <p:cNvSpPr/>
          <p:nvPr/>
        </p:nvSpPr>
        <p:spPr>
          <a:xfrm>
            <a:off x="4953000" y="3095625"/>
            <a:ext cx="666750" cy="247650"/>
          </a:xfrm>
          <a:custGeom>
            <a:avLst/>
            <a:gdLst/>
            <a:ahLst/>
            <a:cxnLst/>
            <a:rect l="l" t="t" r="r" b="b"/>
            <a:pathLst>
              <a:path w="666750" h="247650">
                <a:moveTo>
                  <a:pt x="38100" y="0"/>
                </a:moveTo>
                <a:lnTo>
                  <a:pt x="628650" y="0"/>
                </a:lnTo>
                <a:cubicBezTo>
                  <a:pt x="649692" y="0"/>
                  <a:pt x="666750" y="17058"/>
                  <a:pt x="666750" y="38100"/>
                </a:cubicBezTo>
                <a:lnTo>
                  <a:pt x="666750" y="209550"/>
                </a:lnTo>
                <a:cubicBezTo>
                  <a:pt x="666750" y="230592"/>
                  <a:pt x="649692" y="247650"/>
                  <a:pt x="628650" y="247650"/>
                </a:cubicBezTo>
                <a:lnTo>
                  <a:pt x="38100" y="247650"/>
                </a:lnTo>
                <a:cubicBezTo>
                  <a:pt x="17058" y="247650"/>
                  <a:pt x="0" y="230592"/>
                  <a:pt x="0" y="209550"/>
                </a:cubicBezTo>
                <a:lnTo>
                  <a:pt x="0" y="38100"/>
                </a:lnTo>
                <a:cubicBezTo>
                  <a:pt x="0" y="17058"/>
                  <a:pt x="17058" y="0"/>
                  <a:pt x="38100" y="0"/>
                </a:cubicBezTo>
                <a:close/>
              </a:path>
            </a:pathLst>
          </a:custGeom>
          <a:solidFill>
            <a:srgbClr val="DCFCE7"/>
          </a:solidFill>
          <a:ln>
            <a:noFill/>
          </a:ln>
        </p:spPr>
      </p:sp>
      <p:sp>
        <p:nvSpPr>
          <p:cNvPr id="36" name="TextBox 36"/>
          <p:cNvSpPr txBox="1"/>
          <p:nvPr/>
        </p:nvSpPr>
        <p:spPr>
          <a:xfrm>
            <a:off x="5047217" y="3160395"/>
            <a:ext cx="478317" cy="182880"/>
          </a:xfrm>
          <a:prstGeom prst="rect">
            <a:avLst/>
          </a:prstGeom>
          <a:noFill/>
          <a:ln>
            <a:noFill/>
          </a:ln>
        </p:spPr>
        <p:txBody>
          <a:bodyPr wrap="none" lIns="0" tIns="0" rIns="0" bIns="0" anchor="t" anchorCtr="0">
            <a:spAutoFit/>
          </a:bodyPr>
          <a:lstStyle/>
          <a:p>
            <a:pPr algn="ctr"/>
            <a:r>
              <a:rPr lang="zh-CN" sz="900" b="1" dirty="0">
                <a:solidFill>
                  <a:srgbClr val="166534"/>
                </a:solidFill>
                <a:latin typeface="Arial" panose="020B0704020202020204"/>
                <a:ea typeface="Arial" panose="020B0704020202020204"/>
                <a:cs typeface="Arial" panose="020B0704020202020204"/>
              </a:rPr>
              <a:t>PASSED</a:t>
            </a:r>
            <a:endParaRPr lang="zh-CN" sz="900" b="1" dirty="0">
              <a:solidFill>
                <a:srgbClr val="166534"/>
              </a:solidFill>
              <a:latin typeface="Arial" panose="020B0704020202020204"/>
              <a:ea typeface="Arial" panose="020B0704020202020204"/>
              <a:cs typeface="Arial" panose="020B0704020202020204"/>
            </a:endParaRPr>
          </a:p>
        </p:txBody>
      </p:sp>
      <p:sp>
        <p:nvSpPr>
          <p:cNvPr id="37" name="TextBox 37"/>
          <p:cNvSpPr txBox="1"/>
          <p:nvPr/>
        </p:nvSpPr>
        <p:spPr>
          <a:xfrm>
            <a:off x="701992" y="3304699"/>
            <a:ext cx="5200960"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panose="020B0704020202020204"/>
                <a:ea typeface="Arial" panose="020B0704020202020204"/>
                <a:cs typeface="Arial" panose="020B0704020202020204"/>
              </a:rPr>
              <a:t>• Đăng ký tài khoản mới, Đăng nhập nhận JWT, Tự động điều hướng theo Role.</a:t>
            </a:r>
            <a:endParaRPr lang="zh-CN" sz="975" dirty="0">
              <a:solidFill>
                <a:srgbClr val="475569"/>
              </a:solidFill>
              <a:latin typeface="Arial" panose="020B0704020202020204"/>
              <a:ea typeface="Arial" panose="020B0704020202020204"/>
              <a:cs typeface="Arial" panose="020B0704020202020204"/>
            </a:endParaRPr>
          </a:p>
        </p:txBody>
      </p:sp>
      <p:sp>
        <p:nvSpPr>
          <p:cNvPr id="38" name="Freeform 38"/>
          <p:cNvSpPr/>
          <p:nvPr/>
        </p:nvSpPr>
        <p:spPr>
          <a:xfrm>
            <a:off x="571500" y="3667125"/>
            <a:ext cx="5191125" cy="714375"/>
          </a:xfrm>
          <a:custGeom>
            <a:avLst/>
            <a:gdLst/>
            <a:ahLst/>
            <a:cxnLst/>
            <a:rect l="l" t="t" r="r" b="b"/>
            <a:pathLst>
              <a:path w="5191125" h="714375">
                <a:moveTo>
                  <a:pt x="57150" y="0"/>
                </a:moveTo>
                <a:lnTo>
                  <a:pt x="5133975" y="0"/>
                </a:lnTo>
                <a:cubicBezTo>
                  <a:pt x="5165538" y="0"/>
                  <a:pt x="5191125" y="25587"/>
                  <a:pt x="5191125" y="57150"/>
                </a:cubicBezTo>
                <a:lnTo>
                  <a:pt x="5191125" y="657225"/>
                </a:lnTo>
                <a:cubicBezTo>
                  <a:pt x="5191125" y="688788"/>
                  <a:pt x="5165538" y="714375"/>
                  <a:pt x="5133975" y="714375"/>
                </a:cubicBezTo>
                <a:lnTo>
                  <a:pt x="57150" y="714375"/>
                </a:lnTo>
                <a:cubicBezTo>
                  <a:pt x="25587" y="714375"/>
                  <a:pt x="0" y="688788"/>
                  <a:pt x="0" y="657225"/>
                </a:cubicBezTo>
                <a:lnTo>
                  <a:pt x="0" y="57150"/>
                </a:lnTo>
                <a:cubicBezTo>
                  <a:pt x="0" y="25587"/>
                  <a:pt x="25587" y="0"/>
                  <a:pt x="57150" y="0"/>
                </a:cubicBezTo>
                <a:close/>
              </a:path>
            </a:pathLst>
          </a:custGeom>
          <a:solidFill>
            <a:srgbClr val="F8FAFC"/>
          </a:solidFill>
          <a:ln w="9525">
            <a:solidFill>
              <a:srgbClr val="E2E8F0"/>
            </a:solidFill>
          </a:ln>
        </p:spPr>
      </p:sp>
      <p:sp>
        <p:nvSpPr>
          <p:cNvPr id="39" name="TextBox 39"/>
          <p:cNvSpPr txBox="1"/>
          <p:nvPr/>
        </p:nvSpPr>
        <p:spPr>
          <a:xfrm>
            <a:off x="701040" y="3772852"/>
            <a:ext cx="3343685" cy="213360"/>
          </a:xfrm>
          <a:prstGeom prst="rect">
            <a:avLst/>
          </a:prstGeom>
          <a:noFill/>
          <a:ln>
            <a:noFill/>
          </a:ln>
        </p:spPr>
        <p:txBody>
          <a:bodyPr wrap="none" lIns="0" tIns="0" rIns="0" bIns="0" anchor="t" anchorCtr="0">
            <a:spAutoFit/>
          </a:bodyPr>
          <a:lstStyle/>
          <a:p>
            <a:pPr algn="l"/>
            <a:r>
              <a:rPr lang="zh-CN" sz="1050" b="1" dirty="0">
                <a:solidFill>
                  <a:srgbClr val="003366"/>
                </a:solidFill>
                <a:latin typeface="Arial" panose="020B0704020202020204"/>
                <a:ea typeface="Arial" panose="020B0704020202020204"/>
                <a:cs typeface="Arial" panose="020B0704020202020204"/>
              </a:rPr>
              <a:t>TC04 - TC07: Nghiệp vụ Khách hàng (Client)</a:t>
            </a:r>
            <a:endParaRPr lang="zh-CN" sz="1050" b="1" dirty="0">
              <a:solidFill>
                <a:srgbClr val="003366"/>
              </a:solidFill>
              <a:latin typeface="Arial" panose="020B0704020202020204"/>
              <a:ea typeface="Arial" panose="020B0704020202020204"/>
              <a:cs typeface="Arial" panose="020B0704020202020204"/>
            </a:endParaRPr>
          </a:p>
        </p:txBody>
      </p:sp>
      <p:sp>
        <p:nvSpPr>
          <p:cNvPr id="40" name="Freeform 40"/>
          <p:cNvSpPr/>
          <p:nvPr/>
        </p:nvSpPr>
        <p:spPr>
          <a:xfrm>
            <a:off x="4953000" y="3810000"/>
            <a:ext cx="666750" cy="247650"/>
          </a:xfrm>
          <a:custGeom>
            <a:avLst/>
            <a:gdLst/>
            <a:ahLst/>
            <a:cxnLst/>
            <a:rect l="l" t="t" r="r" b="b"/>
            <a:pathLst>
              <a:path w="666750" h="247650">
                <a:moveTo>
                  <a:pt x="38100" y="0"/>
                </a:moveTo>
                <a:lnTo>
                  <a:pt x="628650" y="0"/>
                </a:lnTo>
                <a:cubicBezTo>
                  <a:pt x="649692" y="0"/>
                  <a:pt x="666750" y="17058"/>
                  <a:pt x="666750" y="38100"/>
                </a:cubicBezTo>
                <a:lnTo>
                  <a:pt x="666750" y="209550"/>
                </a:lnTo>
                <a:cubicBezTo>
                  <a:pt x="666750" y="230592"/>
                  <a:pt x="649692" y="247650"/>
                  <a:pt x="628650" y="247650"/>
                </a:cubicBezTo>
                <a:lnTo>
                  <a:pt x="38100" y="247650"/>
                </a:lnTo>
                <a:cubicBezTo>
                  <a:pt x="17058" y="247650"/>
                  <a:pt x="0" y="230592"/>
                  <a:pt x="0" y="209550"/>
                </a:cubicBezTo>
                <a:lnTo>
                  <a:pt x="0" y="38100"/>
                </a:lnTo>
                <a:cubicBezTo>
                  <a:pt x="0" y="17058"/>
                  <a:pt x="17058" y="0"/>
                  <a:pt x="38100" y="0"/>
                </a:cubicBezTo>
                <a:close/>
              </a:path>
            </a:pathLst>
          </a:custGeom>
          <a:solidFill>
            <a:srgbClr val="DCFCE7"/>
          </a:solidFill>
          <a:ln>
            <a:noFill/>
          </a:ln>
        </p:spPr>
      </p:sp>
      <p:sp>
        <p:nvSpPr>
          <p:cNvPr id="41" name="TextBox 41"/>
          <p:cNvSpPr txBox="1"/>
          <p:nvPr/>
        </p:nvSpPr>
        <p:spPr>
          <a:xfrm>
            <a:off x="5047217" y="3874770"/>
            <a:ext cx="478317" cy="182880"/>
          </a:xfrm>
          <a:prstGeom prst="rect">
            <a:avLst/>
          </a:prstGeom>
          <a:noFill/>
          <a:ln>
            <a:noFill/>
          </a:ln>
        </p:spPr>
        <p:txBody>
          <a:bodyPr wrap="none" lIns="0" tIns="0" rIns="0" bIns="0" anchor="t" anchorCtr="0">
            <a:spAutoFit/>
          </a:bodyPr>
          <a:lstStyle/>
          <a:p>
            <a:pPr algn="ctr"/>
            <a:r>
              <a:rPr lang="zh-CN" sz="900" b="1" dirty="0">
                <a:solidFill>
                  <a:srgbClr val="166534"/>
                </a:solidFill>
                <a:latin typeface="Arial" panose="020B0704020202020204"/>
                <a:ea typeface="Arial" panose="020B0704020202020204"/>
                <a:cs typeface="Arial" panose="020B0704020202020204"/>
              </a:rPr>
              <a:t>PASSED</a:t>
            </a:r>
            <a:endParaRPr lang="zh-CN" sz="900" b="1" dirty="0">
              <a:solidFill>
                <a:srgbClr val="166534"/>
              </a:solidFill>
              <a:latin typeface="Arial" panose="020B0704020202020204"/>
              <a:ea typeface="Arial" panose="020B0704020202020204"/>
              <a:cs typeface="Arial" panose="020B0704020202020204"/>
            </a:endParaRPr>
          </a:p>
        </p:txBody>
      </p:sp>
      <p:sp>
        <p:nvSpPr>
          <p:cNvPr id="42" name="TextBox 42"/>
          <p:cNvSpPr txBox="1"/>
          <p:nvPr/>
        </p:nvSpPr>
        <p:spPr>
          <a:xfrm>
            <a:off x="701992" y="4019074"/>
            <a:ext cx="5286399"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panose="020B0704020202020204"/>
                <a:ea typeface="Arial" panose="020B0704020202020204"/>
                <a:cs typeface="Arial" panose="020B0704020202020204"/>
              </a:rPr>
              <a:t>• Gợi ý địa chỉ, tính cước tự động, xem danh sách đơn, theo dõi hành trình.</a:t>
            </a:r>
            <a:endParaRPr lang="zh-CN" sz="975" dirty="0">
              <a:solidFill>
                <a:srgbClr val="475569"/>
              </a:solidFill>
              <a:latin typeface="Arial" panose="020B0704020202020204"/>
              <a:ea typeface="Arial" panose="020B0704020202020204"/>
              <a:cs typeface="Arial" panose="020B0704020202020204"/>
            </a:endParaRPr>
          </a:p>
        </p:txBody>
      </p:sp>
      <p:sp>
        <p:nvSpPr>
          <p:cNvPr id="43" name="TextBox 43"/>
          <p:cNvSpPr txBox="1"/>
          <p:nvPr/>
        </p:nvSpPr>
        <p:spPr>
          <a:xfrm>
            <a:off x="701992" y="4200049"/>
            <a:ext cx="4517446"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panose="020B0704020202020204"/>
                <a:ea typeface="Arial" panose="020B0704020202020204"/>
                <a:cs typeface="Arial" panose="020B0704020202020204"/>
              </a:rPr>
              <a:t>• Đánh giá chất lượng dịch vụ tài xế sau khi giao hàng thành công.</a:t>
            </a:r>
            <a:endParaRPr lang="zh-CN" sz="975" dirty="0">
              <a:solidFill>
                <a:srgbClr val="475569"/>
              </a:solidFill>
              <a:latin typeface="Arial" panose="020B0704020202020204"/>
              <a:ea typeface="Arial" panose="020B0704020202020204"/>
              <a:cs typeface="Arial" panose="020B0704020202020204"/>
            </a:endParaRPr>
          </a:p>
        </p:txBody>
      </p:sp>
      <p:sp>
        <p:nvSpPr>
          <p:cNvPr id="44" name="Freeform 44"/>
          <p:cNvSpPr/>
          <p:nvPr/>
        </p:nvSpPr>
        <p:spPr>
          <a:xfrm>
            <a:off x="571500" y="4476750"/>
            <a:ext cx="5191125" cy="714375"/>
          </a:xfrm>
          <a:custGeom>
            <a:avLst/>
            <a:gdLst/>
            <a:ahLst/>
            <a:cxnLst/>
            <a:rect l="l" t="t" r="r" b="b"/>
            <a:pathLst>
              <a:path w="5191125" h="714375">
                <a:moveTo>
                  <a:pt x="57150" y="0"/>
                </a:moveTo>
                <a:lnTo>
                  <a:pt x="5133975" y="0"/>
                </a:lnTo>
                <a:cubicBezTo>
                  <a:pt x="5165538" y="0"/>
                  <a:pt x="5191125" y="25587"/>
                  <a:pt x="5191125" y="57150"/>
                </a:cubicBezTo>
                <a:lnTo>
                  <a:pt x="5191125" y="657225"/>
                </a:lnTo>
                <a:cubicBezTo>
                  <a:pt x="5191125" y="688788"/>
                  <a:pt x="5165538" y="714375"/>
                  <a:pt x="5133975" y="714375"/>
                </a:cubicBezTo>
                <a:lnTo>
                  <a:pt x="57150" y="714375"/>
                </a:lnTo>
                <a:cubicBezTo>
                  <a:pt x="25587" y="714375"/>
                  <a:pt x="0" y="688788"/>
                  <a:pt x="0" y="657225"/>
                </a:cubicBezTo>
                <a:lnTo>
                  <a:pt x="0" y="57150"/>
                </a:lnTo>
                <a:cubicBezTo>
                  <a:pt x="0" y="25587"/>
                  <a:pt x="25587" y="0"/>
                  <a:pt x="57150" y="0"/>
                </a:cubicBezTo>
                <a:close/>
              </a:path>
            </a:pathLst>
          </a:custGeom>
          <a:solidFill>
            <a:srgbClr val="F8FAFC"/>
          </a:solidFill>
          <a:ln w="9525">
            <a:solidFill>
              <a:srgbClr val="E2E8F0"/>
            </a:solidFill>
          </a:ln>
        </p:spPr>
      </p:sp>
      <p:sp>
        <p:nvSpPr>
          <p:cNvPr id="45" name="TextBox 45"/>
          <p:cNvSpPr txBox="1"/>
          <p:nvPr/>
        </p:nvSpPr>
        <p:spPr>
          <a:xfrm>
            <a:off x="701040" y="4582478"/>
            <a:ext cx="2949185" cy="213360"/>
          </a:xfrm>
          <a:prstGeom prst="rect">
            <a:avLst/>
          </a:prstGeom>
          <a:noFill/>
          <a:ln>
            <a:noFill/>
          </a:ln>
        </p:spPr>
        <p:txBody>
          <a:bodyPr wrap="none" lIns="0" tIns="0" rIns="0" bIns="0" anchor="t" anchorCtr="0">
            <a:spAutoFit/>
          </a:bodyPr>
          <a:lstStyle/>
          <a:p>
            <a:pPr algn="l"/>
            <a:r>
              <a:rPr lang="zh-CN" sz="1050" b="1" dirty="0">
                <a:solidFill>
                  <a:srgbClr val="003366"/>
                </a:solidFill>
                <a:latin typeface="Arial" panose="020B0704020202020204"/>
                <a:ea typeface="Arial" panose="020B0704020202020204"/>
                <a:cs typeface="Arial" panose="020B0704020202020204"/>
              </a:rPr>
              <a:t>TC08 - TC10: Nghiệp vụ Tài xế (Driver)</a:t>
            </a:r>
            <a:endParaRPr lang="zh-CN" sz="1050" b="1" dirty="0">
              <a:solidFill>
                <a:srgbClr val="003366"/>
              </a:solidFill>
              <a:latin typeface="Arial" panose="020B0704020202020204"/>
              <a:ea typeface="Arial" panose="020B0704020202020204"/>
              <a:cs typeface="Arial" panose="020B0704020202020204"/>
            </a:endParaRPr>
          </a:p>
        </p:txBody>
      </p:sp>
      <p:sp>
        <p:nvSpPr>
          <p:cNvPr id="46" name="Freeform 46"/>
          <p:cNvSpPr/>
          <p:nvPr/>
        </p:nvSpPr>
        <p:spPr>
          <a:xfrm>
            <a:off x="4953000" y="4619625"/>
            <a:ext cx="666750" cy="247650"/>
          </a:xfrm>
          <a:custGeom>
            <a:avLst/>
            <a:gdLst/>
            <a:ahLst/>
            <a:cxnLst/>
            <a:rect l="l" t="t" r="r" b="b"/>
            <a:pathLst>
              <a:path w="666750" h="247650">
                <a:moveTo>
                  <a:pt x="38100" y="0"/>
                </a:moveTo>
                <a:lnTo>
                  <a:pt x="628650" y="0"/>
                </a:lnTo>
                <a:cubicBezTo>
                  <a:pt x="649692" y="0"/>
                  <a:pt x="666750" y="17058"/>
                  <a:pt x="666750" y="38100"/>
                </a:cubicBezTo>
                <a:lnTo>
                  <a:pt x="666750" y="209550"/>
                </a:lnTo>
                <a:cubicBezTo>
                  <a:pt x="666750" y="230592"/>
                  <a:pt x="649692" y="247650"/>
                  <a:pt x="628650" y="247650"/>
                </a:cubicBezTo>
                <a:lnTo>
                  <a:pt x="38100" y="247650"/>
                </a:lnTo>
                <a:cubicBezTo>
                  <a:pt x="17058" y="247650"/>
                  <a:pt x="0" y="230592"/>
                  <a:pt x="0" y="209550"/>
                </a:cubicBezTo>
                <a:lnTo>
                  <a:pt x="0" y="38100"/>
                </a:lnTo>
                <a:cubicBezTo>
                  <a:pt x="0" y="17058"/>
                  <a:pt x="17058" y="0"/>
                  <a:pt x="38100" y="0"/>
                </a:cubicBezTo>
                <a:close/>
              </a:path>
            </a:pathLst>
          </a:custGeom>
          <a:solidFill>
            <a:srgbClr val="DCFCE7"/>
          </a:solidFill>
          <a:ln>
            <a:noFill/>
          </a:ln>
        </p:spPr>
      </p:sp>
      <p:sp>
        <p:nvSpPr>
          <p:cNvPr id="47" name="TextBox 47"/>
          <p:cNvSpPr txBox="1"/>
          <p:nvPr/>
        </p:nvSpPr>
        <p:spPr>
          <a:xfrm>
            <a:off x="5047217" y="4684395"/>
            <a:ext cx="478317" cy="182880"/>
          </a:xfrm>
          <a:prstGeom prst="rect">
            <a:avLst/>
          </a:prstGeom>
          <a:noFill/>
          <a:ln>
            <a:noFill/>
          </a:ln>
        </p:spPr>
        <p:txBody>
          <a:bodyPr wrap="none" lIns="0" tIns="0" rIns="0" bIns="0" anchor="t" anchorCtr="0">
            <a:spAutoFit/>
          </a:bodyPr>
          <a:lstStyle/>
          <a:p>
            <a:pPr algn="ctr"/>
            <a:r>
              <a:rPr lang="zh-CN" sz="900" b="1" dirty="0">
                <a:solidFill>
                  <a:srgbClr val="166534"/>
                </a:solidFill>
                <a:latin typeface="Arial" panose="020B0704020202020204"/>
                <a:ea typeface="Arial" panose="020B0704020202020204"/>
                <a:cs typeface="Arial" panose="020B0704020202020204"/>
              </a:rPr>
              <a:t>PASSED</a:t>
            </a:r>
            <a:endParaRPr lang="zh-CN" sz="900" b="1" dirty="0">
              <a:solidFill>
                <a:srgbClr val="166534"/>
              </a:solidFill>
              <a:latin typeface="Arial" panose="020B0704020202020204"/>
              <a:ea typeface="Arial" panose="020B0704020202020204"/>
              <a:cs typeface="Arial" panose="020B0704020202020204"/>
            </a:endParaRPr>
          </a:p>
        </p:txBody>
      </p:sp>
      <p:sp>
        <p:nvSpPr>
          <p:cNvPr id="48" name="TextBox 48"/>
          <p:cNvSpPr txBox="1"/>
          <p:nvPr/>
        </p:nvSpPr>
        <p:spPr>
          <a:xfrm>
            <a:off x="701992" y="4828699"/>
            <a:ext cx="4723924"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panose="020B0704020202020204"/>
                <a:ea typeface="Arial" panose="020B0704020202020204"/>
                <a:cs typeface="Arial" panose="020B0704020202020204"/>
              </a:rPr>
              <a:t>• Bật trạng thái Online, Xem đơn chờ tiếp nhận, Nhận đơn độc quyền.</a:t>
            </a:r>
            <a:endParaRPr lang="zh-CN" sz="975" dirty="0">
              <a:solidFill>
                <a:srgbClr val="475569"/>
              </a:solidFill>
              <a:latin typeface="Arial" panose="020B0704020202020204"/>
              <a:ea typeface="Arial" panose="020B0704020202020204"/>
              <a:cs typeface="Arial" panose="020B0704020202020204"/>
            </a:endParaRPr>
          </a:p>
        </p:txBody>
      </p:sp>
      <p:sp>
        <p:nvSpPr>
          <p:cNvPr id="49" name="TextBox 49"/>
          <p:cNvSpPr txBox="1"/>
          <p:nvPr/>
        </p:nvSpPr>
        <p:spPr>
          <a:xfrm>
            <a:off x="701992" y="5009674"/>
            <a:ext cx="4460486"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panose="020B0704020202020204"/>
                <a:ea typeface="Arial" panose="020B0704020202020204"/>
                <a:cs typeface="Arial" panose="020B0704020202020204"/>
              </a:rPr>
              <a:t>• Chuyển trạng thái từng bước và chụp ảnh giao hàng thành công.</a:t>
            </a:r>
            <a:endParaRPr lang="zh-CN" sz="975" dirty="0">
              <a:solidFill>
                <a:srgbClr val="475569"/>
              </a:solidFill>
              <a:latin typeface="Arial" panose="020B0704020202020204"/>
              <a:ea typeface="Arial" panose="020B0704020202020204"/>
              <a:cs typeface="Arial" panose="020B0704020202020204"/>
            </a:endParaRPr>
          </a:p>
        </p:txBody>
      </p:sp>
      <p:sp>
        <p:nvSpPr>
          <p:cNvPr id="50" name="Freeform 50"/>
          <p:cNvSpPr/>
          <p:nvPr/>
        </p:nvSpPr>
        <p:spPr>
          <a:xfrm>
            <a:off x="571500" y="5286375"/>
            <a:ext cx="5191125" cy="714375"/>
          </a:xfrm>
          <a:custGeom>
            <a:avLst/>
            <a:gdLst/>
            <a:ahLst/>
            <a:cxnLst/>
            <a:rect l="l" t="t" r="r" b="b"/>
            <a:pathLst>
              <a:path w="5191125" h="714375">
                <a:moveTo>
                  <a:pt x="57150" y="0"/>
                </a:moveTo>
                <a:lnTo>
                  <a:pt x="5133975" y="0"/>
                </a:lnTo>
                <a:cubicBezTo>
                  <a:pt x="5165538" y="0"/>
                  <a:pt x="5191125" y="25587"/>
                  <a:pt x="5191125" y="57150"/>
                </a:cubicBezTo>
                <a:lnTo>
                  <a:pt x="5191125" y="657225"/>
                </a:lnTo>
                <a:cubicBezTo>
                  <a:pt x="5191125" y="688788"/>
                  <a:pt x="5165538" y="714375"/>
                  <a:pt x="5133975" y="714375"/>
                </a:cubicBezTo>
                <a:lnTo>
                  <a:pt x="57150" y="714375"/>
                </a:lnTo>
                <a:cubicBezTo>
                  <a:pt x="25587" y="714375"/>
                  <a:pt x="0" y="688788"/>
                  <a:pt x="0" y="657225"/>
                </a:cubicBezTo>
                <a:lnTo>
                  <a:pt x="0" y="57150"/>
                </a:lnTo>
                <a:cubicBezTo>
                  <a:pt x="0" y="25587"/>
                  <a:pt x="25587" y="0"/>
                  <a:pt x="57150" y="0"/>
                </a:cubicBezTo>
                <a:close/>
              </a:path>
            </a:pathLst>
          </a:custGeom>
          <a:solidFill>
            <a:srgbClr val="F8FAFC"/>
          </a:solidFill>
          <a:ln w="9525">
            <a:solidFill>
              <a:srgbClr val="E2E8F0"/>
            </a:solidFill>
          </a:ln>
        </p:spPr>
      </p:sp>
      <p:sp>
        <p:nvSpPr>
          <p:cNvPr id="51" name="TextBox 51"/>
          <p:cNvSpPr txBox="1"/>
          <p:nvPr/>
        </p:nvSpPr>
        <p:spPr>
          <a:xfrm>
            <a:off x="701040" y="5392102"/>
            <a:ext cx="3102154" cy="213360"/>
          </a:xfrm>
          <a:prstGeom prst="rect">
            <a:avLst/>
          </a:prstGeom>
          <a:noFill/>
          <a:ln>
            <a:noFill/>
          </a:ln>
        </p:spPr>
        <p:txBody>
          <a:bodyPr wrap="none" lIns="0" tIns="0" rIns="0" bIns="0" anchor="t" anchorCtr="0">
            <a:spAutoFit/>
          </a:bodyPr>
          <a:lstStyle/>
          <a:p>
            <a:pPr algn="l"/>
            <a:r>
              <a:rPr lang="zh-CN" sz="1050" b="1" dirty="0">
                <a:solidFill>
                  <a:srgbClr val="003366"/>
                </a:solidFill>
                <a:latin typeface="Arial" panose="020B0704020202020204"/>
                <a:ea typeface="Arial" panose="020B0704020202020204"/>
                <a:cs typeface="Arial" panose="020B0704020202020204"/>
              </a:rPr>
              <a:t>TC11 - TC12: Chức năng Quản trị (Admin)</a:t>
            </a:r>
            <a:endParaRPr lang="zh-CN" sz="1050" b="1" dirty="0">
              <a:solidFill>
                <a:srgbClr val="003366"/>
              </a:solidFill>
              <a:latin typeface="Arial" panose="020B0704020202020204"/>
              <a:ea typeface="Arial" panose="020B0704020202020204"/>
              <a:cs typeface="Arial" panose="020B0704020202020204"/>
            </a:endParaRPr>
          </a:p>
        </p:txBody>
      </p:sp>
      <p:sp>
        <p:nvSpPr>
          <p:cNvPr id="52" name="Freeform 52"/>
          <p:cNvSpPr/>
          <p:nvPr/>
        </p:nvSpPr>
        <p:spPr>
          <a:xfrm>
            <a:off x="4953000" y="5429250"/>
            <a:ext cx="666750" cy="247650"/>
          </a:xfrm>
          <a:custGeom>
            <a:avLst/>
            <a:gdLst/>
            <a:ahLst/>
            <a:cxnLst/>
            <a:rect l="l" t="t" r="r" b="b"/>
            <a:pathLst>
              <a:path w="666750" h="247650">
                <a:moveTo>
                  <a:pt x="38100" y="0"/>
                </a:moveTo>
                <a:lnTo>
                  <a:pt x="628650" y="0"/>
                </a:lnTo>
                <a:cubicBezTo>
                  <a:pt x="649692" y="0"/>
                  <a:pt x="666750" y="17058"/>
                  <a:pt x="666750" y="38100"/>
                </a:cubicBezTo>
                <a:lnTo>
                  <a:pt x="666750" y="209550"/>
                </a:lnTo>
                <a:cubicBezTo>
                  <a:pt x="666750" y="230592"/>
                  <a:pt x="649692" y="247650"/>
                  <a:pt x="628650" y="247650"/>
                </a:cubicBezTo>
                <a:lnTo>
                  <a:pt x="38100" y="247650"/>
                </a:lnTo>
                <a:cubicBezTo>
                  <a:pt x="17058" y="247650"/>
                  <a:pt x="0" y="230592"/>
                  <a:pt x="0" y="209550"/>
                </a:cubicBezTo>
                <a:lnTo>
                  <a:pt x="0" y="38100"/>
                </a:lnTo>
                <a:cubicBezTo>
                  <a:pt x="0" y="17058"/>
                  <a:pt x="17058" y="0"/>
                  <a:pt x="38100" y="0"/>
                </a:cubicBezTo>
                <a:close/>
              </a:path>
            </a:pathLst>
          </a:custGeom>
          <a:solidFill>
            <a:srgbClr val="DCFCE7"/>
          </a:solidFill>
          <a:ln>
            <a:noFill/>
          </a:ln>
        </p:spPr>
      </p:sp>
      <p:sp>
        <p:nvSpPr>
          <p:cNvPr id="53" name="TextBox 53"/>
          <p:cNvSpPr txBox="1"/>
          <p:nvPr/>
        </p:nvSpPr>
        <p:spPr>
          <a:xfrm>
            <a:off x="5047217" y="5494020"/>
            <a:ext cx="478317" cy="182880"/>
          </a:xfrm>
          <a:prstGeom prst="rect">
            <a:avLst/>
          </a:prstGeom>
          <a:noFill/>
          <a:ln>
            <a:noFill/>
          </a:ln>
        </p:spPr>
        <p:txBody>
          <a:bodyPr wrap="none" lIns="0" tIns="0" rIns="0" bIns="0" anchor="t" anchorCtr="0">
            <a:spAutoFit/>
          </a:bodyPr>
          <a:lstStyle/>
          <a:p>
            <a:pPr algn="ctr"/>
            <a:r>
              <a:rPr lang="zh-CN" sz="900" b="1" dirty="0">
                <a:solidFill>
                  <a:srgbClr val="166534"/>
                </a:solidFill>
                <a:latin typeface="Arial" panose="020B0704020202020204"/>
                <a:ea typeface="Arial" panose="020B0704020202020204"/>
                <a:cs typeface="Arial" panose="020B0704020202020204"/>
              </a:rPr>
              <a:t>PASSED</a:t>
            </a:r>
            <a:endParaRPr lang="zh-CN" sz="900" b="1" dirty="0">
              <a:solidFill>
                <a:srgbClr val="166534"/>
              </a:solidFill>
              <a:latin typeface="Arial" panose="020B0704020202020204"/>
              <a:ea typeface="Arial" panose="020B0704020202020204"/>
              <a:cs typeface="Arial" panose="020B0704020202020204"/>
            </a:endParaRPr>
          </a:p>
        </p:txBody>
      </p:sp>
      <p:sp>
        <p:nvSpPr>
          <p:cNvPr id="54" name="TextBox 54"/>
          <p:cNvSpPr txBox="1"/>
          <p:nvPr/>
        </p:nvSpPr>
        <p:spPr>
          <a:xfrm>
            <a:off x="701992" y="5638324"/>
            <a:ext cx="5122640"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panose="020B0704020202020204"/>
                <a:ea typeface="Arial" panose="020B0704020202020204"/>
                <a:cs typeface="Arial" panose="020B0704020202020204"/>
              </a:rPr>
              <a:t>• Xem 5 tab Dashboard: Thống kê tổng quan, Đơn hàng, Người dùng, Tài xế.</a:t>
            </a:r>
            <a:endParaRPr lang="zh-CN" sz="975" dirty="0">
              <a:solidFill>
                <a:srgbClr val="475569"/>
              </a:solidFill>
              <a:latin typeface="Arial" panose="020B0704020202020204"/>
              <a:ea typeface="Arial" panose="020B0704020202020204"/>
              <a:cs typeface="Arial" panose="020B0704020202020204"/>
            </a:endParaRPr>
          </a:p>
        </p:txBody>
      </p:sp>
      <p:sp>
        <p:nvSpPr>
          <p:cNvPr id="55" name="TextBox 55"/>
          <p:cNvSpPr txBox="1"/>
          <p:nvPr/>
        </p:nvSpPr>
        <p:spPr>
          <a:xfrm>
            <a:off x="701992" y="5819299"/>
            <a:ext cx="4624245" cy="198120"/>
          </a:xfrm>
          <a:prstGeom prst="rect">
            <a:avLst/>
          </a:prstGeom>
          <a:noFill/>
          <a:ln>
            <a:noFill/>
          </a:ln>
        </p:spPr>
        <p:txBody>
          <a:bodyPr wrap="none" lIns="0" tIns="0" rIns="0" bIns="0" anchor="t" anchorCtr="0">
            <a:spAutoFit/>
          </a:bodyPr>
          <a:lstStyle/>
          <a:p>
            <a:pPr algn="l"/>
            <a:r>
              <a:rPr lang="zh-CN" sz="975" dirty="0">
                <a:solidFill>
                  <a:srgbClr val="475569"/>
                </a:solidFill>
                <a:latin typeface="Arial" panose="020B0704020202020204"/>
                <a:ea typeface="Arial" panose="020B0704020202020204"/>
                <a:cs typeface="Arial" panose="020B0704020202020204"/>
              </a:rPr>
              <a:t>• Kiểm tra tab Cảnh báo phát hiện đơn hàng bị từ chối hoặc chờ lâu.</a:t>
            </a:r>
            <a:endParaRPr lang="zh-CN" sz="975" dirty="0">
              <a:solidFill>
                <a:srgbClr val="475569"/>
              </a:solidFill>
              <a:latin typeface="Arial" panose="020B0704020202020204"/>
              <a:ea typeface="Arial" panose="020B0704020202020204"/>
              <a:cs typeface="Arial" panose="020B0704020202020204"/>
            </a:endParaRPr>
          </a:p>
        </p:txBody>
      </p:sp>
      <p:sp>
        <p:nvSpPr>
          <p:cNvPr id="56" name="Freeform 56"/>
          <p:cNvSpPr/>
          <p:nvPr/>
        </p:nvSpPr>
        <p:spPr>
          <a:xfrm>
            <a:off x="6238875" y="2428875"/>
            <a:ext cx="5572125" cy="3714750"/>
          </a:xfrm>
          <a:custGeom>
            <a:avLst/>
            <a:gdLst/>
            <a:ahLst/>
            <a:cxnLst/>
            <a:rect l="l" t="t" r="r" b="b"/>
            <a:pathLst>
              <a:path w="5572125" h="3714750">
                <a:moveTo>
                  <a:pt x="95250" y="0"/>
                </a:moveTo>
                <a:lnTo>
                  <a:pt x="5476875" y="0"/>
                </a:lnTo>
                <a:cubicBezTo>
                  <a:pt x="5529480" y="0"/>
                  <a:pt x="5572125" y="42645"/>
                  <a:pt x="5572125" y="95250"/>
                </a:cubicBezTo>
                <a:lnTo>
                  <a:pt x="5572125" y="3619500"/>
                </a:lnTo>
                <a:cubicBezTo>
                  <a:pt x="5572125" y="3672105"/>
                  <a:pt x="5529480" y="3714750"/>
                  <a:pt x="5476875" y="3714750"/>
                </a:cubicBezTo>
                <a:lnTo>
                  <a:pt x="95250" y="3714750"/>
                </a:lnTo>
                <a:cubicBezTo>
                  <a:pt x="42645" y="3714750"/>
                  <a:pt x="0" y="3672105"/>
                  <a:pt x="0" y="3619500"/>
                </a:cubicBezTo>
                <a:lnTo>
                  <a:pt x="0" y="95250"/>
                </a:lnTo>
                <a:cubicBezTo>
                  <a:pt x="0" y="42645"/>
                  <a:pt x="42645" y="0"/>
                  <a:pt x="95250" y="0"/>
                </a:cubicBezTo>
                <a:close/>
              </a:path>
            </a:pathLst>
          </a:custGeom>
          <a:solidFill>
            <a:srgbClr val="FFFFFF"/>
          </a:solidFill>
          <a:ln w="14288">
            <a:solidFill>
              <a:srgbClr val="E2E8F0"/>
            </a:solidFill>
          </a:ln>
        </p:spPr>
      </p:sp>
      <p:sp>
        <p:nvSpPr>
          <p:cNvPr id="57" name="Freeform 57"/>
          <p:cNvSpPr/>
          <p:nvPr/>
        </p:nvSpPr>
        <p:spPr>
          <a:xfrm>
            <a:off x="6238875" y="2428875"/>
            <a:ext cx="5572125" cy="400050"/>
          </a:xfrm>
          <a:custGeom>
            <a:avLst/>
            <a:gdLst/>
            <a:ahLst/>
            <a:cxnLst/>
            <a:rect l="l" t="t" r="r" b="b"/>
            <a:pathLst>
              <a:path w="5572125" h="400050">
                <a:moveTo>
                  <a:pt x="95250" y="0"/>
                </a:moveTo>
                <a:lnTo>
                  <a:pt x="5476875" y="0"/>
                </a:lnTo>
                <a:cubicBezTo>
                  <a:pt x="5529480" y="0"/>
                  <a:pt x="5572125" y="42645"/>
                  <a:pt x="5572125" y="95250"/>
                </a:cubicBezTo>
                <a:lnTo>
                  <a:pt x="5572125" y="304800"/>
                </a:lnTo>
                <a:cubicBezTo>
                  <a:pt x="5572125" y="357405"/>
                  <a:pt x="5529480" y="400050"/>
                  <a:pt x="5476875" y="400050"/>
                </a:cubicBezTo>
                <a:lnTo>
                  <a:pt x="95250" y="400050"/>
                </a:lnTo>
                <a:cubicBezTo>
                  <a:pt x="42645" y="400050"/>
                  <a:pt x="0" y="357405"/>
                  <a:pt x="0" y="304800"/>
                </a:cubicBezTo>
                <a:lnTo>
                  <a:pt x="0" y="95250"/>
                </a:lnTo>
                <a:cubicBezTo>
                  <a:pt x="0" y="42645"/>
                  <a:pt x="42645" y="0"/>
                  <a:pt x="95250" y="0"/>
                </a:cubicBezTo>
                <a:close/>
              </a:path>
            </a:pathLst>
          </a:custGeom>
          <a:solidFill>
            <a:srgbClr val="F1F5F9"/>
          </a:solidFill>
          <a:ln>
            <a:noFill/>
          </a:ln>
        </p:spPr>
      </p:sp>
      <p:sp>
        <p:nvSpPr>
          <p:cNvPr id="58" name="Freeform 58"/>
          <p:cNvSpPr/>
          <p:nvPr/>
        </p:nvSpPr>
        <p:spPr>
          <a:xfrm>
            <a:off x="6429375" y="2533650"/>
            <a:ext cx="190500" cy="178594"/>
          </a:xfrm>
          <a:custGeom>
            <a:avLst/>
            <a:gdLst/>
            <a:ahLst/>
            <a:cxnLst/>
            <a:rect l="l" t="t" r="r" b="b"/>
            <a:pathLst>
              <a:path w="190500" h="178594">
                <a:moveTo>
                  <a:pt x="190500" y="178594"/>
                </a:moveTo>
                <a:lnTo>
                  <a:pt x="0" y="178594"/>
                </a:lnTo>
                <a:lnTo>
                  <a:pt x="0" y="142875"/>
                </a:lnTo>
                <a:lnTo>
                  <a:pt x="83344" y="0"/>
                </a:lnTo>
                <a:lnTo>
                  <a:pt x="107156" y="0"/>
                </a:lnTo>
                <a:lnTo>
                  <a:pt x="190500" y="142875"/>
                </a:lnTo>
                <a:lnTo>
                  <a:pt x="190500" y="178594"/>
                </a:lnTo>
                <a:close/>
                <a:moveTo>
                  <a:pt x="83344" y="47625"/>
                </a:moveTo>
                <a:lnTo>
                  <a:pt x="107156" y="47625"/>
                </a:lnTo>
                <a:lnTo>
                  <a:pt x="107156" y="107156"/>
                </a:lnTo>
                <a:lnTo>
                  <a:pt x="83344" y="107156"/>
                </a:lnTo>
                <a:lnTo>
                  <a:pt x="83344" y="47625"/>
                </a:lnTo>
                <a:close/>
                <a:moveTo>
                  <a:pt x="83344" y="130969"/>
                </a:moveTo>
                <a:lnTo>
                  <a:pt x="107156" y="130969"/>
                </a:lnTo>
                <a:lnTo>
                  <a:pt x="107156" y="154781"/>
                </a:lnTo>
                <a:lnTo>
                  <a:pt x="83344" y="154781"/>
                </a:lnTo>
                <a:lnTo>
                  <a:pt x="83344" y="130969"/>
                </a:lnTo>
                <a:close/>
              </a:path>
            </a:pathLst>
          </a:custGeom>
          <a:solidFill>
            <a:srgbClr val="E65100"/>
          </a:solidFill>
          <a:ln>
            <a:noFill/>
          </a:ln>
        </p:spPr>
      </p:sp>
      <p:sp>
        <p:nvSpPr>
          <p:cNvPr id="59" name="TextBox 59"/>
          <p:cNvSpPr txBox="1"/>
          <p:nvPr/>
        </p:nvSpPr>
        <p:spPr>
          <a:xfrm>
            <a:off x="6699885" y="2556510"/>
            <a:ext cx="4649457" cy="243840"/>
          </a:xfrm>
          <a:prstGeom prst="rect">
            <a:avLst/>
          </a:prstGeom>
          <a:noFill/>
          <a:ln>
            <a:noFill/>
          </a:ln>
        </p:spPr>
        <p:txBody>
          <a:bodyPr wrap="none" lIns="0" tIns="0" rIns="0" bIns="0" anchor="t" anchorCtr="0">
            <a:spAutoFit/>
          </a:bodyPr>
          <a:lstStyle/>
          <a:p>
            <a:pPr algn="l"/>
            <a:r>
              <a:rPr lang="zh-CN" sz="1200" b="1" dirty="0">
                <a:solidFill>
                  <a:srgbClr val="003366"/>
                </a:solidFill>
                <a:latin typeface="Arial" panose="020B0704020202020204"/>
                <a:ea typeface="Arial" panose="020B0704020202020204"/>
                <a:cs typeface="Arial" panose="020B0704020202020204"/>
              </a:rPr>
              <a:t>Phân tích xử lý các tình huống lỗi biên (Edge Cases)</a:t>
            </a:r>
            <a:endParaRPr lang="zh-CN" sz="1200" b="1" dirty="0">
              <a:solidFill>
                <a:srgbClr val="003366"/>
              </a:solidFill>
              <a:latin typeface="Arial" panose="020B0704020202020204"/>
              <a:ea typeface="Arial" panose="020B0704020202020204"/>
              <a:cs typeface="Arial" panose="020B0704020202020204"/>
            </a:endParaRPr>
          </a:p>
        </p:txBody>
      </p:sp>
      <p:sp>
        <p:nvSpPr>
          <p:cNvPr id="60" name="Freeform 60"/>
          <p:cNvSpPr/>
          <p:nvPr/>
        </p:nvSpPr>
        <p:spPr>
          <a:xfrm>
            <a:off x="6429375" y="2952750"/>
            <a:ext cx="5191125" cy="904875"/>
          </a:xfrm>
          <a:custGeom>
            <a:avLst/>
            <a:gdLst/>
            <a:ahLst/>
            <a:cxnLst/>
            <a:rect l="l" t="t" r="r" b="b"/>
            <a:pathLst>
              <a:path w="5191125" h="904875">
                <a:moveTo>
                  <a:pt x="57150" y="0"/>
                </a:moveTo>
                <a:lnTo>
                  <a:pt x="5133975" y="0"/>
                </a:lnTo>
                <a:cubicBezTo>
                  <a:pt x="5165538" y="0"/>
                  <a:pt x="5191125" y="25587"/>
                  <a:pt x="5191125" y="57150"/>
                </a:cubicBezTo>
                <a:lnTo>
                  <a:pt x="5191125" y="847725"/>
                </a:lnTo>
                <a:cubicBezTo>
                  <a:pt x="5191125" y="879288"/>
                  <a:pt x="5165538" y="904875"/>
                  <a:pt x="5133975" y="904875"/>
                </a:cubicBezTo>
                <a:lnTo>
                  <a:pt x="57150" y="904875"/>
                </a:lnTo>
                <a:cubicBezTo>
                  <a:pt x="25587" y="904875"/>
                  <a:pt x="0" y="879288"/>
                  <a:pt x="0" y="847725"/>
                </a:cubicBezTo>
                <a:lnTo>
                  <a:pt x="0" y="57150"/>
                </a:lnTo>
                <a:cubicBezTo>
                  <a:pt x="0" y="25587"/>
                  <a:pt x="25587" y="0"/>
                  <a:pt x="57150" y="0"/>
                </a:cubicBezTo>
                <a:close/>
              </a:path>
            </a:pathLst>
          </a:custGeom>
          <a:solidFill>
            <a:srgbClr val="FFF7ED"/>
          </a:solidFill>
          <a:ln w="9525">
            <a:solidFill>
              <a:srgbClr val="FED7AA"/>
            </a:solidFill>
          </a:ln>
        </p:spPr>
      </p:sp>
      <p:sp>
        <p:nvSpPr>
          <p:cNvPr id="61" name="TextBox 61"/>
          <p:cNvSpPr txBox="1"/>
          <p:nvPr/>
        </p:nvSpPr>
        <p:spPr>
          <a:xfrm>
            <a:off x="6558915" y="3058478"/>
            <a:ext cx="3834796" cy="213360"/>
          </a:xfrm>
          <a:prstGeom prst="rect">
            <a:avLst/>
          </a:prstGeom>
          <a:noFill/>
          <a:ln>
            <a:noFill/>
          </a:ln>
        </p:spPr>
        <p:txBody>
          <a:bodyPr wrap="none" lIns="0" tIns="0" rIns="0" bIns="0" anchor="t" anchorCtr="0">
            <a:spAutoFit/>
          </a:bodyPr>
          <a:lstStyle/>
          <a:p>
            <a:pPr algn="l"/>
            <a:r>
              <a:rPr lang="zh-CN" sz="1050" b="1" dirty="0">
                <a:solidFill>
                  <a:srgbClr val="C2410C"/>
                </a:solidFill>
                <a:latin typeface="Arial" panose="020B0704020202020204"/>
                <a:ea typeface="Arial" panose="020B0704020202020204"/>
                <a:cs typeface="Arial" panose="020B0704020202020204"/>
              </a:rPr>
              <a:t>1. Tình huống Xung đột nhận đơn (Double Booking)</a:t>
            </a:r>
            <a:endParaRPr lang="zh-CN" sz="1050" b="1" dirty="0">
              <a:solidFill>
                <a:srgbClr val="C2410C"/>
              </a:solidFill>
              <a:latin typeface="Arial" panose="020B0704020202020204"/>
              <a:ea typeface="Arial" panose="020B0704020202020204"/>
              <a:cs typeface="Arial" panose="020B0704020202020204"/>
            </a:endParaRPr>
          </a:p>
        </p:txBody>
      </p:sp>
      <p:sp>
        <p:nvSpPr>
          <p:cNvPr id="62" name="TextBox 62"/>
          <p:cNvSpPr txBox="1"/>
          <p:nvPr/>
        </p:nvSpPr>
        <p:spPr>
          <a:xfrm>
            <a:off x="6559868" y="3304699"/>
            <a:ext cx="4488966" cy="198120"/>
          </a:xfrm>
          <a:prstGeom prst="rect">
            <a:avLst/>
          </a:prstGeom>
          <a:noFill/>
          <a:ln>
            <a:noFill/>
          </a:ln>
        </p:spPr>
        <p:txBody>
          <a:bodyPr wrap="none" lIns="0" tIns="0" rIns="0" bIns="0" anchor="t" anchorCtr="0">
            <a:spAutoFit/>
          </a:bodyPr>
          <a:lstStyle/>
          <a:p>
            <a:pPr algn="l"/>
            <a:r>
              <a:rPr lang="zh-CN" sz="975" dirty="0">
                <a:solidFill>
                  <a:srgbClr val="7C2D12"/>
                </a:solidFill>
                <a:latin typeface="Arial" panose="020B0704020202020204"/>
                <a:ea typeface="Arial" panose="020B0704020202020204"/>
                <a:cs typeface="Arial" panose="020B0704020202020204"/>
              </a:rPr>
              <a:t>• Giả lập 2 tài xế cùng gửi request nhận 1 đơn tại cùng 1 thời điểm.</a:t>
            </a:r>
            <a:endParaRPr lang="zh-CN" sz="975" dirty="0">
              <a:solidFill>
                <a:srgbClr val="7C2D12"/>
              </a:solidFill>
              <a:latin typeface="Arial" panose="020B0704020202020204"/>
              <a:ea typeface="Arial" panose="020B0704020202020204"/>
              <a:cs typeface="Arial" panose="020B0704020202020204"/>
            </a:endParaRPr>
          </a:p>
        </p:txBody>
      </p:sp>
      <p:sp>
        <p:nvSpPr>
          <p:cNvPr id="63" name="TextBox 63"/>
          <p:cNvSpPr txBox="1"/>
          <p:nvPr/>
        </p:nvSpPr>
        <p:spPr>
          <a:xfrm>
            <a:off x="6559868" y="3495199"/>
            <a:ext cx="5058561" cy="198120"/>
          </a:xfrm>
          <a:prstGeom prst="rect">
            <a:avLst/>
          </a:prstGeom>
          <a:noFill/>
          <a:ln>
            <a:noFill/>
          </a:ln>
        </p:spPr>
        <p:txBody>
          <a:bodyPr wrap="none" lIns="0" tIns="0" rIns="0" bIns="0" anchor="t" anchorCtr="0">
            <a:spAutoFit/>
          </a:bodyPr>
          <a:lstStyle/>
          <a:p>
            <a:pPr algn="l"/>
            <a:r>
              <a:rPr lang="zh-CN" sz="975" dirty="0">
                <a:solidFill>
                  <a:srgbClr val="7C2D12"/>
                </a:solidFill>
                <a:latin typeface="Arial" panose="020B0704020202020204"/>
                <a:ea typeface="Arial" panose="020B0704020202020204"/>
                <a:cs typeface="Arial" panose="020B0704020202020204"/>
              </a:rPr>
              <a:t>• Tài xế A đến trước: Thành công (HTTP 200) ➔ Trở thành người phụ trách.</a:t>
            </a:r>
            <a:endParaRPr lang="zh-CN" sz="975" dirty="0">
              <a:solidFill>
                <a:srgbClr val="7C2D12"/>
              </a:solidFill>
              <a:latin typeface="Arial" panose="020B0704020202020204"/>
              <a:ea typeface="Arial" panose="020B0704020202020204"/>
              <a:cs typeface="Arial" panose="020B0704020202020204"/>
            </a:endParaRPr>
          </a:p>
        </p:txBody>
      </p:sp>
      <p:sp>
        <p:nvSpPr>
          <p:cNvPr id="64" name="TextBox 64"/>
          <p:cNvSpPr txBox="1"/>
          <p:nvPr/>
        </p:nvSpPr>
        <p:spPr>
          <a:xfrm>
            <a:off x="6559868" y="3685699"/>
            <a:ext cx="5621036" cy="198120"/>
          </a:xfrm>
          <a:prstGeom prst="rect">
            <a:avLst/>
          </a:prstGeom>
          <a:noFill/>
          <a:ln>
            <a:noFill/>
          </a:ln>
        </p:spPr>
        <p:txBody>
          <a:bodyPr wrap="none" lIns="0" tIns="0" rIns="0" bIns="0" anchor="t" anchorCtr="0">
            <a:spAutoFit/>
          </a:bodyPr>
          <a:lstStyle/>
          <a:p>
            <a:pPr algn="l"/>
            <a:r>
              <a:rPr lang="zh-CN" sz="975" dirty="0">
                <a:solidFill>
                  <a:srgbClr val="7C2D12"/>
                </a:solidFill>
                <a:latin typeface="Arial" panose="020B0704020202020204"/>
                <a:ea typeface="Arial" panose="020B0704020202020204"/>
                <a:cs typeface="Arial" panose="020B0704020202020204"/>
              </a:rPr>
              <a:t>• Tài xế B đến sau: Bị chặn bởi Version Lock ➔ Nhận thông báo "Đơn đã được nhận".</a:t>
            </a:r>
            <a:endParaRPr lang="zh-CN" sz="975" dirty="0">
              <a:solidFill>
                <a:srgbClr val="7C2D12"/>
              </a:solidFill>
              <a:latin typeface="Arial" panose="020B0704020202020204"/>
              <a:ea typeface="Arial" panose="020B0704020202020204"/>
              <a:cs typeface="Arial" panose="020B0704020202020204"/>
            </a:endParaRPr>
          </a:p>
        </p:txBody>
      </p:sp>
      <p:sp>
        <p:nvSpPr>
          <p:cNvPr id="65" name="Freeform 65"/>
          <p:cNvSpPr/>
          <p:nvPr/>
        </p:nvSpPr>
        <p:spPr>
          <a:xfrm>
            <a:off x="6429375" y="3952875"/>
            <a:ext cx="5191125" cy="952500"/>
          </a:xfrm>
          <a:custGeom>
            <a:avLst/>
            <a:gdLst/>
            <a:ahLst/>
            <a:cxnLst/>
            <a:rect l="l" t="t" r="r" b="b"/>
            <a:pathLst>
              <a:path w="5191125" h="952500">
                <a:moveTo>
                  <a:pt x="57150" y="0"/>
                </a:moveTo>
                <a:lnTo>
                  <a:pt x="5133975" y="0"/>
                </a:lnTo>
                <a:cubicBezTo>
                  <a:pt x="5165538" y="0"/>
                  <a:pt x="5191125" y="25587"/>
                  <a:pt x="5191125" y="57150"/>
                </a:cubicBezTo>
                <a:lnTo>
                  <a:pt x="5191125" y="895350"/>
                </a:lnTo>
                <a:cubicBezTo>
                  <a:pt x="5191125" y="926913"/>
                  <a:pt x="5165538" y="952500"/>
                  <a:pt x="5133975" y="952500"/>
                </a:cubicBezTo>
                <a:lnTo>
                  <a:pt x="57150" y="952500"/>
                </a:lnTo>
                <a:cubicBezTo>
                  <a:pt x="25587" y="952500"/>
                  <a:pt x="0" y="926913"/>
                  <a:pt x="0" y="895350"/>
                </a:cubicBezTo>
                <a:lnTo>
                  <a:pt x="0" y="57150"/>
                </a:lnTo>
                <a:cubicBezTo>
                  <a:pt x="0" y="25587"/>
                  <a:pt x="25587" y="0"/>
                  <a:pt x="57150" y="0"/>
                </a:cubicBezTo>
                <a:close/>
              </a:path>
            </a:pathLst>
          </a:custGeom>
          <a:solidFill>
            <a:srgbClr val="F8FAFC"/>
          </a:solidFill>
          <a:ln w="9525">
            <a:solidFill>
              <a:srgbClr val="E2E8F0"/>
            </a:solidFill>
          </a:ln>
        </p:spPr>
      </p:sp>
      <p:sp>
        <p:nvSpPr>
          <p:cNvPr id="66" name="TextBox 66"/>
          <p:cNvSpPr txBox="1"/>
          <p:nvPr/>
        </p:nvSpPr>
        <p:spPr>
          <a:xfrm>
            <a:off x="6558915" y="4058602"/>
            <a:ext cx="3182664" cy="213360"/>
          </a:xfrm>
          <a:prstGeom prst="rect">
            <a:avLst/>
          </a:prstGeom>
          <a:noFill/>
          <a:ln>
            <a:noFill/>
          </a:ln>
        </p:spPr>
        <p:txBody>
          <a:bodyPr wrap="none" lIns="0" tIns="0" rIns="0" bIns="0" anchor="t" anchorCtr="0">
            <a:spAutoFit/>
          </a:bodyPr>
          <a:lstStyle/>
          <a:p>
            <a:pPr algn="l"/>
            <a:r>
              <a:rPr lang="zh-CN" sz="1050" b="1" dirty="0">
                <a:solidFill>
                  <a:srgbClr val="003366"/>
                </a:solidFill>
                <a:latin typeface="Arial" panose="020B0704020202020204"/>
                <a:ea typeface="Arial" panose="020B0704020202020204"/>
                <a:cs typeface="Arial" panose="020B0704020202020204"/>
              </a:rPr>
              <a:t>2. Tình huống Mất kết nối mạng đột ngột</a:t>
            </a:r>
            <a:endParaRPr lang="zh-CN" sz="1050" b="1" dirty="0">
              <a:solidFill>
                <a:srgbClr val="003366"/>
              </a:solidFill>
              <a:latin typeface="Arial" panose="020B0704020202020204"/>
              <a:ea typeface="Arial" panose="020B0704020202020204"/>
              <a:cs typeface="Arial" panose="020B0704020202020204"/>
            </a:endParaRPr>
          </a:p>
        </p:txBody>
      </p:sp>
      <p:sp>
        <p:nvSpPr>
          <p:cNvPr id="67" name="TextBox 67"/>
          <p:cNvSpPr txBox="1"/>
          <p:nvPr/>
        </p:nvSpPr>
        <p:spPr>
          <a:xfrm>
            <a:off x="6559868" y="4304824"/>
            <a:ext cx="4154329" cy="198120"/>
          </a:xfrm>
          <a:prstGeom prst="rect">
            <a:avLst/>
          </a:prstGeom>
          <a:noFill/>
          <a:ln>
            <a:noFill/>
          </a:ln>
        </p:spPr>
        <p:txBody>
          <a:bodyPr wrap="none" lIns="0" tIns="0" rIns="0" bIns="0" anchor="t" anchorCtr="0">
            <a:spAutoFit/>
          </a:bodyPr>
          <a:lstStyle/>
          <a:p>
            <a:pPr algn="l"/>
            <a:r>
              <a:rPr lang="zh-CN" sz="975" dirty="0">
                <a:solidFill>
                  <a:srgbClr val="334155"/>
                </a:solidFill>
                <a:latin typeface="Arial" panose="020B0704020202020204"/>
                <a:ea typeface="Arial" panose="020B0704020202020204"/>
                <a:cs typeface="Arial" panose="020B0704020202020204"/>
              </a:rPr>
              <a:t>• Khi đang tạo đơn mà rớt mạng: Coroutine bắt IOException.</a:t>
            </a:r>
            <a:endParaRPr lang="zh-CN" sz="975" dirty="0">
              <a:solidFill>
                <a:srgbClr val="334155"/>
              </a:solidFill>
              <a:latin typeface="Arial" panose="020B0704020202020204"/>
              <a:ea typeface="Arial" panose="020B0704020202020204"/>
              <a:cs typeface="Arial" panose="020B0704020202020204"/>
            </a:endParaRPr>
          </a:p>
        </p:txBody>
      </p:sp>
      <p:sp>
        <p:nvSpPr>
          <p:cNvPr id="68" name="TextBox 68"/>
          <p:cNvSpPr txBox="1"/>
          <p:nvPr/>
        </p:nvSpPr>
        <p:spPr>
          <a:xfrm>
            <a:off x="6559868" y="4495324"/>
            <a:ext cx="3684413" cy="198120"/>
          </a:xfrm>
          <a:prstGeom prst="rect">
            <a:avLst/>
          </a:prstGeom>
          <a:noFill/>
          <a:ln>
            <a:noFill/>
          </a:ln>
        </p:spPr>
        <p:txBody>
          <a:bodyPr wrap="none" lIns="0" tIns="0" rIns="0" bIns="0" anchor="t" anchorCtr="0">
            <a:spAutoFit/>
          </a:bodyPr>
          <a:lstStyle/>
          <a:p>
            <a:pPr algn="l"/>
            <a:r>
              <a:rPr lang="zh-CN" sz="975" dirty="0">
                <a:solidFill>
                  <a:srgbClr val="334155"/>
                </a:solidFill>
                <a:latin typeface="Arial" panose="020B0704020202020204"/>
                <a:ea typeface="Arial" panose="020B0704020202020204"/>
                <a:cs typeface="Arial" panose="020B0704020202020204"/>
              </a:rPr>
              <a:t>• Dữ liệu form không bị mất (nhờ SavedStateHandle).</a:t>
            </a:r>
            <a:endParaRPr lang="zh-CN" sz="975" dirty="0">
              <a:solidFill>
                <a:srgbClr val="334155"/>
              </a:solidFill>
              <a:latin typeface="Arial" panose="020B0704020202020204"/>
              <a:ea typeface="Arial" panose="020B0704020202020204"/>
              <a:cs typeface="Arial" panose="020B0704020202020204"/>
            </a:endParaRPr>
          </a:p>
        </p:txBody>
      </p:sp>
      <p:sp>
        <p:nvSpPr>
          <p:cNvPr id="69" name="TextBox 69"/>
          <p:cNvSpPr txBox="1"/>
          <p:nvPr/>
        </p:nvSpPr>
        <p:spPr>
          <a:xfrm>
            <a:off x="6559868" y="4685824"/>
            <a:ext cx="5250799" cy="198120"/>
          </a:xfrm>
          <a:prstGeom prst="rect">
            <a:avLst/>
          </a:prstGeom>
          <a:noFill/>
          <a:ln>
            <a:noFill/>
          </a:ln>
        </p:spPr>
        <p:txBody>
          <a:bodyPr wrap="none" lIns="0" tIns="0" rIns="0" bIns="0" anchor="t" anchorCtr="0">
            <a:spAutoFit/>
          </a:bodyPr>
          <a:lstStyle/>
          <a:p>
            <a:pPr algn="l"/>
            <a:r>
              <a:rPr lang="zh-CN" sz="975" dirty="0">
                <a:solidFill>
                  <a:srgbClr val="334155"/>
                </a:solidFill>
                <a:latin typeface="Arial" panose="020B0704020202020204"/>
                <a:ea typeface="Arial" panose="020B0704020202020204"/>
                <a:cs typeface="Arial" panose="020B0704020202020204"/>
              </a:rPr>
              <a:t>• Hiển thị Snackbar cảnh báo thân thiện, cho phép người dùng bấm [Thử lại].</a:t>
            </a:r>
            <a:endParaRPr lang="zh-CN" sz="975" dirty="0">
              <a:solidFill>
                <a:srgbClr val="334155"/>
              </a:solidFill>
              <a:latin typeface="Arial" panose="020B0704020202020204"/>
              <a:ea typeface="Arial" panose="020B0704020202020204"/>
              <a:cs typeface="Arial" panose="020B0704020202020204"/>
            </a:endParaRPr>
          </a:p>
        </p:txBody>
      </p:sp>
      <p:sp>
        <p:nvSpPr>
          <p:cNvPr id="70" name="Freeform 70"/>
          <p:cNvSpPr/>
          <p:nvPr/>
        </p:nvSpPr>
        <p:spPr>
          <a:xfrm>
            <a:off x="6429375" y="5000625"/>
            <a:ext cx="5191125" cy="1000125"/>
          </a:xfrm>
          <a:custGeom>
            <a:avLst/>
            <a:gdLst/>
            <a:ahLst/>
            <a:cxnLst/>
            <a:rect l="l" t="t" r="r" b="b"/>
            <a:pathLst>
              <a:path w="5191125" h="1000125">
                <a:moveTo>
                  <a:pt x="57150" y="0"/>
                </a:moveTo>
                <a:lnTo>
                  <a:pt x="5133975" y="0"/>
                </a:lnTo>
                <a:cubicBezTo>
                  <a:pt x="5165538" y="0"/>
                  <a:pt x="5191125" y="25587"/>
                  <a:pt x="5191125" y="57150"/>
                </a:cubicBezTo>
                <a:lnTo>
                  <a:pt x="5191125" y="942975"/>
                </a:lnTo>
                <a:cubicBezTo>
                  <a:pt x="5191125" y="974538"/>
                  <a:pt x="5165538" y="1000125"/>
                  <a:pt x="5133975" y="1000125"/>
                </a:cubicBezTo>
                <a:lnTo>
                  <a:pt x="57150" y="1000125"/>
                </a:lnTo>
                <a:cubicBezTo>
                  <a:pt x="25587" y="1000125"/>
                  <a:pt x="0" y="974538"/>
                  <a:pt x="0" y="942975"/>
                </a:cubicBezTo>
                <a:lnTo>
                  <a:pt x="0" y="57150"/>
                </a:lnTo>
                <a:cubicBezTo>
                  <a:pt x="0" y="25587"/>
                  <a:pt x="25587" y="0"/>
                  <a:pt x="57150" y="0"/>
                </a:cubicBezTo>
                <a:close/>
              </a:path>
            </a:pathLst>
          </a:custGeom>
          <a:solidFill>
            <a:srgbClr val="FEF2F2"/>
          </a:solidFill>
          <a:ln w="9525">
            <a:solidFill>
              <a:srgbClr val="FECACA"/>
            </a:solidFill>
          </a:ln>
        </p:spPr>
      </p:sp>
      <p:sp>
        <p:nvSpPr>
          <p:cNvPr id="71" name="TextBox 71"/>
          <p:cNvSpPr txBox="1"/>
          <p:nvPr/>
        </p:nvSpPr>
        <p:spPr>
          <a:xfrm>
            <a:off x="6558915" y="5106352"/>
            <a:ext cx="3834796" cy="213360"/>
          </a:xfrm>
          <a:prstGeom prst="rect">
            <a:avLst/>
          </a:prstGeom>
          <a:noFill/>
          <a:ln>
            <a:noFill/>
          </a:ln>
        </p:spPr>
        <p:txBody>
          <a:bodyPr wrap="none" lIns="0" tIns="0" rIns="0" bIns="0" anchor="t" anchorCtr="0">
            <a:spAutoFit/>
          </a:bodyPr>
          <a:lstStyle/>
          <a:p>
            <a:pPr algn="l"/>
            <a:r>
              <a:rPr lang="zh-CN" sz="1050" b="1" dirty="0">
                <a:solidFill>
                  <a:srgbClr val="B91C1C"/>
                </a:solidFill>
                <a:latin typeface="Arial" panose="020B0704020202020204"/>
                <a:ea typeface="Arial" panose="020B0704020202020204"/>
                <a:cs typeface="Arial" panose="020B0704020202020204"/>
              </a:rPr>
              <a:t>3. Tình huống Khách cố tình hủy đơn sai quy định</a:t>
            </a:r>
            <a:endParaRPr lang="zh-CN" sz="1050" b="1" dirty="0">
              <a:solidFill>
                <a:srgbClr val="B91C1C"/>
              </a:solidFill>
              <a:latin typeface="Arial" panose="020B0704020202020204"/>
              <a:ea typeface="Arial" panose="020B0704020202020204"/>
              <a:cs typeface="Arial" panose="020B0704020202020204"/>
            </a:endParaRPr>
          </a:p>
        </p:txBody>
      </p:sp>
      <p:sp>
        <p:nvSpPr>
          <p:cNvPr id="72" name="TextBox 72"/>
          <p:cNvSpPr txBox="1"/>
          <p:nvPr/>
        </p:nvSpPr>
        <p:spPr>
          <a:xfrm>
            <a:off x="6559868" y="5352574"/>
            <a:ext cx="4788003" cy="198120"/>
          </a:xfrm>
          <a:prstGeom prst="rect">
            <a:avLst/>
          </a:prstGeom>
          <a:noFill/>
          <a:ln>
            <a:noFill/>
          </a:ln>
        </p:spPr>
        <p:txBody>
          <a:bodyPr wrap="none" lIns="0" tIns="0" rIns="0" bIns="0" anchor="t" anchorCtr="0">
            <a:spAutoFit/>
          </a:bodyPr>
          <a:lstStyle/>
          <a:p>
            <a:pPr algn="l"/>
            <a:r>
              <a:rPr lang="zh-CN" sz="975" dirty="0">
                <a:solidFill>
                  <a:srgbClr val="7F1D1D"/>
                </a:solidFill>
                <a:latin typeface="Arial" panose="020B0704020202020204"/>
                <a:ea typeface="Arial" panose="020B0704020202020204"/>
                <a:cs typeface="Arial" panose="020B0704020202020204"/>
              </a:rPr>
              <a:t>• Nếu khách can thiệp gửi trực tiếp API hủy khi đơn đã DANG_LAY_HANG:</a:t>
            </a:r>
            <a:endParaRPr lang="zh-CN" sz="975" dirty="0">
              <a:solidFill>
                <a:srgbClr val="7F1D1D"/>
              </a:solidFill>
              <a:latin typeface="Arial" panose="020B0704020202020204"/>
              <a:ea typeface="Arial" panose="020B0704020202020204"/>
              <a:cs typeface="Arial" panose="020B0704020202020204"/>
            </a:endParaRPr>
          </a:p>
        </p:txBody>
      </p:sp>
      <p:sp>
        <p:nvSpPr>
          <p:cNvPr id="73" name="TextBox 73"/>
          <p:cNvSpPr txBox="1"/>
          <p:nvPr/>
        </p:nvSpPr>
        <p:spPr>
          <a:xfrm>
            <a:off x="6559868" y="5543074"/>
            <a:ext cx="5578316" cy="198120"/>
          </a:xfrm>
          <a:prstGeom prst="rect">
            <a:avLst/>
          </a:prstGeom>
          <a:noFill/>
          <a:ln>
            <a:noFill/>
          </a:ln>
        </p:spPr>
        <p:txBody>
          <a:bodyPr wrap="none" lIns="0" tIns="0" rIns="0" bIns="0" anchor="t" anchorCtr="0">
            <a:spAutoFit/>
          </a:bodyPr>
          <a:lstStyle/>
          <a:p>
            <a:pPr algn="l"/>
            <a:r>
              <a:rPr lang="zh-CN" sz="975" dirty="0">
                <a:solidFill>
                  <a:srgbClr val="7F1D1D"/>
                </a:solidFill>
                <a:latin typeface="Arial" panose="020B0704020202020204"/>
                <a:ea typeface="Arial" panose="020B0704020202020204"/>
                <a:cs typeface="Arial" panose="020B0704020202020204"/>
              </a:rPr>
              <a:t>• Backend Service kiểm tra trạng thái hiện tại ➔ Từ chối ngay lập tức (HTTP 400).</a:t>
            </a:r>
            <a:endParaRPr lang="zh-CN" sz="975" dirty="0">
              <a:solidFill>
                <a:srgbClr val="7F1D1D"/>
              </a:solidFill>
              <a:latin typeface="Arial" panose="020B0704020202020204"/>
              <a:ea typeface="Arial" panose="020B0704020202020204"/>
              <a:cs typeface="Arial" panose="020B0704020202020204"/>
            </a:endParaRPr>
          </a:p>
        </p:txBody>
      </p:sp>
      <p:sp>
        <p:nvSpPr>
          <p:cNvPr id="74" name="TextBox 74"/>
          <p:cNvSpPr txBox="1"/>
          <p:nvPr/>
        </p:nvSpPr>
        <p:spPr>
          <a:xfrm>
            <a:off x="6559868" y="5733574"/>
            <a:ext cx="4837843" cy="198120"/>
          </a:xfrm>
          <a:prstGeom prst="rect">
            <a:avLst/>
          </a:prstGeom>
          <a:noFill/>
          <a:ln>
            <a:noFill/>
          </a:ln>
        </p:spPr>
        <p:txBody>
          <a:bodyPr wrap="none" lIns="0" tIns="0" rIns="0" bIns="0" anchor="t" anchorCtr="0">
            <a:spAutoFit/>
          </a:bodyPr>
          <a:lstStyle/>
          <a:p>
            <a:pPr algn="l"/>
            <a:r>
              <a:rPr lang="zh-CN" sz="975" dirty="0">
                <a:solidFill>
                  <a:srgbClr val="7F1D1D"/>
                </a:solidFill>
                <a:latin typeface="Arial" panose="020B0704020202020204"/>
                <a:ea typeface="Arial" panose="020B0704020202020204"/>
                <a:cs typeface="Arial" panose="020B0704020202020204"/>
              </a:rPr>
              <a:t>• Bảo vệ tuyệt đối quyền lợi công sức di chuyển của tài xế ngoài đường.</a:t>
            </a:r>
            <a:endParaRPr lang="zh-CN" sz="975" dirty="0">
              <a:solidFill>
                <a:srgbClr val="7F1D1D"/>
              </a:solidFill>
              <a:latin typeface="Arial" panose="020B0704020202020204"/>
              <a:ea typeface="Arial" panose="020B0704020202020204"/>
              <a:cs typeface="Arial" panose="020B0704020202020204"/>
            </a:endParaRPr>
          </a:p>
        </p:txBody>
      </p:sp>
      <p:sp>
        <p:nvSpPr>
          <p:cNvPr id="75" name="Line 75"/>
          <p:cNvSpPr/>
          <p:nvPr/>
        </p:nvSpPr>
        <p:spPr>
          <a:xfrm>
            <a:off x="381000" y="6334125"/>
            <a:ext cx="11430000" cy="9525"/>
          </a:xfrm>
          <a:custGeom>
            <a:avLst/>
            <a:gdLst/>
            <a:ahLst/>
            <a:cxnLst/>
            <a:rect l="l" t="t" r="r" b="b"/>
            <a:pathLst>
              <a:path w="11430000" h="9525">
                <a:moveTo>
                  <a:pt x="0" y="0"/>
                </a:moveTo>
                <a:lnTo>
                  <a:pt x="11430000" y="0"/>
                </a:lnTo>
              </a:path>
            </a:pathLst>
          </a:custGeom>
          <a:noFill/>
          <a:ln w="9525">
            <a:solidFill>
              <a:srgbClr val="CBD5E1"/>
            </a:solidFill>
          </a:ln>
        </p:spPr>
      </p:sp>
      <p:sp>
        <p:nvSpPr>
          <p:cNvPr id="76" name="TextBox 76"/>
          <p:cNvSpPr txBox="1"/>
          <p:nvPr/>
        </p:nvSpPr>
        <p:spPr>
          <a:xfrm>
            <a:off x="368618" y="6514624"/>
            <a:ext cx="3563374"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panose="020B0704020202020204"/>
                <a:ea typeface="Arial" panose="020B0704020202020204"/>
                <a:cs typeface="Arial" panose="020B0704020202020204"/>
              </a:rPr>
              <a:t>Báo cáo Đồ án Lập trình Di động (MOB402) • Nhóm 10</a:t>
            </a:r>
            <a:endParaRPr lang="zh-CN" sz="975" dirty="0">
              <a:solidFill>
                <a:srgbClr val="64748B"/>
              </a:solidFill>
              <a:latin typeface="Arial" panose="020B0704020202020204"/>
              <a:ea typeface="Arial" panose="020B0704020202020204"/>
              <a:cs typeface="Arial" panose="020B0704020202020204"/>
            </a:endParaRPr>
          </a:p>
        </p:txBody>
      </p:sp>
      <p:sp>
        <p:nvSpPr>
          <p:cNvPr id="77" name="TextBox 77"/>
          <p:cNvSpPr txBox="1"/>
          <p:nvPr/>
        </p:nvSpPr>
        <p:spPr>
          <a:xfrm>
            <a:off x="4716589" y="6514624"/>
            <a:ext cx="2758821" cy="198120"/>
          </a:xfrm>
          <a:prstGeom prst="rect">
            <a:avLst/>
          </a:prstGeom>
          <a:noFill/>
          <a:ln>
            <a:noFill/>
          </a:ln>
        </p:spPr>
        <p:txBody>
          <a:bodyPr wrap="none" lIns="0" tIns="0" rIns="0" bIns="0" anchor="t" anchorCtr="0">
            <a:spAutoFit/>
          </a:bodyPr>
          <a:lstStyle/>
          <a:p>
            <a:pPr algn="ctr"/>
            <a:r>
              <a:rPr lang="zh-CN" sz="975" dirty="0">
                <a:solidFill>
                  <a:srgbClr val="94A3B8"/>
                </a:solidFill>
                <a:latin typeface="Arial" panose="020B0704020202020204"/>
                <a:ea typeface="Arial" panose="020B0704020202020204"/>
                <a:cs typeface="Arial" panose="020B0704020202020204"/>
              </a:rPr>
              <a:t>Kết quả kiểm thử &amp; Xử lý tình huống biên</a:t>
            </a:r>
            <a:endParaRPr lang="zh-CN" sz="975" dirty="0">
              <a:solidFill>
                <a:srgbClr val="94A3B8"/>
              </a:solidFill>
              <a:latin typeface="Arial" panose="020B0704020202020204"/>
              <a:ea typeface="Arial" panose="020B0704020202020204"/>
              <a:cs typeface="Arial" panose="020B0704020202020204"/>
            </a:endParaRPr>
          </a:p>
        </p:txBody>
      </p:sp>
      <p:sp>
        <p:nvSpPr>
          <p:cNvPr id="78" name="TextBox 78"/>
          <p:cNvSpPr txBox="1"/>
          <p:nvPr/>
        </p:nvSpPr>
        <p:spPr>
          <a:xfrm>
            <a:off x="11338758" y="6506528"/>
            <a:ext cx="485577" cy="213360"/>
          </a:xfrm>
          <a:prstGeom prst="rect">
            <a:avLst/>
          </a:prstGeom>
          <a:noFill/>
          <a:ln>
            <a:noFill/>
          </a:ln>
        </p:spPr>
        <p:txBody>
          <a:bodyPr wrap="none" lIns="0" tIns="0" rIns="0" bIns="0" anchor="t" anchorCtr="0">
            <a:spAutoFit/>
          </a:bodyPr>
          <a:lstStyle/>
          <a:p>
            <a:pPr algn="r"/>
            <a:r>
              <a:rPr lang="zh-CN" sz="1050" b="1" dirty="0">
                <a:solidFill>
                  <a:srgbClr val="003366"/>
                </a:solidFill>
                <a:latin typeface="Arial" panose="020B0704020202020204"/>
                <a:ea typeface="Arial" panose="020B0704020202020204"/>
                <a:cs typeface="Arial" panose="020B0704020202020204"/>
              </a:rPr>
              <a:t>12 / 14</a:t>
            </a:r>
            <a:endParaRPr lang="zh-CN" sz="1050" b="1" dirty="0">
              <a:solidFill>
                <a:srgbClr val="003366"/>
              </a:solidFill>
              <a:latin typeface="Arial" panose="020B0704020202020204"/>
              <a:ea typeface="Arial" panose="020B0704020202020204"/>
              <a:cs typeface="Arial" panose="020B070402020202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858000"/>
          </a:xfrm>
          <a:prstGeom prst="rect">
            <a:avLst/>
          </a:prstGeom>
          <a:solidFill>
            <a:srgbClr val="F8FAFC"/>
          </a:solidFill>
          <a:ln>
            <a:noFill/>
          </a:ln>
        </p:spPr>
      </p:sp>
      <p:sp>
        <p:nvSpPr>
          <p:cNvPr id="4" name="Rectangle 4"/>
          <p:cNvSpPr/>
          <p:nvPr/>
        </p:nvSpPr>
        <p:spPr>
          <a:xfrm>
            <a:off x="0" y="0"/>
            <a:ext cx="12192000" cy="666750"/>
          </a:xfrm>
          <a:prstGeom prst="rect">
            <a:avLst/>
          </a:prstGeom>
          <a:solidFill>
            <a:srgbClr val="003366"/>
          </a:solidFill>
          <a:ln>
            <a:noFill/>
          </a:ln>
        </p:spPr>
      </p:sp>
      <p:sp>
        <p:nvSpPr>
          <p:cNvPr id="5" name="Rectangle 5"/>
          <p:cNvSpPr/>
          <p:nvPr/>
        </p:nvSpPr>
        <p:spPr>
          <a:xfrm>
            <a:off x="0" y="0"/>
            <a:ext cx="57150" cy="666750"/>
          </a:xfrm>
          <a:prstGeom prst="rect">
            <a:avLst/>
          </a:prstGeom>
          <a:solidFill>
            <a:srgbClr val="E65100"/>
          </a:solidFill>
          <a:ln>
            <a:noFill/>
          </a:ln>
        </p:spPr>
      </p:sp>
      <p:sp>
        <p:nvSpPr>
          <p:cNvPr id="6" name="TextBox 6"/>
          <p:cNvSpPr txBox="1"/>
          <p:nvPr/>
        </p:nvSpPr>
        <p:spPr>
          <a:xfrm>
            <a:off x="356235" y="227648"/>
            <a:ext cx="7331090" cy="396240"/>
          </a:xfrm>
          <a:prstGeom prst="rect">
            <a:avLst/>
          </a:prstGeom>
          <a:noFill/>
          <a:ln>
            <a:noFill/>
          </a:ln>
        </p:spPr>
        <p:txBody>
          <a:bodyPr wrap="none" lIns="0" tIns="0" rIns="0" bIns="0" anchor="t" anchorCtr="0">
            <a:spAutoFit/>
          </a:bodyPr>
          <a:lstStyle/>
          <a:p>
            <a:pPr algn="l"/>
            <a:r>
              <a:rPr lang="zh-CN" sz="1950" b="1" dirty="0">
                <a:solidFill>
                  <a:srgbClr val="FFFFFF"/>
                </a:solidFill>
                <a:latin typeface="Arial" panose="020B0704020202020204"/>
                <a:ea typeface="Arial" panose="020B0704020202020204"/>
                <a:cs typeface="Arial" panose="020B0704020202020204"/>
              </a:rPr>
              <a:t>06. KẾT QUẢ ĐẠT ĐƯỢC &amp; BÀI HỌC VƯỢT QUA THỬ THÁCH</a:t>
            </a:r>
            <a:endParaRPr lang="zh-CN" sz="1950" b="1" dirty="0">
              <a:solidFill>
                <a:srgbClr val="FFFFFF"/>
              </a:solidFill>
              <a:latin typeface="Arial" panose="020B0704020202020204"/>
              <a:ea typeface="Arial" panose="020B0704020202020204"/>
              <a:cs typeface="Arial" panose="020B0704020202020204"/>
            </a:endParaRPr>
          </a:p>
        </p:txBody>
      </p:sp>
      <p:sp>
        <p:nvSpPr>
          <p:cNvPr id="7" name="TextBox 7"/>
          <p:cNvSpPr txBox="1"/>
          <p:nvPr/>
        </p:nvSpPr>
        <p:spPr>
          <a:xfrm>
            <a:off x="10295973" y="299085"/>
            <a:ext cx="1530267" cy="243840"/>
          </a:xfrm>
          <a:prstGeom prst="rect">
            <a:avLst/>
          </a:prstGeom>
          <a:noFill/>
          <a:ln>
            <a:noFill/>
          </a:ln>
        </p:spPr>
        <p:txBody>
          <a:bodyPr wrap="none" lIns="0" tIns="0" rIns="0" bIns="0" anchor="t" anchorCtr="0">
            <a:spAutoFit/>
          </a:bodyPr>
          <a:lstStyle/>
          <a:p>
            <a:pPr algn="r"/>
            <a:r>
              <a:rPr lang="zh-CN" sz="1200" b="1" dirty="0">
                <a:solidFill>
                  <a:srgbClr val="93C5FD"/>
                </a:solidFill>
                <a:latin typeface="Arial" panose="020B0704020202020204"/>
                <a:ea typeface="Arial" panose="020B0704020202020204"/>
                <a:cs typeface="Arial" panose="020B0704020202020204"/>
              </a:rPr>
              <a:t>GODROP DELIVERY</a:t>
            </a:r>
            <a:endParaRPr lang="zh-CN" sz="1200" b="1" dirty="0">
              <a:solidFill>
                <a:srgbClr val="93C5FD"/>
              </a:solidFill>
              <a:latin typeface="Arial" panose="020B0704020202020204"/>
              <a:ea typeface="Arial" panose="020B0704020202020204"/>
              <a:cs typeface="Arial" panose="020B0704020202020204"/>
            </a:endParaRPr>
          </a:p>
        </p:txBody>
      </p:sp>
      <p:sp>
        <p:nvSpPr>
          <p:cNvPr id="8" name="Rectangle 8"/>
          <p:cNvSpPr/>
          <p:nvPr/>
        </p:nvSpPr>
        <p:spPr>
          <a:xfrm>
            <a:off x="0" y="666750"/>
            <a:ext cx="12192000" cy="476250"/>
          </a:xfrm>
          <a:prstGeom prst="rect">
            <a:avLst/>
          </a:prstGeom>
          <a:solidFill>
            <a:srgbClr val="E8F4FC"/>
          </a:solidFill>
          <a:ln>
            <a:noFill/>
          </a:ln>
        </p:spPr>
      </p:sp>
      <p:sp>
        <p:nvSpPr>
          <p:cNvPr id="9" name="Rectangle 9"/>
          <p:cNvSpPr/>
          <p:nvPr/>
        </p:nvSpPr>
        <p:spPr>
          <a:xfrm>
            <a:off x="0" y="666750"/>
            <a:ext cx="57150" cy="476250"/>
          </a:xfrm>
          <a:prstGeom prst="rect">
            <a:avLst/>
          </a:prstGeom>
          <a:solidFill>
            <a:srgbClr val="0066CC"/>
          </a:solidFill>
          <a:ln>
            <a:noFill/>
          </a:ln>
        </p:spPr>
      </p:sp>
      <p:sp>
        <p:nvSpPr>
          <p:cNvPr id="10" name="TextBox 10"/>
          <p:cNvSpPr txBox="1"/>
          <p:nvPr/>
        </p:nvSpPr>
        <p:spPr>
          <a:xfrm>
            <a:off x="364808" y="824389"/>
            <a:ext cx="10758297" cy="259080"/>
          </a:xfrm>
          <a:prstGeom prst="rect">
            <a:avLst/>
          </a:prstGeom>
          <a:noFill/>
          <a:ln>
            <a:noFill/>
          </a:ln>
        </p:spPr>
        <p:txBody>
          <a:bodyPr wrap="none" lIns="0" tIns="0" rIns="0" bIns="0" anchor="t" anchorCtr="0">
            <a:spAutoFit/>
          </a:bodyPr>
          <a:lstStyle/>
          <a:p>
            <a:pPr algn="l"/>
            <a:r>
              <a:rPr lang="zh-CN" sz="1275" dirty="0">
                <a:solidFill>
                  <a:srgbClr val="0F172A"/>
                </a:solidFill>
                <a:latin typeface="Arial" panose="020B0704020202020204"/>
                <a:ea typeface="Arial" panose="020B0704020202020204"/>
                <a:cs typeface="Arial" panose="020B0704020202020204"/>
              </a:rPr>
              <a:t>Đóng gói thành công bản APK Debug vận hành thực tế; hoàn thành xuất sắc bước chuyển dịch kiến trúc dữ liệu dùng chung</a:t>
            </a:r>
            <a:endParaRPr lang="zh-CN" sz="1275" dirty="0">
              <a:solidFill>
                <a:srgbClr val="0F172A"/>
              </a:solidFill>
              <a:latin typeface="Arial" panose="020B0704020202020204"/>
              <a:ea typeface="Arial" panose="020B0704020202020204"/>
              <a:cs typeface="Arial" panose="020B0704020202020204"/>
            </a:endParaRPr>
          </a:p>
        </p:txBody>
      </p:sp>
      <p:sp>
        <p:nvSpPr>
          <p:cNvPr id="11" name="Freeform 11"/>
          <p:cNvSpPr/>
          <p:nvPr/>
        </p:nvSpPr>
        <p:spPr>
          <a:xfrm>
            <a:off x="381000" y="1333500"/>
            <a:ext cx="5715000" cy="4810125"/>
          </a:xfrm>
          <a:custGeom>
            <a:avLst/>
            <a:gdLst/>
            <a:ahLst/>
            <a:cxnLst/>
            <a:rect l="l" t="t" r="r" b="b"/>
            <a:pathLst>
              <a:path w="5572125" h="4810125">
                <a:moveTo>
                  <a:pt x="95250" y="0"/>
                </a:moveTo>
                <a:lnTo>
                  <a:pt x="5476875" y="0"/>
                </a:lnTo>
                <a:cubicBezTo>
                  <a:pt x="5529480" y="0"/>
                  <a:pt x="5572125" y="42645"/>
                  <a:pt x="5572125" y="95250"/>
                </a:cubicBezTo>
                <a:lnTo>
                  <a:pt x="5572125" y="4714875"/>
                </a:lnTo>
                <a:cubicBezTo>
                  <a:pt x="5572125" y="4767480"/>
                  <a:pt x="5529480" y="4810125"/>
                  <a:pt x="5476875" y="4810125"/>
                </a:cubicBezTo>
                <a:lnTo>
                  <a:pt x="95250" y="4810125"/>
                </a:lnTo>
                <a:cubicBezTo>
                  <a:pt x="42645" y="4810125"/>
                  <a:pt x="0" y="4767480"/>
                  <a:pt x="0" y="4714875"/>
                </a:cubicBezTo>
                <a:lnTo>
                  <a:pt x="0" y="95250"/>
                </a:lnTo>
                <a:cubicBezTo>
                  <a:pt x="0" y="42645"/>
                  <a:pt x="42645" y="0"/>
                  <a:pt x="95250" y="0"/>
                </a:cubicBezTo>
                <a:close/>
              </a:path>
            </a:pathLst>
          </a:custGeom>
          <a:solidFill>
            <a:srgbClr val="FFFFFF"/>
          </a:solidFill>
          <a:ln w="14288">
            <a:solidFill>
              <a:srgbClr val="E2E8F0"/>
            </a:solidFill>
          </a:ln>
        </p:spPr>
      </p:sp>
      <p:sp>
        <p:nvSpPr>
          <p:cNvPr id="12" name="Freeform 12"/>
          <p:cNvSpPr/>
          <p:nvPr/>
        </p:nvSpPr>
        <p:spPr>
          <a:xfrm>
            <a:off x="381000" y="1333500"/>
            <a:ext cx="5715000" cy="476250"/>
          </a:xfrm>
          <a:custGeom>
            <a:avLst/>
            <a:gdLst/>
            <a:ahLst/>
            <a:cxnLst/>
            <a:rect l="l" t="t" r="r" b="b"/>
            <a:pathLst>
              <a:path w="5572125" h="476250">
                <a:moveTo>
                  <a:pt x="95250" y="0"/>
                </a:moveTo>
                <a:lnTo>
                  <a:pt x="5476875" y="0"/>
                </a:lnTo>
                <a:cubicBezTo>
                  <a:pt x="5529480" y="0"/>
                  <a:pt x="5572125" y="42645"/>
                  <a:pt x="5572125" y="95250"/>
                </a:cubicBezTo>
                <a:lnTo>
                  <a:pt x="5572125" y="381000"/>
                </a:lnTo>
                <a:cubicBezTo>
                  <a:pt x="5572125" y="433605"/>
                  <a:pt x="5529480" y="476250"/>
                  <a:pt x="5476875" y="476250"/>
                </a:cubicBezTo>
                <a:lnTo>
                  <a:pt x="95250" y="476250"/>
                </a:lnTo>
                <a:cubicBezTo>
                  <a:pt x="42645" y="476250"/>
                  <a:pt x="0" y="433605"/>
                  <a:pt x="0" y="381000"/>
                </a:cubicBezTo>
                <a:lnTo>
                  <a:pt x="0" y="95250"/>
                </a:lnTo>
                <a:cubicBezTo>
                  <a:pt x="0" y="42645"/>
                  <a:pt x="42645" y="0"/>
                  <a:pt x="95250" y="0"/>
                </a:cubicBezTo>
                <a:close/>
              </a:path>
            </a:pathLst>
          </a:custGeom>
          <a:solidFill>
            <a:srgbClr val="F1F5F9"/>
          </a:solidFill>
          <a:ln>
            <a:noFill/>
          </a:ln>
        </p:spPr>
      </p:sp>
      <p:sp>
        <p:nvSpPr>
          <p:cNvPr id="13" name="Freeform 13"/>
          <p:cNvSpPr/>
          <p:nvPr/>
        </p:nvSpPr>
        <p:spPr>
          <a:xfrm>
            <a:off x="571500" y="1457325"/>
            <a:ext cx="228600" cy="228600"/>
          </a:xfrm>
          <a:custGeom>
            <a:avLst/>
            <a:gdLst/>
            <a:ahLst/>
            <a:cxnLst/>
            <a:rect l="l" t="t" r="r" b="b"/>
            <a:pathLst>
              <a:path w="228600" h="228600">
                <a:moveTo>
                  <a:pt x="114300" y="228600"/>
                </a:moveTo>
                <a:cubicBezTo>
                  <a:pt x="177426" y="228600"/>
                  <a:pt x="228600" y="177426"/>
                  <a:pt x="228600" y="114300"/>
                </a:cubicBezTo>
                <a:cubicBezTo>
                  <a:pt x="228600" y="51174"/>
                  <a:pt x="177426" y="0"/>
                  <a:pt x="114300" y="0"/>
                </a:cubicBezTo>
                <a:cubicBezTo>
                  <a:pt x="51174" y="0"/>
                  <a:pt x="0" y="51174"/>
                  <a:pt x="0" y="114300"/>
                </a:cubicBezTo>
                <a:cubicBezTo>
                  <a:pt x="0" y="177426"/>
                  <a:pt x="51174" y="228600"/>
                  <a:pt x="114300" y="228600"/>
                </a:cubicBezTo>
                <a:close/>
                <a:moveTo>
                  <a:pt x="181553" y="81540"/>
                </a:moveTo>
                <a:lnTo>
                  <a:pt x="161347" y="61335"/>
                </a:lnTo>
                <a:lnTo>
                  <a:pt x="92869" y="129813"/>
                </a:lnTo>
                <a:lnTo>
                  <a:pt x="67253" y="104197"/>
                </a:lnTo>
                <a:lnTo>
                  <a:pt x="47047" y="124403"/>
                </a:lnTo>
                <a:lnTo>
                  <a:pt x="92869" y="170224"/>
                </a:lnTo>
                <a:lnTo>
                  <a:pt x="181553" y="81540"/>
                </a:lnTo>
                <a:close/>
              </a:path>
            </a:pathLst>
          </a:custGeom>
          <a:solidFill>
            <a:srgbClr val="16A34A"/>
          </a:solidFill>
          <a:ln>
            <a:noFill/>
          </a:ln>
        </p:spPr>
      </p:sp>
      <p:sp>
        <p:nvSpPr>
          <p:cNvPr id="14" name="TextBox 14"/>
          <p:cNvSpPr txBox="1"/>
          <p:nvPr/>
        </p:nvSpPr>
        <p:spPr>
          <a:xfrm>
            <a:off x="887730" y="1492568"/>
            <a:ext cx="3087922" cy="274320"/>
          </a:xfrm>
          <a:prstGeom prst="rect">
            <a:avLst/>
          </a:prstGeom>
          <a:noFill/>
          <a:ln>
            <a:noFill/>
          </a:ln>
        </p:spPr>
        <p:txBody>
          <a:bodyPr wrap="none" lIns="0" tIns="0" rIns="0" bIns="0" anchor="t" anchorCtr="0">
            <a:spAutoFit/>
          </a:bodyPr>
          <a:lstStyle/>
          <a:p>
            <a:pPr algn="l"/>
            <a:r>
              <a:rPr lang="zh-CN" sz="1350" b="1" dirty="0">
                <a:solidFill>
                  <a:srgbClr val="003366"/>
                </a:solidFill>
                <a:latin typeface="Arial" panose="020B0704020202020204"/>
                <a:ea typeface="Arial" panose="020B0704020202020204"/>
                <a:cs typeface="Arial" panose="020B0704020202020204"/>
              </a:rPr>
              <a:t>Các kết quả đạt được của đồ án</a:t>
            </a:r>
            <a:endParaRPr lang="zh-CN" sz="1350" b="1" dirty="0">
              <a:solidFill>
                <a:srgbClr val="003366"/>
              </a:solidFill>
              <a:latin typeface="Arial" panose="020B0704020202020204"/>
              <a:ea typeface="Arial" panose="020B0704020202020204"/>
              <a:cs typeface="Arial" panose="020B0704020202020204"/>
            </a:endParaRPr>
          </a:p>
        </p:txBody>
      </p:sp>
      <p:sp>
        <p:nvSpPr>
          <p:cNvPr id="15" name="Freeform 15"/>
          <p:cNvSpPr/>
          <p:nvPr/>
        </p:nvSpPr>
        <p:spPr>
          <a:xfrm>
            <a:off x="571500" y="1952625"/>
            <a:ext cx="5309870" cy="904875"/>
          </a:xfrm>
          <a:custGeom>
            <a:avLst/>
            <a:gdLst/>
            <a:ahLst/>
            <a:cxnLst/>
            <a:rect l="l" t="t" r="r" b="b"/>
            <a:pathLst>
              <a:path w="5191125" h="904875">
                <a:moveTo>
                  <a:pt x="76200" y="0"/>
                </a:moveTo>
                <a:lnTo>
                  <a:pt x="5114925" y="0"/>
                </a:lnTo>
                <a:cubicBezTo>
                  <a:pt x="5157009" y="0"/>
                  <a:pt x="5191125" y="34116"/>
                  <a:pt x="5191125" y="76200"/>
                </a:cubicBezTo>
                <a:lnTo>
                  <a:pt x="5191125" y="828675"/>
                </a:lnTo>
                <a:cubicBezTo>
                  <a:pt x="5191125" y="870759"/>
                  <a:pt x="5157009" y="904875"/>
                  <a:pt x="5114925" y="904875"/>
                </a:cubicBezTo>
                <a:lnTo>
                  <a:pt x="76200" y="904875"/>
                </a:lnTo>
                <a:cubicBezTo>
                  <a:pt x="34116" y="904875"/>
                  <a:pt x="0" y="870759"/>
                  <a:pt x="0" y="828675"/>
                </a:cubicBezTo>
                <a:lnTo>
                  <a:pt x="0" y="76200"/>
                </a:lnTo>
                <a:cubicBezTo>
                  <a:pt x="0" y="34116"/>
                  <a:pt x="34116" y="0"/>
                  <a:pt x="76200" y="0"/>
                </a:cubicBezTo>
                <a:close/>
              </a:path>
            </a:pathLst>
          </a:custGeom>
          <a:solidFill>
            <a:srgbClr val="F0FDF4"/>
          </a:solidFill>
          <a:ln w="9525">
            <a:solidFill>
              <a:srgbClr val="BBF7D0"/>
            </a:solidFill>
          </a:ln>
        </p:spPr>
      </p:sp>
      <p:sp>
        <p:nvSpPr>
          <p:cNvPr id="16" name="TextBox 16"/>
          <p:cNvSpPr txBox="1"/>
          <p:nvPr/>
        </p:nvSpPr>
        <p:spPr>
          <a:xfrm>
            <a:off x="700088" y="2069306"/>
            <a:ext cx="3729163" cy="228600"/>
          </a:xfrm>
          <a:prstGeom prst="rect">
            <a:avLst/>
          </a:prstGeom>
          <a:noFill/>
          <a:ln>
            <a:noFill/>
          </a:ln>
        </p:spPr>
        <p:txBody>
          <a:bodyPr wrap="none" lIns="0" tIns="0" rIns="0" bIns="0" anchor="t" anchorCtr="0">
            <a:spAutoFit/>
          </a:bodyPr>
          <a:lstStyle/>
          <a:p>
            <a:pPr algn="l"/>
            <a:r>
              <a:rPr lang="zh-CN" sz="1125" b="1" dirty="0">
                <a:solidFill>
                  <a:srgbClr val="15803D"/>
                </a:solidFill>
                <a:latin typeface="Arial" panose="020B0704020202020204"/>
                <a:ea typeface="Arial" panose="020B0704020202020204"/>
                <a:cs typeface="Arial" panose="020B0704020202020204"/>
              </a:rPr>
              <a:t>1. Đóng gói thành công bản APK Debug thực tế</a:t>
            </a:r>
            <a:endParaRPr lang="zh-CN" sz="1125" b="1" dirty="0">
              <a:solidFill>
                <a:srgbClr val="15803D"/>
              </a:solidFill>
              <a:latin typeface="Arial" panose="020B0704020202020204"/>
              <a:ea typeface="Arial" panose="020B0704020202020204"/>
              <a:cs typeface="Arial" panose="020B0704020202020204"/>
            </a:endParaRPr>
          </a:p>
        </p:txBody>
      </p:sp>
      <p:sp>
        <p:nvSpPr>
          <p:cNvPr id="17" name="TextBox 17"/>
          <p:cNvSpPr txBox="1"/>
          <p:nvPr/>
        </p:nvSpPr>
        <p:spPr>
          <a:xfrm>
            <a:off x="701516" y="2319576"/>
            <a:ext cx="5948136" cy="205740"/>
          </a:xfrm>
          <a:prstGeom prst="rect">
            <a:avLst/>
          </a:prstGeom>
          <a:noFill/>
          <a:ln>
            <a:noFill/>
          </a:ln>
        </p:spPr>
        <p:txBody>
          <a:bodyPr wrap="none" lIns="0" tIns="0" rIns="0" bIns="0" anchor="t" anchorCtr="0">
            <a:spAutoFit/>
          </a:bodyPr>
          <a:lstStyle/>
          <a:p>
            <a:pPr algn="l"/>
            <a:r>
              <a:rPr lang="zh-CN" sz="1010" dirty="0">
                <a:solidFill>
                  <a:srgbClr val="14532D"/>
                </a:solidFill>
                <a:latin typeface="Arial" panose="020B0704020202020204"/>
                <a:ea typeface="Arial" panose="020B0704020202020204"/>
                <a:cs typeface="Arial" panose="020B0704020202020204"/>
              </a:rPr>
              <a:t>• Ứng dụng Android native biên dịch thành công, không phát sinh lỗi crash runtime.</a:t>
            </a:r>
            <a:endParaRPr lang="zh-CN" sz="1010" dirty="0">
              <a:solidFill>
                <a:srgbClr val="14532D"/>
              </a:solidFill>
              <a:latin typeface="Arial" panose="020B0704020202020204"/>
              <a:ea typeface="Arial" panose="020B0704020202020204"/>
              <a:cs typeface="Arial" panose="020B0704020202020204"/>
            </a:endParaRPr>
          </a:p>
        </p:txBody>
      </p:sp>
      <p:sp>
        <p:nvSpPr>
          <p:cNvPr id="18" name="TextBox 18"/>
          <p:cNvSpPr txBox="1"/>
          <p:nvPr/>
        </p:nvSpPr>
        <p:spPr>
          <a:xfrm>
            <a:off x="701516" y="2557701"/>
            <a:ext cx="5659779" cy="205740"/>
          </a:xfrm>
          <a:prstGeom prst="rect">
            <a:avLst/>
          </a:prstGeom>
          <a:noFill/>
          <a:ln>
            <a:noFill/>
          </a:ln>
        </p:spPr>
        <p:txBody>
          <a:bodyPr wrap="none" lIns="0" tIns="0" rIns="0" bIns="0" anchor="t" anchorCtr="0">
            <a:spAutoFit/>
          </a:bodyPr>
          <a:lstStyle/>
          <a:p>
            <a:pPr algn="l"/>
            <a:r>
              <a:rPr lang="zh-CN" sz="1010" dirty="0">
                <a:solidFill>
                  <a:srgbClr val="14532D"/>
                </a:solidFill>
                <a:latin typeface="Arial" panose="020B0704020202020204"/>
                <a:ea typeface="Arial" panose="020B0704020202020204"/>
                <a:cs typeface="Arial" panose="020B0704020202020204"/>
              </a:rPr>
              <a:t>• Đã cài đặt và kiểm thử trực tiếp trên cả Android Emulator và điện thoại thật.</a:t>
            </a:r>
            <a:endParaRPr lang="zh-CN" sz="1010" dirty="0">
              <a:solidFill>
                <a:srgbClr val="14532D"/>
              </a:solidFill>
              <a:latin typeface="Arial" panose="020B0704020202020204"/>
              <a:ea typeface="Arial" panose="020B0704020202020204"/>
              <a:cs typeface="Arial" panose="020B0704020202020204"/>
            </a:endParaRPr>
          </a:p>
        </p:txBody>
      </p:sp>
      <p:sp>
        <p:nvSpPr>
          <p:cNvPr id="19" name="Freeform 19"/>
          <p:cNvSpPr/>
          <p:nvPr/>
        </p:nvSpPr>
        <p:spPr>
          <a:xfrm>
            <a:off x="571500" y="2952750"/>
            <a:ext cx="5296535" cy="904875"/>
          </a:xfrm>
          <a:custGeom>
            <a:avLst/>
            <a:gdLst/>
            <a:ahLst/>
            <a:cxnLst/>
            <a:rect l="l" t="t" r="r" b="b"/>
            <a:pathLst>
              <a:path w="5191125" h="904875">
                <a:moveTo>
                  <a:pt x="76200" y="0"/>
                </a:moveTo>
                <a:lnTo>
                  <a:pt x="5114925" y="0"/>
                </a:lnTo>
                <a:cubicBezTo>
                  <a:pt x="5157009" y="0"/>
                  <a:pt x="5191125" y="34116"/>
                  <a:pt x="5191125" y="76200"/>
                </a:cubicBezTo>
                <a:lnTo>
                  <a:pt x="5191125" y="828675"/>
                </a:lnTo>
                <a:cubicBezTo>
                  <a:pt x="5191125" y="870759"/>
                  <a:pt x="5157009" y="904875"/>
                  <a:pt x="5114925" y="904875"/>
                </a:cubicBezTo>
                <a:lnTo>
                  <a:pt x="76200" y="904875"/>
                </a:lnTo>
                <a:cubicBezTo>
                  <a:pt x="34116" y="904875"/>
                  <a:pt x="0" y="870759"/>
                  <a:pt x="0" y="828675"/>
                </a:cubicBezTo>
                <a:lnTo>
                  <a:pt x="0" y="76200"/>
                </a:lnTo>
                <a:cubicBezTo>
                  <a:pt x="0" y="34116"/>
                  <a:pt x="34116" y="0"/>
                  <a:pt x="76200" y="0"/>
                </a:cubicBezTo>
                <a:close/>
              </a:path>
            </a:pathLst>
          </a:custGeom>
          <a:solidFill>
            <a:srgbClr val="EFF6FF"/>
          </a:solidFill>
          <a:ln w="9525">
            <a:solidFill>
              <a:srgbClr val="BFDBFE"/>
            </a:solidFill>
          </a:ln>
        </p:spPr>
      </p:sp>
      <p:sp>
        <p:nvSpPr>
          <p:cNvPr id="20" name="TextBox 20"/>
          <p:cNvSpPr txBox="1"/>
          <p:nvPr/>
        </p:nvSpPr>
        <p:spPr>
          <a:xfrm>
            <a:off x="700088" y="3069431"/>
            <a:ext cx="3634276" cy="228600"/>
          </a:xfrm>
          <a:prstGeom prst="rect">
            <a:avLst/>
          </a:prstGeom>
          <a:noFill/>
          <a:ln>
            <a:noFill/>
          </a:ln>
        </p:spPr>
        <p:txBody>
          <a:bodyPr wrap="none" lIns="0" tIns="0" rIns="0" bIns="0" anchor="t" anchorCtr="0">
            <a:spAutoFit/>
          </a:bodyPr>
          <a:lstStyle/>
          <a:p>
            <a:pPr algn="l"/>
            <a:r>
              <a:rPr lang="zh-CN" sz="1125" b="1" dirty="0">
                <a:solidFill>
                  <a:srgbClr val="1D4ED8"/>
                </a:solidFill>
                <a:latin typeface="Arial" panose="020B0704020202020204"/>
                <a:ea typeface="Arial" panose="020B0704020202020204"/>
                <a:cs typeface="Arial" panose="020B0704020202020204"/>
              </a:rPr>
              <a:t>2. Vận hành thông suốt 3 vai trò người dùng</a:t>
            </a:r>
            <a:endParaRPr lang="zh-CN" sz="1125" b="1" dirty="0">
              <a:solidFill>
                <a:srgbClr val="1D4ED8"/>
              </a:solidFill>
              <a:latin typeface="Arial" panose="020B0704020202020204"/>
              <a:ea typeface="Arial" panose="020B0704020202020204"/>
              <a:cs typeface="Arial" panose="020B0704020202020204"/>
            </a:endParaRPr>
          </a:p>
        </p:txBody>
      </p:sp>
      <p:sp>
        <p:nvSpPr>
          <p:cNvPr id="21" name="TextBox 21"/>
          <p:cNvSpPr txBox="1"/>
          <p:nvPr/>
        </p:nvSpPr>
        <p:spPr>
          <a:xfrm>
            <a:off x="701516" y="3319701"/>
            <a:ext cx="5925955" cy="205740"/>
          </a:xfrm>
          <a:prstGeom prst="rect">
            <a:avLst/>
          </a:prstGeom>
          <a:noFill/>
          <a:ln>
            <a:noFill/>
          </a:ln>
        </p:spPr>
        <p:txBody>
          <a:bodyPr wrap="none" lIns="0" tIns="0" rIns="0" bIns="0" anchor="t" anchorCtr="0">
            <a:spAutoFit/>
          </a:bodyPr>
          <a:lstStyle/>
          <a:p>
            <a:pPr algn="l"/>
            <a:r>
              <a:rPr lang="zh-CN" sz="1010" dirty="0">
                <a:solidFill>
                  <a:srgbClr val="1E40AF"/>
                </a:solidFill>
                <a:latin typeface="Arial" panose="020B0704020202020204"/>
                <a:ea typeface="Arial" panose="020B0704020202020204"/>
                <a:cs typeface="Arial" panose="020B0704020202020204"/>
              </a:rPr>
              <a:t>• Luồng nghiệp vụ khép kín: Khách tạo đơn ➔ Tài xế nhận đơn ➔ Giao hàng ➔ Đánh giá.</a:t>
            </a:r>
            <a:endParaRPr lang="zh-CN" sz="1010" dirty="0">
              <a:solidFill>
                <a:srgbClr val="1E40AF"/>
              </a:solidFill>
              <a:latin typeface="Arial" panose="020B0704020202020204"/>
              <a:ea typeface="Arial" panose="020B0704020202020204"/>
              <a:cs typeface="Arial" panose="020B0704020202020204"/>
            </a:endParaRPr>
          </a:p>
        </p:txBody>
      </p:sp>
      <p:sp>
        <p:nvSpPr>
          <p:cNvPr id="22" name="TextBox 22"/>
          <p:cNvSpPr txBox="1"/>
          <p:nvPr/>
        </p:nvSpPr>
        <p:spPr>
          <a:xfrm>
            <a:off x="701516" y="3557826"/>
            <a:ext cx="6066437" cy="205740"/>
          </a:xfrm>
          <a:prstGeom prst="rect">
            <a:avLst/>
          </a:prstGeom>
          <a:noFill/>
          <a:ln>
            <a:noFill/>
          </a:ln>
        </p:spPr>
        <p:txBody>
          <a:bodyPr wrap="none" lIns="0" tIns="0" rIns="0" bIns="0" anchor="t" anchorCtr="0">
            <a:spAutoFit/>
          </a:bodyPr>
          <a:lstStyle/>
          <a:p>
            <a:pPr algn="l"/>
            <a:r>
              <a:rPr lang="zh-CN" sz="1010" dirty="0">
                <a:solidFill>
                  <a:srgbClr val="1E40AF"/>
                </a:solidFill>
                <a:latin typeface="Arial" panose="020B0704020202020204"/>
                <a:ea typeface="Arial" panose="020B0704020202020204"/>
                <a:cs typeface="Arial" panose="020B0704020202020204"/>
              </a:rPr>
              <a:t>• Quản trị viên theo dõi toàn bộ trạng thái hệ thống qua Dashboard 5 tab trực quan.</a:t>
            </a:r>
            <a:endParaRPr lang="zh-CN" sz="1010" dirty="0">
              <a:solidFill>
                <a:srgbClr val="1E40AF"/>
              </a:solidFill>
              <a:latin typeface="Arial" panose="020B0704020202020204"/>
              <a:ea typeface="Arial" panose="020B0704020202020204"/>
              <a:cs typeface="Arial" panose="020B0704020202020204"/>
            </a:endParaRPr>
          </a:p>
        </p:txBody>
      </p:sp>
      <p:sp>
        <p:nvSpPr>
          <p:cNvPr id="23" name="Freeform 23"/>
          <p:cNvSpPr/>
          <p:nvPr/>
        </p:nvSpPr>
        <p:spPr>
          <a:xfrm>
            <a:off x="571500" y="3952875"/>
            <a:ext cx="5296535" cy="904875"/>
          </a:xfrm>
          <a:custGeom>
            <a:avLst/>
            <a:gdLst/>
            <a:ahLst/>
            <a:cxnLst/>
            <a:rect l="l" t="t" r="r" b="b"/>
            <a:pathLst>
              <a:path w="5191125" h="904875">
                <a:moveTo>
                  <a:pt x="76200" y="0"/>
                </a:moveTo>
                <a:lnTo>
                  <a:pt x="5114925" y="0"/>
                </a:lnTo>
                <a:cubicBezTo>
                  <a:pt x="5157009" y="0"/>
                  <a:pt x="5191125" y="34116"/>
                  <a:pt x="5191125" y="76200"/>
                </a:cubicBezTo>
                <a:lnTo>
                  <a:pt x="5191125" y="828675"/>
                </a:lnTo>
                <a:cubicBezTo>
                  <a:pt x="5191125" y="870759"/>
                  <a:pt x="5157009" y="904875"/>
                  <a:pt x="5114925" y="904875"/>
                </a:cubicBezTo>
                <a:lnTo>
                  <a:pt x="76200" y="904875"/>
                </a:lnTo>
                <a:cubicBezTo>
                  <a:pt x="34116" y="904875"/>
                  <a:pt x="0" y="870759"/>
                  <a:pt x="0" y="828675"/>
                </a:cubicBezTo>
                <a:lnTo>
                  <a:pt x="0" y="76200"/>
                </a:lnTo>
                <a:cubicBezTo>
                  <a:pt x="0" y="34116"/>
                  <a:pt x="34116" y="0"/>
                  <a:pt x="76200" y="0"/>
                </a:cubicBezTo>
                <a:close/>
              </a:path>
            </a:pathLst>
          </a:custGeom>
          <a:solidFill>
            <a:srgbClr val="F8FAFC"/>
          </a:solidFill>
          <a:ln w="9525">
            <a:solidFill>
              <a:srgbClr val="E2E8F0"/>
            </a:solidFill>
          </a:ln>
        </p:spPr>
      </p:sp>
      <p:sp>
        <p:nvSpPr>
          <p:cNvPr id="24" name="TextBox 24"/>
          <p:cNvSpPr txBox="1"/>
          <p:nvPr/>
        </p:nvSpPr>
        <p:spPr>
          <a:xfrm>
            <a:off x="700088" y="4069556"/>
            <a:ext cx="3660154" cy="228600"/>
          </a:xfrm>
          <a:prstGeom prst="rect">
            <a:avLst/>
          </a:prstGeom>
          <a:noFill/>
          <a:ln>
            <a:noFill/>
          </a:ln>
        </p:spPr>
        <p:txBody>
          <a:bodyPr wrap="none" lIns="0" tIns="0" rIns="0" bIns="0" anchor="t" anchorCtr="0">
            <a:spAutoFit/>
          </a:bodyPr>
          <a:lstStyle/>
          <a:p>
            <a:pPr algn="l"/>
            <a:r>
              <a:rPr lang="zh-CN" sz="1125" b="1" dirty="0">
                <a:solidFill>
                  <a:srgbClr val="003366"/>
                </a:solidFill>
                <a:latin typeface="Arial" panose="020B0704020202020204"/>
                <a:ea typeface="Arial" panose="020B0704020202020204"/>
                <a:cs typeface="Arial" panose="020B0704020202020204"/>
              </a:rPr>
              <a:t>3. Đảm bảo tính toàn vẹn và bảo mật dữ liệu</a:t>
            </a:r>
            <a:endParaRPr lang="zh-CN" sz="1125" b="1" dirty="0">
              <a:solidFill>
                <a:srgbClr val="003366"/>
              </a:solidFill>
              <a:latin typeface="Arial" panose="020B0704020202020204"/>
              <a:ea typeface="Arial" panose="020B0704020202020204"/>
              <a:cs typeface="Arial" panose="020B0704020202020204"/>
            </a:endParaRPr>
          </a:p>
        </p:txBody>
      </p:sp>
      <p:sp>
        <p:nvSpPr>
          <p:cNvPr id="25" name="TextBox 25"/>
          <p:cNvSpPr txBox="1"/>
          <p:nvPr/>
        </p:nvSpPr>
        <p:spPr>
          <a:xfrm>
            <a:off x="701516" y="4319826"/>
            <a:ext cx="4772525" cy="205740"/>
          </a:xfrm>
          <a:prstGeom prst="rect">
            <a:avLst/>
          </a:prstGeom>
          <a:noFill/>
          <a:ln>
            <a:noFill/>
          </a:ln>
        </p:spPr>
        <p:txBody>
          <a:bodyPr wrap="none" lIns="0" tIns="0" rIns="0" bIns="0" anchor="t" anchorCtr="0">
            <a:spAutoFit/>
          </a:bodyPr>
          <a:lstStyle/>
          <a:p>
            <a:pPr algn="l"/>
            <a:r>
              <a:rPr lang="zh-CN" sz="1010" dirty="0">
                <a:solidFill>
                  <a:srgbClr val="334155"/>
                </a:solidFill>
                <a:latin typeface="Arial" panose="020B0704020202020204"/>
                <a:ea typeface="Arial" panose="020B0704020202020204"/>
                <a:cs typeface="Arial" panose="020B0704020202020204"/>
              </a:rPr>
              <a:t>• Backend quản lý quyền sở hữu nghiêm ngặt qua JWT Bearer Token.</a:t>
            </a:r>
            <a:endParaRPr lang="zh-CN" sz="1010" dirty="0">
              <a:solidFill>
                <a:srgbClr val="334155"/>
              </a:solidFill>
              <a:latin typeface="Arial" panose="020B0704020202020204"/>
              <a:ea typeface="Arial" panose="020B0704020202020204"/>
              <a:cs typeface="Arial" panose="020B0704020202020204"/>
            </a:endParaRPr>
          </a:p>
        </p:txBody>
      </p:sp>
      <p:sp>
        <p:nvSpPr>
          <p:cNvPr id="26" name="TextBox 26"/>
          <p:cNvSpPr txBox="1"/>
          <p:nvPr/>
        </p:nvSpPr>
        <p:spPr>
          <a:xfrm>
            <a:off x="701516" y="4557951"/>
            <a:ext cx="5297484" cy="205740"/>
          </a:xfrm>
          <a:prstGeom prst="rect">
            <a:avLst/>
          </a:prstGeom>
          <a:noFill/>
          <a:ln>
            <a:noFill/>
          </a:ln>
        </p:spPr>
        <p:txBody>
          <a:bodyPr wrap="none" lIns="0" tIns="0" rIns="0" bIns="0" anchor="t" anchorCtr="0">
            <a:spAutoFit/>
          </a:bodyPr>
          <a:lstStyle/>
          <a:p>
            <a:pPr algn="l"/>
            <a:r>
              <a:rPr lang="zh-CN" sz="1010" dirty="0">
                <a:solidFill>
                  <a:srgbClr val="334155"/>
                </a:solidFill>
                <a:latin typeface="Arial" panose="020B0704020202020204"/>
                <a:ea typeface="Arial" panose="020B0704020202020204"/>
                <a:cs typeface="Arial" panose="020B0704020202020204"/>
              </a:rPr>
              <a:t>• Cơ chế Versioning ngăn chặn 100% tình trạng ghi đè hoặc nhận trùng đơn.</a:t>
            </a:r>
            <a:endParaRPr lang="zh-CN" sz="1010" dirty="0">
              <a:solidFill>
                <a:srgbClr val="334155"/>
              </a:solidFill>
              <a:latin typeface="Arial" panose="020B0704020202020204"/>
              <a:ea typeface="Arial" panose="020B0704020202020204"/>
              <a:cs typeface="Arial" panose="020B0704020202020204"/>
            </a:endParaRPr>
          </a:p>
        </p:txBody>
      </p:sp>
      <p:sp>
        <p:nvSpPr>
          <p:cNvPr id="27" name="Freeform 27"/>
          <p:cNvSpPr/>
          <p:nvPr/>
        </p:nvSpPr>
        <p:spPr>
          <a:xfrm>
            <a:off x="571500" y="4953000"/>
            <a:ext cx="5296535" cy="1047750"/>
          </a:xfrm>
          <a:custGeom>
            <a:avLst/>
            <a:gdLst/>
            <a:ahLst/>
            <a:cxnLst/>
            <a:rect l="l" t="t" r="r" b="b"/>
            <a:pathLst>
              <a:path w="5191125" h="1047750">
                <a:moveTo>
                  <a:pt x="76200" y="0"/>
                </a:moveTo>
                <a:lnTo>
                  <a:pt x="5114925" y="0"/>
                </a:lnTo>
                <a:cubicBezTo>
                  <a:pt x="5157009" y="0"/>
                  <a:pt x="5191125" y="34116"/>
                  <a:pt x="5191125" y="76200"/>
                </a:cubicBezTo>
                <a:lnTo>
                  <a:pt x="5191125" y="971550"/>
                </a:lnTo>
                <a:cubicBezTo>
                  <a:pt x="5191125" y="1013634"/>
                  <a:pt x="5157009" y="1047750"/>
                  <a:pt x="5114925" y="1047750"/>
                </a:cubicBezTo>
                <a:lnTo>
                  <a:pt x="76200" y="1047750"/>
                </a:lnTo>
                <a:cubicBezTo>
                  <a:pt x="34116" y="1047750"/>
                  <a:pt x="0" y="1013634"/>
                  <a:pt x="0" y="971550"/>
                </a:cubicBezTo>
                <a:lnTo>
                  <a:pt x="0" y="76200"/>
                </a:lnTo>
                <a:cubicBezTo>
                  <a:pt x="0" y="34116"/>
                  <a:pt x="34116" y="0"/>
                  <a:pt x="76200" y="0"/>
                </a:cubicBezTo>
                <a:close/>
              </a:path>
            </a:pathLst>
          </a:custGeom>
          <a:solidFill>
            <a:srgbClr val="F8FAFC"/>
          </a:solidFill>
          <a:ln w="9525">
            <a:solidFill>
              <a:srgbClr val="E2E8F0"/>
            </a:solidFill>
          </a:ln>
        </p:spPr>
      </p:sp>
      <p:sp>
        <p:nvSpPr>
          <p:cNvPr id="28" name="TextBox 28"/>
          <p:cNvSpPr txBox="1"/>
          <p:nvPr/>
        </p:nvSpPr>
        <p:spPr>
          <a:xfrm>
            <a:off x="700088" y="5069681"/>
            <a:ext cx="3332363" cy="228600"/>
          </a:xfrm>
          <a:prstGeom prst="rect">
            <a:avLst/>
          </a:prstGeom>
          <a:noFill/>
          <a:ln>
            <a:noFill/>
          </a:ln>
        </p:spPr>
        <p:txBody>
          <a:bodyPr wrap="none" lIns="0" tIns="0" rIns="0" bIns="0" anchor="t" anchorCtr="0">
            <a:spAutoFit/>
          </a:bodyPr>
          <a:lstStyle/>
          <a:p>
            <a:pPr algn="l"/>
            <a:r>
              <a:rPr lang="zh-CN" sz="1125" b="1" dirty="0">
                <a:solidFill>
                  <a:srgbClr val="003366"/>
                </a:solidFill>
                <a:latin typeface="Arial" panose="020B0704020202020204"/>
                <a:ea typeface="Arial" panose="020B0704020202020204"/>
                <a:cs typeface="Arial" panose="020B0704020202020204"/>
              </a:rPr>
              <a:t>4. Kết quả kiểm định chất lượng ổn định</a:t>
            </a:r>
            <a:endParaRPr lang="zh-CN" sz="1125" b="1" dirty="0">
              <a:solidFill>
                <a:srgbClr val="003366"/>
              </a:solidFill>
              <a:latin typeface="Arial" panose="020B0704020202020204"/>
              <a:ea typeface="Arial" panose="020B0704020202020204"/>
              <a:cs typeface="Arial" panose="020B0704020202020204"/>
            </a:endParaRPr>
          </a:p>
        </p:txBody>
      </p:sp>
      <p:sp>
        <p:nvSpPr>
          <p:cNvPr id="29" name="TextBox 29"/>
          <p:cNvSpPr txBox="1"/>
          <p:nvPr/>
        </p:nvSpPr>
        <p:spPr>
          <a:xfrm>
            <a:off x="701516" y="5319951"/>
            <a:ext cx="4654225" cy="205740"/>
          </a:xfrm>
          <a:prstGeom prst="rect">
            <a:avLst/>
          </a:prstGeom>
          <a:noFill/>
          <a:ln>
            <a:noFill/>
          </a:ln>
        </p:spPr>
        <p:txBody>
          <a:bodyPr wrap="none" lIns="0" tIns="0" rIns="0" bIns="0" anchor="t" anchorCtr="0">
            <a:spAutoFit/>
          </a:bodyPr>
          <a:lstStyle/>
          <a:p>
            <a:pPr algn="l"/>
            <a:r>
              <a:rPr lang="zh-CN" sz="1010" dirty="0">
                <a:solidFill>
                  <a:srgbClr val="334155"/>
                </a:solidFill>
                <a:latin typeface="Arial" panose="020B0704020202020204"/>
                <a:ea typeface="Arial" panose="020B0704020202020204"/>
                <a:cs typeface="Arial" panose="020B0704020202020204"/>
              </a:rPr>
              <a:t>• 12 Test Case giao diện chính đều ghi nhận tỷ lệ thành công 100%.</a:t>
            </a:r>
            <a:endParaRPr lang="zh-CN" sz="1010" dirty="0">
              <a:solidFill>
                <a:srgbClr val="334155"/>
              </a:solidFill>
              <a:latin typeface="Arial" panose="020B0704020202020204"/>
              <a:ea typeface="Arial" panose="020B0704020202020204"/>
              <a:cs typeface="Arial" panose="020B0704020202020204"/>
            </a:endParaRPr>
          </a:p>
        </p:txBody>
      </p:sp>
      <p:sp>
        <p:nvSpPr>
          <p:cNvPr id="30" name="TextBox 30"/>
          <p:cNvSpPr txBox="1"/>
          <p:nvPr/>
        </p:nvSpPr>
        <p:spPr>
          <a:xfrm>
            <a:off x="701516" y="5558076"/>
            <a:ext cx="5578447" cy="205740"/>
          </a:xfrm>
          <a:prstGeom prst="rect">
            <a:avLst/>
          </a:prstGeom>
          <a:noFill/>
          <a:ln>
            <a:noFill/>
          </a:ln>
        </p:spPr>
        <p:txBody>
          <a:bodyPr wrap="none" lIns="0" tIns="0" rIns="0" bIns="0" anchor="t" anchorCtr="0">
            <a:spAutoFit/>
          </a:bodyPr>
          <a:lstStyle/>
          <a:p>
            <a:pPr algn="l"/>
            <a:r>
              <a:rPr lang="zh-CN" sz="1010" dirty="0">
                <a:solidFill>
                  <a:srgbClr val="334155"/>
                </a:solidFill>
                <a:latin typeface="Arial" panose="020B0704020202020204"/>
                <a:ea typeface="Arial" panose="020B0704020202020204"/>
                <a:cs typeface="Arial" panose="020B0704020202020204"/>
              </a:rPr>
              <a:t>• Xử lý mượt mà khi người dùng xoay màn hình hoặc mất kết nối mạng đột ngột.</a:t>
            </a:r>
            <a:endParaRPr lang="zh-CN" sz="1010" dirty="0">
              <a:solidFill>
                <a:srgbClr val="334155"/>
              </a:solidFill>
              <a:latin typeface="Arial" panose="020B0704020202020204"/>
              <a:ea typeface="Arial" panose="020B0704020202020204"/>
              <a:cs typeface="Arial" panose="020B0704020202020204"/>
            </a:endParaRPr>
          </a:p>
        </p:txBody>
      </p:sp>
      <p:sp>
        <p:nvSpPr>
          <p:cNvPr id="31" name="Freeform 31"/>
          <p:cNvSpPr/>
          <p:nvPr/>
        </p:nvSpPr>
        <p:spPr>
          <a:xfrm>
            <a:off x="6238875" y="1333500"/>
            <a:ext cx="5715000" cy="4810125"/>
          </a:xfrm>
          <a:custGeom>
            <a:avLst/>
            <a:gdLst/>
            <a:ahLst/>
            <a:cxnLst/>
            <a:rect l="l" t="t" r="r" b="b"/>
            <a:pathLst>
              <a:path w="5572125" h="4810125">
                <a:moveTo>
                  <a:pt x="95250" y="0"/>
                </a:moveTo>
                <a:lnTo>
                  <a:pt x="5476875" y="0"/>
                </a:lnTo>
                <a:cubicBezTo>
                  <a:pt x="5529480" y="0"/>
                  <a:pt x="5572125" y="42645"/>
                  <a:pt x="5572125" y="95250"/>
                </a:cubicBezTo>
                <a:lnTo>
                  <a:pt x="5572125" y="4714875"/>
                </a:lnTo>
                <a:cubicBezTo>
                  <a:pt x="5572125" y="4767480"/>
                  <a:pt x="5529480" y="4810125"/>
                  <a:pt x="5476875" y="4810125"/>
                </a:cubicBezTo>
                <a:lnTo>
                  <a:pt x="95250" y="4810125"/>
                </a:lnTo>
                <a:cubicBezTo>
                  <a:pt x="42645" y="4810125"/>
                  <a:pt x="0" y="4767480"/>
                  <a:pt x="0" y="4714875"/>
                </a:cubicBezTo>
                <a:lnTo>
                  <a:pt x="0" y="95250"/>
                </a:lnTo>
                <a:cubicBezTo>
                  <a:pt x="0" y="42645"/>
                  <a:pt x="42645" y="0"/>
                  <a:pt x="95250" y="0"/>
                </a:cubicBezTo>
                <a:close/>
              </a:path>
            </a:pathLst>
          </a:custGeom>
          <a:solidFill>
            <a:srgbClr val="FFFFFF"/>
          </a:solidFill>
          <a:ln w="14288">
            <a:solidFill>
              <a:srgbClr val="E2E8F0"/>
            </a:solidFill>
          </a:ln>
        </p:spPr>
      </p:sp>
      <p:sp>
        <p:nvSpPr>
          <p:cNvPr id="32" name="Freeform 32"/>
          <p:cNvSpPr/>
          <p:nvPr/>
        </p:nvSpPr>
        <p:spPr>
          <a:xfrm>
            <a:off x="6238875" y="1333500"/>
            <a:ext cx="5730875" cy="476250"/>
          </a:xfrm>
          <a:custGeom>
            <a:avLst/>
            <a:gdLst/>
            <a:ahLst/>
            <a:cxnLst/>
            <a:rect l="l" t="t" r="r" b="b"/>
            <a:pathLst>
              <a:path w="5572125" h="476250">
                <a:moveTo>
                  <a:pt x="95250" y="0"/>
                </a:moveTo>
                <a:lnTo>
                  <a:pt x="5476875" y="0"/>
                </a:lnTo>
                <a:cubicBezTo>
                  <a:pt x="5529480" y="0"/>
                  <a:pt x="5572125" y="42645"/>
                  <a:pt x="5572125" y="95250"/>
                </a:cubicBezTo>
                <a:lnTo>
                  <a:pt x="5572125" y="381000"/>
                </a:lnTo>
                <a:cubicBezTo>
                  <a:pt x="5572125" y="433605"/>
                  <a:pt x="5529480" y="476250"/>
                  <a:pt x="5476875" y="476250"/>
                </a:cubicBezTo>
                <a:lnTo>
                  <a:pt x="95250" y="476250"/>
                </a:lnTo>
                <a:cubicBezTo>
                  <a:pt x="42645" y="476250"/>
                  <a:pt x="0" y="433605"/>
                  <a:pt x="0" y="381000"/>
                </a:cubicBezTo>
                <a:lnTo>
                  <a:pt x="0" y="95250"/>
                </a:lnTo>
                <a:cubicBezTo>
                  <a:pt x="0" y="42645"/>
                  <a:pt x="42645" y="0"/>
                  <a:pt x="95250" y="0"/>
                </a:cubicBezTo>
                <a:close/>
              </a:path>
            </a:pathLst>
          </a:custGeom>
          <a:solidFill>
            <a:srgbClr val="F1F5F9"/>
          </a:solidFill>
          <a:ln>
            <a:noFill/>
          </a:ln>
        </p:spPr>
      </p:sp>
      <p:sp>
        <p:nvSpPr>
          <p:cNvPr id="33" name="Freeform 33"/>
          <p:cNvSpPr/>
          <p:nvPr/>
        </p:nvSpPr>
        <p:spPr>
          <a:xfrm>
            <a:off x="6429375" y="1457325"/>
            <a:ext cx="228600" cy="214312"/>
          </a:xfrm>
          <a:custGeom>
            <a:avLst/>
            <a:gdLst/>
            <a:ahLst/>
            <a:cxnLst/>
            <a:rect l="l" t="t" r="r" b="b"/>
            <a:pathLst>
              <a:path w="228600" h="214312">
                <a:moveTo>
                  <a:pt x="228600" y="214312"/>
                </a:moveTo>
                <a:lnTo>
                  <a:pt x="0" y="214312"/>
                </a:lnTo>
                <a:lnTo>
                  <a:pt x="0" y="171450"/>
                </a:lnTo>
                <a:lnTo>
                  <a:pt x="100012" y="0"/>
                </a:lnTo>
                <a:lnTo>
                  <a:pt x="128588" y="0"/>
                </a:lnTo>
                <a:lnTo>
                  <a:pt x="228600" y="171450"/>
                </a:lnTo>
                <a:lnTo>
                  <a:pt x="228600" y="214312"/>
                </a:lnTo>
                <a:close/>
                <a:moveTo>
                  <a:pt x="100012" y="57150"/>
                </a:moveTo>
                <a:lnTo>
                  <a:pt x="128588" y="57150"/>
                </a:lnTo>
                <a:lnTo>
                  <a:pt x="128588" y="128588"/>
                </a:lnTo>
                <a:lnTo>
                  <a:pt x="100012" y="128588"/>
                </a:lnTo>
                <a:lnTo>
                  <a:pt x="100012" y="57150"/>
                </a:lnTo>
                <a:close/>
                <a:moveTo>
                  <a:pt x="100012" y="157162"/>
                </a:moveTo>
                <a:lnTo>
                  <a:pt x="128588" y="157162"/>
                </a:lnTo>
                <a:lnTo>
                  <a:pt x="128588" y="185738"/>
                </a:lnTo>
                <a:lnTo>
                  <a:pt x="100012" y="185738"/>
                </a:lnTo>
                <a:lnTo>
                  <a:pt x="100012" y="157162"/>
                </a:lnTo>
                <a:close/>
              </a:path>
            </a:pathLst>
          </a:custGeom>
          <a:solidFill>
            <a:srgbClr val="E65100"/>
          </a:solidFill>
          <a:ln>
            <a:noFill/>
          </a:ln>
        </p:spPr>
      </p:sp>
      <p:sp>
        <p:nvSpPr>
          <p:cNvPr id="34" name="TextBox 34"/>
          <p:cNvSpPr txBox="1"/>
          <p:nvPr/>
        </p:nvSpPr>
        <p:spPr>
          <a:xfrm>
            <a:off x="6745605" y="1492568"/>
            <a:ext cx="3947079" cy="274320"/>
          </a:xfrm>
          <a:prstGeom prst="rect">
            <a:avLst/>
          </a:prstGeom>
          <a:noFill/>
          <a:ln>
            <a:noFill/>
          </a:ln>
        </p:spPr>
        <p:txBody>
          <a:bodyPr wrap="none" lIns="0" tIns="0" rIns="0" bIns="0" anchor="t" anchorCtr="0">
            <a:spAutoFit/>
          </a:bodyPr>
          <a:lstStyle/>
          <a:p>
            <a:pPr algn="l"/>
            <a:r>
              <a:rPr lang="zh-CN" sz="1350" b="1" dirty="0">
                <a:solidFill>
                  <a:srgbClr val="003366"/>
                </a:solidFill>
                <a:latin typeface="Arial" panose="020B0704020202020204"/>
                <a:ea typeface="Arial" panose="020B0704020202020204"/>
                <a:cs typeface="Arial" panose="020B0704020202020204"/>
              </a:rPr>
              <a:t>Khó khăn vượt qua &amp; Bài học kinh nghiệm</a:t>
            </a:r>
            <a:endParaRPr lang="zh-CN" sz="1350" b="1" dirty="0">
              <a:solidFill>
                <a:srgbClr val="003366"/>
              </a:solidFill>
              <a:latin typeface="Arial" panose="020B0704020202020204"/>
              <a:ea typeface="Arial" panose="020B0704020202020204"/>
              <a:cs typeface="Arial" panose="020B0704020202020204"/>
            </a:endParaRPr>
          </a:p>
        </p:txBody>
      </p:sp>
      <p:sp>
        <p:nvSpPr>
          <p:cNvPr id="35" name="Freeform 35"/>
          <p:cNvSpPr/>
          <p:nvPr/>
        </p:nvSpPr>
        <p:spPr>
          <a:xfrm>
            <a:off x="6429375" y="1952625"/>
            <a:ext cx="5374005" cy="1285875"/>
          </a:xfrm>
          <a:custGeom>
            <a:avLst/>
            <a:gdLst/>
            <a:ahLst/>
            <a:cxnLst/>
            <a:rect l="l" t="t" r="r" b="b"/>
            <a:pathLst>
              <a:path w="5191125" h="1285875">
                <a:moveTo>
                  <a:pt x="76200" y="0"/>
                </a:moveTo>
                <a:lnTo>
                  <a:pt x="5114925" y="0"/>
                </a:lnTo>
                <a:cubicBezTo>
                  <a:pt x="5157009" y="0"/>
                  <a:pt x="5191125" y="34116"/>
                  <a:pt x="5191125" y="76200"/>
                </a:cubicBezTo>
                <a:lnTo>
                  <a:pt x="5191125" y="1209675"/>
                </a:lnTo>
                <a:cubicBezTo>
                  <a:pt x="5191125" y="1251759"/>
                  <a:pt x="5157009" y="1285875"/>
                  <a:pt x="5114925" y="1285875"/>
                </a:cubicBezTo>
                <a:lnTo>
                  <a:pt x="76200" y="1285875"/>
                </a:lnTo>
                <a:cubicBezTo>
                  <a:pt x="34116" y="1285875"/>
                  <a:pt x="0" y="1251759"/>
                  <a:pt x="0" y="1209675"/>
                </a:cubicBezTo>
                <a:lnTo>
                  <a:pt x="0" y="76200"/>
                </a:lnTo>
                <a:cubicBezTo>
                  <a:pt x="0" y="34116"/>
                  <a:pt x="34116" y="0"/>
                  <a:pt x="76200" y="0"/>
                </a:cubicBezTo>
                <a:close/>
              </a:path>
            </a:pathLst>
          </a:custGeom>
          <a:solidFill>
            <a:srgbClr val="FFF7ED"/>
          </a:solidFill>
          <a:ln w="9525">
            <a:solidFill>
              <a:srgbClr val="FED7AA"/>
            </a:solidFill>
          </a:ln>
        </p:spPr>
      </p:sp>
      <p:sp>
        <p:nvSpPr>
          <p:cNvPr id="36" name="TextBox 36"/>
          <p:cNvSpPr txBox="1"/>
          <p:nvPr/>
        </p:nvSpPr>
        <p:spPr>
          <a:xfrm>
            <a:off x="6557962" y="2069306"/>
            <a:ext cx="4816048" cy="228600"/>
          </a:xfrm>
          <a:prstGeom prst="rect">
            <a:avLst/>
          </a:prstGeom>
          <a:noFill/>
          <a:ln>
            <a:noFill/>
          </a:ln>
        </p:spPr>
        <p:txBody>
          <a:bodyPr wrap="none" lIns="0" tIns="0" rIns="0" bIns="0" anchor="t" anchorCtr="0">
            <a:spAutoFit/>
          </a:bodyPr>
          <a:lstStyle/>
          <a:p>
            <a:pPr algn="l"/>
            <a:r>
              <a:rPr lang="zh-CN" sz="1125" b="1" dirty="0">
                <a:solidFill>
                  <a:srgbClr val="C2410C"/>
                </a:solidFill>
                <a:latin typeface="Arial" panose="020B0704020202020204"/>
                <a:ea typeface="Arial" panose="020B0704020202020204"/>
                <a:cs typeface="Arial" panose="020B0704020202020204"/>
              </a:rPr>
              <a:t>Thách thức lớn nhất: Đổi nguồn dữ liệu sang REST/MongoDB</a:t>
            </a:r>
            <a:endParaRPr lang="zh-CN" sz="1125" b="1" dirty="0">
              <a:solidFill>
                <a:srgbClr val="C2410C"/>
              </a:solidFill>
              <a:latin typeface="Arial" panose="020B0704020202020204"/>
              <a:ea typeface="Arial" panose="020B0704020202020204"/>
              <a:cs typeface="Arial" panose="020B0704020202020204"/>
            </a:endParaRPr>
          </a:p>
        </p:txBody>
      </p:sp>
      <p:sp>
        <p:nvSpPr>
          <p:cNvPr id="37" name="TextBox 37"/>
          <p:cNvSpPr txBox="1"/>
          <p:nvPr/>
        </p:nvSpPr>
        <p:spPr>
          <a:xfrm>
            <a:off x="6559868" y="2323624"/>
            <a:ext cx="5471517" cy="198120"/>
          </a:xfrm>
          <a:prstGeom prst="rect">
            <a:avLst/>
          </a:prstGeom>
          <a:noFill/>
          <a:ln>
            <a:noFill/>
          </a:ln>
        </p:spPr>
        <p:txBody>
          <a:bodyPr wrap="none" lIns="0" tIns="0" rIns="0" bIns="0" anchor="t" anchorCtr="0">
            <a:spAutoFit/>
          </a:bodyPr>
          <a:lstStyle/>
          <a:p>
            <a:pPr algn="l"/>
            <a:r>
              <a:rPr lang="zh-CN" sz="975" dirty="0">
                <a:solidFill>
                  <a:srgbClr val="7C2D12"/>
                </a:solidFill>
                <a:latin typeface="Arial" panose="020B0704020202020204"/>
                <a:ea typeface="Arial" panose="020B0704020202020204"/>
                <a:cs typeface="Arial" panose="020B0704020202020204"/>
              </a:rPr>
              <a:t>• Khó khăn: Tuần 4 quyết định chuyển từ Room cục bộ sang Backend dùng chung.</a:t>
            </a:r>
            <a:endParaRPr lang="zh-CN" sz="975" dirty="0">
              <a:solidFill>
                <a:srgbClr val="7C2D12"/>
              </a:solidFill>
              <a:latin typeface="Arial" panose="020B0704020202020204"/>
              <a:ea typeface="Arial" panose="020B0704020202020204"/>
              <a:cs typeface="Arial" panose="020B0704020202020204"/>
            </a:endParaRPr>
          </a:p>
        </p:txBody>
      </p:sp>
      <p:sp>
        <p:nvSpPr>
          <p:cNvPr id="38" name="TextBox 38"/>
          <p:cNvSpPr txBox="1"/>
          <p:nvPr/>
        </p:nvSpPr>
        <p:spPr>
          <a:xfrm>
            <a:off x="6559868" y="2542699"/>
            <a:ext cx="1762030" cy="198120"/>
          </a:xfrm>
          <a:prstGeom prst="rect">
            <a:avLst/>
          </a:prstGeom>
          <a:noFill/>
          <a:ln>
            <a:noFill/>
          </a:ln>
        </p:spPr>
        <p:txBody>
          <a:bodyPr wrap="none" lIns="0" tIns="0" rIns="0" bIns="0" anchor="t" anchorCtr="0">
            <a:spAutoFit/>
          </a:bodyPr>
          <a:lstStyle/>
          <a:p>
            <a:pPr algn="l"/>
            <a:r>
              <a:rPr lang="zh-CN" sz="975" dirty="0">
                <a:solidFill>
                  <a:srgbClr val="7C2D12"/>
                </a:solidFill>
                <a:latin typeface="Arial" panose="020B0704020202020204"/>
                <a:ea typeface="Arial" panose="020B0704020202020204"/>
                <a:cs typeface="Arial" panose="020B0704020202020204"/>
              </a:rPr>
              <a:t>• Giải pháp nhóm áp dụng:</a:t>
            </a:r>
            <a:endParaRPr lang="zh-CN" sz="975" dirty="0">
              <a:solidFill>
                <a:srgbClr val="7C2D12"/>
              </a:solidFill>
              <a:latin typeface="Arial" panose="020B0704020202020204"/>
              <a:ea typeface="Arial" panose="020B0704020202020204"/>
              <a:cs typeface="Arial" panose="020B0704020202020204"/>
            </a:endParaRPr>
          </a:p>
        </p:txBody>
      </p:sp>
      <p:sp>
        <p:nvSpPr>
          <p:cNvPr id="39" name="TextBox 39"/>
          <p:cNvSpPr txBox="1"/>
          <p:nvPr/>
        </p:nvSpPr>
        <p:spPr>
          <a:xfrm>
            <a:off x="6703219" y="2756297"/>
            <a:ext cx="5041999" cy="190500"/>
          </a:xfrm>
          <a:prstGeom prst="rect">
            <a:avLst/>
          </a:prstGeom>
          <a:noFill/>
          <a:ln>
            <a:noFill/>
          </a:ln>
        </p:spPr>
        <p:txBody>
          <a:bodyPr wrap="none" lIns="0" tIns="0" rIns="0" bIns="0" anchor="t" anchorCtr="0">
            <a:spAutoFit/>
          </a:bodyPr>
          <a:lstStyle/>
          <a:p>
            <a:pPr algn="l"/>
            <a:r>
              <a:rPr lang="zh-CN" sz="940" dirty="0">
                <a:solidFill>
                  <a:srgbClr val="7C2D12"/>
                </a:solidFill>
                <a:latin typeface="Arial" panose="020B0704020202020204"/>
                <a:ea typeface="Arial" panose="020B0704020202020204"/>
                <a:cs typeface="Arial" panose="020B0704020202020204"/>
              </a:rPr>
              <a:t>✔ Tách bạch hoàn toàn lớp Repository Interface, không để UI phụ thuộc DAO.</a:t>
            </a:r>
            <a:endParaRPr lang="zh-CN" sz="940" dirty="0">
              <a:solidFill>
                <a:srgbClr val="7C2D12"/>
              </a:solidFill>
              <a:latin typeface="Arial" panose="020B0704020202020204"/>
              <a:ea typeface="Arial" panose="020B0704020202020204"/>
              <a:cs typeface="Arial" panose="020B0704020202020204"/>
            </a:endParaRPr>
          </a:p>
        </p:txBody>
      </p:sp>
      <p:sp>
        <p:nvSpPr>
          <p:cNvPr id="40" name="TextBox 40"/>
          <p:cNvSpPr txBox="1"/>
          <p:nvPr/>
        </p:nvSpPr>
        <p:spPr>
          <a:xfrm>
            <a:off x="6703219" y="2965847"/>
            <a:ext cx="4959846" cy="190500"/>
          </a:xfrm>
          <a:prstGeom prst="rect">
            <a:avLst/>
          </a:prstGeom>
          <a:noFill/>
          <a:ln>
            <a:noFill/>
          </a:ln>
        </p:spPr>
        <p:txBody>
          <a:bodyPr wrap="none" lIns="0" tIns="0" rIns="0" bIns="0" anchor="t" anchorCtr="0">
            <a:spAutoFit/>
          </a:bodyPr>
          <a:lstStyle/>
          <a:p>
            <a:pPr algn="l"/>
            <a:r>
              <a:rPr lang="zh-CN" sz="940" dirty="0">
                <a:solidFill>
                  <a:srgbClr val="7C2D12"/>
                </a:solidFill>
                <a:latin typeface="Arial" panose="020B0704020202020204"/>
                <a:ea typeface="Arial" panose="020B0704020202020204"/>
                <a:cs typeface="Arial" panose="020B0704020202020204"/>
              </a:rPr>
              <a:t>✔ Chuyển sang DTO và Retrofit nhanh chóng mà không phải đập bỏ giao diện.</a:t>
            </a:r>
            <a:endParaRPr lang="zh-CN" sz="940" dirty="0">
              <a:solidFill>
                <a:srgbClr val="7C2D12"/>
              </a:solidFill>
              <a:latin typeface="Arial" panose="020B0704020202020204"/>
              <a:ea typeface="Arial" panose="020B0704020202020204"/>
              <a:cs typeface="Arial" panose="020B0704020202020204"/>
            </a:endParaRPr>
          </a:p>
        </p:txBody>
      </p:sp>
      <p:sp>
        <p:nvSpPr>
          <p:cNvPr id="41" name="Freeform 41"/>
          <p:cNvSpPr/>
          <p:nvPr/>
        </p:nvSpPr>
        <p:spPr>
          <a:xfrm>
            <a:off x="6429375" y="3333750"/>
            <a:ext cx="5380355" cy="1095375"/>
          </a:xfrm>
          <a:custGeom>
            <a:avLst/>
            <a:gdLst/>
            <a:ahLst/>
            <a:cxnLst/>
            <a:rect l="l" t="t" r="r" b="b"/>
            <a:pathLst>
              <a:path w="5191125" h="1095375">
                <a:moveTo>
                  <a:pt x="76200" y="0"/>
                </a:moveTo>
                <a:lnTo>
                  <a:pt x="5114925" y="0"/>
                </a:lnTo>
                <a:cubicBezTo>
                  <a:pt x="5157009" y="0"/>
                  <a:pt x="5191125" y="34116"/>
                  <a:pt x="5191125" y="76200"/>
                </a:cubicBezTo>
                <a:lnTo>
                  <a:pt x="5191125" y="1019175"/>
                </a:lnTo>
                <a:cubicBezTo>
                  <a:pt x="5191125" y="1061259"/>
                  <a:pt x="5157009" y="1095375"/>
                  <a:pt x="5114925" y="1095375"/>
                </a:cubicBezTo>
                <a:lnTo>
                  <a:pt x="76200" y="1095375"/>
                </a:lnTo>
                <a:cubicBezTo>
                  <a:pt x="34116" y="1095375"/>
                  <a:pt x="0" y="1061259"/>
                  <a:pt x="0" y="1019175"/>
                </a:cubicBezTo>
                <a:lnTo>
                  <a:pt x="0" y="76200"/>
                </a:lnTo>
                <a:cubicBezTo>
                  <a:pt x="0" y="34116"/>
                  <a:pt x="34116" y="0"/>
                  <a:pt x="76200" y="0"/>
                </a:cubicBezTo>
                <a:close/>
              </a:path>
            </a:pathLst>
          </a:custGeom>
          <a:solidFill>
            <a:srgbClr val="F8FAFC"/>
          </a:solidFill>
          <a:ln w="9525">
            <a:solidFill>
              <a:srgbClr val="E2E8F0"/>
            </a:solidFill>
          </a:ln>
        </p:spPr>
      </p:sp>
      <p:sp>
        <p:nvSpPr>
          <p:cNvPr id="42" name="TextBox 42"/>
          <p:cNvSpPr txBox="1"/>
          <p:nvPr/>
        </p:nvSpPr>
        <p:spPr>
          <a:xfrm>
            <a:off x="6557962" y="3431381"/>
            <a:ext cx="3927562" cy="228600"/>
          </a:xfrm>
          <a:prstGeom prst="rect">
            <a:avLst/>
          </a:prstGeom>
          <a:noFill/>
          <a:ln>
            <a:noFill/>
          </a:ln>
        </p:spPr>
        <p:txBody>
          <a:bodyPr wrap="none" lIns="0" tIns="0" rIns="0" bIns="0" anchor="t" anchorCtr="0">
            <a:spAutoFit/>
          </a:bodyPr>
          <a:lstStyle/>
          <a:p>
            <a:pPr algn="l"/>
            <a:r>
              <a:rPr lang="zh-CN" sz="1125" b="1" dirty="0">
                <a:solidFill>
                  <a:srgbClr val="003366"/>
                </a:solidFill>
                <a:latin typeface="Arial" panose="020B0704020202020204"/>
                <a:ea typeface="Arial" panose="020B0704020202020204"/>
                <a:cs typeface="Arial" panose="020B0704020202020204"/>
              </a:rPr>
              <a:t>Xử lý bất đồng bộ &amp; Dịch vụ tính cước bên ngoài</a:t>
            </a:r>
            <a:endParaRPr lang="zh-CN" sz="1125" b="1" dirty="0">
              <a:solidFill>
                <a:srgbClr val="003366"/>
              </a:solidFill>
              <a:latin typeface="Arial" panose="020B0704020202020204"/>
              <a:ea typeface="Arial" panose="020B0704020202020204"/>
              <a:cs typeface="Arial" panose="020B0704020202020204"/>
            </a:endParaRPr>
          </a:p>
        </p:txBody>
      </p:sp>
      <p:sp>
        <p:nvSpPr>
          <p:cNvPr id="43" name="TextBox 43"/>
          <p:cNvSpPr txBox="1"/>
          <p:nvPr/>
        </p:nvSpPr>
        <p:spPr>
          <a:xfrm>
            <a:off x="6559868" y="3685699"/>
            <a:ext cx="4460486" cy="198120"/>
          </a:xfrm>
          <a:prstGeom prst="rect">
            <a:avLst/>
          </a:prstGeom>
          <a:noFill/>
          <a:ln>
            <a:noFill/>
          </a:ln>
        </p:spPr>
        <p:txBody>
          <a:bodyPr wrap="none" lIns="0" tIns="0" rIns="0" bIns="0" anchor="t" anchorCtr="0">
            <a:spAutoFit/>
          </a:bodyPr>
          <a:lstStyle/>
          <a:p>
            <a:pPr algn="l"/>
            <a:r>
              <a:rPr lang="zh-CN" sz="975" dirty="0">
                <a:solidFill>
                  <a:srgbClr val="334155"/>
                </a:solidFill>
                <a:latin typeface="Arial" panose="020B0704020202020204"/>
                <a:ea typeface="Arial" panose="020B0704020202020204"/>
                <a:cs typeface="Arial" panose="020B0704020202020204"/>
              </a:rPr>
              <a:t>• Việc lấy gợi ý địa chỉ và tính khoảng cách GPS phụ thuộc mạng.</a:t>
            </a:r>
            <a:endParaRPr lang="zh-CN" sz="975" dirty="0">
              <a:solidFill>
                <a:srgbClr val="334155"/>
              </a:solidFill>
              <a:latin typeface="Arial" panose="020B0704020202020204"/>
              <a:ea typeface="Arial" panose="020B0704020202020204"/>
              <a:cs typeface="Arial" panose="020B0704020202020204"/>
            </a:endParaRPr>
          </a:p>
        </p:txBody>
      </p:sp>
      <p:sp>
        <p:nvSpPr>
          <p:cNvPr id="44" name="TextBox 44"/>
          <p:cNvSpPr txBox="1"/>
          <p:nvPr/>
        </p:nvSpPr>
        <p:spPr>
          <a:xfrm>
            <a:off x="6559868" y="3895249"/>
            <a:ext cx="4866005" cy="300990"/>
          </a:xfrm>
          <a:prstGeom prst="rect">
            <a:avLst/>
          </a:prstGeom>
          <a:noFill/>
          <a:ln>
            <a:noFill/>
          </a:ln>
        </p:spPr>
        <p:txBody>
          <a:bodyPr wrap="none" lIns="0" tIns="0" rIns="0" bIns="0" anchor="t" anchorCtr="0">
            <a:spAutoFit/>
          </a:bodyPr>
          <a:lstStyle/>
          <a:p>
            <a:pPr algn="l"/>
            <a:r>
              <a:rPr lang="zh-CN" sz="975" dirty="0">
                <a:solidFill>
                  <a:srgbClr val="334155"/>
                </a:solidFill>
                <a:latin typeface="Arial" panose="020B0704020202020204"/>
                <a:ea typeface="Arial" panose="020B0704020202020204"/>
                <a:cs typeface="Arial" panose="020B0704020202020204"/>
              </a:rPr>
              <a:t>• Form tạo đơn không thể chặn người dùng; nhóm đã áp dụng Coroutines và Debounce </a:t>
            </a:r>
            <a:endParaRPr lang="zh-CN" sz="975" dirty="0">
              <a:solidFill>
                <a:srgbClr val="334155"/>
              </a:solidFill>
              <a:latin typeface="Arial" panose="020B0704020202020204"/>
              <a:ea typeface="Arial" panose="020B0704020202020204"/>
              <a:cs typeface="Arial" panose="020B0704020202020204"/>
            </a:endParaRPr>
          </a:p>
          <a:p>
            <a:pPr algn="l"/>
            <a:r>
              <a:rPr lang="zh-CN" sz="975" dirty="0">
                <a:solidFill>
                  <a:srgbClr val="334155"/>
                </a:solidFill>
                <a:latin typeface="Arial" panose="020B0704020202020204"/>
                <a:ea typeface="Arial" panose="020B0704020202020204"/>
                <a:cs typeface="Arial" panose="020B0704020202020204"/>
              </a:rPr>
              <a:t>để tối ưu số lần gọi API.</a:t>
            </a:r>
            <a:endParaRPr lang="zh-CN" sz="975" dirty="0">
              <a:solidFill>
                <a:srgbClr val="334155"/>
              </a:solidFill>
              <a:latin typeface="Arial" panose="020B0704020202020204"/>
              <a:ea typeface="Arial" panose="020B0704020202020204"/>
              <a:cs typeface="Arial" panose="020B0704020202020204"/>
            </a:endParaRPr>
          </a:p>
        </p:txBody>
      </p:sp>
      <p:sp>
        <p:nvSpPr>
          <p:cNvPr id="45" name="Freeform 45"/>
          <p:cNvSpPr/>
          <p:nvPr/>
        </p:nvSpPr>
        <p:spPr>
          <a:xfrm>
            <a:off x="6429375" y="4524375"/>
            <a:ext cx="5380990" cy="1476375"/>
          </a:xfrm>
          <a:custGeom>
            <a:avLst/>
            <a:gdLst/>
            <a:ahLst/>
            <a:cxnLst/>
            <a:rect l="l" t="t" r="r" b="b"/>
            <a:pathLst>
              <a:path w="5191125" h="1476375">
                <a:moveTo>
                  <a:pt x="76200" y="0"/>
                </a:moveTo>
                <a:lnTo>
                  <a:pt x="5114925" y="0"/>
                </a:lnTo>
                <a:cubicBezTo>
                  <a:pt x="5157009" y="0"/>
                  <a:pt x="5191125" y="34116"/>
                  <a:pt x="5191125" y="76200"/>
                </a:cubicBezTo>
                <a:lnTo>
                  <a:pt x="5191125" y="1400175"/>
                </a:lnTo>
                <a:cubicBezTo>
                  <a:pt x="5191125" y="1442259"/>
                  <a:pt x="5157009" y="1476375"/>
                  <a:pt x="5114925" y="1476375"/>
                </a:cubicBezTo>
                <a:lnTo>
                  <a:pt x="76200" y="1476375"/>
                </a:lnTo>
                <a:cubicBezTo>
                  <a:pt x="34116" y="1476375"/>
                  <a:pt x="0" y="1442259"/>
                  <a:pt x="0" y="1400175"/>
                </a:cubicBezTo>
                <a:lnTo>
                  <a:pt x="0" y="76200"/>
                </a:lnTo>
                <a:cubicBezTo>
                  <a:pt x="0" y="34116"/>
                  <a:pt x="34116" y="0"/>
                  <a:pt x="76200" y="0"/>
                </a:cubicBezTo>
                <a:close/>
              </a:path>
            </a:pathLst>
          </a:custGeom>
          <a:solidFill>
            <a:srgbClr val="F0FDF4"/>
          </a:solidFill>
          <a:ln w="9525">
            <a:solidFill>
              <a:srgbClr val="BBF7D0"/>
            </a:solidFill>
          </a:ln>
        </p:spPr>
      </p:sp>
      <p:sp>
        <p:nvSpPr>
          <p:cNvPr id="46" name="TextBox 46"/>
          <p:cNvSpPr txBox="1"/>
          <p:nvPr/>
        </p:nvSpPr>
        <p:spPr>
          <a:xfrm>
            <a:off x="6557962" y="4641056"/>
            <a:ext cx="3392745" cy="228600"/>
          </a:xfrm>
          <a:prstGeom prst="rect">
            <a:avLst/>
          </a:prstGeom>
          <a:noFill/>
          <a:ln>
            <a:noFill/>
          </a:ln>
        </p:spPr>
        <p:txBody>
          <a:bodyPr wrap="none" lIns="0" tIns="0" rIns="0" bIns="0" anchor="t" anchorCtr="0">
            <a:spAutoFit/>
          </a:bodyPr>
          <a:lstStyle/>
          <a:p>
            <a:pPr algn="l"/>
            <a:r>
              <a:rPr lang="zh-CN" sz="1125" b="1" dirty="0">
                <a:solidFill>
                  <a:srgbClr val="15803D"/>
                </a:solidFill>
                <a:latin typeface="Arial" panose="020B0704020202020204"/>
                <a:ea typeface="Arial" panose="020B0704020202020204"/>
                <a:cs typeface="Arial" panose="020B0704020202020204"/>
              </a:rPr>
              <a:t>Kiến thức &amp; Kỹ năng thực chiến học được:</a:t>
            </a:r>
            <a:endParaRPr lang="zh-CN" sz="1125" b="1" dirty="0">
              <a:solidFill>
                <a:srgbClr val="15803D"/>
              </a:solidFill>
              <a:latin typeface="Arial" panose="020B0704020202020204"/>
              <a:ea typeface="Arial" panose="020B0704020202020204"/>
              <a:cs typeface="Arial" panose="020B0704020202020204"/>
            </a:endParaRPr>
          </a:p>
        </p:txBody>
      </p:sp>
      <p:sp>
        <p:nvSpPr>
          <p:cNvPr id="47" name="TextBox 47"/>
          <p:cNvSpPr txBox="1"/>
          <p:nvPr/>
        </p:nvSpPr>
        <p:spPr>
          <a:xfrm>
            <a:off x="6559868" y="4914424"/>
            <a:ext cx="5656636" cy="198120"/>
          </a:xfrm>
          <a:prstGeom prst="rect">
            <a:avLst/>
          </a:prstGeom>
          <a:noFill/>
          <a:ln>
            <a:noFill/>
          </a:ln>
        </p:spPr>
        <p:txBody>
          <a:bodyPr wrap="none" lIns="0" tIns="0" rIns="0" bIns="0" anchor="t" anchorCtr="0">
            <a:spAutoFit/>
          </a:bodyPr>
          <a:lstStyle/>
          <a:p>
            <a:pPr algn="l"/>
            <a:r>
              <a:rPr lang="zh-CN" sz="975" dirty="0">
                <a:solidFill>
                  <a:srgbClr val="14532D"/>
                </a:solidFill>
                <a:latin typeface="Arial" panose="020B0704020202020204"/>
                <a:ea typeface="Arial" panose="020B0704020202020204"/>
                <a:cs typeface="Arial" panose="020B0704020202020204"/>
              </a:rPr>
              <a:t>• Làm chủ Jetpack Compose: Hiểu sâu sắc cơ chế State Hoisting và Recomposition.</a:t>
            </a:r>
            <a:endParaRPr lang="zh-CN" sz="975" dirty="0">
              <a:solidFill>
                <a:srgbClr val="14532D"/>
              </a:solidFill>
              <a:latin typeface="Arial" panose="020B0704020202020204"/>
              <a:ea typeface="Arial" panose="020B0704020202020204"/>
              <a:cs typeface="Arial" panose="020B0704020202020204"/>
            </a:endParaRPr>
          </a:p>
        </p:txBody>
      </p:sp>
      <p:sp>
        <p:nvSpPr>
          <p:cNvPr id="48" name="TextBox 48"/>
          <p:cNvSpPr txBox="1"/>
          <p:nvPr/>
        </p:nvSpPr>
        <p:spPr>
          <a:xfrm>
            <a:off x="6559868" y="5152549"/>
            <a:ext cx="5279279" cy="198120"/>
          </a:xfrm>
          <a:prstGeom prst="rect">
            <a:avLst/>
          </a:prstGeom>
          <a:noFill/>
          <a:ln>
            <a:noFill/>
          </a:ln>
        </p:spPr>
        <p:txBody>
          <a:bodyPr wrap="none" lIns="0" tIns="0" rIns="0" bIns="0" anchor="t" anchorCtr="0">
            <a:spAutoFit/>
          </a:bodyPr>
          <a:lstStyle/>
          <a:p>
            <a:pPr algn="l"/>
            <a:r>
              <a:rPr lang="zh-CN" sz="975" dirty="0">
                <a:solidFill>
                  <a:srgbClr val="14532D"/>
                </a:solidFill>
                <a:latin typeface="Arial" panose="020B0704020202020204"/>
                <a:ea typeface="Arial" panose="020B0704020202020204"/>
                <a:cs typeface="Arial" panose="020B0704020202020204"/>
              </a:rPr>
              <a:t>• Kỹ năng Backend: Thiết kế RESTful API chuẩn mực, xử lý giao dịch MongoDB.</a:t>
            </a:r>
            <a:endParaRPr lang="zh-CN" sz="975" dirty="0">
              <a:solidFill>
                <a:srgbClr val="14532D"/>
              </a:solidFill>
              <a:latin typeface="Arial" panose="020B0704020202020204"/>
              <a:ea typeface="Arial" panose="020B0704020202020204"/>
              <a:cs typeface="Arial" panose="020B0704020202020204"/>
            </a:endParaRPr>
          </a:p>
        </p:txBody>
      </p:sp>
      <p:sp>
        <p:nvSpPr>
          <p:cNvPr id="49" name="TextBox 49"/>
          <p:cNvSpPr txBox="1"/>
          <p:nvPr/>
        </p:nvSpPr>
        <p:spPr>
          <a:xfrm>
            <a:off x="6559868" y="5390674"/>
            <a:ext cx="5948553" cy="198120"/>
          </a:xfrm>
          <a:prstGeom prst="rect">
            <a:avLst/>
          </a:prstGeom>
          <a:noFill/>
          <a:ln>
            <a:noFill/>
          </a:ln>
        </p:spPr>
        <p:txBody>
          <a:bodyPr wrap="none" lIns="0" tIns="0" rIns="0" bIns="0" anchor="t" anchorCtr="0">
            <a:spAutoFit/>
          </a:bodyPr>
          <a:lstStyle/>
          <a:p>
            <a:pPr algn="l"/>
            <a:r>
              <a:rPr lang="zh-CN" sz="975" dirty="0">
                <a:solidFill>
                  <a:srgbClr val="14532D"/>
                </a:solidFill>
                <a:latin typeface="Arial" panose="020B0704020202020204"/>
                <a:ea typeface="Arial" panose="020B0704020202020204"/>
                <a:cs typeface="Arial" panose="020B0704020202020204"/>
              </a:rPr>
              <a:t>• Kỹ năng phối hợp nhóm: Sử dụng Git branching, review mã nguồn và tích hợp liên tục.</a:t>
            </a:r>
            <a:endParaRPr lang="zh-CN" sz="975" dirty="0">
              <a:solidFill>
                <a:srgbClr val="14532D"/>
              </a:solidFill>
              <a:latin typeface="Arial" panose="020B0704020202020204"/>
              <a:ea typeface="Arial" panose="020B0704020202020204"/>
              <a:cs typeface="Arial" panose="020B0704020202020204"/>
            </a:endParaRPr>
          </a:p>
        </p:txBody>
      </p:sp>
      <p:sp>
        <p:nvSpPr>
          <p:cNvPr id="50" name="TextBox 50"/>
          <p:cNvSpPr txBox="1"/>
          <p:nvPr/>
        </p:nvSpPr>
        <p:spPr>
          <a:xfrm>
            <a:off x="6559868" y="5628799"/>
            <a:ext cx="6461188" cy="198120"/>
          </a:xfrm>
          <a:prstGeom prst="rect">
            <a:avLst/>
          </a:prstGeom>
          <a:noFill/>
          <a:ln>
            <a:noFill/>
          </a:ln>
        </p:spPr>
        <p:txBody>
          <a:bodyPr wrap="none" lIns="0" tIns="0" rIns="0" bIns="0" anchor="t" anchorCtr="0">
            <a:spAutoFit/>
          </a:bodyPr>
          <a:lstStyle/>
          <a:p>
            <a:pPr algn="l"/>
            <a:r>
              <a:rPr lang="zh-CN" sz="975" dirty="0">
                <a:solidFill>
                  <a:srgbClr val="14532D"/>
                </a:solidFill>
                <a:latin typeface="Arial" panose="020B0704020202020204"/>
                <a:ea typeface="Arial" panose="020B0704020202020204"/>
                <a:cs typeface="Arial" panose="020B0704020202020204"/>
              </a:rPr>
              <a:t>• Tư duy giải quyết vấn đề: Khả năng phản ứng và thích ứng linh hoạt trước thay đổi kiến trúc.</a:t>
            </a:r>
            <a:endParaRPr lang="zh-CN" sz="975" dirty="0">
              <a:solidFill>
                <a:srgbClr val="14532D"/>
              </a:solidFill>
              <a:latin typeface="Arial" panose="020B0704020202020204"/>
              <a:ea typeface="Arial" panose="020B0704020202020204"/>
              <a:cs typeface="Arial" panose="020B0704020202020204"/>
            </a:endParaRPr>
          </a:p>
        </p:txBody>
      </p:sp>
      <p:sp>
        <p:nvSpPr>
          <p:cNvPr id="51" name="Line 51"/>
          <p:cNvSpPr/>
          <p:nvPr/>
        </p:nvSpPr>
        <p:spPr>
          <a:xfrm>
            <a:off x="381000" y="6334125"/>
            <a:ext cx="11430000" cy="9525"/>
          </a:xfrm>
          <a:custGeom>
            <a:avLst/>
            <a:gdLst/>
            <a:ahLst/>
            <a:cxnLst/>
            <a:rect l="l" t="t" r="r" b="b"/>
            <a:pathLst>
              <a:path w="11430000" h="9525">
                <a:moveTo>
                  <a:pt x="0" y="0"/>
                </a:moveTo>
                <a:lnTo>
                  <a:pt x="11430000" y="0"/>
                </a:lnTo>
              </a:path>
            </a:pathLst>
          </a:custGeom>
          <a:noFill/>
          <a:ln w="9525">
            <a:solidFill>
              <a:srgbClr val="CBD5E1"/>
            </a:solidFill>
          </a:ln>
        </p:spPr>
      </p:sp>
      <p:sp>
        <p:nvSpPr>
          <p:cNvPr id="52" name="TextBox 52"/>
          <p:cNvSpPr txBox="1"/>
          <p:nvPr/>
        </p:nvSpPr>
        <p:spPr>
          <a:xfrm>
            <a:off x="368618" y="6514624"/>
            <a:ext cx="3563374"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panose="020B0704020202020204"/>
                <a:ea typeface="Arial" panose="020B0704020202020204"/>
                <a:cs typeface="Arial" panose="020B0704020202020204"/>
              </a:rPr>
              <a:t>Báo cáo Đồ án Lập trình Di động (MOB402) • Nhóm 10</a:t>
            </a:r>
            <a:endParaRPr lang="zh-CN" sz="975" dirty="0">
              <a:solidFill>
                <a:srgbClr val="64748B"/>
              </a:solidFill>
              <a:latin typeface="Arial" panose="020B0704020202020204"/>
              <a:ea typeface="Arial" panose="020B0704020202020204"/>
              <a:cs typeface="Arial" panose="020B0704020202020204"/>
            </a:endParaRPr>
          </a:p>
        </p:txBody>
      </p:sp>
      <p:sp>
        <p:nvSpPr>
          <p:cNvPr id="53" name="TextBox 53"/>
          <p:cNvSpPr txBox="1"/>
          <p:nvPr/>
        </p:nvSpPr>
        <p:spPr>
          <a:xfrm>
            <a:off x="4517231" y="6514624"/>
            <a:ext cx="3157538" cy="198120"/>
          </a:xfrm>
          <a:prstGeom prst="rect">
            <a:avLst/>
          </a:prstGeom>
          <a:noFill/>
          <a:ln>
            <a:noFill/>
          </a:ln>
        </p:spPr>
        <p:txBody>
          <a:bodyPr wrap="none" lIns="0" tIns="0" rIns="0" bIns="0" anchor="t" anchorCtr="0">
            <a:spAutoFit/>
          </a:bodyPr>
          <a:lstStyle/>
          <a:p>
            <a:pPr algn="ctr"/>
            <a:r>
              <a:rPr lang="zh-CN" sz="975" dirty="0">
                <a:solidFill>
                  <a:srgbClr val="94A3B8"/>
                </a:solidFill>
                <a:latin typeface="Arial" panose="020B0704020202020204"/>
                <a:ea typeface="Arial" panose="020B0704020202020204"/>
                <a:cs typeface="Arial" panose="020B0704020202020204"/>
              </a:rPr>
              <a:t>Kết quả đạt được &amp; Bài học vượt qua thử thách</a:t>
            </a:r>
            <a:endParaRPr lang="zh-CN" sz="975" dirty="0">
              <a:solidFill>
                <a:srgbClr val="94A3B8"/>
              </a:solidFill>
              <a:latin typeface="Arial" panose="020B0704020202020204"/>
              <a:ea typeface="Arial" panose="020B0704020202020204"/>
              <a:cs typeface="Arial" panose="020B0704020202020204"/>
            </a:endParaRPr>
          </a:p>
        </p:txBody>
      </p:sp>
      <p:sp>
        <p:nvSpPr>
          <p:cNvPr id="54" name="TextBox 54"/>
          <p:cNvSpPr txBox="1"/>
          <p:nvPr/>
        </p:nvSpPr>
        <p:spPr>
          <a:xfrm>
            <a:off x="11338758" y="6506528"/>
            <a:ext cx="485577" cy="213360"/>
          </a:xfrm>
          <a:prstGeom prst="rect">
            <a:avLst/>
          </a:prstGeom>
          <a:noFill/>
          <a:ln>
            <a:noFill/>
          </a:ln>
        </p:spPr>
        <p:txBody>
          <a:bodyPr wrap="none" lIns="0" tIns="0" rIns="0" bIns="0" anchor="t" anchorCtr="0">
            <a:spAutoFit/>
          </a:bodyPr>
          <a:lstStyle/>
          <a:p>
            <a:pPr algn="r"/>
            <a:r>
              <a:rPr lang="zh-CN" sz="1050" b="1" dirty="0">
                <a:solidFill>
                  <a:srgbClr val="003366"/>
                </a:solidFill>
                <a:latin typeface="Arial" panose="020B0704020202020204"/>
                <a:ea typeface="Arial" panose="020B0704020202020204"/>
                <a:cs typeface="Arial" panose="020B0704020202020204"/>
              </a:rPr>
              <a:t>13 / 14</a:t>
            </a:r>
            <a:endParaRPr lang="zh-CN" sz="1050" b="1" dirty="0">
              <a:solidFill>
                <a:srgbClr val="003366"/>
              </a:solidFill>
              <a:latin typeface="Arial" panose="020B0704020202020204"/>
              <a:ea typeface="Arial" panose="020B0704020202020204"/>
              <a:cs typeface="Arial" panose="020B070402020202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858000"/>
          </a:xfrm>
          <a:prstGeom prst="rect">
            <a:avLst/>
          </a:prstGeom>
          <a:solidFill>
            <a:srgbClr val="F8FAFC"/>
          </a:solidFill>
          <a:ln>
            <a:noFill/>
          </a:ln>
        </p:spPr>
      </p:sp>
      <p:sp>
        <p:nvSpPr>
          <p:cNvPr id="4" name="Rectangle 4"/>
          <p:cNvSpPr/>
          <p:nvPr/>
        </p:nvSpPr>
        <p:spPr>
          <a:xfrm>
            <a:off x="0" y="0"/>
            <a:ext cx="12192000" cy="666750"/>
          </a:xfrm>
          <a:prstGeom prst="rect">
            <a:avLst/>
          </a:prstGeom>
          <a:solidFill>
            <a:srgbClr val="003366"/>
          </a:solidFill>
          <a:ln>
            <a:noFill/>
          </a:ln>
        </p:spPr>
      </p:sp>
      <p:sp>
        <p:nvSpPr>
          <p:cNvPr id="5" name="Rectangle 5"/>
          <p:cNvSpPr/>
          <p:nvPr/>
        </p:nvSpPr>
        <p:spPr>
          <a:xfrm>
            <a:off x="0" y="0"/>
            <a:ext cx="57150" cy="666750"/>
          </a:xfrm>
          <a:prstGeom prst="rect">
            <a:avLst/>
          </a:prstGeom>
          <a:solidFill>
            <a:srgbClr val="E65100"/>
          </a:solidFill>
          <a:ln>
            <a:noFill/>
          </a:ln>
        </p:spPr>
      </p:sp>
      <p:sp>
        <p:nvSpPr>
          <p:cNvPr id="6" name="TextBox 6"/>
          <p:cNvSpPr txBox="1"/>
          <p:nvPr/>
        </p:nvSpPr>
        <p:spPr>
          <a:xfrm>
            <a:off x="356235" y="227648"/>
            <a:ext cx="5955518" cy="396240"/>
          </a:xfrm>
          <a:prstGeom prst="rect">
            <a:avLst/>
          </a:prstGeom>
          <a:noFill/>
          <a:ln>
            <a:noFill/>
          </a:ln>
        </p:spPr>
        <p:txBody>
          <a:bodyPr wrap="none" lIns="0" tIns="0" rIns="0" bIns="0" anchor="t" anchorCtr="0">
            <a:spAutoFit/>
          </a:bodyPr>
          <a:lstStyle/>
          <a:p>
            <a:pPr algn="l"/>
            <a:r>
              <a:rPr lang="zh-CN" sz="1950" b="1" dirty="0">
                <a:solidFill>
                  <a:srgbClr val="FFFFFF"/>
                </a:solidFill>
                <a:latin typeface="Arial" panose="020B0704020202020204"/>
                <a:ea typeface="Arial" panose="020B0704020202020204"/>
                <a:cs typeface="Arial" panose="020B0704020202020204"/>
              </a:rPr>
              <a:t>06. HẠN CHẾ, HƯỚNG PHÁT TRIỂN &amp; KẾT LUẬN</a:t>
            </a:r>
            <a:endParaRPr lang="zh-CN" sz="1950" b="1" dirty="0">
              <a:solidFill>
                <a:srgbClr val="FFFFFF"/>
              </a:solidFill>
              <a:latin typeface="Arial" panose="020B0704020202020204"/>
              <a:ea typeface="Arial" panose="020B0704020202020204"/>
              <a:cs typeface="Arial" panose="020B0704020202020204"/>
            </a:endParaRPr>
          </a:p>
        </p:txBody>
      </p:sp>
      <p:sp>
        <p:nvSpPr>
          <p:cNvPr id="7" name="TextBox 7"/>
          <p:cNvSpPr txBox="1"/>
          <p:nvPr/>
        </p:nvSpPr>
        <p:spPr>
          <a:xfrm>
            <a:off x="10295973" y="299085"/>
            <a:ext cx="1530267" cy="243840"/>
          </a:xfrm>
          <a:prstGeom prst="rect">
            <a:avLst/>
          </a:prstGeom>
          <a:noFill/>
          <a:ln>
            <a:noFill/>
          </a:ln>
        </p:spPr>
        <p:txBody>
          <a:bodyPr wrap="none" lIns="0" tIns="0" rIns="0" bIns="0" anchor="t" anchorCtr="0">
            <a:spAutoFit/>
          </a:bodyPr>
          <a:lstStyle/>
          <a:p>
            <a:pPr algn="r"/>
            <a:r>
              <a:rPr lang="zh-CN" sz="1200" b="1" dirty="0">
                <a:solidFill>
                  <a:srgbClr val="93C5FD"/>
                </a:solidFill>
                <a:latin typeface="Arial" panose="020B0704020202020204"/>
                <a:ea typeface="Arial" panose="020B0704020202020204"/>
                <a:cs typeface="Arial" panose="020B0704020202020204"/>
              </a:rPr>
              <a:t>GODROP DELIVERY</a:t>
            </a:r>
            <a:endParaRPr lang="zh-CN" sz="1200" b="1" dirty="0">
              <a:solidFill>
                <a:srgbClr val="93C5FD"/>
              </a:solidFill>
              <a:latin typeface="Arial" panose="020B0704020202020204"/>
              <a:ea typeface="Arial" panose="020B0704020202020204"/>
              <a:cs typeface="Arial" panose="020B0704020202020204"/>
            </a:endParaRPr>
          </a:p>
        </p:txBody>
      </p:sp>
      <p:sp>
        <p:nvSpPr>
          <p:cNvPr id="8" name="Rectangle 8"/>
          <p:cNvSpPr/>
          <p:nvPr/>
        </p:nvSpPr>
        <p:spPr>
          <a:xfrm>
            <a:off x="0" y="666750"/>
            <a:ext cx="12192000" cy="476250"/>
          </a:xfrm>
          <a:prstGeom prst="rect">
            <a:avLst/>
          </a:prstGeom>
          <a:solidFill>
            <a:srgbClr val="E8F4FC"/>
          </a:solidFill>
          <a:ln>
            <a:noFill/>
          </a:ln>
        </p:spPr>
      </p:sp>
      <p:sp>
        <p:nvSpPr>
          <p:cNvPr id="9" name="Rectangle 9"/>
          <p:cNvSpPr/>
          <p:nvPr/>
        </p:nvSpPr>
        <p:spPr>
          <a:xfrm>
            <a:off x="0" y="666750"/>
            <a:ext cx="57150" cy="476250"/>
          </a:xfrm>
          <a:prstGeom prst="rect">
            <a:avLst/>
          </a:prstGeom>
          <a:solidFill>
            <a:srgbClr val="0066CC"/>
          </a:solidFill>
          <a:ln>
            <a:noFill/>
          </a:ln>
        </p:spPr>
      </p:sp>
      <p:sp>
        <p:nvSpPr>
          <p:cNvPr id="10" name="TextBox 10"/>
          <p:cNvSpPr txBox="1"/>
          <p:nvPr/>
        </p:nvSpPr>
        <p:spPr>
          <a:xfrm>
            <a:off x="364808" y="824389"/>
            <a:ext cx="11195899" cy="259080"/>
          </a:xfrm>
          <a:prstGeom prst="rect">
            <a:avLst/>
          </a:prstGeom>
          <a:noFill/>
          <a:ln>
            <a:noFill/>
          </a:ln>
        </p:spPr>
        <p:txBody>
          <a:bodyPr wrap="none" lIns="0" tIns="0" rIns="0" bIns="0" anchor="t" anchorCtr="0">
            <a:spAutoFit/>
          </a:bodyPr>
          <a:lstStyle/>
          <a:p>
            <a:pPr algn="l"/>
            <a:r>
              <a:rPr lang="zh-CN" sz="1275" dirty="0">
                <a:solidFill>
                  <a:srgbClr val="0F172A"/>
                </a:solidFill>
                <a:latin typeface="Arial" panose="020B0704020202020204"/>
                <a:ea typeface="Arial" panose="020B0704020202020204"/>
                <a:cs typeface="Arial" panose="020B0704020202020204"/>
              </a:rPr>
              <a:t>Đồ án hoàn thành trọn vẹn mục tiêu học phần MOB402, mở ra tiềm năng lớn để nâng cấp thành ứng dụng thương mại hoàn chỉnh</a:t>
            </a:r>
            <a:endParaRPr lang="zh-CN" sz="1275" dirty="0">
              <a:solidFill>
                <a:srgbClr val="0F172A"/>
              </a:solidFill>
              <a:latin typeface="Arial" panose="020B0704020202020204"/>
              <a:ea typeface="Arial" panose="020B0704020202020204"/>
              <a:cs typeface="Arial" panose="020B0704020202020204"/>
            </a:endParaRPr>
          </a:p>
        </p:txBody>
      </p:sp>
      <p:sp>
        <p:nvSpPr>
          <p:cNvPr id="11" name="Freeform 11"/>
          <p:cNvSpPr/>
          <p:nvPr/>
        </p:nvSpPr>
        <p:spPr>
          <a:xfrm>
            <a:off x="381000" y="1285875"/>
            <a:ext cx="5572125" cy="3381375"/>
          </a:xfrm>
          <a:custGeom>
            <a:avLst/>
            <a:gdLst/>
            <a:ahLst/>
            <a:cxnLst/>
            <a:rect l="l" t="t" r="r" b="b"/>
            <a:pathLst>
              <a:path w="5572125" h="3381375">
                <a:moveTo>
                  <a:pt x="95250" y="0"/>
                </a:moveTo>
                <a:lnTo>
                  <a:pt x="5476875" y="0"/>
                </a:lnTo>
                <a:cubicBezTo>
                  <a:pt x="5529480" y="0"/>
                  <a:pt x="5572125" y="42645"/>
                  <a:pt x="5572125" y="95250"/>
                </a:cubicBezTo>
                <a:lnTo>
                  <a:pt x="5572125" y="3286125"/>
                </a:lnTo>
                <a:cubicBezTo>
                  <a:pt x="5572125" y="3338730"/>
                  <a:pt x="5529480" y="3381375"/>
                  <a:pt x="5476875" y="3381375"/>
                </a:cubicBezTo>
                <a:lnTo>
                  <a:pt x="95250" y="3381375"/>
                </a:lnTo>
                <a:cubicBezTo>
                  <a:pt x="42645" y="3381375"/>
                  <a:pt x="0" y="3338730"/>
                  <a:pt x="0" y="3286125"/>
                </a:cubicBezTo>
                <a:lnTo>
                  <a:pt x="0" y="95250"/>
                </a:lnTo>
                <a:cubicBezTo>
                  <a:pt x="0" y="42645"/>
                  <a:pt x="42645" y="0"/>
                  <a:pt x="95250" y="0"/>
                </a:cubicBezTo>
                <a:close/>
              </a:path>
            </a:pathLst>
          </a:custGeom>
          <a:solidFill>
            <a:srgbClr val="FFFFFF"/>
          </a:solidFill>
          <a:ln w="14288">
            <a:solidFill>
              <a:srgbClr val="E2E8F0"/>
            </a:solidFill>
          </a:ln>
        </p:spPr>
      </p:sp>
      <p:sp>
        <p:nvSpPr>
          <p:cNvPr id="12" name="Freeform 12"/>
          <p:cNvSpPr/>
          <p:nvPr/>
        </p:nvSpPr>
        <p:spPr>
          <a:xfrm>
            <a:off x="381000" y="1285875"/>
            <a:ext cx="5572125" cy="428625"/>
          </a:xfrm>
          <a:custGeom>
            <a:avLst/>
            <a:gdLst/>
            <a:ahLst/>
            <a:cxnLst/>
            <a:rect l="l" t="t" r="r" b="b"/>
            <a:pathLst>
              <a:path w="5572125" h="428625">
                <a:moveTo>
                  <a:pt x="95250" y="0"/>
                </a:moveTo>
                <a:lnTo>
                  <a:pt x="5476875" y="0"/>
                </a:lnTo>
                <a:cubicBezTo>
                  <a:pt x="5529480" y="0"/>
                  <a:pt x="5572125" y="42645"/>
                  <a:pt x="5572125" y="95250"/>
                </a:cubicBezTo>
                <a:lnTo>
                  <a:pt x="5572125" y="333375"/>
                </a:lnTo>
                <a:cubicBezTo>
                  <a:pt x="5572125" y="385980"/>
                  <a:pt x="5529480" y="428625"/>
                  <a:pt x="5476875" y="428625"/>
                </a:cubicBezTo>
                <a:lnTo>
                  <a:pt x="95250" y="428625"/>
                </a:lnTo>
                <a:cubicBezTo>
                  <a:pt x="42645" y="428625"/>
                  <a:pt x="0" y="385980"/>
                  <a:pt x="0" y="333375"/>
                </a:cubicBezTo>
                <a:lnTo>
                  <a:pt x="0" y="95250"/>
                </a:lnTo>
                <a:cubicBezTo>
                  <a:pt x="0" y="42645"/>
                  <a:pt x="42645" y="0"/>
                  <a:pt x="95250" y="0"/>
                </a:cubicBezTo>
                <a:close/>
              </a:path>
            </a:pathLst>
          </a:custGeom>
          <a:solidFill>
            <a:srgbClr val="F1F5F9"/>
          </a:solidFill>
          <a:ln>
            <a:noFill/>
          </a:ln>
        </p:spPr>
      </p:sp>
      <p:sp>
        <p:nvSpPr>
          <p:cNvPr id="13" name="Freeform 13"/>
          <p:cNvSpPr/>
          <p:nvPr/>
        </p:nvSpPr>
        <p:spPr>
          <a:xfrm>
            <a:off x="571500" y="1409700"/>
            <a:ext cx="190500" cy="178594"/>
          </a:xfrm>
          <a:custGeom>
            <a:avLst/>
            <a:gdLst/>
            <a:ahLst/>
            <a:cxnLst/>
            <a:rect l="l" t="t" r="r" b="b"/>
            <a:pathLst>
              <a:path w="190500" h="178594">
                <a:moveTo>
                  <a:pt x="190500" y="178594"/>
                </a:moveTo>
                <a:lnTo>
                  <a:pt x="0" y="178594"/>
                </a:lnTo>
                <a:lnTo>
                  <a:pt x="0" y="142875"/>
                </a:lnTo>
                <a:lnTo>
                  <a:pt x="83344" y="0"/>
                </a:lnTo>
                <a:lnTo>
                  <a:pt x="107156" y="0"/>
                </a:lnTo>
                <a:lnTo>
                  <a:pt x="190500" y="142875"/>
                </a:lnTo>
                <a:lnTo>
                  <a:pt x="190500" y="178594"/>
                </a:lnTo>
                <a:close/>
                <a:moveTo>
                  <a:pt x="83344" y="47625"/>
                </a:moveTo>
                <a:lnTo>
                  <a:pt x="107156" y="47625"/>
                </a:lnTo>
                <a:lnTo>
                  <a:pt x="107156" y="107156"/>
                </a:lnTo>
                <a:lnTo>
                  <a:pt x="83344" y="107156"/>
                </a:lnTo>
                <a:lnTo>
                  <a:pt x="83344" y="47625"/>
                </a:lnTo>
                <a:close/>
                <a:moveTo>
                  <a:pt x="83344" y="130969"/>
                </a:moveTo>
                <a:lnTo>
                  <a:pt x="107156" y="130969"/>
                </a:lnTo>
                <a:lnTo>
                  <a:pt x="107156" y="154781"/>
                </a:lnTo>
                <a:lnTo>
                  <a:pt x="83344" y="154781"/>
                </a:lnTo>
                <a:lnTo>
                  <a:pt x="83344" y="130969"/>
                </a:lnTo>
                <a:close/>
              </a:path>
            </a:pathLst>
          </a:custGeom>
          <a:solidFill>
            <a:srgbClr val="DC2626"/>
          </a:solidFill>
          <a:ln>
            <a:noFill/>
          </a:ln>
        </p:spPr>
      </p:sp>
      <p:sp>
        <p:nvSpPr>
          <p:cNvPr id="14" name="TextBox 14"/>
          <p:cNvSpPr txBox="1"/>
          <p:nvPr/>
        </p:nvSpPr>
        <p:spPr>
          <a:xfrm>
            <a:off x="842010" y="1432560"/>
            <a:ext cx="2652808" cy="243840"/>
          </a:xfrm>
          <a:prstGeom prst="rect">
            <a:avLst/>
          </a:prstGeom>
          <a:noFill/>
          <a:ln>
            <a:noFill/>
          </a:ln>
        </p:spPr>
        <p:txBody>
          <a:bodyPr wrap="none" lIns="0" tIns="0" rIns="0" bIns="0" anchor="t" anchorCtr="0">
            <a:spAutoFit/>
          </a:bodyPr>
          <a:lstStyle/>
          <a:p>
            <a:pPr algn="l"/>
            <a:r>
              <a:rPr lang="zh-CN" sz="1200" b="1" dirty="0">
                <a:solidFill>
                  <a:srgbClr val="B91C1C"/>
                </a:solidFill>
                <a:latin typeface="Arial" panose="020B0704020202020204"/>
                <a:ea typeface="Arial" panose="020B0704020202020204"/>
                <a:cs typeface="Arial" panose="020B0704020202020204"/>
              </a:rPr>
              <a:t>Hạn chế của phiên bản hiện tại</a:t>
            </a:r>
            <a:endParaRPr lang="zh-CN" sz="1200" b="1" dirty="0">
              <a:solidFill>
                <a:srgbClr val="B91C1C"/>
              </a:solidFill>
              <a:latin typeface="Arial" panose="020B0704020202020204"/>
              <a:ea typeface="Arial" panose="020B0704020202020204"/>
              <a:cs typeface="Arial" panose="020B0704020202020204"/>
            </a:endParaRPr>
          </a:p>
        </p:txBody>
      </p:sp>
      <p:sp>
        <p:nvSpPr>
          <p:cNvPr id="15" name="Freeform 15"/>
          <p:cNvSpPr/>
          <p:nvPr/>
        </p:nvSpPr>
        <p:spPr>
          <a:xfrm>
            <a:off x="571500" y="1857375"/>
            <a:ext cx="5191125" cy="619125"/>
          </a:xfrm>
          <a:custGeom>
            <a:avLst/>
            <a:gdLst/>
            <a:ahLst/>
            <a:cxnLst/>
            <a:rect l="l" t="t" r="r" b="b"/>
            <a:pathLst>
              <a:path w="5191125" h="619125">
                <a:moveTo>
                  <a:pt x="57150" y="0"/>
                </a:moveTo>
                <a:lnTo>
                  <a:pt x="5133975" y="0"/>
                </a:lnTo>
                <a:cubicBezTo>
                  <a:pt x="5165538" y="0"/>
                  <a:pt x="5191125" y="25587"/>
                  <a:pt x="5191125" y="57150"/>
                </a:cubicBezTo>
                <a:lnTo>
                  <a:pt x="5191125" y="561975"/>
                </a:lnTo>
                <a:cubicBezTo>
                  <a:pt x="5191125" y="593538"/>
                  <a:pt x="5165538" y="619125"/>
                  <a:pt x="5133975" y="619125"/>
                </a:cubicBezTo>
                <a:lnTo>
                  <a:pt x="57150" y="619125"/>
                </a:lnTo>
                <a:cubicBezTo>
                  <a:pt x="25587" y="619125"/>
                  <a:pt x="0" y="593538"/>
                  <a:pt x="0" y="561975"/>
                </a:cubicBezTo>
                <a:lnTo>
                  <a:pt x="0" y="57150"/>
                </a:lnTo>
                <a:cubicBezTo>
                  <a:pt x="0" y="25587"/>
                  <a:pt x="25587" y="0"/>
                  <a:pt x="57150" y="0"/>
                </a:cubicBezTo>
                <a:close/>
              </a:path>
            </a:pathLst>
          </a:custGeom>
          <a:solidFill>
            <a:srgbClr val="FEF2F2"/>
          </a:solidFill>
          <a:ln w="9525">
            <a:solidFill>
              <a:srgbClr val="FECACA"/>
            </a:solidFill>
          </a:ln>
        </p:spPr>
      </p:sp>
      <p:sp>
        <p:nvSpPr>
          <p:cNvPr id="16" name="TextBox 16"/>
          <p:cNvSpPr txBox="1"/>
          <p:nvPr/>
        </p:nvSpPr>
        <p:spPr>
          <a:xfrm>
            <a:off x="701040" y="1963102"/>
            <a:ext cx="3174613" cy="213360"/>
          </a:xfrm>
          <a:prstGeom prst="rect">
            <a:avLst/>
          </a:prstGeom>
          <a:noFill/>
          <a:ln>
            <a:noFill/>
          </a:ln>
        </p:spPr>
        <p:txBody>
          <a:bodyPr wrap="none" lIns="0" tIns="0" rIns="0" bIns="0" anchor="t" anchorCtr="0">
            <a:spAutoFit/>
          </a:bodyPr>
          <a:lstStyle/>
          <a:p>
            <a:pPr algn="l"/>
            <a:r>
              <a:rPr lang="zh-CN" sz="1050" b="1" dirty="0">
                <a:solidFill>
                  <a:srgbClr val="B91C1C"/>
                </a:solidFill>
                <a:latin typeface="Arial" panose="020B0704020202020204"/>
                <a:ea typeface="Arial" panose="020B0704020202020204"/>
                <a:cs typeface="Arial" panose="020B0704020202020204"/>
              </a:rPr>
              <a:t>1. Chưa có Push Notification khi app đóng</a:t>
            </a:r>
            <a:endParaRPr lang="zh-CN" sz="1050" b="1" dirty="0">
              <a:solidFill>
                <a:srgbClr val="B91C1C"/>
              </a:solidFill>
              <a:latin typeface="Arial" panose="020B0704020202020204"/>
              <a:ea typeface="Arial" panose="020B0704020202020204"/>
              <a:cs typeface="Arial" panose="020B0704020202020204"/>
            </a:endParaRPr>
          </a:p>
        </p:txBody>
      </p:sp>
      <p:sp>
        <p:nvSpPr>
          <p:cNvPr id="17" name="TextBox 17"/>
          <p:cNvSpPr txBox="1"/>
          <p:nvPr/>
        </p:nvSpPr>
        <p:spPr>
          <a:xfrm>
            <a:off x="701992" y="2199799"/>
            <a:ext cx="5464397" cy="198120"/>
          </a:xfrm>
          <a:prstGeom prst="rect">
            <a:avLst/>
          </a:prstGeom>
          <a:noFill/>
          <a:ln>
            <a:noFill/>
          </a:ln>
        </p:spPr>
        <p:txBody>
          <a:bodyPr wrap="none" lIns="0" tIns="0" rIns="0" bIns="0" anchor="t" anchorCtr="0">
            <a:spAutoFit/>
          </a:bodyPr>
          <a:lstStyle/>
          <a:p>
            <a:pPr algn="l"/>
            <a:r>
              <a:rPr lang="zh-CN" sz="975" dirty="0">
                <a:solidFill>
                  <a:srgbClr val="7F1D1D"/>
                </a:solidFill>
                <a:latin typeface="Arial" panose="020B0704020202020204"/>
                <a:ea typeface="Arial" panose="020B0704020202020204"/>
                <a:cs typeface="Arial" panose="020B0704020202020204"/>
              </a:rPr>
              <a:t>• Thông báo mới chỉ hiển thị khi app đang mở và dữ liệu được tải lại trong phiên.</a:t>
            </a:r>
            <a:endParaRPr lang="zh-CN" sz="975" dirty="0">
              <a:solidFill>
                <a:srgbClr val="7F1D1D"/>
              </a:solidFill>
              <a:latin typeface="Arial" panose="020B0704020202020204"/>
              <a:ea typeface="Arial" panose="020B0704020202020204"/>
              <a:cs typeface="Arial" panose="020B0704020202020204"/>
            </a:endParaRPr>
          </a:p>
        </p:txBody>
      </p:sp>
      <p:sp>
        <p:nvSpPr>
          <p:cNvPr id="18" name="Freeform 18"/>
          <p:cNvSpPr/>
          <p:nvPr/>
        </p:nvSpPr>
        <p:spPr>
          <a:xfrm>
            <a:off x="571500" y="2571750"/>
            <a:ext cx="5191125" cy="619125"/>
          </a:xfrm>
          <a:custGeom>
            <a:avLst/>
            <a:gdLst/>
            <a:ahLst/>
            <a:cxnLst/>
            <a:rect l="l" t="t" r="r" b="b"/>
            <a:pathLst>
              <a:path w="5191125" h="619125">
                <a:moveTo>
                  <a:pt x="57150" y="0"/>
                </a:moveTo>
                <a:lnTo>
                  <a:pt x="5133975" y="0"/>
                </a:lnTo>
                <a:cubicBezTo>
                  <a:pt x="5165538" y="0"/>
                  <a:pt x="5191125" y="25587"/>
                  <a:pt x="5191125" y="57150"/>
                </a:cubicBezTo>
                <a:lnTo>
                  <a:pt x="5191125" y="561975"/>
                </a:lnTo>
                <a:cubicBezTo>
                  <a:pt x="5191125" y="593538"/>
                  <a:pt x="5165538" y="619125"/>
                  <a:pt x="5133975" y="619125"/>
                </a:cubicBezTo>
                <a:lnTo>
                  <a:pt x="57150" y="619125"/>
                </a:lnTo>
                <a:cubicBezTo>
                  <a:pt x="25587" y="619125"/>
                  <a:pt x="0" y="593538"/>
                  <a:pt x="0" y="561975"/>
                </a:cubicBezTo>
                <a:lnTo>
                  <a:pt x="0" y="57150"/>
                </a:lnTo>
                <a:cubicBezTo>
                  <a:pt x="0" y="25587"/>
                  <a:pt x="25587" y="0"/>
                  <a:pt x="57150" y="0"/>
                </a:cubicBezTo>
                <a:close/>
              </a:path>
            </a:pathLst>
          </a:custGeom>
          <a:solidFill>
            <a:srgbClr val="FEF2F2"/>
          </a:solidFill>
          <a:ln w="9525">
            <a:solidFill>
              <a:srgbClr val="FECACA"/>
            </a:solidFill>
          </a:ln>
        </p:spPr>
      </p:sp>
      <p:sp>
        <p:nvSpPr>
          <p:cNvPr id="19" name="TextBox 19"/>
          <p:cNvSpPr txBox="1"/>
          <p:nvPr/>
        </p:nvSpPr>
        <p:spPr>
          <a:xfrm>
            <a:off x="701040" y="2677478"/>
            <a:ext cx="3110205" cy="213360"/>
          </a:xfrm>
          <a:prstGeom prst="rect">
            <a:avLst/>
          </a:prstGeom>
          <a:noFill/>
          <a:ln>
            <a:noFill/>
          </a:ln>
        </p:spPr>
        <p:txBody>
          <a:bodyPr wrap="none" lIns="0" tIns="0" rIns="0" bIns="0" anchor="t" anchorCtr="0">
            <a:spAutoFit/>
          </a:bodyPr>
          <a:lstStyle/>
          <a:p>
            <a:pPr algn="l"/>
            <a:r>
              <a:rPr lang="zh-CN" sz="1050" b="1" dirty="0">
                <a:solidFill>
                  <a:srgbClr val="B91C1C"/>
                </a:solidFill>
                <a:latin typeface="Arial" panose="020B0704020202020204"/>
                <a:ea typeface="Arial" panose="020B0704020202020204"/>
                <a:cs typeface="Arial" panose="020B0704020202020204"/>
              </a:rPr>
              <a:t>2. Bản đồ dẫn đường mở ngoài qua Intent</a:t>
            </a:r>
            <a:endParaRPr lang="zh-CN" sz="1050" b="1" dirty="0">
              <a:solidFill>
                <a:srgbClr val="B91C1C"/>
              </a:solidFill>
              <a:latin typeface="Arial" panose="020B0704020202020204"/>
              <a:ea typeface="Arial" panose="020B0704020202020204"/>
              <a:cs typeface="Arial" panose="020B0704020202020204"/>
            </a:endParaRPr>
          </a:p>
        </p:txBody>
      </p:sp>
      <p:sp>
        <p:nvSpPr>
          <p:cNvPr id="20" name="TextBox 20"/>
          <p:cNvSpPr txBox="1"/>
          <p:nvPr/>
        </p:nvSpPr>
        <p:spPr>
          <a:xfrm>
            <a:off x="701992" y="2914174"/>
            <a:ext cx="5770555" cy="198120"/>
          </a:xfrm>
          <a:prstGeom prst="rect">
            <a:avLst/>
          </a:prstGeom>
          <a:noFill/>
          <a:ln>
            <a:noFill/>
          </a:ln>
        </p:spPr>
        <p:txBody>
          <a:bodyPr wrap="none" lIns="0" tIns="0" rIns="0" bIns="0" anchor="t" anchorCtr="0">
            <a:spAutoFit/>
          </a:bodyPr>
          <a:lstStyle/>
          <a:p>
            <a:pPr algn="l"/>
            <a:r>
              <a:rPr lang="zh-CN" sz="975" dirty="0">
                <a:solidFill>
                  <a:srgbClr val="7F1D1D"/>
                </a:solidFill>
                <a:latin typeface="Arial" panose="020B0704020202020204"/>
                <a:ea typeface="Arial" panose="020B0704020202020204"/>
                <a:cs typeface="Arial" panose="020B0704020202020204"/>
              </a:rPr>
              <a:t>• Chưa nhúng bản đồ thời gian thực trực tiếp để khách xem vị trí shipper di chuyển.</a:t>
            </a:r>
            <a:endParaRPr lang="zh-CN" sz="975" dirty="0">
              <a:solidFill>
                <a:srgbClr val="7F1D1D"/>
              </a:solidFill>
              <a:latin typeface="Arial" panose="020B0704020202020204"/>
              <a:ea typeface="Arial" panose="020B0704020202020204"/>
              <a:cs typeface="Arial" panose="020B0704020202020204"/>
            </a:endParaRPr>
          </a:p>
        </p:txBody>
      </p:sp>
      <p:sp>
        <p:nvSpPr>
          <p:cNvPr id="21" name="Freeform 21"/>
          <p:cNvSpPr/>
          <p:nvPr/>
        </p:nvSpPr>
        <p:spPr>
          <a:xfrm>
            <a:off x="571500" y="3286125"/>
            <a:ext cx="5191125" cy="619125"/>
          </a:xfrm>
          <a:custGeom>
            <a:avLst/>
            <a:gdLst/>
            <a:ahLst/>
            <a:cxnLst/>
            <a:rect l="l" t="t" r="r" b="b"/>
            <a:pathLst>
              <a:path w="5191125" h="619125">
                <a:moveTo>
                  <a:pt x="57150" y="0"/>
                </a:moveTo>
                <a:lnTo>
                  <a:pt x="5133975" y="0"/>
                </a:lnTo>
                <a:cubicBezTo>
                  <a:pt x="5165538" y="0"/>
                  <a:pt x="5191125" y="25587"/>
                  <a:pt x="5191125" y="57150"/>
                </a:cubicBezTo>
                <a:lnTo>
                  <a:pt x="5191125" y="561975"/>
                </a:lnTo>
                <a:cubicBezTo>
                  <a:pt x="5191125" y="593538"/>
                  <a:pt x="5165538" y="619125"/>
                  <a:pt x="5133975" y="619125"/>
                </a:cubicBezTo>
                <a:lnTo>
                  <a:pt x="57150" y="619125"/>
                </a:lnTo>
                <a:cubicBezTo>
                  <a:pt x="25587" y="619125"/>
                  <a:pt x="0" y="593538"/>
                  <a:pt x="0" y="561975"/>
                </a:cubicBezTo>
                <a:lnTo>
                  <a:pt x="0" y="57150"/>
                </a:lnTo>
                <a:cubicBezTo>
                  <a:pt x="0" y="25587"/>
                  <a:pt x="25587" y="0"/>
                  <a:pt x="57150" y="0"/>
                </a:cubicBezTo>
                <a:close/>
              </a:path>
            </a:pathLst>
          </a:custGeom>
          <a:solidFill>
            <a:srgbClr val="FEF2F2"/>
          </a:solidFill>
          <a:ln w="9525">
            <a:solidFill>
              <a:srgbClr val="FECACA"/>
            </a:solidFill>
          </a:ln>
        </p:spPr>
      </p:sp>
      <p:sp>
        <p:nvSpPr>
          <p:cNvPr id="22" name="TextBox 22"/>
          <p:cNvSpPr txBox="1"/>
          <p:nvPr/>
        </p:nvSpPr>
        <p:spPr>
          <a:xfrm>
            <a:off x="701040" y="3391852"/>
            <a:ext cx="2989440" cy="213360"/>
          </a:xfrm>
          <a:prstGeom prst="rect">
            <a:avLst/>
          </a:prstGeom>
          <a:noFill/>
          <a:ln>
            <a:noFill/>
          </a:ln>
        </p:spPr>
        <p:txBody>
          <a:bodyPr wrap="none" lIns="0" tIns="0" rIns="0" bIns="0" anchor="t" anchorCtr="0">
            <a:spAutoFit/>
          </a:bodyPr>
          <a:lstStyle/>
          <a:p>
            <a:pPr algn="l"/>
            <a:r>
              <a:rPr lang="zh-CN" sz="1050" b="1" dirty="0">
                <a:solidFill>
                  <a:srgbClr val="B91C1C"/>
                </a:solidFill>
                <a:latin typeface="Arial" panose="020B0704020202020204"/>
                <a:ea typeface="Arial" panose="020B0704020202020204"/>
                <a:cs typeface="Arial" panose="020B0704020202020204"/>
              </a:rPr>
              <a:t>3. Yêu cầu kết nối mạng online liên tục</a:t>
            </a:r>
            <a:endParaRPr lang="zh-CN" sz="1050" b="1" dirty="0">
              <a:solidFill>
                <a:srgbClr val="B91C1C"/>
              </a:solidFill>
              <a:latin typeface="Arial" panose="020B0704020202020204"/>
              <a:ea typeface="Arial" panose="020B0704020202020204"/>
              <a:cs typeface="Arial" panose="020B0704020202020204"/>
            </a:endParaRPr>
          </a:p>
        </p:txBody>
      </p:sp>
      <p:sp>
        <p:nvSpPr>
          <p:cNvPr id="23" name="TextBox 23"/>
          <p:cNvSpPr txBox="1"/>
          <p:nvPr/>
        </p:nvSpPr>
        <p:spPr>
          <a:xfrm>
            <a:off x="701992" y="3628549"/>
            <a:ext cx="5920073" cy="198120"/>
          </a:xfrm>
          <a:prstGeom prst="rect">
            <a:avLst/>
          </a:prstGeom>
          <a:noFill/>
          <a:ln>
            <a:noFill/>
          </a:ln>
        </p:spPr>
        <p:txBody>
          <a:bodyPr wrap="none" lIns="0" tIns="0" rIns="0" bIns="0" anchor="t" anchorCtr="0">
            <a:spAutoFit/>
          </a:bodyPr>
          <a:lstStyle/>
          <a:p>
            <a:pPr algn="l"/>
            <a:r>
              <a:rPr lang="zh-CN" sz="975" dirty="0">
                <a:solidFill>
                  <a:srgbClr val="7F1D1D"/>
                </a:solidFill>
                <a:latin typeface="Arial" panose="020B0704020202020204"/>
                <a:ea typeface="Arial" panose="020B0704020202020204"/>
                <a:cs typeface="Arial" panose="020B0704020202020204"/>
              </a:rPr>
              <a:t>• Chưa hỗ trợ tạo đơn ngoại tuyến (offline mode) rồi tự động đồng bộ sau khi có mạng.</a:t>
            </a:r>
            <a:endParaRPr lang="zh-CN" sz="975" dirty="0">
              <a:solidFill>
                <a:srgbClr val="7F1D1D"/>
              </a:solidFill>
              <a:latin typeface="Arial" panose="020B0704020202020204"/>
              <a:ea typeface="Arial" panose="020B0704020202020204"/>
              <a:cs typeface="Arial" panose="020B0704020202020204"/>
            </a:endParaRPr>
          </a:p>
        </p:txBody>
      </p:sp>
      <p:sp>
        <p:nvSpPr>
          <p:cNvPr id="24" name="Freeform 24"/>
          <p:cNvSpPr/>
          <p:nvPr/>
        </p:nvSpPr>
        <p:spPr>
          <a:xfrm>
            <a:off x="571500" y="4000500"/>
            <a:ext cx="5191125" cy="523875"/>
          </a:xfrm>
          <a:custGeom>
            <a:avLst/>
            <a:gdLst/>
            <a:ahLst/>
            <a:cxnLst/>
            <a:rect l="l" t="t" r="r" b="b"/>
            <a:pathLst>
              <a:path w="5191125" h="523875">
                <a:moveTo>
                  <a:pt x="57150" y="0"/>
                </a:moveTo>
                <a:lnTo>
                  <a:pt x="5133975" y="0"/>
                </a:lnTo>
                <a:cubicBezTo>
                  <a:pt x="5165538" y="0"/>
                  <a:pt x="5191125" y="25587"/>
                  <a:pt x="5191125" y="57150"/>
                </a:cubicBezTo>
                <a:lnTo>
                  <a:pt x="5191125" y="466725"/>
                </a:lnTo>
                <a:cubicBezTo>
                  <a:pt x="5191125" y="498288"/>
                  <a:pt x="5165538" y="523875"/>
                  <a:pt x="5133975" y="523875"/>
                </a:cubicBezTo>
                <a:lnTo>
                  <a:pt x="57150" y="523875"/>
                </a:lnTo>
                <a:cubicBezTo>
                  <a:pt x="25587" y="523875"/>
                  <a:pt x="0" y="498288"/>
                  <a:pt x="0" y="466725"/>
                </a:cubicBezTo>
                <a:lnTo>
                  <a:pt x="0" y="57150"/>
                </a:lnTo>
                <a:cubicBezTo>
                  <a:pt x="0" y="25587"/>
                  <a:pt x="25587" y="0"/>
                  <a:pt x="57150" y="0"/>
                </a:cubicBezTo>
                <a:close/>
              </a:path>
            </a:pathLst>
          </a:custGeom>
          <a:solidFill>
            <a:srgbClr val="FEF2F2"/>
          </a:solidFill>
          <a:ln w="9525">
            <a:solidFill>
              <a:srgbClr val="FECACA"/>
            </a:solidFill>
          </a:ln>
        </p:spPr>
      </p:sp>
      <p:sp>
        <p:nvSpPr>
          <p:cNvPr id="25" name="TextBox 25"/>
          <p:cNvSpPr txBox="1"/>
          <p:nvPr/>
        </p:nvSpPr>
        <p:spPr>
          <a:xfrm>
            <a:off x="701516" y="4110276"/>
            <a:ext cx="3798764" cy="205740"/>
          </a:xfrm>
          <a:prstGeom prst="rect">
            <a:avLst/>
          </a:prstGeom>
          <a:noFill/>
          <a:ln>
            <a:noFill/>
          </a:ln>
        </p:spPr>
        <p:txBody>
          <a:bodyPr wrap="none" lIns="0" tIns="0" rIns="0" bIns="0" anchor="t" anchorCtr="0">
            <a:spAutoFit/>
          </a:bodyPr>
          <a:lstStyle/>
          <a:p>
            <a:pPr algn="l"/>
            <a:r>
              <a:rPr lang="zh-CN" sz="1010" b="1" dirty="0">
                <a:solidFill>
                  <a:srgbClr val="B91C1C"/>
                </a:solidFill>
                <a:latin typeface="Arial" panose="020B0704020202020204"/>
                <a:ea typeface="Arial" panose="020B0704020202020204"/>
                <a:cs typeface="Arial" panose="020B0704020202020204"/>
              </a:rPr>
              <a:t>4. Quản trị Admin chỉ dừng ở mức xem &amp; lọc dữ liệu</a:t>
            </a:r>
            <a:endParaRPr lang="zh-CN" sz="1010" b="1" dirty="0">
              <a:solidFill>
                <a:srgbClr val="B91C1C"/>
              </a:solidFill>
              <a:latin typeface="Arial" panose="020B0704020202020204"/>
              <a:ea typeface="Arial" panose="020B0704020202020204"/>
              <a:cs typeface="Arial" panose="020B0704020202020204"/>
            </a:endParaRPr>
          </a:p>
        </p:txBody>
      </p:sp>
      <p:sp>
        <p:nvSpPr>
          <p:cNvPr id="26" name="TextBox 26"/>
          <p:cNvSpPr txBox="1"/>
          <p:nvPr/>
        </p:nvSpPr>
        <p:spPr>
          <a:xfrm>
            <a:off x="702469" y="4299347"/>
            <a:ext cx="4460081" cy="190500"/>
          </a:xfrm>
          <a:prstGeom prst="rect">
            <a:avLst/>
          </a:prstGeom>
          <a:noFill/>
          <a:ln>
            <a:noFill/>
          </a:ln>
        </p:spPr>
        <p:txBody>
          <a:bodyPr wrap="none" lIns="0" tIns="0" rIns="0" bIns="0" anchor="t" anchorCtr="0">
            <a:spAutoFit/>
          </a:bodyPr>
          <a:lstStyle/>
          <a:p>
            <a:pPr algn="l"/>
            <a:r>
              <a:rPr lang="zh-CN" sz="940" dirty="0">
                <a:solidFill>
                  <a:srgbClr val="7F1D1D"/>
                </a:solidFill>
                <a:latin typeface="Arial" panose="020B0704020202020204"/>
                <a:ea typeface="Arial" panose="020B0704020202020204"/>
                <a:cs typeface="Arial" panose="020B0704020202020204"/>
              </a:rPr>
              <a:t>• Chưa hỗ trợ can thiệp sửa cước phí hay điều phối trực tiếp tài xế.</a:t>
            </a:r>
            <a:endParaRPr lang="zh-CN" sz="940" dirty="0">
              <a:solidFill>
                <a:srgbClr val="7F1D1D"/>
              </a:solidFill>
              <a:latin typeface="Arial" panose="020B0704020202020204"/>
              <a:ea typeface="Arial" panose="020B0704020202020204"/>
              <a:cs typeface="Arial" panose="020B0704020202020204"/>
            </a:endParaRPr>
          </a:p>
        </p:txBody>
      </p:sp>
      <p:sp>
        <p:nvSpPr>
          <p:cNvPr id="27" name="Freeform 27"/>
          <p:cNvSpPr/>
          <p:nvPr/>
        </p:nvSpPr>
        <p:spPr>
          <a:xfrm>
            <a:off x="6238875" y="1285875"/>
            <a:ext cx="5572125" cy="3381375"/>
          </a:xfrm>
          <a:custGeom>
            <a:avLst/>
            <a:gdLst/>
            <a:ahLst/>
            <a:cxnLst/>
            <a:rect l="l" t="t" r="r" b="b"/>
            <a:pathLst>
              <a:path w="5572125" h="3381375">
                <a:moveTo>
                  <a:pt x="95250" y="0"/>
                </a:moveTo>
                <a:lnTo>
                  <a:pt x="5476875" y="0"/>
                </a:lnTo>
                <a:cubicBezTo>
                  <a:pt x="5529480" y="0"/>
                  <a:pt x="5572125" y="42645"/>
                  <a:pt x="5572125" y="95250"/>
                </a:cubicBezTo>
                <a:lnTo>
                  <a:pt x="5572125" y="3286125"/>
                </a:lnTo>
                <a:cubicBezTo>
                  <a:pt x="5572125" y="3338730"/>
                  <a:pt x="5529480" y="3381375"/>
                  <a:pt x="5476875" y="3381375"/>
                </a:cubicBezTo>
                <a:lnTo>
                  <a:pt x="95250" y="3381375"/>
                </a:lnTo>
                <a:cubicBezTo>
                  <a:pt x="42645" y="3381375"/>
                  <a:pt x="0" y="3338730"/>
                  <a:pt x="0" y="3286125"/>
                </a:cubicBezTo>
                <a:lnTo>
                  <a:pt x="0" y="95250"/>
                </a:lnTo>
                <a:cubicBezTo>
                  <a:pt x="0" y="42645"/>
                  <a:pt x="42645" y="0"/>
                  <a:pt x="95250" y="0"/>
                </a:cubicBezTo>
                <a:close/>
              </a:path>
            </a:pathLst>
          </a:custGeom>
          <a:solidFill>
            <a:srgbClr val="FFFFFF"/>
          </a:solidFill>
          <a:ln w="14288">
            <a:solidFill>
              <a:srgbClr val="E2E8F0"/>
            </a:solidFill>
          </a:ln>
        </p:spPr>
      </p:sp>
      <p:sp>
        <p:nvSpPr>
          <p:cNvPr id="28" name="Freeform 28"/>
          <p:cNvSpPr/>
          <p:nvPr/>
        </p:nvSpPr>
        <p:spPr>
          <a:xfrm>
            <a:off x="6238875" y="1285875"/>
            <a:ext cx="5572125" cy="428625"/>
          </a:xfrm>
          <a:custGeom>
            <a:avLst/>
            <a:gdLst/>
            <a:ahLst/>
            <a:cxnLst/>
            <a:rect l="l" t="t" r="r" b="b"/>
            <a:pathLst>
              <a:path w="5572125" h="428625">
                <a:moveTo>
                  <a:pt x="95250" y="0"/>
                </a:moveTo>
                <a:lnTo>
                  <a:pt x="5476875" y="0"/>
                </a:lnTo>
                <a:cubicBezTo>
                  <a:pt x="5529480" y="0"/>
                  <a:pt x="5572125" y="42645"/>
                  <a:pt x="5572125" y="95250"/>
                </a:cubicBezTo>
                <a:lnTo>
                  <a:pt x="5572125" y="333375"/>
                </a:lnTo>
                <a:cubicBezTo>
                  <a:pt x="5572125" y="385980"/>
                  <a:pt x="5529480" y="428625"/>
                  <a:pt x="5476875" y="428625"/>
                </a:cubicBezTo>
                <a:lnTo>
                  <a:pt x="95250" y="428625"/>
                </a:lnTo>
                <a:cubicBezTo>
                  <a:pt x="42645" y="428625"/>
                  <a:pt x="0" y="385980"/>
                  <a:pt x="0" y="333375"/>
                </a:cubicBezTo>
                <a:lnTo>
                  <a:pt x="0" y="95250"/>
                </a:lnTo>
                <a:cubicBezTo>
                  <a:pt x="0" y="42645"/>
                  <a:pt x="42645" y="0"/>
                  <a:pt x="95250" y="0"/>
                </a:cubicBezTo>
                <a:close/>
              </a:path>
            </a:pathLst>
          </a:custGeom>
          <a:solidFill>
            <a:srgbClr val="F1F5F9"/>
          </a:solidFill>
          <a:ln>
            <a:noFill/>
          </a:ln>
        </p:spPr>
      </p:sp>
      <p:sp>
        <p:nvSpPr>
          <p:cNvPr id="29" name="Freeform 29"/>
          <p:cNvSpPr/>
          <p:nvPr/>
        </p:nvSpPr>
        <p:spPr>
          <a:xfrm>
            <a:off x="6429375" y="1409700"/>
            <a:ext cx="190500" cy="190500"/>
          </a:xfrm>
          <a:custGeom>
            <a:avLst/>
            <a:gdLst/>
            <a:ahLst/>
            <a:cxnLst/>
            <a:rect l="l" t="t" r="r" b="b"/>
            <a:pathLst>
              <a:path w="190500" h="190500">
                <a:moveTo>
                  <a:pt x="95250" y="190500"/>
                </a:moveTo>
                <a:cubicBezTo>
                  <a:pt x="147855" y="190500"/>
                  <a:pt x="190500" y="147855"/>
                  <a:pt x="190500" y="95250"/>
                </a:cubicBezTo>
                <a:cubicBezTo>
                  <a:pt x="190500" y="42645"/>
                  <a:pt x="147855" y="0"/>
                  <a:pt x="95250" y="0"/>
                </a:cubicBezTo>
                <a:cubicBezTo>
                  <a:pt x="42645" y="0"/>
                  <a:pt x="0" y="42645"/>
                  <a:pt x="0" y="95250"/>
                </a:cubicBezTo>
                <a:cubicBezTo>
                  <a:pt x="0" y="147855"/>
                  <a:pt x="42645" y="190500"/>
                  <a:pt x="95250" y="190500"/>
                </a:cubicBezTo>
                <a:close/>
                <a:moveTo>
                  <a:pt x="151294" y="67950"/>
                </a:moveTo>
                <a:lnTo>
                  <a:pt x="134456" y="51112"/>
                </a:lnTo>
                <a:lnTo>
                  <a:pt x="77391" y="108178"/>
                </a:lnTo>
                <a:lnTo>
                  <a:pt x="56044" y="86831"/>
                </a:lnTo>
                <a:lnTo>
                  <a:pt x="39206" y="103669"/>
                </a:lnTo>
                <a:lnTo>
                  <a:pt x="77391" y="141853"/>
                </a:lnTo>
                <a:lnTo>
                  <a:pt x="151294" y="67950"/>
                </a:lnTo>
                <a:close/>
              </a:path>
            </a:pathLst>
          </a:custGeom>
          <a:solidFill>
            <a:srgbClr val="16A34A"/>
          </a:solidFill>
          <a:ln>
            <a:noFill/>
          </a:ln>
        </p:spPr>
      </p:sp>
      <p:sp>
        <p:nvSpPr>
          <p:cNvPr id="30" name="TextBox 30"/>
          <p:cNvSpPr txBox="1"/>
          <p:nvPr/>
        </p:nvSpPr>
        <p:spPr>
          <a:xfrm>
            <a:off x="6699885" y="1432560"/>
            <a:ext cx="3315291" cy="243840"/>
          </a:xfrm>
          <a:prstGeom prst="rect">
            <a:avLst/>
          </a:prstGeom>
          <a:noFill/>
          <a:ln>
            <a:noFill/>
          </a:ln>
        </p:spPr>
        <p:txBody>
          <a:bodyPr wrap="none" lIns="0" tIns="0" rIns="0" bIns="0" anchor="t" anchorCtr="0">
            <a:spAutoFit/>
          </a:bodyPr>
          <a:lstStyle/>
          <a:p>
            <a:pPr algn="l"/>
            <a:r>
              <a:rPr lang="zh-CN" sz="1200" b="1" dirty="0">
                <a:solidFill>
                  <a:srgbClr val="15803D"/>
                </a:solidFill>
                <a:latin typeface="Arial" panose="020B0704020202020204"/>
                <a:ea typeface="Arial" panose="020B0704020202020204"/>
                <a:cs typeface="Arial" panose="020B0704020202020204"/>
              </a:rPr>
              <a:t>Hướng nâng cấp &amp; Phát triển tương lai</a:t>
            </a:r>
            <a:endParaRPr lang="zh-CN" sz="1200" b="1" dirty="0">
              <a:solidFill>
                <a:srgbClr val="15803D"/>
              </a:solidFill>
              <a:latin typeface="Arial" panose="020B0704020202020204"/>
              <a:ea typeface="Arial" panose="020B0704020202020204"/>
              <a:cs typeface="Arial" panose="020B0704020202020204"/>
            </a:endParaRPr>
          </a:p>
        </p:txBody>
      </p:sp>
      <p:sp>
        <p:nvSpPr>
          <p:cNvPr id="31" name="Freeform 31"/>
          <p:cNvSpPr/>
          <p:nvPr/>
        </p:nvSpPr>
        <p:spPr>
          <a:xfrm>
            <a:off x="6429375" y="1857375"/>
            <a:ext cx="5191125" cy="619125"/>
          </a:xfrm>
          <a:custGeom>
            <a:avLst/>
            <a:gdLst/>
            <a:ahLst/>
            <a:cxnLst/>
            <a:rect l="l" t="t" r="r" b="b"/>
            <a:pathLst>
              <a:path w="5191125" h="619125">
                <a:moveTo>
                  <a:pt x="57150" y="0"/>
                </a:moveTo>
                <a:lnTo>
                  <a:pt x="5133975" y="0"/>
                </a:lnTo>
                <a:cubicBezTo>
                  <a:pt x="5165538" y="0"/>
                  <a:pt x="5191125" y="25587"/>
                  <a:pt x="5191125" y="57150"/>
                </a:cubicBezTo>
                <a:lnTo>
                  <a:pt x="5191125" y="561975"/>
                </a:lnTo>
                <a:cubicBezTo>
                  <a:pt x="5191125" y="593538"/>
                  <a:pt x="5165538" y="619125"/>
                  <a:pt x="5133975" y="619125"/>
                </a:cubicBezTo>
                <a:lnTo>
                  <a:pt x="57150" y="619125"/>
                </a:lnTo>
                <a:cubicBezTo>
                  <a:pt x="25587" y="619125"/>
                  <a:pt x="0" y="593538"/>
                  <a:pt x="0" y="561975"/>
                </a:cubicBezTo>
                <a:lnTo>
                  <a:pt x="0" y="57150"/>
                </a:lnTo>
                <a:cubicBezTo>
                  <a:pt x="0" y="25587"/>
                  <a:pt x="25587" y="0"/>
                  <a:pt x="57150" y="0"/>
                </a:cubicBezTo>
                <a:close/>
              </a:path>
            </a:pathLst>
          </a:custGeom>
          <a:solidFill>
            <a:srgbClr val="F0FDF4"/>
          </a:solidFill>
          <a:ln w="9525">
            <a:solidFill>
              <a:srgbClr val="BBF7D0"/>
            </a:solidFill>
          </a:ln>
        </p:spPr>
      </p:sp>
      <p:sp>
        <p:nvSpPr>
          <p:cNvPr id="32" name="TextBox 32"/>
          <p:cNvSpPr txBox="1"/>
          <p:nvPr/>
        </p:nvSpPr>
        <p:spPr>
          <a:xfrm>
            <a:off x="6558915" y="1963102"/>
            <a:ext cx="3408093" cy="213360"/>
          </a:xfrm>
          <a:prstGeom prst="rect">
            <a:avLst/>
          </a:prstGeom>
          <a:noFill/>
          <a:ln>
            <a:noFill/>
          </a:ln>
        </p:spPr>
        <p:txBody>
          <a:bodyPr wrap="none" lIns="0" tIns="0" rIns="0" bIns="0" anchor="t" anchorCtr="0">
            <a:spAutoFit/>
          </a:bodyPr>
          <a:lstStyle/>
          <a:p>
            <a:pPr algn="l"/>
            <a:r>
              <a:rPr lang="zh-CN" sz="1050" b="1" dirty="0">
                <a:solidFill>
                  <a:srgbClr val="15803D"/>
                </a:solidFill>
                <a:latin typeface="Arial" panose="020B0704020202020204"/>
                <a:ea typeface="Arial" panose="020B0704020202020204"/>
                <a:cs typeface="Arial" panose="020B0704020202020204"/>
              </a:rPr>
              <a:t>1. Tích hợp Firebase Cloud Messaging (FCM)</a:t>
            </a:r>
            <a:endParaRPr lang="zh-CN" sz="1050" b="1" dirty="0">
              <a:solidFill>
                <a:srgbClr val="15803D"/>
              </a:solidFill>
              <a:latin typeface="Arial" panose="020B0704020202020204"/>
              <a:ea typeface="Arial" panose="020B0704020202020204"/>
              <a:cs typeface="Arial" panose="020B0704020202020204"/>
            </a:endParaRPr>
          </a:p>
        </p:txBody>
      </p:sp>
      <p:sp>
        <p:nvSpPr>
          <p:cNvPr id="33" name="TextBox 33"/>
          <p:cNvSpPr txBox="1"/>
          <p:nvPr/>
        </p:nvSpPr>
        <p:spPr>
          <a:xfrm>
            <a:off x="6559868" y="2199799"/>
            <a:ext cx="4944642" cy="198120"/>
          </a:xfrm>
          <a:prstGeom prst="rect">
            <a:avLst/>
          </a:prstGeom>
          <a:noFill/>
          <a:ln>
            <a:noFill/>
          </a:ln>
        </p:spPr>
        <p:txBody>
          <a:bodyPr wrap="none" lIns="0" tIns="0" rIns="0" bIns="0" anchor="t" anchorCtr="0">
            <a:spAutoFit/>
          </a:bodyPr>
          <a:lstStyle/>
          <a:p>
            <a:pPr algn="l"/>
            <a:r>
              <a:rPr lang="zh-CN" sz="975" dirty="0">
                <a:solidFill>
                  <a:srgbClr val="14532D"/>
                </a:solidFill>
                <a:latin typeface="Arial" panose="020B0704020202020204"/>
                <a:ea typeface="Arial" panose="020B0704020202020204"/>
                <a:cs typeface="Arial" panose="020B0704020202020204"/>
              </a:rPr>
              <a:t>• Bắn thông báo đẩy tức thời cho khách và tài xế dù ứng dụng đang đóng.</a:t>
            </a:r>
            <a:endParaRPr lang="zh-CN" sz="975" dirty="0">
              <a:solidFill>
                <a:srgbClr val="14532D"/>
              </a:solidFill>
              <a:latin typeface="Arial" panose="020B0704020202020204"/>
              <a:ea typeface="Arial" panose="020B0704020202020204"/>
              <a:cs typeface="Arial" panose="020B0704020202020204"/>
            </a:endParaRPr>
          </a:p>
        </p:txBody>
      </p:sp>
      <p:sp>
        <p:nvSpPr>
          <p:cNvPr id="34" name="Freeform 34"/>
          <p:cNvSpPr/>
          <p:nvPr/>
        </p:nvSpPr>
        <p:spPr>
          <a:xfrm>
            <a:off x="6429375" y="2571750"/>
            <a:ext cx="5191125" cy="619125"/>
          </a:xfrm>
          <a:custGeom>
            <a:avLst/>
            <a:gdLst/>
            <a:ahLst/>
            <a:cxnLst/>
            <a:rect l="l" t="t" r="r" b="b"/>
            <a:pathLst>
              <a:path w="5191125" h="619125">
                <a:moveTo>
                  <a:pt x="57150" y="0"/>
                </a:moveTo>
                <a:lnTo>
                  <a:pt x="5133975" y="0"/>
                </a:lnTo>
                <a:cubicBezTo>
                  <a:pt x="5165538" y="0"/>
                  <a:pt x="5191125" y="25587"/>
                  <a:pt x="5191125" y="57150"/>
                </a:cubicBezTo>
                <a:lnTo>
                  <a:pt x="5191125" y="561975"/>
                </a:lnTo>
                <a:cubicBezTo>
                  <a:pt x="5191125" y="593538"/>
                  <a:pt x="5165538" y="619125"/>
                  <a:pt x="5133975" y="619125"/>
                </a:cubicBezTo>
                <a:lnTo>
                  <a:pt x="57150" y="619125"/>
                </a:lnTo>
                <a:cubicBezTo>
                  <a:pt x="25587" y="619125"/>
                  <a:pt x="0" y="593538"/>
                  <a:pt x="0" y="561975"/>
                </a:cubicBezTo>
                <a:lnTo>
                  <a:pt x="0" y="57150"/>
                </a:lnTo>
                <a:cubicBezTo>
                  <a:pt x="0" y="25587"/>
                  <a:pt x="25587" y="0"/>
                  <a:pt x="57150" y="0"/>
                </a:cubicBezTo>
                <a:close/>
              </a:path>
            </a:pathLst>
          </a:custGeom>
          <a:solidFill>
            <a:srgbClr val="F0FDF4"/>
          </a:solidFill>
          <a:ln w="9525">
            <a:solidFill>
              <a:srgbClr val="BBF7D0"/>
            </a:solidFill>
          </a:ln>
        </p:spPr>
      </p:sp>
      <p:sp>
        <p:nvSpPr>
          <p:cNvPr id="35" name="TextBox 35"/>
          <p:cNvSpPr txBox="1"/>
          <p:nvPr/>
        </p:nvSpPr>
        <p:spPr>
          <a:xfrm>
            <a:off x="6558915" y="2677478"/>
            <a:ext cx="3528858" cy="213360"/>
          </a:xfrm>
          <a:prstGeom prst="rect">
            <a:avLst/>
          </a:prstGeom>
          <a:noFill/>
          <a:ln>
            <a:noFill/>
          </a:ln>
        </p:spPr>
        <p:txBody>
          <a:bodyPr wrap="none" lIns="0" tIns="0" rIns="0" bIns="0" anchor="t" anchorCtr="0">
            <a:spAutoFit/>
          </a:bodyPr>
          <a:lstStyle/>
          <a:p>
            <a:pPr algn="l"/>
            <a:r>
              <a:rPr lang="zh-CN" sz="1050" b="1" dirty="0">
                <a:solidFill>
                  <a:srgbClr val="15803D"/>
                </a:solidFill>
                <a:latin typeface="Arial" panose="020B0704020202020204"/>
                <a:ea typeface="Arial" panose="020B0704020202020204"/>
                <a:cs typeface="Arial" panose="020B0704020202020204"/>
              </a:rPr>
              <a:t>2. Nhúng SDK Bản đồ trực tiếp &amp; Live Tracking</a:t>
            </a:r>
            <a:endParaRPr lang="zh-CN" sz="1050" b="1" dirty="0">
              <a:solidFill>
                <a:srgbClr val="15803D"/>
              </a:solidFill>
              <a:latin typeface="Arial" panose="020B0704020202020204"/>
              <a:ea typeface="Arial" panose="020B0704020202020204"/>
              <a:cs typeface="Arial" panose="020B0704020202020204"/>
            </a:endParaRPr>
          </a:p>
        </p:txBody>
      </p:sp>
      <p:sp>
        <p:nvSpPr>
          <p:cNvPr id="36" name="TextBox 36"/>
          <p:cNvSpPr txBox="1"/>
          <p:nvPr/>
        </p:nvSpPr>
        <p:spPr>
          <a:xfrm>
            <a:off x="6559868" y="2914174"/>
            <a:ext cx="5713595" cy="198120"/>
          </a:xfrm>
          <a:prstGeom prst="rect">
            <a:avLst/>
          </a:prstGeom>
          <a:noFill/>
          <a:ln>
            <a:noFill/>
          </a:ln>
        </p:spPr>
        <p:txBody>
          <a:bodyPr wrap="none" lIns="0" tIns="0" rIns="0" bIns="0" anchor="t" anchorCtr="0">
            <a:spAutoFit/>
          </a:bodyPr>
          <a:lstStyle/>
          <a:p>
            <a:pPr algn="l"/>
            <a:r>
              <a:rPr lang="zh-CN" sz="975" dirty="0">
                <a:solidFill>
                  <a:srgbClr val="14532D"/>
                </a:solidFill>
                <a:latin typeface="Arial" panose="020B0704020202020204"/>
                <a:ea typeface="Arial" panose="020B0704020202020204"/>
                <a:cs typeface="Arial" panose="020B0704020202020204"/>
              </a:rPr>
              <a:t>• Tích hợp Mapbox/Google Maps SDK vẽ lộ trình và biểu tượng xe shipper di chuyển.</a:t>
            </a:r>
            <a:endParaRPr lang="zh-CN" sz="975" dirty="0">
              <a:solidFill>
                <a:srgbClr val="14532D"/>
              </a:solidFill>
              <a:latin typeface="Arial" panose="020B0704020202020204"/>
              <a:ea typeface="Arial" panose="020B0704020202020204"/>
              <a:cs typeface="Arial" panose="020B0704020202020204"/>
            </a:endParaRPr>
          </a:p>
        </p:txBody>
      </p:sp>
      <p:sp>
        <p:nvSpPr>
          <p:cNvPr id="37" name="Freeform 37"/>
          <p:cNvSpPr/>
          <p:nvPr/>
        </p:nvSpPr>
        <p:spPr>
          <a:xfrm>
            <a:off x="6429375" y="3286125"/>
            <a:ext cx="5191125" cy="619125"/>
          </a:xfrm>
          <a:custGeom>
            <a:avLst/>
            <a:gdLst/>
            <a:ahLst/>
            <a:cxnLst/>
            <a:rect l="l" t="t" r="r" b="b"/>
            <a:pathLst>
              <a:path w="5191125" h="619125">
                <a:moveTo>
                  <a:pt x="57150" y="0"/>
                </a:moveTo>
                <a:lnTo>
                  <a:pt x="5133975" y="0"/>
                </a:lnTo>
                <a:cubicBezTo>
                  <a:pt x="5165538" y="0"/>
                  <a:pt x="5191125" y="25587"/>
                  <a:pt x="5191125" y="57150"/>
                </a:cubicBezTo>
                <a:lnTo>
                  <a:pt x="5191125" y="561975"/>
                </a:lnTo>
                <a:cubicBezTo>
                  <a:pt x="5191125" y="593538"/>
                  <a:pt x="5165538" y="619125"/>
                  <a:pt x="5133975" y="619125"/>
                </a:cubicBezTo>
                <a:lnTo>
                  <a:pt x="57150" y="619125"/>
                </a:lnTo>
                <a:cubicBezTo>
                  <a:pt x="25587" y="619125"/>
                  <a:pt x="0" y="593538"/>
                  <a:pt x="0" y="561975"/>
                </a:cubicBezTo>
                <a:lnTo>
                  <a:pt x="0" y="57150"/>
                </a:lnTo>
                <a:cubicBezTo>
                  <a:pt x="0" y="25587"/>
                  <a:pt x="25587" y="0"/>
                  <a:pt x="57150" y="0"/>
                </a:cubicBezTo>
                <a:close/>
              </a:path>
            </a:pathLst>
          </a:custGeom>
          <a:solidFill>
            <a:srgbClr val="F0FDF4"/>
          </a:solidFill>
          <a:ln w="9525">
            <a:solidFill>
              <a:srgbClr val="BBF7D0"/>
            </a:solidFill>
          </a:ln>
        </p:spPr>
      </p:sp>
      <p:sp>
        <p:nvSpPr>
          <p:cNvPr id="38" name="TextBox 38"/>
          <p:cNvSpPr txBox="1"/>
          <p:nvPr/>
        </p:nvSpPr>
        <p:spPr>
          <a:xfrm>
            <a:off x="6558915" y="3391852"/>
            <a:ext cx="3110205" cy="213360"/>
          </a:xfrm>
          <a:prstGeom prst="rect">
            <a:avLst/>
          </a:prstGeom>
          <a:noFill/>
          <a:ln>
            <a:noFill/>
          </a:ln>
        </p:spPr>
        <p:txBody>
          <a:bodyPr wrap="none" lIns="0" tIns="0" rIns="0" bIns="0" anchor="t" anchorCtr="0">
            <a:spAutoFit/>
          </a:bodyPr>
          <a:lstStyle/>
          <a:p>
            <a:pPr algn="l"/>
            <a:r>
              <a:rPr lang="zh-CN" sz="1050" b="1" dirty="0">
                <a:solidFill>
                  <a:srgbClr val="15803D"/>
                </a:solidFill>
                <a:latin typeface="Arial" panose="020B0704020202020204"/>
                <a:ea typeface="Arial" panose="020B0704020202020204"/>
                <a:cs typeface="Arial" panose="020B0704020202020204"/>
              </a:rPr>
              <a:t>3. Tích hợp Cổng thanh toán trực tuyến</a:t>
            </a:r>
            <a:endParaRPr lang="zh-CN" sz="1050" b="1" dirty="0">
              <a:solidFill>
                <a:srgbClr val="15803D"/>
              </a:solidFill>
              <a:latin typeface="Arial" panose="020B0704020202020204"/>
              <a:ea typeface="Arial" panose="020B0704020202020204"/>
              <a:cs typeface="Arial" panose="020B0704020202020204"/>
            </a:endParaRPr>
          </a:p>
        </p:txBody>
      </p:sp>
      <p:sp>
        <p:nvSpPr>
          <p:cNvPr id="39" name="TextBox 39"/>
          <p:cNvSpPr txBox="1"/>
          <p:nvPr/>
        </p:nvSpPr>
        <p:spPr>
          <a:xfrm>
            <a:off x="6559868" y="3628549"/>
            <a:ext cx="5300639" cy="198120"/>
          </a:xfrm>
          <a:prstGeom prst="rect">
            <a:avLst/>
          </a:prstGeom>
          <a:noFill/>
          <a:ln>
            <a:noFill/>
          </a:ln>
        </p:spPr>
        <p:txBody>
          <a:bodyPr wrap="none" lIns="0" tIns="0" rIns="0" bIns="0" anchor="t" anchorCtr="0">
            <a:spAutoFit/>
          </a:bodyPr>
          <a:lstStyle/>
          <a:p>
            <a:pPr algn="l"/>
            <a:r>
              <a:rPr lang="zh-CN" sz="975" dirty="0">
                <a:solidFill>
                  <a:srgbClr val="14532D"/>
                </a:solidFill>
                <a:latin typeface="Arial" panose="020B0704020202020204"/>
                <a:ea typeface="Arial" panose="020B0704020202020204"/>
                <a:cs typeface="Arial" panose="020B0704020202020204"/>
              </a:rPr>
              <a:t>• Kết nối cổng VNPay, MoMo, ZaloPay hỗ trợ thanh toán không dùng tiền mặt.</a:t>
            </a:r>
            <a:endParaRPr lang="zh-CN" sz="975" dirty="0">
              <a:solidFill>
                <a:srgbClr val="14532D"/>
              </a:solidFill>
              <a:latin typeface="Arial" panose="020B0704020202020204"/>
              <a:ea typeface="Arial" panose="020B0704020202020204"/>
              <a:cs typeface="Arial" panose="020B0704020202020204"/>
            </a:endParaRPr>
          </a:p>
        </p:txBody>
      </p:sp>
      <p:sp>
        <p:nvSpPr>
          <p:cNvPr id="40" name="Freeform 40"/>
          <p:cNvSpPr/>
          <p:nvPr/>
        </p:nvSpPr>
        <p:spPr>
          <a:xfrm>
            <a:off x="6429375" y="4000500"/>
            <a:ext cx="5191125" cy="523875"/>
          </a:xfrm>
          <a:custGeom>
            <a:avLst/>
            <a:gdLst/>
            <a:ahLst/>
            <a:cxnLst/>
            <a:rect l="l" t="t" r="r" b="b"/>
            <a:pathLst>
              <a:path w="5191125" h="523875">
                <a:moveTo>
                  <a:pt x="57150" y="0"/>
                </a:moveTo>
                <a:lnTo>
                  <a:pt x="5133975" y="0"/>
                </a:lnTo>
                <a:cubicBezTo>
                  <a:pt x="5165538" y="0"/>
                  <a:pt x="5191125" y="25587"/>
                  <a:pt x="5191125" y="57150"/>
                </a:cubicBezTo>
                <a:lnTo>
                  <a:pt x="5191125" y="466725"/>
                </a:lnTo>
                <a:cubicBezTo>
                  <a:pt x="5191125" y="498288"/>
                  <a:pt x="5165538" y="523875"/>
                  <a:pt x="5133975" y="523875"/>
                </a:cubicBezTo>
                <a:lnTo>
                  <a:pt x="57150" y="523875"/>
                </a:lnTo>
                <a:cubicBezTo>
                  <a:pt x="25587" y="523875"/>
                  <a:pt x="0" y="498288"/>
                  <a:pt x="0" y="466725"/>
                </a:cubicBezTo>
                <a:lnTo>
                  <a:pt x="0" y="57150"/>
                </a:lnTo>
                <a:cubicBezTo>
                  <a:pt x="0" y="25587"/>
                  <a:pt x="25587" y="0"/>
                  <a:pt x="57150" y="0"/>
                </a:cubicBezTo>
                <a:close/>
              </a:path>
            </a:pathLst>
          </a:custGeom>
          <a:solidFill>
            <a:srgbClr val="F0FDF4"/>
          </a:solidFill>
          <a:ln w="9525">
            <a:solidFill>
              <a:srgbClr val="BBF7D0"/>
            </a:solidFill>
          </a:ln>
        </p:spPr>
      </p:sp>
      <p:sp>
        <p:nvSpPr>
          <p:cNvPr id="41" name="TextBox 41"/>
          <p:cNvSpPr txBox="1"/>
          <p:nvPr/>
        </p:nvSpPr>
        <p:spPr>
          <a:xfrm>
            <a:off x="6559391" y="4110276"/>
            <a:ext cx="3806528" cy="205740"/>
          </a:xfrm>
          <a:prstGeom prst="rect">
            <a:avLst/>
          </a:prstGeom>
          <a:noFill/>
          <a:ln>
            <a:noFill/>
          </a:ln>
        </p:spPr>
        <p:txBody>
          <a:bodyPr wrap="none" lIns="0" tIns="0" rIns="0" bIns="0" anchor="t" anchorCtr="0">
            <a:spAutoFit/>
          </a:bodyPr>
          <a:lstStyle/>
          <a:p>
            <a:pPr algn="l"/>
            <a:r>
              <a:rPr lang="zh-CN" sz="1010" b="1" dirty="0">
                <a:solidFill>
                  <a:srgbClr val="15803D"/>
                </a:solidFill>
                <a:latin typeface="Arial" panose="020B0704020202020204"/>
                <a:ea typeface="Arial" panose="020B0704020202020204"/>
                <a:cs typeface="Arial" panose="020B0704020202020204"/>
              </a:rPr>
              <a:t>4. Nâng cấp toàn diện bộ tính năng Quản trị Admin</a:t>
            </a:r>
            <a:endParaRPr lang="zh-CN" sz="1010" b="1" dirty="0">
              <a:solidFill>
                <a:srgbClr val="15803D"/>
              </a:solidFill>
              <a:latin typeface="Arial" panose="020B0704020202020204"/>
              <a:ea typeface="Arial" panose="020B0704020202020204"/>
              <a:cs typeface="Arial" panose="020B0704020202020204"/>
            </a:endParaRPr>
          </a:p>
        </p:txBody>
      </p:sp>
      <p:sp>
        <p:nvSpPr>
          <p:cNvPr id="42" name="TextBox 42"/>
          <p:cNvSpPr txBox="1"/>
          <p:nvPr/>
        </p:nvSpPr>
        <p:spPr>
          <a:xfrm>
            <a:off x="6560344" y="4299347"/>
            <a:ext cx="5363766" cy="190500"/>
          </a:xfrm>
          <a:prstGeom prst="rect">
            <a:avLst/>
          </a:prstGeom>
          <a:noFill/>
          <a:ln>
            <a:noFill/>
          </a:ln>
        </p:spPr>
        <p:txBody>
          <a:bodyPr wrap="none" lIns="0" tIns="0" rIns="0" bIns="0" anchor="t" anchorCtr="0">
            <a:spAutoFit/>
          </a:bodyPr>
          <a:lstStyle/>
          <a:p>
            <a:pPr algn="l"/>
            <a:r>
              <a:rPr lang="zh-CN" sz="940" dirty="0">
                <a:solidFill>
                  <a:srgbClr val="14532D"/>
                </a:solidFill>
                <a:latin typeface="Arial" panose="020B0704020202020204"/>
                <a:ea typeface="Arial" panose="020B0704020202020204"/>
                <a:cs typeface="Arial" panose="020B0704020202020204"/>
              </a:rPr>
              <a:t>• Cấp quyền điều phối thủ công, khóa tài khoản vi phạm và tùy biến biểu phí cước.</a:t>
            </a:r>
            <a:endParaRPr lang="zh-CN" sz="940" dirty="0">
              <a:solidFill>
                <a:srgbClr val="14532D"/>
              </a:solidFill>
              <a:latin typeface="Arial" panose="020B0704020202020204"/>
              <a:ea typeface="Arial" panose="020B0704020202020204"/>
              <a:cs typeface="Arial" panose="020B0704020202020204"/>
            </a:endParaRPr>
          </a:p>
        </p:txBody>
      </p:sp>
      <p:sp>
        <p:nvSpPr>
          <p:cNvPr id="43" name="Freeform 43"/>
          <p:cNvSpPr/>
          <p:nvPr/>
        </p:nvSpPr>
        <p:spPr>
          <a:xfrm>
            <a:off x="381000" y="4810125"/>
            <a:ext cx="11430000" cy="1381125"/>
          </a:xfrm>
          <a:custGeom>
            <a:avLst/>
            <a:gdLst/>
            <a:ahLst/>
            <a:cxnLst/>
            <a:rect l="l" t="t" r="r" b="b"/>
            <a:pathLst>
              <a:path w="11430000" h="1381125">
                <a:moveTo>
                  <a:pt x="95250" y="0"/>
                </a:moveTo>
                <a:lnTo>
                  <a:pt x="11334750" y="0"/>
                </a:lnTo>
                <a:cubicBezTo>
                  <a:pt x="11387355" y="0"/>
                  <a:pt x="11430000" y="42645"/>
                  <a:pt x="11430000" y="95250"/>
                </a:cubicBezTo>
                <a:lnTo>
                  <a:pt x="11430000" y="1285875"/>
                </a:lnTo>
                <a:cubicBezTo>
                  <a:pt x="11430000" y="1338480"/>
                  <a:pt x="11387355" y="1381125"/>
                  <a:pt x="11334750" y="1381125"/>
                </a:cubicBezTo>
                <a:lnTo>
                  <a:pt x="95250" y="1381125"/>
                </a:lnTo>
                <a:cubicBezTo>
                  <a:pt x="42645" y="1381125"/>
                  <a:pt x="0" y="1338480"/>
                  <a:pt x="0" y="1285875"/>
                </a:cubicBezTo>
                <a:lnTo>
                  <a:pt x="0" y="95250"/>
                </a:lnTo>
                <a:cubicBezTo>
                  <a:pt x="0" y="42645"/>
                  <a:pt x="42645" y="0"/>
                  <a:pt x="95250" y="0"/>
                </a:cubicBezTo>
                <a:close/>
              </a:path>
            </a:pathLst>
          </a:custGeom>
          <a:solidFill>
            <a:srgbClr val="003366"/>
          </a:solidFill>
          <a:ln>
            <a:noFill/>
          </a:ln>
        </p:spPr>
      </p:sp>
      <p:sp>
        <p:nvSpPr>
          <p:cNvPr id="44" name="Freeform 44"/>
          <p:cNvSpPr/>
          <p:nvPr/>
        </p:nvSpPr>
        <p:spPr>
          <a:xfrm>
            <a:off x="381000" y="4810125"/>
            <a:ext cx="11430000" cy="38100"/>
          </a:xfrm>
          <a:custGeom>
            <a:avLst/>
            <a:gdLst/>
            <a:ahLst/>
            <a:cxnLst/>
            <a:rect l="l" t="t" r="r" b="b"/>
            <a:pathLst>
              <a:path w="11430000" h="38100">
                <a:moveTo>
                  <a:pt x="19050" y="0"/>
                </a:moveTo>
                <a:lnTo>
                  <a:pt x="11410950" y="0"/>
                </a:lnTo>
                <a:cubicBezTo>
                  <a:pt x="11421471" y="0"/>
                  <a:pt x="11430000" y="8529"/>
                  <a:pt x="11430000" y="19050"/>
                </a:cubicBezTo>
                <a:lnTo>
                  <a:pt x="11430000" y="19050"/>
                </a:lnTo>
                <a:cubicBezTo>
                  <a:pt x="11430000" y="29571"/>
                  <a:pt x="11421471" y="38100"/>
                  <a:pt x="11410950" y="38100"/>
                </a:cubicBezTo>
                <a:lnTo>
                  <a:pt x="19050" y="38100"/>
                </a:lnTo>
                <a:cubicBezTo>
                  <a:pt x="8529" y="38100"/>
                  <a:pt x="0" y="29571"/>
                  <a:pt x="0" y="19050"/>
                </a:cubicBezTo>
                <a:lnTo>
                  <a:pt x="0" y="19050"/>
                </a:lnTo>
                <a:cubicBezTo>
                  <a:pt x="0" y="8529"/>
                  <a:pt x="8529" y="0"/>
                  <a:pt x="19050" y="0"/>
                </a:cubicBezTo>
                <a:close/>
              </a:path>
            </a:pathLst>
          </a:custGeom>
          <a:solidFill>
            <a:srgbClr val="E65100"/>
          </a:solidFill>
          <a:ln>
            <a:noFill/>
          </a:ln>
        </p:spPr>
      </p:sp>
      <p:sp>
        <p:nvSpPr>
          <p:cNvPr id="45" name="TextBox 45"/>
          <p:cNvSpPr txBox="1"/>
          <p:nvPr/>
        </p:nvSpPr>
        <p:spPr>
          <a:xfrm>
            <a:off x="2595246" y="5059680"/>
            <a:ext cx="7001510" cy="322580"/>
          </a:xfrm>
          <a:prstGeom prst="rect">
            <a:avLst/>
          </a:prstGeom>
          <a:noFill/>
          <a:ln>
            <a:noFill/>
          </a:ln>
        </p:spPr>
        <p:txBody>
          <a:bodyPr wrap="none" lIns="0" tIns="0" rIns="0" bIns="0" anchor="t" anchorCtr="0">
            <a:spAutoFit/>
          </a:bodyPr>
          <a:lstStyle/>
          <a:p>
            <a:pPr algn="ctr"/>
            <a:r>
              <a:rPr lang="zh-CN" sz="2100" b="1" spc="100" dirty="0">
                <a:solidFill>
                  <a:srgbClr val="FFFFFF"/>
                </a:solidFill>
                <a:latin typeface="Arial" panose="020B0704020202020204"/>
                <a:ea typeface="Arial" panose="020B0704020202020204"/>
                <a:cs typeface="Arial" panose="020B0704020202020204"/>
              </a:rPr>
              <a:t>XIN CHÂN THÀNH CẢM ƠN</a:t>
            </a:r>
            <a:r>
              <a:rPr lang="en-US" altLang="zh-CN" sz="2100" b="1" spc="100" dirty="0">
                <a:solidFill>
                  <a:srgbClr val="FFFFFF"/>
                </a:solidFill>
                <a:latin typeface="Arial" panose="020B0704020202020204"/>
                <a:ea typeface="Arial" panose="020B0704020202020204"/>
                <a:cs typeface="Arial" panose="020B0704020202020204"/>
              </a:rPr>
              <a:t> THẦY ĐÃ LẮNG NGHE</a:t>
            </a:r>
            <a:r>
              <a:rPr lang="zh-CN" sz="2100" b="1" spc="100" dirty="0">
                <a:solidFill>
                  <a:srgbClr val="FFFFFF"/>
                </a:solidFill>
                <a:latin typeface="Arial" panose="020B0704020202020204"/>
                <a:ea typeface="Arial" panose="020B0704020202020204"/>
                <a:cs typeface="Arial" panose="020B0704020202020204"/>
              </a:rPr>
              <a:t>!</a:t>
            </a:r>
            <a:endParaRPr lang="zh-CN" sz="2100" b="1" spc="100" dirty="0">
              <a:solidFill>
                <a:srgbClr val="FFFFFF"/>
              </a:solidFill>
              <a:latin typeface="Arial" panose="020B0704020202020204"/>
              <a:ea typeface="Arial" panose="020B0704020202020204"/>
              <a:cs typeface="Arial" panose="020B0704020202020204"/>
            </a:endParaRPr>
          </a:p>
        </p:txBody>
      </p:sp>
      <p:sp>
        <p:nvSpPr>
          <p:cNvPr id="46" name="TextBox 46"/>
          <p:cNvSpPr txBox="1"/>
          <p:nvPr/>
        </p:nvSpPr>
        <p:spPr>
          <a:xfrm>
            <a:off x="1726382" y="5521642"/>
            <a:ext cx="8739235" cy="274320"/>
          </a:xfrm>
          <a:prstGeom prst="rect">
            <a:avLst/>
          </a:prstGeom>
          <a:noFill/>
          <a:ln>
            <a:noFill/>
          </a:ln>
        </p:spPr>
        <p:txBody>
          <a:bodyPr wrap="none" lIns="0" tIns="0" rIns="0" bIns="0" anchor="t" anchorCtr="0">
            <a:spAutoFit/>
          </a:bodyPr>
          <a:lstStyle/>
          <a:p>
            <a:pPr algn="ctr"/>
            <a:r>
              <a:rPr lang="zh-CN" sz="1350" dirty="0">
                <a:solidFill>
                  <a:srgbClr val="93C5FD"/>
                </a:solidFill>
                <a:latin typeface="Arial" panose="020B0704020202020204"/>
                <a:ea typeface="Arial" panose="020B0704020202020204"/>
                <a:cs typeface="Arial" panose="020B0704020202020204"/>
              </a:rPr>
              <a:t>Nhóm 10 rất mong nhận được ý kiến đóng góp và sẵn sàng giải đáp các câu hỏi phản biện (Q&amp;A)</a:t>
            </a:r>
            <a:endParaRPr lang="zh-CN" sz="1350" dirty="0">
              <a:solidFill>
                <a:srgbClr val="93C5FD"/>
              </a:solidFill>
              <a:latin typeface="Arial" panose="020B0704020202020204"/>
              <a:ea typeface="Arial" panose="020B0704020202020204"/>
              <a:cs typeface="Arial" panose="020B0704020202020204"/>
            </a:endParaRPr>
          </a:p>
        </p:txBody>
      </p:sp>
      <p:sp>
        <p:nvSpPr>
          <p:cNvPr id="47" name="TextBox 47"/>
          <p:cNvSpPr txBox="1"/>
          <p:nvPr/>
        </p:nvSpPr>
        <p:spPr>
          <a:xfrm>
            <a:off x="3153632" y="5887402"/>
            <a:ext cx="5884735" cy="213360"/>
          </a:xfrm>
          <a:prstGeom prst="rect">
            <a:avLst/>
          </a:prstGeom>
          <a:noFill/>
          <a:ln>
            <a:noFill/>
          </a:ln>
        </p:spPr>
        <p:txBody>
          <a:bodyPr wrap="none" lIns="0" tIns="0" rIns="0" bIns="0" anchor="t" anchorCtr="0">
            <a:spAutoFit/>
          </a:bodyPr>
          <a:lstStyle/>
          <a:p>
            <a:pPr algn="ctr"/>
            <a:r>
              <a:rPr lang="zh-CN" sz="1050" dirty="0">
                <a:solidFill>
                  <a:srgbClr val="CBD5E1"/>
                </a:solidFill>
                <a:latin typeface="Arial" panose="020B0704020202020204"/>
                <a:ea typeface="Arial" panose="020B0704020202020204"/>
                <a:cs typeface="Arial" panose="020B0704020202020204"/>
              </a:rPr>
              <a:t>Đồ án Học phần Lập trình Di động MOB402 • Ứng dụng GoDrop Delivery • Năm 2026</a:t>
            </a:r>
            <a:endParaRPr lang="zh-CN" sz="1050" dirty="0">
              <a:solidFill>
                <a:srgbClr val="CBD5E1"/>
              </a:solidFill>
              <a:latin typeface="Arial" panose="020B0704020202020204"/>
              <a:ea typeface="Arial" panose="020B0704020202020204"/>
              <a:cs typeface="Arial" panose="020B0704020202020204"/>
            </a:endParaRPr>
          </a:p>
        </p:txBody>
      </p:sp>
      <p:sp>
        <p:nvSpPr>
          <p:cNvPr id="48" name="Line 48"/>
          <p:cNvSpPr/>
          <p:nvPr/>
        </p:nvSpPr>
        <p:spPr>
          <a:xfrm>
            <a:off x="381000" y="6334125"/>
            <a:ext cx="11430000" cy="9525"/>
          </a:xfrm>
          <a:custGeom>
            <a:avLst/>
            <a:gdLst/>
            <a:ahLst/>
            <a:cxnLst/>
            <a:rect l="l" t="t" r="r" b="b"/>
            <a:pathLst>
              <a:path w="11430000" h="9525">
                <a:moveTo>
                  <a:pt x="0" y="0"/>
                </a:moveTo>
                <a:lnTo>
                  <a:pt x="11430000" y="0"/>
                </a:lnTo>
              </a:path>
            </a:pathLst>
          </a:custGeom>
          <a:noFill/>
          <a:ln w="9525">
            <a:solidFill>
              <a:srgbClr val="CBD5E1"/>
            </a:solidFill>
          </a:ln>
        </p:spPr>
      </p:sp>
      <p:sp>
        <p:nvSpPr>
          <p:cNvPr id="49" name="TextBox 49"/>
          <p:cNvSpPr txBox="1"/>
          <p:nvPr/>
        </p:nvSpPr>
        <p:spPr>
          <a:xfrm>
            <a:off x="368618" y="6514624"/>
            <a:ext cx="3563374"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panose="020B0704020202020204"/>
                <a:ea typeface="Arial" panose="020B0704020202020204"/>
                <a:cs typeface="Arial" panose="020B0704020202020204"/>
              </a:rPr>
              <a:t>Báo cáo Đồ án Lập trình Di động (MOB402) • Nhóm 10</a:t>
            </a:r>
            <a:endParaRPr lang="zh-CN" sz="975" dirty="0">
              <a:solidFill>
                <a:srgbClr val="64748B"/>
              </a:solidFill>
              <a:latin typeface="Arial" panose="020B0704020202020204"/>
              <a:ea typeface="Arial" panose="020B0704020202020204"/>
              <a:cs typeface="Arial" panose="020B0704020202020204"/>
            </a:endParaRPr>
          </a:p>
        </p:txBody>
      </p:sp>
      <p:sp>
        <p:nvSpPr>
          <p:cNvPr id="50" name="TextBox 50"/>
          <p:cNvSpPr txBox="1"/>
          <p:nvPr/>
        </p:nvSpPr>
        <p:spPr>
          <a:xfrm>
            <a:off x="4834068" y="6514624"/>
            <a:ext cx="2523863" cy="198120"/>
          </a:xfrm>
          <a:prstGeom prst="rect">
            <a:avLst/>
          </a:prstGeom>
          <a:noFill/>
          <a:ln>
            <a:noFill/>
          </a:ln>
        </p:spPr>
        <p:txBody>
          <a:bodyPr wrap="none" lIns="0" tIns="0" rIns="0" bIns="0" anchor="t" anchorCtr="0">
            <a:spAutoFit/>
          </a:bodyPr>
          <a:lstStyle/>
          <a:p>
            <a:pPr algn="ctr"/>
            <a:r>
              <a:rPr lang="zh-CN" sz="975" dirty="0">
                <a:solidFill>
                  <a:srgbClr val="94A3B8"/>
                </a:solidFill>
                <a:latin typeface="Arial" panose="020B0704020202020204"/>
                <a:ea typeface="Arial" panose="020B0704020202020204"/>
                <a:cs typeface="Arial" panose="020B0704020202020204"/>
              </a:rPr>
              <a:t>Hạn chế, Hướng phát triển &amp; Kết luận</a:t>
            </a:r>
            <a:endParaRPr lang="zh-CN" sz="975" dirty="0">
              <a:solidFill>
                <a:srgbClr val="94A3B8"/>
              </a:solidFill>
              <a:latin typeface="Arial" panose="020B0704020202020204"/>
              <a:ea typeface="Arial" panose="020B0704020202020204"/>
              <a:cs typeface="Arial" panose="020B0704020202020204"/>
            </a:endParaRPr>
          </a:p>
        </p:txBody>
      </p:sp>
      <p:sp>
        <p:nvSpPr>
          <p:cNvPr id="51" name="TextBox 51"/>
          <p:cNvSpPr txBox="1"/>
          <p:nvPr/>
        </p:nvSpPr>
        <p:spPr>
          <a:xfrm>
            <a:off x="11338758" y="6506528"/>
            <a:ext cx="485577" cy="213360"/>
          </a:xfrm>
          <a:prstGeom prst="rect">
            <a:avLst/>
          </a:prstGeom>
          <a:noFill/>
          <a:ln>
            <a:noFill/>
          </a:ln>
        </p:spPr>
        <p:txBody>
          <a:bodyPr wrap="none" lIns="0" tIns="0" rIns="0" bIns="0" anchor="t" anchorCtr="0">
            <a:spAutoFit/>
          </a:bodyPr>
          <a:lstStyle/>
          <a:p>
            <a:pPr algn="r"/>
            <a:r>
              <a:rPr lang="zh-CN" sz="1050" b="1" dirty="0">
                <a:solidFill>
                  <a:srgbClr val="003366"/>
                </a:solidFill>
                <a:latin typeface="Arial" panose="020B0704020202020204"/>
                <a:ea typeface="Arial" panose="020B0704020202020204"/>
                <a:cs typeface="Arial" panose="020B0704020202020204"/>
              </a:rPr>
              <a:t>14 / 14</a:t>
            </a:r>
            <a:endParaRPr lang="zh-CN" sz="1050" b="1" dirty="0">
              <a:solidFill>
                <a:srgbClr val="003366"/>
              </a:solidFill>
              <a:latin typeface="Arial" panose="020B0704020202020204"/>
              <a:ea typeface="Arial" panose="020B0704020202020204"/>
              <a:cs typeface="Arial" panose="020B07040202020202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24401</Words>
  <Application>WPS Presentation</Application>
  <PresentationFormat>On-screen Show (4:3)</PresentationFormat>
  <Paragraphs>1145</Paragraphs>
  <Slides>14</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14</vt:i4>
      </vt:variant>
    </vt:vector>
  </HeadingPairs>
  <TitlesOfParts>
    <vt:vector size="26" baseType="lpstr">
      <vt:lpstr>Arial</vt:lpstr>
      <vt:lpstr>SimSun</vt:lpstr>
      <vt:lpstr>Wingdings</vt:lpstr>
      <vt:lpstr>Arial</vt:lpstr>
      <vt:lpstr>Microsoft YaHei</vt:lpstr>
      <vt:lpstr>汉仪旗黑</vt:lpstr>
      <vt:lpstr>Arial Unicode MS</vt:lpstr>
      <vt:lpstr>Calibri</vt:lpstr>
      <vt:lpstr>Helvetica Neue</vt:lpstr>
      <vt:lpstr>宋体-简</vt:lpstr>
      <vt:lpstr>SimSun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Hiệp Nguyễn Tấn</cp:lastModifiedBy>
  <cp:revision>7</cp:revision>
  <dcterms:created xsi:type="dcterms:W3CDTF">2026-09-25T12:08:21Z</dcterms:created>
  <dcterms:modified xsi:type="dcterms:W3CDTF">2026-09-25T12:08:21Z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3E92C450D88510E53564B66A71719B56_43</vt:lpwstr>
  </property>
  <property fmtid="{D5CDD505-2E9C-101B-9397-08002B2CF9AE}" pid="3" name="KSOProductBuildVer">
    <vt:lpwstr>1033-12.1.28496.28496</vt:lpwstr>
  </property>
</Properties>
</file>